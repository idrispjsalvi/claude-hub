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Reprise fidèle de son mail du 16/10. Elle a aussi fini les e-learnings Claude le 17/10 (fondamentaux, Cowork, Chrome, Excel). Deux devoirs de la S1 ne sont pas confirmés dans son mail : la base de contexte finalisée et le retour écrit à TIA sur les e-learnings. Lui demander.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part de ce qu'elle a construit. Repérer pendant le tour : ce qui est rangé au mauvais endroit (une consigne de tâche dans les instructions générales, une procédure dans un projet). On s'en sert en Pratique 1. OneDrive : lui demander COMMENT elle l'a connecté. Le connecteur Microsoft 365 existe sur tous les forfaits mais exige un compte Microsoft pro ou école, avec l'accord d'un administrateur Entra ; les comptes personnels (outlook.com, hotmail.com, live.com) ne sont pas acceptés (doc Claude, Microsoft 365 connector). Avec son adresse outlook.fr, c'est sans doute le dossier OneDrive synchronisé sur son ordinateur, ouvert à Claude Code.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part de ce qu'elle a construit. Repérer pendant le tour : ce qui est rangé au mauvais endroit (une consigne de tâche dans les instructions générales, une procédure dans un projet). On s'en sert en Pratique 1. OneDrive : lui demander COMMENT elle l'a connecté. Le connecteur Microsoft 365 existe sur tous les forfaits mais exige un compte Microsoft pro ou école, avec l'accord d'un administrateur Entra ; les comptes personnels (outlook.com, hotmail.com, live.com) ne sont pas acceptés (doc Claude, Microsoft 365 connector). Avec son adresse outlook.fr, c'est sans doute le dossier OneDrive synchronisé sur son ordinateur, ouvert à Claude Code.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Elle a réorganisé des fichiers avec Claude Code : c'est l'outil qui agit le plus sur l'ordinateur (l'e-learning le dit). Dans la nouvelle expérience Claude, le réglage de permission du champ de message propose Auto ou Manuel (Manuel par défaut), et Claude demande avant toute suppression définitive (centre d'aide, « Claude Cowork and chat are one Claude », 16/09/2026).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Elle a réorganisé des fichiers avec Claude Code : c'est l'outil qui agit le plus sur l'ordinateur (l'e-learning le dit). Dans la nouvelle expérience Claude, le réglage de permission du champ de message propose Auto ou Manuel (Manuel par défaut), et Claude demande avant toute suppression définitive (centre d'aide, « Claude Cowork and chat are one Claude », 16/09/2026).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de la S1 (récap du 8/10). Anthropic dit la même chose : les projets portent un contexte toujours chargé, les skills des procédures chargées seulement quand elles servent.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de la S1 (récap du 8/10). Anthropic dit la même chose : les projets portent un contexte toujours chargé, les skills des procédures chargées seulement quand elles servent.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E-learning « Claude, les fondamentaux », vidéo Projects : « les deux s'additionnent ». Vidéo Paramètres : l'auteur raconte une règle oubliée dans ses préférences qui gâchait des réponses deux mois plus tard.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E-learning « Claude, les fondamentaux », vidéo Projects : « les deux s'additionnent ». Vidéo Paramètres : l'auteur raconte une règle oubliée dans ses préférences qui gâchait des réponses deux mois plus tard.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PDF, centre d'aide (« Upload files to Claude », 23/07/2026) : Claude analyse texte ET éléments visuels des PDF de 100 pages ou moins ; de 101 à 1 000 pages, le texte seul. Un PDF scanné de plus de 100 pages n'a donc rien à lire ; en dessous, il passe par la vision, moins fiable qu'un vrai texte (préférer le PDF exporté de Word). Fichiers de projet : 30 Mo maximum chacun. La vidéo dit « jamais de PDF scanné » : c'est plus nuancé. La vidéo Projects and Knowledge Base classe « les données qui changent chaque semaine » parmi les mauvais candidats : vrai pour un fichier TÉLÉVERSÉ, qui reste figé. Mais le centre d'aide (« Use Google Workspace connectors ») précise qu'un Google Doc ajouté aux fichiers d'un projet depuis Drive (+ › Drive) reste synchronisé avec sa dernière version ; option réservée aux projets privés. OneDrive : le connecteur Microsoft 365 exige un compte pro ou école (les comptes outlook.com, hotmail.com, live.com ne sont pas acceptés) ; avec son adresse outlook.fr, Céline passera plutôt par Google Drive ou par le téléversement.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PDF, centre d'aide (« Upload files to Claude », 23/07/2026) : Claude analyse texte ET éléments visuels des PDF de 100 pages ou moins ; de 101 à 1 000 pages, le texte seul. Un PDF scanné de plus de 100 pages n'a donc rien à lire ; en dessous, il passe par la vision, moins fiable qu'un vrai texte (préférer le PDF exporté de Word). Fichiers de projet : 30 Mo maximum chacun. La vidéo dit « jamais de PDF scanné » : c'est plus nuancé. La vidéo Projects and Knowledge Base classe « les données qui changent chaque semaine » parmi les mauvais candidats : vrai pour un fichier TÉLÉVERSÉ, qui reste figé. Mais le centre d'aide (« Use Google Workspace connectors ») précise qu'un Google Doc ajouté aux fichiers d'un projet depuis Drive (+ › Drive) reste synchronisé avec sa dernière version ; option réservée aux projets privés. OneDrive : le connecteur Microsoft 365 exige un compte pro ou école (les comptes outlook.com, hotmail.com, live.com ne sont pas acceptés) ; avec son adresse outlook.fr, Céline passera plutôt par Google Drive ou par le téléversement.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Centre d'aide, « Claude Cowork and chat are one Claude » (16/09/2026) : fusion en déploiement progressif sur Pro et Max. Si son champ de message affiche encore « Chat » et « Cowork », elle a l'ancienne version, qui marche comme dans la vidéo. L'accès aux fichiers locaux exige Claude Desktop ouvert.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Centre d'aide, « Claude Cowork and chat are one Claude » (16/09/2026) : fusion en déploiement progressif sur Pro et Max. Si son champ de message affiche encore « Chat » et « Cowork », elle a l'ancienne version, qui marche comme dans la vidéo. L'accès aux fichiers locaux exige Claude Desktop ouvert.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Centre d'aide, mémoire (mise à jour d'octobre 2026) : la mémoire est une liste de sujets dans Paramètres › Mémoire ; activée par défaut en Free, Pro et Max ; les sujets sensibles sont exclus sauf option « Include sensitive topics in memory ». Changement annoncé le 25/08/2026.</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Centre d'aide, mémoire (mise à jour d'octobre 2026) : la mémoire est une liste de sujets dans Paramètres › Mémoire ; activée par défaut en Free, Pro et Max ; les sujets sensibles sont exclus sauf option « Include sensitive topics in memory ». Changement annoncé le 25/08/2026.</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centre d'aide Claude : « Claude Cowork and chat are one Claude » (16/09/2026), « Understanding Claude's personalization features » (16/09/2026), « Use skills in Claude », article mémoire (octobre 2026). Les anciennes « Global instructions » de Cowork sont passées dans Instructions pour Claude : lui faire vérifier qu'elles n'y sont pas en double.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Anthropic : les projets fournissent un contexte toujours chargé ; les skills se chargent seulement quand elles sont utiles (« progressive disclosure ») ; les connecteurs (MCP) donnent l'accès aux outils et aux données. Sur un forfait payant, quand les fichiers d'un projet approchent la limite, Claude passe en mode RAG : il va chercher les passages utiles.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mémoire est le seul rangement qu'elle ne remplit pas elle-même : elle le relit et le corrige. Tout le reste, c'est elle qui décide. Insister sur la colonne de droite : chaque exemple vient de son métier.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l'outil de décision de la Pratique 1 : on le passe sur chacune de ses tâches. « Doc relié ou connecteur » : un document qui évolue s'ajoute au projet depuis Google Drive et reste à jour ; une info qui vit dans un outil (mails, agenda) se lit par un connecteur ; une info du jour se donne simplement dans la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Centre d'aide (16/09/2026) : Instructions pour Claude = réglage du compte, appliqué à toutes les conversations ; instructions du projet = contexte, rôle et règles d'un projet, appliqués à ses seules conversations. Les instructions du projet sont réservées aux forfaits payants : elle est en Pro.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What are skills? » (centre d'aide) : skills vs projets, skills vs instructions. Bonne pratique officielle : « Organize by purpose », un skill par workflow. Une des raisons probables de son malaise avec ses skills actuels : trop larges, ou du contexte mis à la place d'une méthode.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Centre d'aide : chaque projet a sa mémoire ; ce qui y est appris peut servir hors projet si la mémoire est active. Pour isoler : « Use account memory » à désactiver sous Memory, sur la page du projet (libellé anglais de l'aide, à repérer avec elle dans son interface). Une conversation seule : « + » › Mémoire, avant le premier message.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Centre d'aide : chaque projet a sa mémoire ; ce qui y est appris peut servir hors projet si la mémoire est active. Pour isoler : « Use account memory » à désactiver sous Memory, sur la page du projet (libellé anglais de l'aide, à repérer avec elle dans son interface). Une conversation seule : « + » › Mémoire, avant le premier message.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Centre de confidentialité Anthropic (« Is my data used for model training? », 16/03/2026) : sur les forfaits grand public (Free, Pro, Max), les conversations servent à l'entraînement si l'utilisateur l'accepte ; les chats incognito n'y servent jamais. Le contenu brut des connecteurs n'est pas utilisé. Les chats incognito s'ouvrent dans l'ancienne expérience : pas de création de fichiers.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Centre de confidentialité Anthropic (« Is my data used for model training? », 16/03/2026) : sur les forfaits grand public (Free, Pro, Max), les conversations servent à l'entraînement si l'utilisateur l'accepte ; les chats incognito n'y servent jamais. Le contenu brut des connecteurs n'est pas utilisé. Les chats incognito s'ouvrent dans l'ancienne expérience : pas de création de fichiers.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Proposition construite sur ses activités connues (RDV d'intro et dossier TIA) : bilans, formations (attachés de direction, demandeurs d'emploi), coaching managérial, check-up de soi. À ajuster avec elle en Pratique 1 : c'est elle qui décide. Les skills listés reprennent les livrables du programme (module 2) ; seule la première est construite aujourd'hui.</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prompt de relecture est dans la fiche s2-a-coller.md, à coller dans le chat de la visio. Si elle hésite sur une tâche, revenir au test : le plus précis gagne.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Cinq exemples pour lancer la grille, puis ses tâches à elle. Ouvrir un document partagé ou un artifact pour remplir la grille en direct.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Elle colle ses Instructions pour Claude actuelles sous le prompt. Elle a écrit qu'elles sont « certainement à revoir » : c'est le moment. Vérifier aussi qu'elles ne doublent pas d'anciennes « Global instructions » de Cowork, fusionnées dans le même champ.</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Elle colle ses Instructions pour Claude actuelles sous le prompt. Elle a écrit qu'elles sont « certainement à revoir » : c'est le moment. Vérifier aussi qu'elles ne doublent pas d'anciennes « Global instructions » de Cowork, fusionnées dans le même champ.</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Centre d'aide, « How to create custom skills » : description de 200 caractères maximum, décisive pour le déclenchement ; une tâche répétable par skill ; des exemples ; des fichiers de référence possibles. Le skill est un dossier avec un fichier SKILL.md : elle n'a pas à l'écrire elle-même.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Centre d'aide, « How to create custom skills » : description de 200 caractères maximum, décisive pour le déclenchement ; une tâche répétable par skill ; des exemples ; des fichiers de référence possibles. Le skill est un dossier avec un fichier SKILL.md : elle n'a pas à l'écrire elle-même.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 Academy, « How to create a skill with Claude through conversation » : on décrit, on joint ses modèles, on répond aux questions, Claude lit son skill « skill-creator » et livre le skill. Autre voie réservée au Mac : « Record a skill » (on s'enregistre en train de faire). Pas pour aujourd'hui.</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Prérequis officiel : les skills exigent « Code execution and file creation » dans Paramètres › Capacités. Après l'enregistrement, le skill apparaît dans Personnaliser › Compétences, où il s'active ou se désactive. Si elle n'a pas d'exemple anonymisé sous la main : partir de la trame seule et de la synthèse de Mme R. faite en S1. Les notes de Mme R. sont dans la fiche (situation inventée).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Texte complet dans s2-a-coller.md. Les deux règles de la fin reprennent celles de la S1 : elles vivent maintenant DANS le skill, plus besoin de les répéter à chaque demande.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Texte complet dans s2-a-coller.md. Les deux règles de la fin reprennent celles de la S1 : elles vivent maintenant DANS le skill, plus besoin de les répéter à chaque demande.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le skill ne se déclenche pas : vérifier qu'il est activé (Personnaliser › Compétences), rendre la description plus précise, ou le demander par son nom. Pour corriger : « Modifie mon skill synthèse de séance pour que… ». Les fichiers du skill s'ouvrent à côté de la conversation et se modifient avec « Edit with Claude ».</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le skill ne se déclenche pas : vérifier qu'il est activé (Personnaliser › Compétences), rendre la description plus précise, ou le demander par son nom. Pour corriger : « Modifie mon skill synthèse de séance pour que… ». Les fichiers du skill s'ouvrent à côté de la conversation et se modifient avec « Edit with Claude ».</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Centre d'aide, « Use skills in Claude » : les skills activés sont disponibles dans les compléments Excel, PowerPoint, Word et Outlook (« / » pour les lister). Un skill construit avec un modèle Excel ou PowerPoint précis : Claude for Excel et PowerPoint charge ce modèle à l'identique. Lien direct avec sa formation créée sur le masque d'un organisme, et avec le fil rouge (synthèse au format de chaque organisme).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Centre d'aide, « Use skills in Claude » : les skills activés sont disponibles dans les compléments Excel, PowerPoint, Word et Outlook (« / » pour les lister). Un skill construit avec un modèle Excel ou PowerPoint précis : Claude for Excel et PowerPoint charge ce modèle à l'identique. Lien direct avec sa formation créée sur le masque d'un organisme, et avec le fil rouge (synthèse au format de chaque organisme).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Objectif du module 2 du programme : « Créer un premier outil pour vos coachés : le questionnaire de valeurs, de talents et de compétences techniques ». Si le temps manque, il passe en devoir (déjà prévu).</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projet Bilans fournit déjà le contexte (base de contexte, ton) : le prompt reste court. C'est la démonstration concrète de « le projet donne le contexte ».</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projet Bilans fournit déjà le contexte (base de contexte, ton) : le prompt reste court. C'est la démonstration concrète de « le projet donne le contexte ».</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jours seulement avant la S3 : devoirs courts. Si le bonus a été fait en séance, remplacer le 3 par « les prompts par poste (attaché de direction, office manager, recherche d'emploi) », autre objectif du module 2. Le transcript sert la S3 (agents de lecture de séance). Attention : dans l'API, l'e-learning « Focus Midjourney &amp; Nano Banana » est encore verrouillé (status locked) : le débloquer.</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jours seulement avant la S3 : devoirs courts. Si le bonus a été fait en séance, remplacer le 3 par « les prompts par poste (attaché de direction, office manager, recherche d'emploi) », autre objectif du module 2. Le transcript sert la S3 (agents de lecture de séance). Attention : dans l'API, l'e-learning « Focus Midjourney &amp; Nano Banana » est encore verrouillé (status locked) : le débloquer.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5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06240"/>
            <a:ext cx="12191695" cy="2651760"/>
          </a:xfrm>
          <a:prstGeom prst="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960120"/>
            <a:ext cx="2194560" cy="36576"/>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0"/>
            <a:ext cx="10515600" cy="731520"/>
          </a:xfrm>
          <a:prstGeom prst="rect">
            <a:avLst/>
          </a:prstGeom>
          <a:noFill/>
        </p:spPr>
        <p:txBody>
          <a:bodyPr wrap="square">
            <a:spAutoFit/>
          </a:bodyPr>
          <a:lstStyle/>
          <a:p>
            <a:pPr algn="l"/>
            <a:r>
              <a:rPr sz="1800" b="1">
                <a:solidFill>
                  <a:srgbClr val="E8A000"/>
                </a:solidFill>
                <a:latin typeface="Bricolage Grotesque"/>
              </a:rPr>
              <a:t>SÉANCE 2 / 4 · CÉLINE LAFITTE</a:t>
            </a:r>
          </a:p>
        </p:txBody>
      </p:sp>
      <p:sp>
        <p:nvSpPr>
          <p:cNvPr id="6" name="TextBox 5"/>
          <p:cNvSpPr txBox="1"/>
          <p:nvPr/>
        </p:nvSpPr>
        <p:spPr>
          <a:xfrm>
            <a:off x="640080" y="1920240"/>
            <a:ext cx="10881360" cy="1371600"/>
          </a:xfrm>
          <a:prstGeom prst="rect">
            <a:avLst/>
          </a:prstGeom>
          <a:noFill/>
        </p:spPr>
        <p:txBody>
          <a:bodyPr wrap="square">
            <a:spAutoFit/>
          </a:bodyPr>
          <a:lstStyle/>
          <a:p>
            <a:pPr algn="l"/>
            <a:r>
              <a:rPr sz="5000" b="1">
                <a:solidFill>
                  <a:srgbClr val="FFFFFF"/>
                </a:solidFill>
                <a:latin typeface="Bricolage Grotesque"/>
              </a:rPr>
              <a:t>Ton Claude, bien rangé</a:t>
            </a:r>
          </a:p>
        </p:txBody>
      </p:sp>
      <p:sp>
        <p:nvSpPr>
          <p:cNvPr id="7" name="TextBox 6"/>
          <p:cNvSpPr txBox="1"/>
          <p:nvPr/>
        </p:nvSpPr>
        <p:spPr>
          <a:xfrm>
            <a:off x="640080" y="3383280"/>
            <a:ext cx="10515600" cy="731520"/>
          </a:xfrm>
          <a:prstGeom prst="rect">
            <a:avLst/>
          </a:prstGeom>
          <a:noFill/>
        </p:spPr>
        <p:txBody>
          <a:bodyPr wrap="square">
            <a:spAutoFit/>
          </a:bodyPr>
          <a:lstStyle/>
          <a:p>
            <a:pPr algn="l"/>
            <a:r>
              <a:rPr sz="2600" b="0">
                <a:solidFill>
                  <a:srgbClr val="E8A000"/>
                </a:solidFill>
                <a:latin typeface="Bricolage Grotesque"/>
              </a:rPr>
              <a:t>Où va chaque chose, puis ton premier skill de coach</a:t>
            </a:r>
          </a:p>
        </p:txBody>
      </p:sp>
      <p:sp>
        <p:nvSpPr>
          <p:cNvPr id="8" name="TextBox 7"/>
          <p:cNvSpPr txBox="1"/>
          <p:nvPr/>
        </p:nvSpPr>
        <p:spPr>
          <a:xfrm>
            <a:off x="640080" y="4480560"/>
            <a:ext cx="10515600" cy="731520"/>
          </a:xfrm>
          <a:prstGeom prst="rect">
            <a:avLst/>
          </a:prstGeom>
          <a:noFill/>
        </p:spPr>
        <p:txBody>
          <a:bodyPr wrap="square">
            <a:spAutoFit/>
          </a:bodyPr>
          <a:lstStyle/>
          <a:p>
            <a:pPr algn="l"/>
            <a:r>
              <a:rPr sz="2000" b="0">
                <a:solidFill>
                  <a:srgbClr val="5A8A8F"/>
                </a:solidFill>
                <a:latin typeface="Bricolage Grotesque"/>
              </a:rPr>
              <a:t>Lundi 19 octobre 2026 · 10h-12h · Idris Salvi</a:t>
            </a:r>
          </a:p>
        </p:txBody>
      </p:sp>
      <p:pic>
        <p:nvPicPr>
          <p:cNvPr id="9" name="Picture 8" descr="ia-round.png"/>
          <p:cNvPicPr>
            <a:picLocks noChangeAspect="1"/>
          </p:cNvPicPr>
          <p:nvPr/>
        </p:nvPicPr>
        <p:blipFill>
          <a:blip r:embed="rId2"/>
          <a:stretch>
            <a:fillRect/>
          </a:stretch>
        </p:blipFill>
        <p:spPr>
          <a:xfrm>
            <a:off x="457200" y="6217920"/>
            <a:ext cx="320040" cy="320040"/>
          </a:xfrm>
          <a:prstGeom prst="rect">
            <a:avLst/>
          </a:prstGeom>
        </p:spPr>
      </p:pic>
      <p:sp>
        <p:nvSpPr>
          <p:cNvPr id="10" name="TextBox 9"/>
          <p:cNvSpPr txBox="1"/>
          <p:nvPr/>
        </p:nvSpPr>
        <p:spPr>
          <a:xfrm>
            <a:off x="868680" y="619963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Ton parcours</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4 séances, un fil rouge : ton bilan de compétences</a:t>
            </a:r>
          </a:p>
        </p:txBody>
      </p:sp>
      <p:sp>
        <p:nvSpPr>
          <p:cNvPr id="6" name="Rounded Rectangle 5"/>
          <p:cNvSpPr/>
          <p:nvPr/>
        </p:nvSpPr>
        <p:spPr>
          <a:xfrm>
            <a:off x="640080" y="2743200"/>
            <a:ext cx="2331720" cy="77724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907792"/>
            <a:ext cx="2148840" cy="502920"/>
          </a:xfrm>
          <a:prstGeom prst="rect">
            <a:avLst/>
          </a:prstGeom>
          <a:noFill/>
        </p:spPr>
        <p:txBody>
          <a:bodyPr wrap="square">
            <a:spAutoFit/>
          </a:bodyPr>
          <a:lstStyle/>
          <a:p>
            <a:pPr algn="ctr"/>
            <a:r>
              <a:rPr sz="1400" b="1">
                <a:solidFill>
                  <a:srgbClr val="FFFFFF"/>
                </a:solidFill>
                <a:latin typeface="Bricolage Grotesque"/>
              </a:rPr>
              <a:t>S1 · 8 oct.
Comprendre ✓</a:t>
            </a:r>
          </a:p>
        </p:txBody>
      </p:sp>
      <p:sp>
        <p:nvSpPr>
          <p:cNvPr id="8" name="TextBox 7"/>
          <p:cNvSpPr txBox="1"/>
          <p:nvPr/>
        </p:nvSpPr>
        <p:spPr>
          <a:xfrm>
            <a:off x="3008376"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9" name="Rounded Rectangle 8"/>
          <p:cNvSpPr/>
          <p:nvPr/>
        </p:nvSpPr>
        <p:spPr>
          <a:xfrm>
            <a:off x="3355848" y="2743200"/>
            <a:ext cx="2331720" cy="777240"/>
          </a:xfrm>
          <a:prstGeom prst="round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47288" y="2907792"/>
            <a:ext cx="2148840" cy="502920"/>
          </a:xfrm>
          <a:prstGeom prst="rect">
            <a:avLst/>
          </a:prstGeom>
          <a:noFill/>
        </p:spPr>
        <p:txBody>
          <a:bodyPr wrap="square">
            <a:spAutoFit/>
          </a:bodyPr>
          <a:lstStyle/>
          <a:p>
            <a:pPr algn="ctr"/>
            <a:r>
              <a:rPr sz="1400" b="1">
                <a:solidFill>
                  <a:srgbClr val="FFFFFF"/>
                </a:solidFill>
                <a:latin typeface="Bricolage Grotesque"/>
              </a:rPr>
              <a:t>S2 · 19 oct.
Ranger + 1er skill</a:t>
            </a:r>
          </a:p>
        </p:txBody>
      </p:sp>
      <p:sp>
        <p:nvSpPr>
          <p:cNvPr id="11" name="TextBox 10"/>
          <p:cNvSpPr txBox="1"/>
          <p:nvPr/>
        </p:nvSpPr>
        <p:spPr>
          <a:xfrm>
            <a:off x="5724144"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12" name="Rounded Rectangle 11"/>
          <p:cNvSpPr/>
          <p:nvPr/>
        </p:nvSpPr>
        <p:spPr>
          <a:xfrm>
            <a:off x="6071616" y="2743200"/>
            <a:ext cx="2331720" cy="77724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63056" y="2907792"/>
            <a:ext cx="2148840" cy="502920"/>
          </a:xfrm>
          <a:prstGeom prst="rect">
            <a:avLst/>
          </a:prstGeom>
          <a:noFill/>
        </p:spPr>
        <p:txBody>
          <a:bodyPr wrap="square">
            <a:spAutoFit/>
          </a:bodyPr>
          <a:lstStyle/>
          <a:p>
            <a:pPr algn="ctr"/>
            <a:r>
              <a:rPr sz="1400" b="1">
                <a:solidFill>
                  <a:srgbClr val="FFFFFF"/>
                </a:solidFill>
                <a:latin typeface="Bricolage Grotesque"/>
              </a:rPr>
              <a:t>S3 · 22 oct.
Lire une séance</a:t>
            </a:r>
          </a:p>
        </p:txBody>
      </p:sp>
      <p:sp>
        <p:nvSpPr>
          <p:cNvPr id="14" name="TextBox 13"/>
          <p:cNvSpPr txBox="1"/>
          <p:nvPr/>
        </p:nvSpPr>
        <p:spPr>
          <a:xfrm>
            <a:off x="8439912"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15" name="Rounded Rectangle 14"/>
          <p:cNvSpPr/>
          <p:nvPr/>
        </p:nvSpPr>
        <p:spPr>
          <a:xfrm>
            <a:off x="8787384" y="2743200"/>
            <a:ext cx="2331720" cy="777240"/>
          </a:xfrm>
          <a:prstGeom prst="round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78824" y="2907792"/>
            <a:ext cx="2148840" cy="502920"/>
          </a:xfrm>
          <a:prstGeom prst="rect">
            <a:avLst/>
          </a:prstGeom>
          <a:noFill/>
        </p:spPr>
        <p:txBody>
          <a:bodyPr wrap="square">
            <a:spAutoFit/>
          </a:bodyPr>
          <a:lstStyle/>
          <a:p>
            <a:pPr algn="ctr"/>
            <a:r>
              <a:rPr sz="1400" b="1">
                <a:solidFill>
                  <a:srgbClr val="FFFFFF"/>
                </a:solidFill>
                <a:latin typeface="Bricolage Grotesque"/>
              </a:rPr>
              <a:t>S4 · 28 oct.
Cartographie</a:t>
            </a:r>
          </a:p>
        </p:txBody>
      </p:sp>
      <p:sp>
        <p:nvSpPr>
          <p:cNvPr id="17" name="TextBox 16"/>
          <p:cNvSpPr txBox="1"/>
          <p:nvPr/>
        </p:nvSpPr>
        <p:spPr>
          <a:xfrm>
            <a:off x="640080" y="4114800"/>
            <a:ext cx="10972800" cy="411480"/>
          </a:xfrm>
          <a:prstGeom prst="rect">
            <a:avLst/>
          </a:prstGeom>
          <a:noFill/>
        </p:spPr>
        <p:txBody>
          <a:bodyPr wrap="square">
            <a:spAutoFit/>
          </a:bodyPr>
          <a:lstStyle/>
          <a:p>
            <a:pPr algn="l"/>
            <a:r>
              <a:rPr sz="1800" b="1">
                <a:solidFill>
                  <a:srgbClr val="1B5E6B"/>
                </a:solidFill>
                <a:latin typeface="Bricolage Grotesque"/>
              </a:rPr>
              <a:t>Aujourd'hui : ton organisation décidée, et un skill qui travaille comme toi.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Ce que tu m'as écrit</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Ton point d'avancement du 16 octobre</a:t>
            </a:r>
          </a:p>
        </p:txBody>
      </p:sp>
      <p:sp>
        <p:nvSpPr>
          <p:cNvPr id="6" name="Rectangle 5"/>
          <p:cNvSpPr/>
          <p:nvPr/>
        </p:nvSpPr>
        <p:spPr>
          <a:xfrm>
            <a:off x="5897880" y="2286000"/>
            <a:ext cx="27432" cy="2926080"/>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286000"/>
            <a:ext cx="5029200" cy="411480"/>
          </a:xfrm>
          <a:prstGeom prst="rect">
            <a:avLst/>
          </a:prstGeom>
          <a:noFill/>
        </p:spPr>
        <p:txBody>
          <a:bodyPr wrap="square">
            <a:spAutoFit/>
          </a:bodyPr>
          <a:lstStyle/>
          <a:p>
            <a:pPr algn="l"/>
            <a:r>
              <a:rPr sz="2100" b="1">
                <a:solidFill>
                  <a:srgbClr val="1B5E6B"/>
                </a:solidFill>
                <a:latin typeface="Bricolage Grotesque"/>
              </a:rPr>
              <a:t>Ce que tu as avancé</a:t>
            </a:r>
          </a:p>
        </p:txBody>
      </p:sp>
      <p:sp>
        <p:nvSpPr>
          <p:cNvPr id="8" name="TextBox 7"/>
          <p:cNvSpPr txBox="1"/>
          <p:nvPr/>
        </p:nvSpPr>
        <p:spPr>
          <a:xfrm>
            <a:off x="640080" y="2880360"/>
            <a:ext cx="5120640" cy="384048"/>
          </a:xfrm>
          <a:prstGeom prst="rect">
            <a:avLst/>
          </a:prstGeom>
          <a:noFill/>
        </p:spPr>
        <p:txBody>
          <a:bodyPr wrap="square">
            <a:spAutoFit/>
          </a:bodyPr>
          <a:lstStyle/>
          <a:p>
            <a:pPr algn="l"/>
            <a:r>
              <a:rPr sz="1800" b="0">
                <a:solidFill>
                  <a:srgbClr val="333333"/>
                </a:solidFill>
                <a:latin typeface="Bricolage Grotesque"/>
              </a:rPr>
              <a:t>Claude Pro, l'application ordinateur</a:t>
            </a:r>
          </a:p>
        </p:txBody>
      </p:sp>
      <p:sp>
        <p:nvSpPr>
          <p:cNvPr id="9" name="TextBox 8"/>
          <p:cNvSpPr txBox="1"/>
          <p:nvPr/>
        </p:nvSpPr>
        <p:spPr>
          <a:xfrm>
            <a:off x="640080" y="3355848"/>
            <a:ext cx="5120640" cy="384048"/>
          </a:xfrm>
          <a:prstGeom prst="rect">
            <a:avLst/>
          </a:prstGeom>
          <a:noFill/>
        </p:spPr>
        <p:txBody>
          <a:bodyPr wrap="square">
            <a:spAutoFit/>
          </a:bodyPr>
          <a:lstStyle/>
          <a:p>
            <a:pPr algn="l"/>
            <a:r>
              <a:rPr sz="1800" b="0">
                <a:solidFill>
                  <a:srgbClr val="333333"/>
                </a:solidFill>
                <a:latin typeface="Bricolage Grotesque"/>
              </a:rPr>
              <a:t>Claude dans PowerPoint, Excel et Word</a:t>
            </a:r>
          </a:p>
        </p:txBody>
      </p:sp>
      <p:sp>
        <p:nvSpPr>
          <p:cNvPr id="10" name="TextBox 9"/>
          <p:cNvSpPr txBox="1"/>
          <p:nvPr/>
        </p:nvSpPr>
        <p:spPr>
          <a:xfrm>
            <a:off x="640080" y="3831335"/>
            <a:ext cx="5120640" cy="384048"/>
          </a:xfrm>
          <a:prstGeom prst="rect">
            <a:avLst/>
          </a:prstGeom>
          <a:noFill/>
        </p:spPr>
        <p:txBody>
          <a:bodyPr wrap="square">
            <a:spAutoFit/>
          </a:bodyPr>
          <a:lstStyle/>
          <a:p>
            <a:pPr algn="l"/>
            <a:r>
              <a:rPr sz="1800" b="0">
                <a:solidFill>
                  <a:srgbClr val="333333"/>
                </a:solidFill>
                <a:latin typeface="Bricolage Grotesque"/>
              </a:rPr>
              <a:t>Une formation, sur un masque d'organisme</a:t>
            </a:r>
          </a:p>
        </p:txBody>
      </p:sp>
      <p:sp>
        <p:nvSpPr>
          <p:cNvPr id="11" name="TextBox 10"/>
          <p:cNvSpPr txBox="1"/>
          <p:nvPr/>
        </p:nvSpPr>
        <p:spPr>
          <a:xfrm>
            <a:off x="640080" y="4306823"/>
            <a:ext cx="5120640" cy="384048"/>
          </a:xfrm>
          <a:prstGeom prst="rect">
            <a:avLst/>
          </a:prstGeom>
          <a:noFill/>
        </p:spPr>
        <p:txBody>
          <a:bodyPr wrap="square">
            <a:spAutoFit/>
          </a:bodyPr>
          <a:lstStyle/>
          <a:p>
            <a:pPr algn="l"/>
            <a:r>
              <a:rPr sz="1800" b="0">
                <a:solidFill>
                  <a:srgbClr val="333333"/>
                </a:solidFill>
                <a:latin typeface="Bricolage Grotesque"/>
              </a:rPr>
              <a:t>Gmail et OneDrive connectés</a:t>
            </a:r>
          </a:p>
        </p:txBody>
      </p:sp>
      <p:sp>
        <p:nvSpPr>
          <p:cNvPr id="12" name="TextBox 11"/>
          <p:cNvSpPr txBox="1"/>
          <p:nvPr/>
        </p:nvSpPr>
        <p:spPr>
          <a:xfrm>
            <a:off x="640080" y="4782311"/>
            <a:ext cx="5120640" cy="384048"/>
          </a:xfrm>
          <a:prstGeom prst="rect">
            <a:avLst/>
          </a:prstGeom>
          <a:noFill/>
        </p:spPr>
        <p:txBody>
          <a:bodyPr wrap="square">
            <a:spAutoFit/>
          </a:bodyPr>
          <a:lstStyle/>
          <a:p>
            <a:pPr algn="l"/>
            <a:r>
              <a:rPr sz="1800" b="0">
                <a:solidFill>
                  <a:srgbClr val="333333"/>
                </a:solidFill>
                <a:latin typeface="Bricolage Grotesque"/>
              </a:rPr>
              <a:t>Instructions et mémoire : faites</a:t>
            </a:r>
          </a:p>
        </p:txBody>
      </p:sp>
      <p:sp>
        <p:nvSpPr>
          <p:cNvPr id="13" name="TextBox 12"/>
          <p:cNvSpPr txBox="1"/>
          <p:nvPr/>
        </p:nvSpPr>
        <p:spPr>
          <a:xfrm>
            <a:off x="6172200" y="2286000"/>
            <a:ext cx="5029200" cy="411480"/>
          </a:xfrm>
          <a:prstGeom prst="rect">
            <a:avLst/>
          </a:prstGeom>
          <a:noFill/>
        </p:spPr>
        <p:txBody>
          <a:bodyPr wrap="square">
            <a:spAutoFit/>
          </a:bodyPr>
          <a:lstStyle/>
          <a:p>
            <a:pPr algn="l"/>
            <a:r>
              <a:rPr sz="2100" b="1">
                <a:solidFill>
                  <a:srgbClr val="1B5E6B"/>
                </a:solidFill>
                <a:latin typeface="Bricolage Grotesque"/>
              </a:rPr>
              <a:t>Ce qui coince</a:t>
            </a:r>
          </a:p>
        </p:txBody>
      </p:sp>
      <p:sp>
        <p:nvSpPr>
          <p:cNvPr id="14" name="TextBox 13"/>
          <p:cNvSpPr txBox="1"/>
          <p:nvPr/>
        </p:nvSpPr>
        <p:spPr>
          <a:xfrm>
            <a:off x="6172200" y="2880360"/>
            <a:ext cx="5120640" cy="384048"/>
          </a:xfrm>
          <a:prstGeom prst="rect">
            <a:avLst/>
          </a:prstGeom>
          <a:noFill/>
        </p:spPr>
        <p:txBody>
          <a:bodyPr wrap="square">
            <a:spAutoFit/>
          </a:bodyPr>
          <a:lstStyle/>
          <a:p>
            <a:pPr algn="l"/>
            <a:r>
              <a:rPr sz="1800" b="0">
                <a:solidFill>
                  <a:srgbClr val="333333"/>
                </a:solidFill>
                <a:latin typeface="Bricolage Grotesque"/>
              </a:rPr>
              <a:t>Décider ton organisation générale</a:t>
            </a:r>
          </a:p>
        </p:txBody>
      </p:sp>
      <p:sp>
        <p:nvSpPr>
          <p:cNvPr id="15" name="TextBox 14"/>
          <p:cNvSpPr txBox="1"/>
          <p:nvPr/>
        </p:nvSpPr>
        <p:spPr>
          <a:xfrm>
            <a:off x="6172200" y="3355848"/>
            <a:ext cx="5120640" cy="384048"/>
          </a:xfrm>
          <a:prstGeom prst="rect">
            <a:avLst/>
          </a:prstGeom>
          <a:noFill/>
        </p:spPr>
        <p:txBody>
          <a:bodyPr wrap="square">
            <a:spAutoFit/>
          </a:bodyPr>
          <a:lstStyle/>
          <a:p>
            <a:pPr algn="l"/>
            <a:r>
              <a:rPr sz="1800" b="0">
                <a:solidFill>
                  <a:srgbClr val="333333"/>
                </a:solidFill>
                <a:latin typeface="Bricolage Grotesque"/>
              </a:rPr>
              <a:t>Projet ou skill : où ranger quoi ?</a:t>
            </a:r>
          </a:p>
        </p:txBody>
      </p:sp>
      <p:sp>
        <p:nvSpPr>
          <p:cNvPr id="16" name="TextBox 15"/>
          <p:cNvSpPr txBox="1"/>
          <p:nvPr/>
        </p:nvSpPr>
        <p:spPr>
          <a:xfrm>
            <a:off x="6172200" y="3831335"/>
            <a:ext cx="5120640" cy="384048"/>
          </a:xfrm>
          <a:prstGeom prst="rect">
            <a:avLst/>
          </a:prstGeom>
          <a:noFill/>
        </p:spPr>
        <p:txBody>
          <a:bodyPr wrap="square">
            <a:spAutoFit/>
          </a:bodyPr>
          <a:lstStyle/>
          <a:p>
            <a:pPr algn="l"/>
            <a:r>
              <a:rPr sz="1800" b="0">
                <a:solidFill>
                  <a:srgbClr val="333333"/>
                </a:solidFill>
                <a:latin typeface="Bricolage Grotesque"/>
              </a:rPr>
              <a:t>Des skills qui ne te satisfont pas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Le déroulé de ce matin</a:t>
            </a:r>
          </a:p>
        </p:txBody>
      </p:sp>
      <p:sp>
        <p:nvSpPr>
          <p:cNvPr id="5" name="TextBox 4"/>
          <p:cNvSpPr txBox="1"/>
          <p:nvPr/>
        </p:nvSpPr>
        <p:spPr>
          <a:xfrm>
            <a:off x="640080" y="1554480"/>
            <a:ext cx="10881360" cy="411480"/>
          </a:xfrm>
          <a:prstGeom prst="rect">
            <a:avLst/>
          </a:prstGeom>
          <a:noFill/>
        </p:spPr>
        <p:txBody>
          <a:bodyPr wrap="square">
            <a:spAutoFit/>
          </a:bodyPr>
          <a:lstStyle/>
          <a:p>
            <a:r>
              <a:rPr sz="2000" b="1">
                <a:solidFill>
                  <a:srgbClr val="1B5E6B"/>
                </a:solidFill>
                <a:latin typeface="Bricolage Grotesque"/>
              </a:rPr>
              <a:t>1.  Tour d'horizon : ce que tu as construit (10 min)</a:t>
            </a:r>
          </a:p>
        </p:txBody>
      </p:sp>
      <p:sp>
        <p:nvSpPr>
          <p:cNvPr id="6" name="TextBox 5"/>
          <p:cNvSpPr txBox="1"/>
          <p:nvPr/>
        </p:nvSpPr>
        <p:spPr>
          <a:xfrm>
            <a:off x="640080" y="2075688"/>
            <a:ext cx="10881360" cy="411480"/>
          </a:xfrm>
          <a:prstGeom prst="rect">
            <a:avLst/>
          </a:prstGeom>
          <a:noFill/>
        </p:spPr>
        <p:txBody>
          <a:bodyPr wrap="square">
            <a:spAutoFit/>
          </a:bodyPr>
          <a:lstStyle/>
          <a:p>
            <a:r>
              <a:rPr sz="2000" b="1">
                <a:solidFill>
                  <a:srgbClr val="1B5E6B"/>
                </a:solidFill>
                <a:latin typeface="Bricolage Grotesque"/>
              </a:rPr>
              <a:t>2.  Quiz sur les e-learnings Claude (10 min)</a:t>
            </a:r>
          </a:p>
        </p:txBody>
      </p:sp>
      <p:sp>
        <p:nvSpPr>
          <p:cNvPr id="7" name="TextBox 6"/>
          <p:cNvSpPr txBox="1"/>
          <p:nvPr/>
        </p:nvSpPr>
        <p:spPr>
          <a:xfrm>
            <a:off x="640080" y="2596896"/>
            <a:ext cx="10881360" cy="411480"/>
          </a:xfrm>
          <a:prstGeom prst="rect">
            <a:avLst/>
          </a:prstGeom>
          <a:noFill/>
        </p:spPr>
        <p:txBody>
          <a:bodyPr wrap="square">
            <a:spAutoFit/>
          </a:bodyPr>
          <a:lstStyle/>
          <a:p>
            <a:r>
              <a:rPr sz="2000" b="1">
                <a:solidFill>
                  <a:srgbClr val="1B5E6B"/>
                </a:solidFill>
                <a:latin typeface="Bricolage Grotesque"/>
              </a:rPr>
              <a:t>3.  Où ranger quoi dans Claude (20 min)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Le déroulé de ce matin</a:t>
            </a:r>
          </a:p>
        </p:txBody>
      </p:sp>
      <p:sp>
        <p:nvSpPr>
          <p:cNvPr id="5" name="TextBox 4"/>
          <p:cNvSpPr txBox="1"/>
          <p:nvPr/>
        </p:nvSpPr>
        <p:spPr>
          <a:xfrm>
            <a:off x="640080" y="1554480"/>
            <a:ext cx="10881360" cy="411480"/>
          </a:xfrm>
          <a:prstGeom prst="rect">
            <a:avLst/>
          </a:prstGeom>
          <a:noFill/>
        </p:spPr>
        <p:txBody>
          <a:bodyPr wrap="square">
            <a:spAutoFit/>
          </a:bodyPr>
          <a:lstStyle/>
          <a:p>
            <a:r>
              <a:rPr sz="2000" b="1">
                <a:solidFill>
                  <a:srgbClr val="1B5E6B"/>
                </a:solidFill>
                <a:latin typeface="Bricolage Grotesque"/>
              </a:rPr>
              <a:t>1.  Tour d'horizon : ce que tu as construit (10 min)</a:t>
            </a:r>
          </a:p>
        </p:txBody>
      </p:sp>
      <p:sp>
        <p:nvSpPr>
          <p:cNvPr id="6" name="TextBox 5"/>
          <p:cNvSpPr txBox="1"/>
          <p:nvPr/>
        </p:nvSpPr>
        <p:spPr>
          <a:xfrm>
            <a:off x="640080" y="2075688"/>
            <a:ext cx="10881360" cy="411480"/>
          </a:xfrm>
          <a:prstGeom prst="rect">
            <a:avLst/>
          </a:prstGeom>
          <a:noFill/>
        </p:spPr>
        <p:txBody>
          <a:bodyPr wrap="square">
            <a:spAutoFit/>
          </a:bodyPr>
          <a:lstStyle/>
          <a:p>
            <a:r>
              <a:rPr sz="2000" b="1">
                <a:solidFill>
                  <a:srgbClr val="1B5E6B"/>
                </a:solidFill>
                <a:latin typeface="Bricolage Grotesque"/>
              </a:rPr>
              <a:t>2.  Quiz sur les e-learnings Claude (10 min)</a:t>
            </a:r>
          </a:p>
        </p:txBody>
      </p:sp>
      <p:sp>
        <p:nvSpPr>
          <p:cNvPr id="7" name="TextBox 6"/>
          <p:cNvSpPr txBox="1"/>
          <p:nvPr/>
        </p:nvSpPr>
        <p:spPr>
          <a:xfrm>
            <a:off x="640080" y="2596896"/>
            <a:ext cx="10881360" cy="411480"/>
          </a:xfrm>
          <a:prstGeom prst="rect">
            <a:avLst/>
          </a:prstGeom>
          <a:noFill/>
        </p:spPr>
        <p:txBody>
          <a:bodyPr wrap="square">
            <a:spAutoFit/>
          </a:bodyPr>
          <a:lstStyle/>
          <a:p>
            <a:r>
              <a:rPr sz="2000" b="1">
                <a:solidFill>
                  <a:srgbClr val="1B5E6B"/>
                </a:solidFill>
                <a:latin typeface="Bricolage Grotesque"/>
              </a:rPr>
              <a:t>3.  Où ranger quoi dans Claude (20 min)</a:t>
            </a:r>
          </a:p>
        </p:txBody>
      </p:sp>
      <p:sp>
        <p:nvSpPr>
          <p:cNvPr id="8" name="TextBox 7"/>
          <p:cNvSpPr txBox="1"/>
          <p:nvPr/>
        </p:nvSpPr>
        <p:spPr>
          <a:xfrm>
            <a:off x="640080" y="3355848"/>
            <a:ext cx="10881360" cy="411480"/>
          </a:xfrm>
          <a:prstGeom prst="rect">
            <a:avLst/>
          </a:prstGeom>
          <a:noFill/>
        </p:spPr>
        <p:txBody>
          <a:bodyPr wrap="square">
            <a:spAutoFit/>
          </a:bodyPr>
          <a:lstStyle/>
          <a:p>
            <a:r>
              <a:rPr sz="2000" b="1">
                <a:solidFill>
                  <a:srgbClr val="1B5E6B"/>
                </a:solidFill>
                <a:latin typeface="Bricolage Grotesque"/>
              </a:rPr>
              <a:t>4.  Pratique 1 : ton organisation, décidée (25 min)</a:t>
            </a:r>
          </a:p>
        </p:txBody>
      </p:sp>
      <p:sp>
        <p:nvSpPr>
          <p:cNvPr id="9" name="TextBox 8"/>
          <p:cNvSpPr txBox="1"/>
          <p:nvPr/>
        </p:nvSpPr>
        <p:spPr>
          <a:xfrm>
            <a:off x="640080" y="3877056"/>
            <a:ext cx="10881360" cy="411480"/>
          </a:xfrm>
          <a:prstGeom prst="rect">
            <a:avLst/>
          </a:prstGeom>
          <a:noFill/>
        </p:spPr>
        <p:txBody>
          <a:bodyPr wrap="square">
            <a:spAutoFit/>
          </a:bodyPr>
          <a:lstStyle/>
          <a:p>
            <a:r>
              <a:rPr sz="2000" b="1">
                <a:solidFill>
                  <a:srgbClr val="1B5E6B"/>
                </a:solidFill>
                <a:latin typeface="Bricolage Grotesque"/>
              </a:rPr>
              <a:t>5.  Pratique 2 : ton skill « synthèse de séance » (40 min)</a:t>
            </a:r>
          </a:p>
        </p:txBody>
      </p:sp>
      <p:sp>
        <p:nvSpPr>
          <p:cNvPr id="10" name="TextBox 9"/>
          <p:cNvSpPr txBox="1"/>
          <p:nvPr/>
        </p:nvSpPr>
        <p:spPr>
          <a:xfrm>
            <a:off x="640080" y="4398264"/>
            <a:ext cx="10881360" cy="411480"/>
          </a:xfrm>
          <a:prstGeom prst="rect">
            <a:avLst/>
          </a:prstGeom>
          <a:noFill/>
        </p:spPr>
        <p:txBody>
          <a:bodyPr wrap="square">
            <a:spAutoFit/>
          </a:bodyPr>
          <a:lstStyle/>
          <a:p>
            <a:r>
              <a:rPr sz="2000" b="1">
                <a:solidFill>
                  <a:srgbClr val="1B5E6B"/>
                </a:solidFill>
                <a:latin typeface="Bricolage Grotesque"/>
              </a:rPr>
              <a:t>6.  Bonus si on avance vite : le questionnaire de valeurs</a:t>
            </a:r>
          </a:p>
        </p:txBody>
      </p:sp>
      <p:sp>
        <p:nvSpPr>
          <p:cNvPr id="11" name="TextBox 10"/>
          <p:cNvSpPr txBox="1"/>
          <p:nvPr/>
        </p:nvSpPr>
        <p:spPr>
          <a:xfrm>
            <a:off x="640080" y="4919472"/>
            <a:ext cx="10881360" cy="411480"/>
          </a:xfrm>
          <a:prstGeom prst="rect">
            <a:avLst/>
          </a:prstGeom>
          <a:noFill/>
        </p:spPr>
        <p:txBody>
          <a:bodyPr wrap="square">
            <a:spAutoFit/>
          </a:bodyPr>
          <a:lstStyle/>
          <a:p>
            <a:r>
              <a:rPr sz="2000" b="1">
                <a:solidFill>
                  <a:srgbClr val="1B5E6B"/>
                </a:solidFill>
                <a:latin typeface="Bricolage Grotesque"/>
              </a:rPr>
              <a:t>7.  Les devoirs (10 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965960"/>
            <a:ext cx="2743200" cy="36576"/>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515600" cy="731520"/>
          </a:xfrm>
          <a:prstGeom prst="rect">
            <a:avLst/>
          </a:prstGeom>
          <a:noFill/>
        </p:spPr>
        <p:txBody>
          <a:bodyPr wrap="square">
            <a:spAutoFit/>
          </a:bodyPr>
          <a:lstStyle/>
          <a:p>
            <a:pPr algn="l"/>
            <a:r>
              <a:rPr sz="2200" b="1">
                <a:solidFill>
                  <a:srgbClr val="E8A000"/>
                </a:solidFill>
                <a:latin typeface="Bricolage Grotesque"/>
              </a:rPr>
              <a:t>Séquence 1</a:t>
            </a:r>
          </a:p>
        </p:txBody>
      </p:sp>
      <p:sp>
        <p:nvSpPr>
          <p:cNvPr id="5" name="TextBox 4"/>
          <p:cNvSpPr txBox="1"/>
          <p:nvPr/>
        </p:nvSpPr>
        <p:spPr>
          <a:xfrm>
            <a:off x="640080" y="2286000"/>
            <a:ext cx="10698480" cy="1645920"/>
          </a:xfrm>
          <a:prstGeom prst="rect">
            <a:avLst/>
          </a:prstGeom>
          <a:noFill/>
        </p:spPr>
        <p:txBody>
          <a:bodyPr wrap="square">
            <a:spAutoFit/>
          </a:bodyPr>
          <a:lstStyle/>
          <a:p>
            <a:pPr algn="l"/>
            <a:r>
              <a:rPr sz="4200" b="1">
                <a:solidFill>
                  <a:srgbClr val="FFFFFF"/>
                </a:solidFill>
                <a:latin typeface="Bricolage Grotesque"/>
              </a:rPr>
              <a:t>Ce que tu as construit</a:t>
            </a:r>
          </a:p>
        </p:txBody>
      </p:sp>
      <p:sp>
        <p:nvSpPr>
          <p:cNvPr id="6" name="TextBox 5"/>
          <p:cNvSpPr txBox="1"/>
          <p:nvPr/>
        </p:nvSpPr>
        <p:spPr>
          <a:xfrm>
            <a:off x="640080" y="4023360"/>
            <a:ext cx="10515600" cy="731520"/>
          </a:xfrm>
          <a:prstGeom prst="rect">
            <a:avLst/>
          </a:prstGeom>
          <a:noFill/>
        </p:spPr>
        <p:txBody>
          <a:bodyPr wrap="square">
            <a:spAutoFit/>
          </a:bodyPr>
          <a:lstStyle/>
          <a:p>
            <a:pPr algn="l"/>
            <a:r>
              <a:rPr sz="2000" b="0">
                <a:solidFill>
                  <a:srgbClr val="5A8A8F"/>
                </a:solidFill>
                <a:latin typeface="Bricolage Grotesque"/>
              </a:rPr>
              <a:t>Partage d'écran : tu me montres</a:t>
            </a:r>
          </a:p>
        </p:txBody>
      </p:sp>
      <p:pic>
        <p:nvPicPr>
          <p:cNvPr id="7" name="Picture 6" descr="ia-round.png"/>
          <p:cNvPicPr>
            <a:picLocks noChangeAspect="1"/>
          </p:cNvPicPr>
          <p:nvPr/>
        </p:nvPicPr>
        <p:blipFill>
          <a:blip r:embed="rId2"/>
          <a:stretch>
            <a:fillRect/>
          </a:stretch>
        </p:blipFill>
        <p:spPr>
          <a:xfrm>
            <a:off x="457200" y="6217920"/>
            <a:ext cx="320040" cy="320040"/>
          </a:xfrm>
          <a:prstGeom prst="rect">
            <a:avLst/>
          </a:prstGeom>
        </p:spPr>
      </p:pic>
      <p:sp>
        <p:nvSpPr>
          <p:cNvPr id="8" name="TextBox 7"/>
          <p:cNvSpPr txBox="1"/>
          <p:nvPr/>
        </p:nvSpPr>
        <p:spPr>
          <a:xfrm>
            <a:off x="868680" y="619963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Tour d'horizon : tu me montres</a:t>
            </a:r>
          </a:p>
        </p:txBody>
      </p:sp>
      <p:sp>
        <p:nvSpPr>
          <p:cNvPr id="5" name="TextBox 4"/>
          <p:cNvSpPr txBox="1"/>
          <p:nvPr/>
        </p:nvSpPr>
        <p:spPr>
          <a:xfrm>
            <a:off x="640080" y="1554480"/>
            <a:ext cx="10881360" cy="411480"/>
          </a:xfrm>
          <a:prstGeom prst="rect">
            <a:avLst/>
          </a:prstGeom>
          <a:noFill/>
        </p:spPr>
        <p:txBody>
          <a:bodyPr wrap="square">
            <a:spAutoFit/>
          </a:bodyPr>
          <a:lstStyle/>
          <a:p>
            <a:r>
              <a:rPr sz="2000" b="1">
                <a:solidFill>
                  <a:srgbClr val="1B5E6B"/>
                </a:solidFill>
                <a:latin typeface="Bricolage Grotesque"/>
              </a:rPr>
              <a:t>1.  Ta formation créée dans Claude, sur le masque de l'organisme</a:t>
            </a:r>
          </a:p>
        </p:txBody>
      </p:sp>
      <p:sp>
        <p:nvSpPr>
          <p:cNvPr id="6" name="TextBox 5"/>
          <p:cNvSpPr txBox="1"/>
          <p:nvPr/>
        </p:nvSpPr>
        <p:spPr>
          <a:xfrm>
            <a:off x="640080" y="2075688"/>
            <a:ext cx="10881360" cy="411480"/>
          </a:xfrm>
          <a:prstGeom prst="rect">
            <a:avLst/>
          </a:prstGeom>
          <a:noFill/>
        </p:spPr>
        <p:txBody>
          <a:bodyPr wrap="square">
            <a:spAutoFit/>
          </a:bodyPr>
          <a:lstStyle/>
          <a:p>
            <a:r>
              <a:rPr sz="2000" b="1">
                <a:solidFill>
                  <a:srgbClr val="1B5E6B"/>
                </a:solidFill>
                <a:latin typeface="Bricolage Grotesque"/>
              </a:rPr>
              <a:t>2.  Ton OneDrive réorganisé : comment tu t'y es prise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Tour d'horizon : tu me montres</a:t>
            </a:r>
          </a:p>
        </p:txBody>
      </p:sp>
      <p:sp>
        <p:nvSpPr>
          <p:cNvPr id="5" name="TextBox 4"/>
          <p:cNvSpPr txBox="1"/>
          <p:nvPr/>
        </p:nvSpPr>
        <p:spPr>
          <a:xfrm>
            <a:off x="640080" y="1554480"/>
            <a:ext cx="10881360" cy="411480"/>
          </a:xfrm>
          <a:prstGeom prst="rect">
            <a:avLst/>
          </a:prstGeom>
          <a:noFill/>
        </p:spPr>
        <p:txBody>
          <a:bodyPr wrap="square">
            <a:spAutoFit/>
          </a:bodyPr>
          <a:lstStyle/>
          <a:p>
            <a:r>
              <a:rPr sz="2000" b="1">
                <a:solidFill>
                  <a:srgbClr val="1B5E6B"/>
                </a:solidFill>
                <a:latin typeface="Bricolage Grotesque"/>
              </a:rPr>
              <a:t>1.  Ta formation créée dans Claude, sur le masque de l'organisme</a:t>
            </a:r>
          </a:p>
        </p:txBody>
      </p:sp>
      <p:sp>
        <p:nvSpPr>
          <p:cNvPr id="6" name="TextBox 5"/>
          <p:cNvSpPr txBox="1"/>
          <p:nvPr/>
        </p:nvSpPr>
        <p:spPr>
          <a:xfrm>
            <a:off x="640080" y="2075688"/>
            <a:ext cx="10881360" cy="411480"/>
          </a:xfrm>
          <a:prstGeom prst="rect">
            <a:avLst/>
          </a:prstGeom>
          <a:noFill/>
        </p:spPr>
        <p:txBody>
          <a:bodyPr wrap="square">
            <a:spAutoFit/>
          </a:bodyPr>
          <a:lstStyle/>
          <a:p>
            <a:r>
              <a:rPr sz="2000" b="1">
                <a:solidFill>
                  <a:srgbClr val="1B5E6B"/>
                </a:solidFill>
                <a:latin typeface="Bricolage Grotesque"/>
              </a:rPr>
              <a:t>2.  Ton OneDrive réorganisé : comment tu t'y es prise</a:t>
            </a:r>
          </a:p>
        </p:txBody>
      </p:sp>
      <p:sp>
        <p:nvSpPr>
          <p:cNvPr id="7" name="TextBox 6"/>
          <p:cNvSpPr txBox="1"/>
          <p:nvPr/>
        </p:nvSpPr>
        <p:spPr>
          <a:xfrm>
            <a:off x="640080" y="2834640"/>
            <a:ext cx="10881360" cy="411480"/>
          </a:xfrm>
          <a:prstGeom prst="rect">
            <a:avLst/>
          </a:prstGeom>
          <a:noFill/>
        </p:spPr>
        <p:txBody>
          <a:bodyPr wrap="square">
            <a:spAutoFit/>
          </a:bodyPr>
          <a:lstStyle/>
          <a:p>
            <a:r>
              <a:rPr sz="2000" b="1">
                <a:solidFill>
                  <a:srgbClr val="1B5E6B"/>
                </a:solidFill>
                <a:latin typeface="Bricolage Grotesque"/>
              </a:rPr>
              <a:t>3.  Tes projets et tes skills actuels : ce qui ne te plaît pas</a:t>
            </a:r>
          </a:p>
        </p:txBody>
      </p:sp>
      <p:sp>
        <p:nvSpPr>
          <p:cNvPr id="8" name="TextBox 7"/>
          <p:cNvSpPr txBox="1"/>
          <p:nvPr/>
        </p:nvSpPr>
        <p:spPr>
          <a:xfrm>
            <a:off x="640080" y="3355848"/>
            <a:ext cx="10881360" cy="411480"/>
          </a:xfrm>
          <a:prstGeom prst="rect">
            <a:avLst/>
          </a:prstGeom>
          <a:noFill/>
        </p:spPr>
        <p:txBody>
          <a:bodyPr wrap="square">
            <a:spAutoFit/>
          </a:bodyPr>
          <a:lstStyle/>
          <a:p>
            <a:r>
              <a:rPr sz="2000" b="1">
                <a:solidFill>
                  <a:srgbClr val="1B5E6B"/>
                </a:solidFill>
                <a:latin typeface="Bricolage Grotesque"/>
              </a:rPr>
              <a:t>4.  Tes instructions et ta base de contexte : où elles sont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Claude sur tes fichiers</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Trois réflexes avant de lui confier un dossier</a:t>
            </a:r>
          </a:p>
        </p:txBody>
      </p:sp>
      <p:sp>
        <p:nvSpPr>
          <p:cNvPr id="6" name="TextBox 5"/>
          <p:cNvSpPr txBox="1"/>
          <p:nvPr/>
        </p:nvSpPr>
        <p:spPr>
          <a:xfrm>
            <a:off x="640080" y="2331720"/>
            <a:ext cx="10881360" cy="411480"/>
          </a:xfrm>
          <a:prstGeom prst="rect">
            <a:avLst/>
          </a:prstGeom>
          <a:noFill/>
        </p:spPr>
        <p:txBody>
          <a:bodyPr wrap="square">
            <a:spAutoFit/>
          </a:bodyPr>
          <a:lstStyle/>
          <a:p>
            <a:r>
              <a:rPr sz="2000" b="1">
                <a:solidFill>
                  <a:srgbClr val="1B5E6B"/>
                </a:solidFill>
                <a:latin typeface="Bricolage Grotesque"/>
              </a:rPr>
              <a:t>1.  Une copie d'abord, avant toute réorganisation.</a:t>
            </a:r>
          </a:p>
        </p:txBody>
      </p:sp>
      <p:sp>
        <p:nvSpPr>
          <p:cNvPr id="7" name="TextBox 6"/>
          <p:cNvSpPr txBox="1"/>
          <p:nvPr/>
        </p:nvSpPr>
        <p:spPr>
          <a:xfrm>
            <a:off x="640080" y="2852928"/>
            <a:ext cx="10881360" cy="411480"/>
          </a:xfrm>
          <a:prstGeom prst="rect">
            <a:avLst/>
          </a:prstGeom>
          <a:noFill/>
        </p:spPr>
        <p:txBody>
          <a:bodyPr wrap="square">
            <a:spAutoFit/>
          </a:bodyPr>
          <a:lstStyle/>
          <a:p>
            <a:r>
              <a:rPr sz="2000" b="1">
                <a:solidFill>
                  <a:srgbClr val="1B5E6B"/>
                </a:solidFill>
                <a:latin typeface="Bricolage Grotesque"/>
              </a:rPr>
              <a:t>2.  Un dossier précis, jamais tout ton OneDrive.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Claude sur tes fichiers</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Trois réflexes avant de lui confier un dossier</a:t>
            </a:r>
          </a:p>
        </p:txBody>
      </p:sp>
      <p:sp>
        <p:nvSpPr>
          <p:cNvPr id="6" name="TextBox 5"/>
          <p:cNvSpPr txBox="1"/>
          <p:nvPr/>
        </p:nvSpPr>
        <p:spPr>
          <a:xfrm>
            <a:off x="640080" y="2331720"/>
            <a:ext cx="10881360" cy="411480"/>
          </a:xfrm>
          <a:prstGeom prst="rect">
            <a:avLst/>
          </a:prstGeom>
          <a:noFill/>
        </p:spPr>
        <p:txBody>
          <a:bodyPr wrap="square">
            <a:spAutoFit/>
          </a:bodyPr>
          <a:lstStyle/>
          <a:p>
            <a:r>
              <a:rPr sz="2000" b="1">
                <a:solidFill>
                  <a:srgbClr val="1B5E6B"/>
                </a:solidFill>
                <a:latin typeface="Bricolage Grotesque"/>
              </a:rPr>
              <a:t>1.  Une copie d'abord, avant toute réorganisation.</a:t>
            </a:r>
          </a:p>
        </p:txBody>
      </p:sp>
      <p:sp>
        <p:nvSpPr>
          <p:cNvPr id="7" name="TextBox 6"/>
          <p:cNvSpPr txBox="1"/>
          <p:nvPr/>
        </p:nvSpPr>
        <p:spPr>
          <a:xfrm>
            <a:off x="640080" y="2852928"/>
            <a:ext cx="10881360" cy="411480"/>
          </a:xfrm>
          <a:prstGeom prst="rect">
            <a:avLst/>
          </a:prstGeom>
          <a:noFill/>
        </p:spPr>
        <p:txBody>
          <a:bodyPr wrap="square">
            <a:spAutoFit/>
          </a:bodyPr>
          <a:lstStyle/>
          <a:p>
            <a:r>
              <a:rPr sz="2000" b="1">
                <a:solidFill>
                  <a:srgbClr val="1B5E6B"/>
                </a:solidFill>
                <a:latin typeface="Bricolage Grotesque"/>
              </a:rPr>
              <a:t>2.  Un dossier précis, jamais tout ton OneDrive.</a:t>
            </a:r>
          </a:p>
        </p:txBody>
      </p:sp>
      <p:sp>
        <p:nvSpPr>
          <p:cNvPr id="8" name="TextBox 7"/>
          <p:cNvSpPr txBox="1"/>
          <p:nvPr/>
        </p:nvSpPr>
        <p:spPr>
          <a:xfrm>
            <a:off x="640080" y="3611880"/>
            <a:ext cx="10881360" cy="411480"/>
          </a:xfrm>
          <a:prstGeom prst="rect">
            <a:avLst/>
          </a:prstGeom>
          <a:noFill/>
        </p:spPr>
        <p:txBody>
          <a:bodyPr wrap="square">
            <a:spAutoFit/>
          </a:bodyPr>
          <a:lstStyle/>
          <a:p>
            <a:r>
              <a:rPr sz="2000" b="1">
                <a:solidFill>
                  <a:srgbClr val="1B5E6B"/>
                </a:solidFill>
                <a:latin typeface="Bricolage Grotesque"/>
              </a:rPr>
              <a:t>3.  Mode Manuel : Claude te demande avant chaque action.</a:t>
            </a:r>
          </a:p>
        </p:txBody>
      </p:sp>
      <p:sp>
        <p:nvSpPr>
          <p:cNvPr id="9" name="TextBox 8"/>
          <p:cNvSpPr txBox="1"/>
          <p:nvPr/>
        </p:nvSpPr>
        <p:spPr>
          <a:xfrm>
            <a:off x="640080" y="4133088"/>
            <a:ext cx="10881360" cy="411480"/>
          </a:xfrm>
          <a:prstGeom prst="rect">
            <a:avLst/>
          </a:prstGeom>
          <a:noFill/>
        </p:spPr>
        <p:txBody>
          <a:bodyPr wrap="square">
            <a:spAutoFit/>
          </a:bodyPr>
          <a:lstStyle/>
          <a:p>
            <a:r>
              <a:rPr sz="2000" b="0">
                <a:solidFill>
                  <a:srgbClr val="333333"/>
                </a:solidFill>
                <a:latin typeface="Bricolage Grotesque"/>
              </a:rPr>
              <a:t>Il demande aussi avant de supprimer un fichier pour de bon.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965960"/>
            <a:ext cx="2743200" cy="36576"/>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515600" cy="731520"/>
          </a:xfrm>
          <a:prstGeom prst="rect">
            <a:avLst/>
          </a:prstGeom>
          <a:noFill/>
        </p:spPr>
        <p:txBody>
          <a:bodyPr wrap="square">
            <a:spAutoFit/>
          </a:bodyPr>
          <a:lstStyle/>
          <a:p>
            <a:pPr algn="l"/>
            <a:r>
              <a:rPr sz="2200" b="1">
                <a:solidFill>
                  <a:srgbClr val="E8A000"/>
                </a:solidFill>
                <a:latin typeface="Bricolage Grotesque"/>
              </a:rPr>
              <a:t>Séquence 2</a:t>
            </a:r>
          </a:p>
        </p:txBody>
      </p:sp>
      <p:sp>
        <p:nvSpPr>
          <p:cNvPr id="5" name="TextBox 4"/>
          <p:cNvSpPr txBox="1"/>
          <p:nvPr/>
        </p:nvSpPr>
        <p:spPr>
          <a:xfrm>
            <a:off x="640080" y="2286000"/>
            <a:ext cx="10698480" cy="1645920"/>
          </a:xfrm>
          <a:prstGeom prst="rect">
            <a:avLst/>
          </a:prstGeom>
          <a:noFill/>
        </p:spPr>
        <p:txBody>
          <a:bodyPr wrap="square">
            <a:spAutoFit/>
          </a:bodyPr>
          <a:lstStyle/>
          <a:p>
            <a:pPr algn="l"/>
            <a:r>
              <a:rPr sz="4200" b="1">
                <a:solidFill>
                  <a:srgbClr val="FFFFFF"/>
                </a:solidFill>
                <a:latin typeface="Bricolage Grotesque"/>
              </a:rPr>
              <a:t>Quiz d'ouverture</a:t>
            </a:r>
          </a:p>
        </p:txBody>
      </p:sp>
      <p:sp>
        <p:nvSpPr>
          <p:cNvPr id="6" name="TextBox 5"/>
          <p:cNvSpPr txBox="1"/>
          <p:nvPr/>
        </p:nvSpPr>
        <p:spPr>
          <a:xfrm>
            <a:off x="640080" y="4023360"/>
            <a:ext cx="10515600" cy="731520"/>
          </a:xfrm>
          <a:prstGeom prst="rect">
            <a:avLst/>
          </a:prstGeom>
          <a:noFill/>
        </p:spPr>
        <p:txBody>
          <a:bodyPr wrap="square">
            <a:spAutoFit/>
          </a:bodyPr>
          <a:lstStyle/>
          <a:p>
            <a:pPr algn="l"/>
            <a:r>
              <a:rPr sz="2000" b="0">
                <a:solidFill>
                  <a:srgbClr val="5A8A8F"/>
                </a:solidFill>
                <a:latin typeface="Bricolage Grotesque"/>
              </a:rPr>
              <a:t>Cinq questions : la séance 1 et tes e-learnings Claude</a:t>
            </a:r>
          </a:p>
        </p:txBody>
      </p:sp>
      <p:pic>
        <p:nvPicPr>
          <p:cNvPr id="7" name="Picture 6" descr="ia-round.png"/>
          <p:cNvPicPr>
            <a:picLocks noChangeAspect="1"/>
          </p:cNvPicPr>
          <p:nvPr/>
        </p:nvPicPr>
        <p:blipFill>
          <a:blip r:embed="rId2"/>
          <a:stretch>
            <a:fillRect/>
          </a:stretch>
        </p:blipFill>
        <p:spPr>
          <a:xfrm>
            <a:off x="457200" y="6217920"/>
            <a:ext cx="320040" cy="320040"/>
          </a:xfrm>
          <a:prstGeom prst="rect">
            <a:avLst/>
          </a:prstGeom>
        </p:spPr>
      </p:pic>
      <p:sp>
        <p:nvSpPr>
          <p:cNvPr id="8" name="TextBox 7"/>
          <p:cNvSpPr txBox="1"/>
          <p:nvPr/>
        </p:nvSpPr>
        <p:spPr>
          <a:xfrm>
            <a:off x="868680" y="619963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Quiz · Question 1 / 5</a:t>
            </a:r>
          </a:p>
        </p:txBody>
      </p:sp>
      <p:sp>
        <p:nvSpPr>
          <p:cNvPr id="5" name="TextBox 4"/>
          <p:cNvSpPr txBox="1"/>
          <p:nvPr/>
        </p:nvSpPr>
        <p:spPr>
          <a:xfrm>
            <a:off x="640080" y="1417320"/>
            <a:ext cx="10881360" cy="731520"/>
          </a:xfrm>
          <a:prstGeom prst="rect">
            <a:avLst/>
          </a:prstGeom>
          <a:noFill/>
        </p:spPr>
        <p:txBody>
          <a:bodyPr wrap="square">
            <a:spAutoFit/>
          </a:bodyPr>
          <a:lstStyle/>
          <a:p>
            <a:pPr algn="l"/>
            <a:r>
              <a:rPr sz="2400" b="1">
                <a:solidFill>
                  <a:srgbClr val="1A1A1A"/>
                </a:solidFill>
                <a:latin typeface="Bricolage Grotesque"/>
              </a:rPr>
              <a:t>Séance 1 : « Le projet donne le contexte, le skill donne… »</a:t>
            </a:r>
          </a:p>
        </p:txBody>
      </p:sp>
      <p:sp>
        <p:nvSpPr>
          <p:cNvPr id="6" name="Rounded Rectangle 5"/>
          <p:cNvSpPr/>
          <p:nvPr/>
        </p:nvSpPr>
        <p:spPr>
          <a:xfrm>
            <a:off x="640080" y="228600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59152"/>
            <a:ext cx="10515600" cy="384048"/>
          </a:xfrm>
          <a:prstGeom prst="rect">
            <a:avLst/>
          </a:prstGeom>
          <a:noFill/>
        </p:spPr>
        <p:txBody>
          <a:bodyPr wrap="square">
            <a:spAutoFit/>
          </a:bodyPr>
          <a:lstStyle/>
          <a:p>
            <a:pPr algn="l"/>
            <a:r>
              <a:rPr sz="1900" b="0">
                <a:solidFill>
                  <a:srgbClr val="333333"/>
                </a:solidFill>
                <a:latin typeface="Bricolage Grotesque"/>
              </a:rPr>
              <a:t>A.  …la mémoire</a:t>
            </a:r>
          </a:p>
        </p:txBody>
      </p:sp>
      <p:sp>
        <p:nvSpPr>
          <p:cNvPr id="8" name="Rounded Rectangle 7"/>
          <p:cNvSpPr/>
          <p:nvPr/>
        </p:nvSpPr>
        <p:spPr>
          <a:xfrm>
            <a:off x="640080" y="292608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99232"/>
            <a:ext cx="10515600" cy="384048"/>
          </a:xfrm>
          <a:prstGeom prst="rect">
            <a:avLst/>
          </a:prstGeom>
          <a:noFill/>
        </p:spPr>
        <p:txBody>
          <a:bodyPr wrap="square">
            <a:spAutoFit/>
          </a:bodyPr>
          <a:lstStyle/>
          <a:p>
            <a:pPr algn="l"/>
            <a:r>
              <a:rPr sz="1900" b="0">
                <a:solidFill>
                  <a:srgbClr val="333333"/>
                </a:solidFill>
                <a:latin typeface="Bricolage Grotesque"/>
              </a:rPr>
              <a:t>B.  …la façon de faire</a:t>
            </a:r>
          </a:p>
        </p:txBody>
      </p:sp>
      <p:sp>
        <p:nvSpPr>
          <p:cNvPr id="10" name="Rounded Rectangle 9"/>
          <p:cNvSpPr/>
          <p:nvPr/>
        </p:nvSpPr>
        <p:spPr>
          <a:xfrm>
            <a:off x="640080" y="356616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39312"/>
            <a:ext cx="10515600" cy="384048"/>
          </a:xfrm>
          <a:prstGeom prst="rect">
            <a:avLst/>
          </a:prstGeom>
          <a:noFill/>
        </p:spPr>
        <p:txBody>
          <a:bodyPr wrap="square">
            <a:spAutoFit/>
          </a:bodyPr>
          <a:lstStyle/>
          <a:p>
            <a:pPr algn="l"/>
            <a:r>
              <a:rPr sz="1900" b="0">
                <a:solidFill>
                  <a:srgbClr val="333333"/>
                </a:solidFill>
                <a:latin typeface="Bricolage Grotesque"/>
              </a:rPr>
              <a:t>C.  …les fichiers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Quiz · Question 1 / 5</a:t>
            </a:r>
          </a:p>
        </p:txBody>
      </p:sp>
      <p:sp>
        <p:nvSpPr>
          <p:cNvPr id="5" name="TextBox 4"/>
          <p:cNvSpPr txBox="1"/>
          <p:nvPr/>
        </p:nvSpPr>
        <p:spPr>
          <a:xfrm>
            <a:off x="640080" y="1417320"/>
            <a:ext cx="10881360" cy="731520"/>
          </a:xfrm>
          <a:prstGeom prst="rect">
            <a:avLst/>
          </a:prstGeom>
          <a:noFill/>
        </p:spPr>
        <p:txBody>
          <a:bodyPr wrap="square">
            <a:spAutoFit/>
          </a:bodyPr>
          <a:lstStyle/>
          <a:p>
            <a:pPr algn="l"/>
            <a:r>
              <a:rPr sz="2400" b="1">
                <a:solidFill>
                  <a:srgbClr val="1A1A1A"/>
                </a:solidFill>
                <a:latin typeface="Bricolage Grotesque"/>
              </a:rPr>
              <a:t>Séance 1 : « Le projet donne le contexte, le skill donne… »</a:t>
            </a:r>
          </a:p>
        </p:txBody>
      </p:sp>
      <p:sp>
        <p:nvSpPr>
          <p:cNvPr id="6" name="Rounded Rectangle 5"/>
          <p:cNvSpPr/>
          <p:nvPr/>
        </p:nvSpPr>
        <p:spPr>
          <a:xfrm>
            <a:off x="640080" y="228600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59152"/>
            <a:ext cx="10515600" cy="384048"/>
          </a:xfrm>
          <a:prstGeom prst="rect">
            <a:avLst/>
          </a:prstGeom>
          <a:noFill/>
        </p:spPr>
        <p:txBody>
          <a:bodyPr wrap="square">
            <a:spAutoFit/>
          </a:bodyPr>
          <a:lstStyle/>
          <a:p>
            <a:pPr algn="l"/>
            <a:r>
              <a:rPr sz="1900" b="0">
                <a:solidFill>
                  <a:srgbClr val="333333"/>
                </a:solidFill>
                <a:latin typeface="Bricolage Grotesque"/>
              </a:rPr>
              <a:t>A.  …la mémoire</a:t>
            </a:r>
          </a:p>
        </p:txBody>
      </p:sp>
      <p:sp>
        <p:nvSpPr>
          <p:cNvPr id="8" name="Rounded Rectangle 7"/>
          <p:cNvSpPr/>
          <p:nvPr/>
        </p:nvSpPr>
        <p:spPr>
          <a:xfrm>
            <a:off x="640080" y="292608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99232"/>
            <a:ext cx="10515600" cy="384048"/>
          </a:xfrm>
          <a:prstGeom prst="rect">
            <a:avLst/>
          </a:prstGeom>
          <a:noFill/>
        </p:spPr>
        <p:txBody>
          <a:bodyPr wrap="square">
            <a:spAutoFit/>
          </a:bodyPr>
          <a:lstStyle/>
          <a:p>
            <a:pPr algn="l"/>
            <a:r>
              <a:rPr sz="1900" b="0">
                <a:solidFill>
                  <a:srgbClr val="333333"/>
                </a:solidFill>
                <a:latin typeface="Bricolage Grotesque"/>
              </a:rPr>
              <a:t>B.  …la façon de faire</a:t>
            </a:r>
          </a:p>
        </p:txBody>
      </p:sp>
      <p:sp>
        <p:nvSpPr>
          <p:cNvPr id="10" name="Rounded Rectangle 9"/>
          <p:cNvSpPr/>
          <p:nvPr/>
        </p:nvSpPr>
        <p:spPr>
          <a:xfrm>
            <a:off x="640080" y="356616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39312"/>
            <a:ext cx="10515600" cy="384048"/>
          </a:xfrm>
          <a:prstGeom prst="rect">
            <a:avLst/>
          </a:prstGeom>
          <a:noFill/>
        </p:spPr>
        <p:txBody>
          <a:bodyPr wrap="square">
            <a:spAutoFit/>
          </a:bodyPr>
          <a:lstStyle/>
          <a:p>
            <a:pPr algn="l"/>
            <a:r>
              <a:rPr sz="1900" b="0">
                <a:solidFill>
                  <a:srgbClr val="333333"/>
                </a:solidFill>
                <a:latin typeface="Bricolage Grotesque"/>
              </a:rPr>
              <a:t>C.  …les fichiers</a:t>
            </a:r>
          </a:p>
        </p:txBody>
      </p:sp>
      <p:sp>
        <p:nvSpPr>
          <p:cNvPr id="12" name="Rounded Rectangle 11"/>
          <p:cNvSpPr/>
          <p:nvPr/>
        </p:nvSpPr>
        <p:spPr>
          <a:xfrm>
            <a:off x="640080" y="4343400"/>
            <a:ext cx="10881360" cy="105156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434840"/>
            <a:ext cx="10515600" cy="384048"/>
          </a:xfrm>
          <a:prstGeom prst="rect">
            <a:avLst/>
          </a:prstGeom>
          <a:noFill/>
        </p:spPr>
        <p:txBody>
          <a:bodyPr wrap="square">
            <a:spAutoFit/>
          </a:bodyPr>
          <a:lstStyle/>
          <a:p>
            <a:pPr algn="l"/>
            <a:r>
              <a:rPr sz="1800" b="1">
                <a:solidFill>
                  <a:srgbClr val="FFFFFF"/>
                </a:solidFill>
                <a:latin typeface="Bricolage Grotesque"/>
              </a:rPr>
              <a:t>B. Le projet dit QUOI (ton activité), le skill dit COMMENT (ta méthode).</a:t>
            </a:r>
          </a:p>
        </p:txBody>
      </p:sp>
      <p:sp>
        <p:nvSpPr>
          <p:cNvPr id="14" name="TextBox 13"/>
          <p:cNvSpPr txBox="1"/>
          <p:nvPr/>
        </p:nvSpPr>
        <p:spPr>
          <a:xfrm>
            <a:off x="868680" y="4864607"/>
            <a:ext cx="10515600" cy="384048"/>
          </a:xfrm>
          <a:prstGeom prst="rect">
            <a:avLst/>
          </a:prstGeom>
          <a:noFill/>
        </p:spPr>
        <p:txBody>
          <a:bodyPr wrap="square">
            <a:spAutoFit/>
          </a:bodyPr>
          <a:lstStyle/>
          <a:p>
            <a:pPr algn="l"/>
            <a:r>
              <a:rPr sz="1800" b="1">
                <a:solidFill>
                  <a:srgbClr val="FFFFFF"/>
                </a:solidFill>
                <a:latin typeface="Bricolage Grotesque"/>
              </a:rPr>
              <a:t>C'est la clé de tout ce qu'on range aujourd'hui.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Quiz · Question 2 / 5</a:t>
            </a:r>
          </a:p>
        </p:txBody>
      </p:sp>
      <p:sp>
        <p:nvSpPr>
          <p:cNvPr id="5" name="TextBox 4"/>
          <p:cNvSpPr txBox="1"/>
          <p:nvPr/>
        </p:nvSpPr>
        <p:spPr>
          <a:xfrm>
            <a:off x="640080" y="1417320"/>
            <a:ext cx="10881360" cy="731520"/>
          </a:xfrm>
          <a:prstGeom prst="rect">
            <a:avLst/>
          </a:prstGeom>
          <a:noFill/>
        </p:spPr>
        <p:txBody>
          <a:bodyPr wrap="square">
            <a:spAutoFit/>
          </a:bodyPr>
          <a:lstStyle/>
          <a:p>
            <a:pPr algn="l"/>
            <a:r>
              <a:rPr sz="2400" b="1">
                <a:solidFill>
                  <a:srgbClr val="1A1A1A"/>
                </a:solidFill>
                <a:latin typeface="Bricolage Grotesque"/>
              </a:rPr>
              <a:t>Dans un projet, tes Instructions pour Claude et celles du projet…</a:t>
            </a:r>
          </a:p>
        </p:txBody>
      </p:sp>
      <p:sp>
        <p:nvSpPr>
          <p:cNvPr id="6" name="Rounded Rectangle 5"/>
          <p:cNvSpPr/>
          <p:nvPr/>
        </p:nvSpPr>
        <p:spPr>
          <a:xfrm>
            <a:off x="640080" y="228600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59152"/>
            <a:ext cx="10515600" cy="384048"/>
          </a:xfrm>
          <a:prstGeom prst="rect">
            <a:avLst/>
          </a:prstGeom>
          <a:noFill/>
        </p:spPr>
        <p:txBody>
          <a:bodyPr wrap="square">
            <a:spAutoFit/>
          </a:bodyPr>
          <a:lstStyle/>
          <a:p>
            <a:pPr algn="l"/>
            <a:r>
              <a:rPr sz="1900" b="0">
                <a:solidFill>
                  <a:srgbClr val="333333"/>
                </a:solidFill>
                <a:latin typeface="Bricolage Grotesque"/>
              </a:rPr>
              <a:t>A.  Celles du projet remplacent les tiennes</a:t>
            </a:r>
          </a:p>
        </p:txBody>
      </p:sp>
      <p:sp>
        <p:nvSpPr>
          <p:cNvPr id="8" name="Rounded Rectangle 7"/>
          <p:cNvSpPr/>
          <p:nvPr/>
        </p:nvSpPr>
        <p:spPr>
          <a:xfrm>
            <a:off x="640080" y="292608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99232"/>
            <a:ext cx="10515600" cy="384048"/>
          </a:xfrm>
          <a:prstGeom prst="rect">
            <a:avLst/>
          </a:prstGeom>
          <a:noFill/>
        </p:spPr>
        <p:txBody>
          <a:bodyPr wrap="square">
            <a:spAutoFit/>
          </a:bodyPr>
          <a:lstStyle/>
          <a:p>
            <a:pPr algn="l"/>
            <a:r>
              <a:rPr sz="1900" b="0">
                <a:solidFill>
                  <a:srgbClr val="333333"/>
                </a:solidFill>
                <a:latin typeface="Bricolage Grotesque"/>
              </a:rPr>
              <a:t>B.  Elles s'additionnent</a:t>
            </a:r>
          </a:p>
        </p:txBody>
      </p:sp>
      <p:sp>
        <p:nvSpPr>
          <p:cNvPr id="10" name="Rounded Rectangle 9"/>
          <p:cNvSpPr/>
          <p:nvPr/>
        </p:nvSpPr>
        <p:spPr>
          <a:xfrm>
            <a:off x="640080" y="356616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39312"/>
            <a:ext cx="10515600" cy="384048"/>
          </a:xfrm>
          <a:prstGeom prst="rect">
            <a:avLst/>
          </a:prstGeom>
          <a:noFill/>
        </p:spPr>
        <p:txBody>
          <a:bodyPr wrap="square">
            <a:spAutoFit/>
          </a:bodyPr>
          <a:lstStyle/>
          <a:p>
            <a:pPr algn="l"/>
            <a:r>
              <a:rPr sz="1900" b="0">
                <a:solidFill>
                  <a:srgbClr val="333333"/>
                </a:solidFill>
                <a:latin typeface="Bricolage Grotesque"/>
              </a:rPr>
              <a:t>C.  Claude ne lit que celles de ton compte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Quiz · Question 2 / 5</a:t>
            </a:r>
          </a:p>
        </p:txBody>
      </p:sp>
      <p:sp>
        <p:nvSpPr>
          <p:cNvPr id="5" name="TextBox 4"/>
          <p:cNvSpPr txBox="1"/>
          <p:nvPr/>
        </p:nvSpPr>
        <p:spPr>
          <a:xfrm>
            <a:off x="640080" y="1417320"/>
            <a:ext cx="10881360" cy="731520"/>
          </a:xfrm>
          <a:prstGeom prst="rect">
            <a:avLst/>
          </a:prstGeom>
          <a:noFill/>
        </p:spPr>
        <p:txBody>
          <a:bodyPr wrap="square">
            <a:spAutoFit/>
          </a:bodyPr>
          <a:lstStyle/>
          <a:p>
            <a:pPr algn="l"/>
            <a:r>
              <a:rPr sz="2400" b="1">
                <a:solidFill>
                  <a:srgbClr val="1A1A1A"/>
                </a:solidFill>
                <a:latin typeface="Bricolage Grotesque"/>
              </a:rPr>
              <a:t>Dans un projet, tes Instructions pour Claude et celles du projet…</a:t>
            </a:r>
          </a:p>
        </p:txBody>
      </p:sp>
      <p:sp>
        <p:nvSpPr>
          <p:cNvPr id="6" name="Rounded Rectangle 5"/>
          <p:cNvSpPr/>
          <p:nvPr/>
        </p:nvSpPr>
        <p:spPr>
          <a:xfrm>
            <a:off x="640080" y="228600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59152"/>
            <a:ext cx="10515600" cy="384048"/>
          </a:xfrm>
          <a:prstGeom prst="rect">
            <a:avLst/>
          </a:prstGeom>
          <a:noFill/>
        </p:spPr>
        <p:txBody>
          <a:bodyPr wrap="square">
            <a:spAutoFit/>
          </a:bodyPr>
          <a:lstStyle/>
          <a:p>
            <a:pPr algn="l"/>
            <a:r>
              <a:rPr sz="1900" b="0">
                <a:solidFill>
                  <a:srgbClr val="333333"/>
                </a:solidFill>
                <a:latin typeface="Bricolage Grotesque"/>
              </a:rPr>
              <a:t>A.  Celles du projet remplacent les tiennes</a:t>
            </a:r>
          </a:p>
        </p:txBody>
      </p:sp>
      <p:sp>
        <p:nvSpPr>
          <p:cNvPr id="8" name="Rounded Rectangle 7"/>
          <p:cNvSpPr/>
          <p:nvPr/>
        </p:nvSpPr>
        <p:spPr>
          <a:xfrm>
            <a:off x="640080" y="292608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99232"/>
            <a:ext cx="10515600" cy="384048"/>
          </a:xfrm>
          <a:prstGeom prst="rect">
            <a:avLst/>
          </a:prstGeom>
          <a:noFill/>
        </p:spPr>
        <p:txBody>
          <a:bodyPr wrap="square">
            <a:spAutoFit/>
          </a:bodyPr>
          <a:lstStyle/>
          <a:p>
            <a:pPr algn="l"/>
            <a:r>
              <a:rPr sz="1900" b="0">
                <a:solidFill>
                  <a:srgbClr val="333333"/>
                </a:solidFill>
                <a:latin typeface="Bricolage Grotesque"/>
              </a:rPr>
              <a:t>B.  Elles s'additionnent</a:t>
            </a:r>
          </a:p>
        </p:txBody>
      </p:sp>
      <p:sp>
        <p:nvSpPr>
          <p:cNvPr id="10" name="Rounded Rectangle 9"/>
          <p:cNvSpPr/>
          <p:nvPr/>
        </p:nvSpPr>
        <p:spPr>
          <a:xfrm>
            <a:off x="640080" y="356616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39312"/>
            <a:ext cx="10515600" cy="384048"/>
          </a:xfrm>
          <a:prstGeom prst="rect">
            <a:avLst/>
          </a:prstGeom>
          <a:noFill/>
        </p:spPr>
        <p:txBody>
          <a:bodyPr wrap="square">
            <a:spAutoFit/>
          </a:bodyPr>
          <a:lstStyle/>
          <a:p>
            <a:pPr algn="l"/>
            <a:r>
              <a:rPr sz="1900" b="0">
                <a:solidFill>
                  <a:srgbClr val="333333"/>
                </a:solidFill>
                <a:latin typeface="Bricolage Grotesque"/>
              </a:rPr>
              <a:t>C.  Claude ne lit que celles de ton compte</a:t>
            </a:r>
          </a:p>
        </p:txBody>
      </p:sp>
      <p:sp>
        <p:nvSpPr>
          <p:cNvPr id="12" name="Rounded Rectangle 11"/>
          <p:cNvSpPr/>
          <p:nvPr/>
        </p:nvSpPr>
        <p:spPr>
          <a:xfrm>
            <a:off x="640080" y="4343400"/>
            <a:ext cx="10881360" cy="105156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434840"/>
            <a:ext cx="10515600" cy="384048"/>
          </a:xfrm>
          <a:prstGeom prst="rect">
            <a:avLst/>
          </a:prstGeom>
          <a:noFill/>
        </p:spPr>
        <p:txBody>
          <a:bodyPr wrap="square">
            <a:spAutoFit/>
          </a:bodyPr>
          <a:lstStyle/>
          <a:p>
            <a:pPr algn="l"/>
            <a:r>
              <a:rPr sz="1800" b="1">
                <a:solidFill>
                  <a:srgbClr val="FFFFFF"/>
                </a:solidFill>
                <a:latin typeface="Bricolage Grotesque"/>
              </a:rPr>
              <a:t>B. Les deux sont lues. D'où la règle : jamais la même consigne aux deux endroits,</a:t>
            </a:r>
          </a:p>
        </p:txBody>
      </p:sp>
      <p:sp>
        <p:nvSpPr>
          <p:cNvPr id="14" name="TextBox 13"/>
          <p:cNvSpPr txBox="1"/>
          <p:nvPr/>
        </p:nvSpPr>
        <p:spPr>
          <a:xfrm>
            <a:off x="868680" y="4864607"/>
            <a:ext cx="10515600" cy="384048"/>
          </a:xfrm>
          <a:prstGeom prst="rect">
            <a:avLst/>
          </a:prstGeom>
          <a:noFill/>
        </p:spPr>
        <p:txBody>
          <a:bodyPr wrap="square">
            <a:spAutoFit/>
          </a:bodyPr>
          <a:lstStyle/>
          <a:p>
            <a:pPr algn="l"/>
            <a:r>
              <a:rPr sz="1800" b="1">
                <a:solidFill>
                  <a:srgbClr val="FFFFFF"/>
                </a:solidFill>
                <a:latin typeface="Bricolage Grotesque"/>
              </a:rPr>
              <a:t>sinon elles finissent par se contredire.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Quiz · Question 3 / 5</a:t>
            </a:r>
          </a:p>
        </p:txBody>
      </p:sp>
      <p:sp>
        <p:nvSpPr>
          <p:cNvPr id="5" name="TextBox 4"/>
          <p:cNvSpPr txBox="1"/>
          <p:nvPr/>
        </p:nvSpPr>
        <p:spPr>
          <a:xfrm>
            <a:off x="640080" y="1417320"/>
            <a:ext cx="10881360" cy="731520"/>
          </a:xfrm>
          <a:prstGeom prst="rect">
            <a:avLst/>
          </a:prstGeom>
          <a:noFill/>
        </p:spPr>
        <p:txBody>
          <a:bodyPr wrap="square">
            <a:spAutoFit/>
          </a:bodyPr>
          <a:lstStyle/>
          <a:p>
            <a:pPr algn="l"/>
            <a:r>
              <a:rPr sz="2400" b="1">
                <a:solidFill>
                  <a:srgbClr val="1A1A1A"/>
                </a:solidFill>
                <a:latin typeface="Bricolage Grotesque"/>
              </a:rPr>
              <a:t>Un document change chaque semaine : comment l'ajouter ?</a:t>
            </a:r>
          </a:p>
        </p:txBody>
      </p:sp>
      <p:sp>
        <p:nvSpPr>
          <p:cNvPr id="6" name="Rounded Rectangle 5"/>
          <p:cNvSpPr/>
          <p:nvPr/>
        </p:nvSpPr>
        <p:spPr>
          <a:xfrm>
            <a:off x="640080" y="228600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59152"/>
            <a:ext cx="10515600" cy="384048"/>
          </a:xfrm>
          <a:prstGeom prst="rect">
            <a:avLst/>
          </a:prstGeom>
          <a:noFill/>
        </p:spPr>
        <p:txBody>
          <a:bodyPr wrap="square">
            <a:spAutoFit/>
          </a:bodyPr>
          <a:lstStyle/>
          <a:p>
            <a:pPr algn="l"/>
            <a:r>
              <a:rPr sz="1900" b="0">
                <a:solidFill>
                  <a:srgbClr val="333333"/>
                </a:solidFill>
                <a:latin typeface="Bricolage Grotesque"/>
              </a:rPr>
              <a:t>A.  Le téléverser à nouveau chaque lundi</a:t>
            </a:r>
          </a:p>
        </p:txBody>
      </p:sp>
      <p:sp>
        <p:nvSpPr>
          <p:cNvPr id="8" name="Rounded Rectangle 7"/>
          <p:cNvSpPr/>
          <p:nvPr/>
        </p:nvSpPr>
        <p:spPr>
          <a:xfrm>
            <a:off x="640080" y="292608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99232"/>
            <a:ext cx="10515600" cy="384048"/>
          </a:xfrm>
          <a:prstGeom prst="rect">
            <a:avLst/>
          </a:prstGeom>
          <a:noFill/>
        </p:spPr>
        <p:txBody>
          <a:bodyPr wrap="square">
            <a:spAutoFit/>
          </a:bodyPr>
          <a:lstStyle/>
          <a:p>
            <a:pPr algn="l"/>
            <a:r>
              <a:rPr sz="1900" b="0">
                <a:solidFill>
                  <a:srgbClr val="333333"/>
                </a:solidFill>
                <a:latin typeface="Bricolage Grotesque"/>
              </a:rPr>
              <a:t>B.  L'ajouter depuis Google Drive : il se met à jour tout seul</a:t>
            </a:r>
          </a:p>
        </p:txBody>
      </p:sp>
      <p:sp>
        <p:nvSpPr>
          <p:cNvPr id="10" name="Rounded Rectangle 9"/>
          <p:cNvSpPr/>
          <p:nvPr/>
        </p:nvSpPr>
        <p:spPr>
          <a:xfrm>
            <a:off x="640080" y="356616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39312"/>
            <a:ext cx="10515600" cy="384048"/>
          </a:xfrm>
          <a:prstGeom prst="rect">
            <a:avLst/>
          </a:prstGeom>
          <a:noFill/>
        </p:spPr>
        <p:txBody>
          <a:bodyPr wrap="square">
            <a:spAutoFit/>
          </a:bodyPr>
          <a:lstStyle/>
          <a:p>
            <a:pPr algn="l"/>
            <a:r>
              <a:rPr sz="1900" b="0">
                <a:solidFill>
                  <a:srgbClr val="333333"/>
                </a:solidFill>
                <a:latin typeface="Bricolage Grotesque"/>
              </a:rPr>
              <a:t>C.  Le recopier dans les instructions du projet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Quiz · Question 3 / 5</a:t>
            </a:r>
          </a:p>
        </p:txBody>
      </p:sp>
      <p:sp>
        <p:nvSpPr>
          <p:cNvPr id="5" name="TextBox 4"/>
          <p:cNvSpPr txBox="1"/>
          <p:nvPr/>
        </p:nvSpPr>
        <p:spPr>
          <a:xfrm>
            <a:off x="640080" y="1417320"/>
            <a:ext cx="10881360" cy="731520"/>
          </a:xfrm>
          <a:prstGeom prst="rect">
            <a:avLst/>
          </a:prstGeom>
          <a:noFill/>
        </p:spPr>
        <p:txBody>
          <a:bodyPr wrap="square">
            <a:spAutoFit/>
          </a:bodyPr>
          <a:lstStyle/>
          <a:p>
            <a:pPr algn="l"/>
            <a:r>
              <a:rPr sz="2400" b="1">
                <a:solidFill>
                  <a:srgbClr val="1A1A1A"/>
                </a:solidFill>
                <a:latin typeface="Bricolage Grotesque"/>
              </a:rPr>
              <a:t>Un document change chaque semaine : comment l'ajouter ?</a:t>
            </a:r>
          </a:p>
        </p:txBody>
      </p:sp>
      <p:sp>
        <p:nvSpPr>
          <p:cNvPr id="6" name="Rounded Rectangle 5"/>
          <p:cNvSpPr/>
          <p:nvPr/>
        </p:nvSpPr>
        <p:spPr>
          <a:xfrm>
            <a:off x="640080" y="228600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59152"/>
            <a:ext cx="10515600" cy="384048"/>
          </a:xfrm>
          <a:prstGeom prst="rect">
            <a:avLst/>
          </a:prstGeom>
          <a:noFill/>
        </p:spPr>
        <p:txBody>
          <a:bodyPr wrap="square">
            <a:spAutoFit/>
          </a:bodyPr>
          <a:lstStyle/>
          <a:p>
            <a:pPr algn="l"/>
            <a:r>
              <a:rPr sz="1900" b="0">
                <a:solidFill>
                  <a:srgbClr val="333333"/>
                </a:solidFill>
                <a:latin typeface="Bricolage Grotesque"/>
              </a:rPr>
              <a:t>A.  Le téléverser à nouveau chaque lundi</a:t>
            </a:r>
          </a:p>
        </p:txBody>
      </p:sp>
      <p:sp>
        <p:nvSpPr>
          <p:cNvPr id="8" name="Rounded Rectangle 7"/>
          <p:cNvSpPr/>
          <p:nvPr/>
        </p:nvSpPr>
        <p:spPr>
          <a:xfrm>
            <a:off x="640080" y="292608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99232"/>
            <a:ext cx="10515600" cy="384048"/>
          </a:xfrm>
          <a:prstGeom prst="rect">
            <a:avLst/>
          </a:prstGeom>
          <a:noFill/>
        </p:spPr>
        <p:txBody>
          <a:bodyPr wrap="square">
            <a:spAutoFit/>
          </a:bodyPr>
          <a:lstStyle/>
          <a:p>
            <a:pPr algn="l"/>
            <a:r>
              <a:rPr sz="1900" b="0">
                <a:solidFill>
                  <a:srgbClr val="333333"/>
                </a:solidFill>
                <a:latin typeface="Bricolage Grotesque"/>
              </a:rPr>
              <a:t>B.  L'ajouter depuis Google Drive : il se met à jour tout seul</a:t>
            </a:r>
          </a:p>
        </p:txBody>
      </p:sp>
      <p:sp>
        <p:nvSpPr>
          <p:cNvPr id="10" name="Rounded Rectangle 9"/>
          <p:cNvSpPr/>
          <p:nvPr/>
        </p:nvSpPr>
        <p:spPr>
          <a:xfrm>
            <a:off x="640080" y="356616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39312"/>
            <a:ext cx="10515600" cy="384048"/>
          </a:xfrm>
          <a:prstGeom prst="rect">
            <a:avLst/>
          </a:prstGeom>
          <a:noFill/>
        </p:spPr>
        <p:txBody>
          <a:bodyPr wrap="square">
            <a:spAutoFit/>
          </a:bodyPr>
          <a:lstStyle/>
          <a:p>
            <a:pPr algn="l"/>
            <a:r>
              <a:rPr sz="1900" b="0">
                <a:solidFill>
                  <a:srgbClr val="333333"/>
                </a:solidFill>
                <a:latin typeface="Bricolage Grotesque"/>
              </a:rPr>
              <a:t>C.  Le recopier dans les instructions du projet</a:t>
            </a:r>
          </a:p>
        </p:txBody>
      </p:sp>
      <p:sp>
        <p:nvSpPr>
          <p:cNvPr id="12" name="Rounded Rectangle 11"/>
          <p:cNvSpPr/>
          <p:nvPr/>
        </p:nvSpPr>
        <p:spPr>
          <a:xfrm>
            <a:off x="640080" y="4343400"/>
            <a:ext cx="10881360" cy="105156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434840"/>
            <a:ext cx="10515600" cy="384048"/>
          </a:xfrm>
          <a:prstGeom prst="rect">
            <a:avLst/>
          </a:prstGeom>
          <a:noFill/>
        </p:spPr>
        <p:txBody>
          <a:bodyPr wrap="square">
            <a:spAutoFit/>
          </a:bodyPr>
          <a:lstStyle/>
          <a:p>
            <a:pPr algn="l"/>
            <a:r>
              <a:rPr sz="1800" b="1">
                <a:solidFill>
                  <a:srgbClr val="FFFFFF"/>
                </a:solidFill>
                <a:latin typeface="Bricolage Grotesque"/>
              </a:rPr>
              <a:t>B. Un fichier téléversé est une photo figée ; un Google Doc relié reste à jour.</a:t>
            </a:r>
          </a:p>
        </p:txBody>
      </p:sp>
      <p:sp>
        <p:nvSpPr>
          <p:cNvPr id="14" name="TextBox 13"/>
          <p:cNvSpPr txBox="1"/>
          <p:nvPr/>
        </p:nvSpPr>
        <p:spPr>
          <a:xfrm>
            <a:off x="868680" y="4864607"/>
            <a:ext cx="10515600" cy="384048"/>
          </a:xfrm>
          <a:prstGeom prst="rect">
            <a:avLst/>
          </a:prstGeom>
          <a:noFill/>
        </p:spPr>
        <p:txBody>
          <a:bodyPr wrap="square">
            <a:spAutoFit/>
          </a:bodyPr>
          <a:lstStyle/>
          <a:p>
            <a:pPr algn="l"/>
            <a:r>
              <a:rPr sz="1800" b="1">
                <a:solidFill>
                  <a:srgbClr val="FFFFFF"/>
                </a:solidFill>
                <a:latin typeface="Bricolage Grotesque"/>
              </a:rPr>
              <a:t>PDF : texte et images lus jusqu'à 100 pages ; au-delà, le texte seul.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Quiz · Question 4 / 5</a:t>
            </a:r>
          </a:p>
        </p:txBody>
      </p:sp>
      <p:sp>
        <p:nvSpPr>
          <p:cNvPr id="5" name="TextBox 4"/>
          <p:cNvSpPr txBox="1"/>
          <p:nvPr/>
        </p:nvSpPr>
        <p:spPr>
          <a:xfrm>
            <a:off x="640080" y="1417320"/>
            <a:ext cx="10881360" cy="731520"/>
          </a:xfrm>
          <a:prstGeom prst="rect">
            <a:avLst/>
          </a:prstGeom>
          <a:noFill/>
        </p:spPr>
        <p:txBody>
          <a:bodyPr wrap="square">
            <a:spAutoFit/>
          </a:bodyPr>
          <a:lstStyle/>
          <a:p>
            <a:pPr algn="l"/>
            <a:r>
              <a:rPr sz="2400" b="1">
                <a:solidFill>
                  <a:srgbClr val="1A1A1A"/>
                </a:solidFill>
                <a:latin typeface="Bricolage Grotesque"/>
              </a:rPr>
              <a:t>Tu veux que Claude range un dossier de ton ordinateur. Il te faut…</a:t>
            </a:r>
          </a:p>
        </p:txBody>
      </p:sp>
      <p:sp>
        <p:nvSpPr>
          <p:cNvPr id="6" name="Rounded Rectangle 5"/>
          <p:cNvSpPr/>
          <p:nvPr/>
        </p:nvSpPr>
        <p:spPr>
          <a:xfrm>
            <a:off x="640080" y="228600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59152"/>
            <a:ext cx="10515600" cy="384048"/>
          </a:xfrm>
          <a:prstGeom prst="rect">
            <a:avLst/>
          </a:prstGeom>
          <a:noFill/>
        </p:spPr>
        <p:txBody>
          <a:bodyPr wrap="square">
            <a:spAutoFit/>
          </a:bodyPr>
          <a:lstStyle/>
          <a:p>
            <a:pPr algn="l"/>
            <a:r>
              <a:rPr sz="1900" b="0">
                <a:solidFill>
                  <a:srgbClr val="333333"/>
                </a:solidFill>
                <a:latin typeface="Bricolage Grotesque"/>
              </a:rPr>
              <a:t>A.  Rien : Claude sur le web suffit</a:t>
            </a:r>
          </a:p>
        </p:txBody>
      </p:sp>
      <p:sp>
        <p:nvSpPr>
          <p:cNvPr id="8" name="Rounded Rectangle 7"/>
          <p:cNvSpPr/>
          <p:nvPr/>
        </p:nvSpPr>
        <p:spPr>
          <a:xfrm>
            <a:off x="640080" y="292608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99232"/>
            <a:ext cx="10515600" cy="384048"/>
          </a:xfrm>
          <a:prstGeom prst="rect">
            <a:avLst/>
          </a:prstGeom>
          <a:noFill/>
        </p:spPr>
        <p:txBody>
          <a:bodyPr wrap="square">
            <a:spAutoFit/>
          </a:bodyPr>
          <a:lstStyle/>
          <a:p>
            <a:pPr algn="l"/>
            <a:r>
              <a:rPr sz="1900" b="0">
                <a:solidFill>
                  <a:srgbClr val="333333"/>
                </a:solidFill>
                <a:latin typeface="Bricolage Grotesque"/>
              </a:rPr>
              <a:t>B.  L'application Claude ouverte, et l'accès à ce dossier</a:t>
            </a:r>
          </a:p>
        </p:txBody>
      </p:sp>
      <p:sp>
        <p:nvSpPr>
          <p:cNvPr id="10" name="Rounded Rectangle 9"/>
          <p:cNvSpPr/>
          <p:nvPr/>
        </p:nvSpPr>
        <p:spPr>
          <a:xfrm>
            <a:off x="640080" y="356616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39312"/>
            <a:ext cx="10515600" cy="384048"/>
          </a:xfrm>
          <a:prstGeom prst="rect">
            <a:avLst/>
          </a:prstGeom>
          <a:noFill/>
        </p:spPr>
        <p:txBody>
          <a:bodyPr wrap="square">
            <a:spAutoFit/>
          </a:bodyPr>
          <a:lstStyle/>
          <a:p>
            <a:pPr algn="l"/>
            <a:r>
              <a:rPr sz="1900" b="0">
                <a:solidFill>
                  <a:srgbClr val="333333"/>
                </a:solidFill>
                <a:latin typeface="Bricolage Grotesque"/>
              </a:rPr>
              <a:t>C.  Le forfait Max</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Quiz · Question 4 / 5</a:t>
            </a:r>
          </a:p>
        </p:txBody>
      </p:sp>
      <p:sp>
        <p:nvSpPr>
          <p:cNvPr id="5" name="TextBox 4"/>
          <p:cNvSpPr txBox="1"/>
          <p:nvPr/>
        </p:nvSpPr>
        <p:spPr>
          <a:xfrm>
            <a:off x="640080" y="1417320"/>
            <a:ext cx="10881360" cy="731520"/>
          </a:xfrm>
          <a:prstGeom prst="rect">
            <a:avLst/>
          </a:prstGeom>
          <a:noFill/>
        </p:spPr>
        <p:txBody>
          <a:bodyPr wrap="square">
            <a:spAutoFit/>
          </a:bodyPr>
          <a:lstStyle/>
          <a:p>
            <a:pPr algn="l"/>
            <a:r>
              <a:rPr sz="2400" b="1">
                <a:solidFill>
                  <a:srgbClr val="1A1A1A"/>
                </a:solidFill>
                <a:latin typeface="Bricolage Grotesque"/>
              </a:rPr>
              <a:t>Tu veux que Claude range un dossier de ton ordinateur. Il te faut…</a:t>
            </a:r>
          </a:p>
        </p:txBody>
      </p:sp>
      <p:sp>
        <p:nvSpPr>
          <p:cNvPr id="6" name="Rounded Rectangle 5"/>
          <p:cNvSpPr/>
          <p:nvPr/>
        </p:nvSpPr>
        <p:spPr>
          <a:xfrm>
            <a:off x="640080" y="228600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59152"/>
            <a:ext cx="10515600" cy="384048"/>
          </a:xfrm>
          <a:prstGeom prst="rect">
            <a:avLst/>
          </a:prstGeom>
          <a:noFill/>
        </p:spPr>
        <p:txBody>
          <a:bodyPr wrap="square">
            <a:spAutoFit/>
          </a:bodyPr>
          <a:lstStyle/>
          <a:p>
            <a:pPr algn="l"/>
            <a:r>
              <a:rPr sz="1900" b="0">
                <a:solidFill>
                  <a:srgbClr val="333333"/>
                </a:solidFill>
                <a:latin typeface="Bricolage Grotesque"/>
              </a:rPr>
              <a:t>A.  Rien : Claude sur le web suffit</a:t>
            </a:r>
          </a:p>
        </p:txBody>
      </p:sp>
      <p:sp>
        <p:nvSpPr>
          <p:cNvPr id="8" name="Rounded Rectangle 7"/>
          <p:cNvSpPr/>
          <p:nvPr/>
        </p:nvSpPr>
        <p:spPr>
          <a:xfrm>
            <a:off x="640080" y="292608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99232"/>
            <a:ext cx="10515600" cy="384048"/>
          </a:xfrm>
          <a:prstGeom prst="rect">
            <a:avLst/>
          </a:prstGeom>
          <a:noFill/>
        </p:spPr>
        <p:txBody>
          <a:bodyPr wrap="square">
            <a:spAutoFit/>
          </a:bodyPr>
          <a:lstStyle/>
          <a:p>
            <a:pPr algn="l"/>
            <a:r>
              <a:rPr sz="1900" b="0">
                <a:solidFill>
                  <a:srgbClr val="333333"/>
                </a:solidFill>
                <a:latin typeface="Bricolage Grotesque"/>
              </a:rPr>
              <a:t>B.  L'application Claude ouverte, et l'accès à ce dossier</a:t>
            </a:r>
          </a:p>
        </p:txBody>
      </p:sp>
      <p:sp>
        <p:nvSpPr>
          <p:cNvPr id="10" name="Rounded Rectangle 9"/>
          <p:cNvSpPr/>
          <p:nvPr/>
        </p:nvSpPr>
        <p:spPr>
          <a:xfrm>
            <a:off x="640080" y="356616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39312"/>
            <a:ext cx="10515600" cy="384048"/>
          </a:xfrm>
          <a:prstGeom prst="rect">
            <a:avLst/>
          </a:prstGeom>
          <a:noFill/>
        </p:spPr>
        <p:txBody>
          <a:bodyPr wrap="square">
            <a:spAutoFit/>
          </a:bodyPr>
          <a:lstStyle/>
          <a:p>
            <a:pPr algn="l"/>
            <a:r>
              <a:rPr sz="1900" b="0">
                <a:solidFill>
                  <a:srgbClr val="333333"/>
                </a:solidFill>
                <a:latin typeface="Bricolage Grotesque"/>
              </a:rPr>
              <a:t>C.  Le forfait Max</a:t>
            </a:r>
          </a:p>
        </p:txBody>
      </p:sp>
      <p:sp>
        <p:nvSpPr>
          <p:cNvPr id="12" name="Rounded Rectangle 11"/>
          <p:cNvSpPr/>
          <p:nvPr/>
        </p:nvSpPr>
        <p:spPr>
          <a:xfrm>
            <a:off x="640080" y="4343400"/>
            <a:ext cx="10881360" cy="105156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434840"/>
            <a:ext cx="10515600" cy="384048"/>
          </a:xfrm>
          <a:prstGeom prst="rect">
            <a:avLst/>
          </a:prstGeom>
          <a:noFill/>
        </p:spPr>
        <p:txBody>
          <a:bodyPr wrap="square">
            <a:spAutoFit/>
          </a:bodyPr>
          <a:lstStyle/>
          <a:p>
            <a:pPr algn="l"/>
            <a:r>
              <a:rPr sz="1800" b="1">
                <a:solidFill>
                  <a:srgbClr val="FFFFFF"/>
                </a:solidFill>
                <a:latin typeface="Bricolage Grotesque"/>
              </a:rPr>
              <a:t>B. Et depuis le 16 septembre, plus besoin de choisir « Cowork » :</a:t>
            </a:r>
          </a:p>
        </p:txBody>
      </p:sp>
      <p:sp>
        <p:nvSpPr>
          <p:cNvPr id="14" name="TextBox 13"/>
          <p:cNvSpPr txBox="1"/>
          <p:nvPr/>
        </p:nvSpPr>
        <p:spPr>
          <a:xfrm>
            <a:off x="868680" y="4864607"/>
            <a:ext cx="10515600" cy="384048"/>
          </a:xfrm>
          <a:prstGeom prst="rect">
            <a:avLst/>
          </a:prstGeom>
          <a:noFill/>
        </p:spPr>
        <p:txBody>
          <a:bodyPr wrap="square">
            <a:spAutoFit/>
          </a:bodyPr>
          <a:lstStyle/>
          <a:p>
            <a:pPr algn="l"/>
            <a:r>
              <a:rPr sz="1800" b="1">
                <a:solidFill>
                  <a:srgbClr val="FFFFFF"/>
                </a:solidFill>
                <a:latin typeface="Bricolage Grotesque"/>
              </a:rPr>
              <a:t>tu le demandes dans n'importe quelle conversation.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Quiz · Question 5 / 5</a:t>
            </a:r>
          </a:p>
        </p:txBody>
      </p:sp>
      <p:sp>
        <p:nvSpPr>
          <p:cNvPr id="5" name="TextBox 4"/>
          <p:cNvSpPr txBox="1"/>
          <p:nvPr/>
        </p:nvSpPr>
        <p:spPr>
          <a:xfrm>
            <a:off x="640080" y="1417320"/>
            <a:ext cx="10881360" cy="731520"/>
          </a:xfrm>
          <a:prstGeom prst="rect">
            <a:avLst/>
          </a:prstGeom>
          <a:noFill/>
        </p:spPr>
        <p:txBody>
          <a:bodyPr wrap="square">
            <a:spAutoFit/>
          </a:bodyPr>
          <a:lstStyle/>
          <a:p>
            <a:pPr algn="l"/>
            <a:r>
              <a:rPr sz="2400" b="1">
                <a:solidFill>
                  <a:srgbClr val="1A1A1A"/>
                </a:solidFill>
                <a:latin typeface="Bricolage Grotesque"/>
              </a:rPr>
              <a:t>Où vois-tu ce que Claude a retenu de toi ?</a:t>
            </a:r>
          </a:p>
        </p:txBody>
      </p:sp>
      <p:sp>
        <p:nvSpPr>
          <p:cNvPr id="6" name="Rounded Rectangle 5"/>
          <p:cNvSpPr/>
          <p:nvPr/>
        </p:nvSpPr>
        <p:spPr>
          <a:xfrm>
            <a:off x="640080" y="228600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59152"/>
            <a:ext cx="10515600" cy="384048"/>
          </a:xfrm>
          <a:prstGeom prst="rect">
            <a:avLst/>
          </a:prstGeom>
          <a:noFill/>
        </p:spPr>
        <p:txBody>
          <a:bodyPr wrap="square">
            <a:spAutoFit/>
          </a:bodyPr>
          <a:lstStyle/>
          <a:p>
            <a:pPr algn="l"/>
            <a:r>
              <a:rPr sz="1900" b="0">
                <a:solidFill>
                  <a:srgbClr val="333333"/>
                </a:solidFill>
                <a:latin typeface="Bricolage Grotesque"/>
              </a:rPr>
              <a:t>A.  Nulle part : c'est automatique</a:t>
            </a:r>
          </a:p>
        </p:txBody>
      </p:sp>
      <p:sp>
        <p:nvSpPr>
          <p:cNvPr id="8" name="Rounded Rectangle 7"/>
          <p:cNvSpPr/>
          <p:nvPr/>
        </p:nvSpPr>
        <p:spPr>
          <a:xfrm>
            <a:off x="640080" y="292608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99232"/>
            <a:ext cx="10515600" cy="384048"/>
          </a:xfrm>
          <a:prstGeom prst="rect">
            <a:avLst/>
          </a:prstGeom>
          <a:noFill/>
        </p:spPr>
        <p:txBody>
          <a:bodyPr wrap="square">
            <a:spAutoFit/>
          </a:bodyPr>
          <a:lstStyle/>
          <a:p>
            <a:pPr algn="l"/>
            <a:r>
              <a:rPr sz="1900" b="0">
                <a:solidFill>
                  <a:srgbClr val="333333"/>
                </a:solidFill>
                <a:latin typeface="Bricolage Grotesque"/>
              </a:rPr>
              <a:t>B.  Paramètres › Mémoire : chaque sujet se lit, se corrige, se supprime</a:t>
            </a:r>
          </a:p>
        </p:txBody>
      </p:sp>
      <p:sp>
        <p:nvSpPr>
          <p:cNvPr id="10" name="Rounded Rectangle 9"/>
          <p:cNvSpPr/>
          <p:nvPr/>
        </p:nvSpPr>
        <p:spPr>
          <a:xfrm>
            <a:off x="640080" y="356616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39312"/>
            <a:ext cx="10515600" cy="384048"/>
          </a:xfrm>
          <a:prstGeom prst="rect">
            <a:avLst/>
          </a:prstGeom>
          <a:noFill/>
        </p:spPr>
        <p:txBody>
          <a:bodyPr wrap="square">
            <a:spAutoFit/>
          </a:bodyPr>
          <a:lstStyle/>
          <a:p>
            <a:pPr algn="l"/>
            <a:r>
              <a:rPr sz="1900" b="0">
                <a:solidFill>
                  <a:srgbClr val="333333"/>
                </a:solidFill>
                <a:latin typeface="Bricolage Grotesque"/>
              </a:rPr>
              <a:t>C.  Dans les instructions de tes projets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Quiz · Question 5 / 5</a:t>
            </a:r>
          </a:p>
        </p:txBody>
      </p:sp>
      <p:sp>
        <p:nvSpPr>
          <p:cNvPr id="5" name="TextBox 4"/>
          <p:cNvSpPr txBox="1"/>
          <p:nvPr/>
        </p:nvSpPr>
        <p:spPr>
          <a:xfrm>
            <a:off x="640080" y="1417320"/>
            <a:ext cx="10881360" cy="731520"/>
          </a:xfrm>
          <a:prstGeom prst="rect">
            <a:avLst/>
          </a:prstGeom>
          <a:noFill/>
        </p:spPr>
        <p:txBody>
          <a:bodyPr wrap="square">
            <a:spAutoFit/>
          </a:bodyPr>
          <a:lstStyle/>
          <a:p>
            <a:pPr algn="l"/>
            <a:r>
              <a:rPr sz="2400" b="1">
                <a:solidFill>
                  <a:srgbClr val="1A1A1A"/>
                </a:solidFill>
                <a:latin typeface="Bricolage Grotesque"/>
              </a:rPr>
              <a:t>Où vois-tu ce que Claude a retenu de toi ?</a:t>
            </a:r>
          </a:p>
        </p:txBody>
      </p:sp>
      <p:sp>
        <p:nvSpPr>
          <p:cNvPr id="6" name="Rounded Rectangle 5"/>
          <p:cNvSpPr/>
          <p:nvPr/>
        </p:nvSpPr>
        <p:spPr>
          <a:xfrm>
            <a:off x="640080" y="228600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59152"/>
            <a:ext cx="10515600" cy="384048"/>
          </a:xfrm>
          <a:prstGeom prst="rect">
            <a:avLst/>
          </a:prstGeom>
          <a:noFill/>
        </p:spPr>
        <p:txBody>
          <a:bodyPr wrap="square">
            <a:spAutoFit/>
          </a:bodyPr>
          <a:lstStyle/>
          <a:p>
            <a:pPr algn="l"/>
            <a:r>
              <a:rPr sz="1900" b="0">
                <a:solidFill>
                  <a:srgbClr val="333333"/>
                </a:solidFill>
                <a:latin typeface="Bricolage Grotesque"/>
              </a:rPr>
              <a:t>A.  Nulle part : c'est automatique</a:t>
            </a:r>
          </a:p>
        </p:txBody>
      </p:sp>
      <p:sp>
        <p:nvSpPr>
          <p:cNvPr id="8" name="Rounded Rectangle 7"/>
          <p:cNvSpPr/>
          <p:nvPr/>
        </p:nvSpPr>
        <p:spPr>
          <a:xfrm>
            <a:off x="640080" y="292608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99232"/>
            <a:ext cx="10515600" cy="384048"/>
          </a:xfrm>
          <a:prstGeom prst="rect">
            <a:avLst/>
          </a:prstGeom>
          <a:noFill/>
        </p:spPr>
        <p:txBody>
          <a:bodyPr wrap="square">
            <a:spAutoFit/>
          </a:bodyPr>
          <a:lstStyle/>
          <a:p>
            <a:pPr algn="l"/>
            <a:r>
              <a:rPr sz="1900" b="0">
                <a:solidFill>
                  <a:srgbClr val="333333"/>
                </a:solidFill>
                <a:latin typeface="Bricolage Grotesque"/>
              </a:rPr>
              <a:t>B.  Paramètres › Mémoire : chaque sujet se lit, se corrige, se supprime</a:t>
            </a:r>
          </a:p>
        </p:txBody>
      </p:sp>
      <p:sp>
        <p:nvSpPr>
          <p:cNvPr id="10" name="Rounded Rectangle 9"/>
          <p:cNvSpPr/>
          <p:nvPr/>
        </p:nvSpPr>
        <p:spPr>
          <a:xfrm>
            <a:off x="640080" y="356616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39312"/>
            <a:ext cx="10515600" cy="384048"/>
          </a:xfrm>
          <a:prstGeom prst="rect">
            <a:avLst/>
          </a:prstGeom>
          <a:noFill/>
        </p:spPr>
        <p:txBody>
          <a:bodyPr wrap="square">
            <a:spAutoFit/>
          </a:bodyPr>
          <a:lstStyle/>
          <a:p>
            <a:pPr algn="l"/>
            <a:r>
              <a:rPr sz="1900" b="0">
                <a:solidFill>
                  <a:srgbClr val="333333"/>
                </a:solidFill>
                <a:latin typeface="Bricolage Grotesque"/>
              </a:rPr>
              <a:t>C.  Dans les instructions de tes projets</a:t>
            </a:r>
          </a:p>
        </p:txBody>
      </p:sp>
      <p:sp>
        <p:nvSpPr>
          <p:cNvPr id="12" name="Rounded Rectangle 11"/>
          <p:cNvSpPr/>
          <p:nvPr/>
        </p:nvSpPr>
        <p:spPr>
          <a:xfrm>
            <a:off x="640080" y="4343400"/>
            <a:ext cx="10881360" cy="105156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434840"/>
            <a:ext cx="10515600" cy="384048"/>
          </a:xfrm>
          <a:prstGeom prst="rect">
            <a:avLst/>
          </a:prstGeom>
          <a:noFill/>
        </p:spPr>
        <p:txBody>
          <a:bodyPr wrap="square">
            <a:spAutoFit/>
          </a:bodyPr>
          <a:lstStyle/>
          <a:p>
            <a:pPr algn="l"/>
            <a:r>
              <a:rPr sz="1800" b="1">
                <a:solidFill>
                  <a:srgbClr val="FFFFFF"/>
                </a:solidFill>
                <a:latin typeface="Bricolage Grotesque"/>
              </a:rPr>
              <a:t>B. Santé, croyances, politique : jamais retenus, sauf si tu l'actives.</a:t>
            </a:r>
          </a:p>
        </p:txBody>
      </p:sp>
      <p:sp>
        <p:nvSpPr>
          <p:cNvPr id="14" name="TextBox 13"/>
          <p:cNvSpPr txBox="1"/>
          <p:nvPr/>
        </p:nvSpPr>
        <p:spPr>
          <a:xfrm>
            <a:off x="868680" y="4864607"/>
            <a:ext cx="10515600" cy="384048"/>
          </a:xfrm>
          <a:prstGeom prst="rect">
            <a:avLst/>
          </a:prstGeom>
          <a:noFill/>
        </p:spPr>
        <p:txBody>
          <a:bodyPr wrap="square">
            <a:spAutoFit/>
          </a:bodyPr>
          <a:lstStyle/>
          <a:p>
            <a:pPr algn="l"/>
            <a:r>
              <a:rPr sz="1800" b="1">
                <a:solidFill>
                  <a:srgbClr val="FFFFFF"/>
                </a:solidFill>
                <a:latin typeface="Bricolage Grotesque"/>
              </a:rPr>
              <a:t>La vidéo montre l'ancien emplacement (Confidentialité) : il a changé en août.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965960"/>
            <a:ext cx="2743200" cy="36576"/>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515600" cy="731520"/>
          </a:xfrm>
          <a:prstGeom prst="rect">
            <a:avLst/>
          </a:prstGeom>
          <a:noFill/>
        </p:spPr>
        <p:txBody>
          <a:bodyPr wrap="square">
            <a:spAutoFit/>
          </a:bodyPr>
          <a:lstStyle/>
          <a:p>
            <a:pPr algn="l"/>
            <a:r>
              <a:rPr sz="2200" b="1">
                <a:solidFill>
                  <a:srgbClr val="E8A000"/>
                </a:solidFill>
                <a:latin typeface="Bricolage Grotesque"/>
              </a:rPr>
              <a:t>Séquence 3</a:t>
            </a:r>
          </a:p>
        </p:txBody>
      </p:sp>
      <p:sp>
        <p:nvSpPr>
          <p:cNvPr id="5" name="TextBox 4"/>
          <p:cNvSpPr txBox="1"/>
          <p:nvPr/>
        </p:nvSpPr>
        <p:spPr>
          <a:xfrm>
            <a:off x="640080" y="2286000"/>
            <a:ext cx="10698480" cy="1645920"/>
          </a:xfrm>
          <a:prstGeom prst="rect">
            <a:avLst/>
          </a:prstGeom>
          <a:noFill/>
        </p:spPr>
        <p:txBody>
          <a:bodyPr wrap="square">
            <a:spAutoFit/>
          </a:bodyPr>
          <a:lstStyle/>
          <a:p>
            <a:pPr algn="l"/>
            <a:r>
              <a:rPr sz="4200" b="1">
                <a:solidFill>
                  <a:srgbClr val="FFFFFF"/>
                </a:solidFill>
                <a:latin typeface="Bricolage Grotesque"/>
              </a:rPr>
              <a:t>Où ranger quoi dans Claude</a:t>
            </a:r>
          </a:p>
        </p:txBody>
      </p:sp>
      <p:sp>
        <p:nvSpPr>
          <p:cNvPr id="6" name="TextBox 5"/>
          <p:cNvSpPr txBox="1"/>
          <p:nvPr/>
        </p:nvSpPr>
        <p:spPr>
          <a:xfrm>
            <a:off x="640080" y="4023360"/>
            <a:ext cx="10515600" cy="731520"/>
          </a:xfrm>
          <a:prstGeom prst="rect">
            <a:avLst/>
          </a:prstGeom>
          <a:noFill/>
        </p:spPr>
        <p:txBody>
          <a:bodyPr wrap="square">
            <a:spAutoFit/>
          </a:bodyPr>
          <a:lstStyle/>
          <a:p>
            <a:pPr algn="l"/>
            <a:r>
              <a:rPr sz="2000" b="0">
                <a:solidFill>
                  <a:srgbClr val="5A8A8F"/>
                </a:solidFill>
                <a:latin typeface="Bricolage Grotesque"/>
              </a:rPr>
              <a:t>Six rangements, un test en quatre questions</a:t>
            </a:r>
          </a:p>
        </p:txBody>
      </p:sp>
      <p:pic>
        <p:nvPicPr>
          <p:cNvPr id="7" name="Picture 6" descr="ia-round.png"/>
          <p:cNvPicPr>
            <a:picLocks noChangeAspect="1"/>
          </p:cNvPicPr>
          <p:nvPr/>
        </p:nvPicPr>
        <p:blipFill>
          <a:blip r:embed="rId2"/>
          <a:stretch>
            <a:fillRect/>
          </a:stretch>
        </p:blipFill>
        <p:spPr>
          <a:xfrm>
            <a:off x="457200" y="6217920"/>
            <a:ext cx="320040" cy="320040"/>
          </a:xfrm>
          <a:prstGeom prst="rect">
            <a:avLst/>
          </a:prstGeom>
        </p:spPr>
      </p:pic>
      <p:sp>
        <p:nvSpPr>
          <p:cNvPr id="8" name="TextBox 7"/>
          <p:cNvSpPr txBox="1"/>
          <p:nvPr/>
        </p:nvSpPr>
        <p:spPr>
          <a:xfrm>
            <a:off x="868680" y="619963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Depuis les vidéos, ce qui a bougé</a:t>
            </a:r>
          </a:p>
        </p:txBody>
      </p:sp>
      <p:sp>
        <p:nvSpPr>
          <p:cNvPr id="5" name="TextBox 4"/>
          <p:cNvSpPr txBox="1"/>
          <p:nvPr/>
        </p:nvSpPr>
        <p:spPr>
          <a:xfrm>
            <a:off x="777240" y="1463040"/>
            <a:ext cx="4572000" cy="365760"/>
          </a:xfrm>
          <a:prstGeom prst="rect">
            <a:avLst/>
          </a:prstGeom>
          <a:noFill/>
        </p:spPr>
        <p:txBody>
          <a:bodyPr wrap="square">
            <a:spAutoFit/>
          </a:bodyPr>
          <a:lstStyle/>
          <a:p>
            <a:pPr algn="l"/>
            <a:r>
              <a:rPr sz="1800" b="1">
                <a:solidFill>
                  <a:srgbClr val="1B5E6B"/>
                </a:solidFill>
                <a:latin typeface="Bricolage Grotesque"/>
              </a:rPr>
              <a:t>Dans la vidéo</a:t>
            </a:r>
          </a:p>
        </p:txBody>
      </p:sp>
      <p:sp>
        <p:nvSpPr>
          <p:cNvPr id="6" name="TextBox 5"/>
          <p:cNvSpPr txBox="1"/>
          <p:nvPr/>
        </p:nvSpPr>
        <p:spPr>
          <a:xfrm>
            <a:off x="5532120" y="1463040"/>
            <a:ext cx="5943600" cy="365760"/>
          </a:xfrm>
          <a:prstGeom prst="rect">
            <a:avLst/>
          </a:prstGeom>
          <a:noFill/>
        </p:spPr>
        <p:txBody>
          <a:bodyPr wrap="square">
            <a:spAutoFit/>
          </a:bodyPr>
          <a:lstStyle/>
          <a:p>
            <a:pPr algn="l"/>
            <a:r>
              <a:rPr sz="1800" b="1">
                <a:solidFill>
                  <a:srgbClr val="1B5E6B"/>
                </a:solidFill>
                <a:latin typeface="Bricolage Grotesque"/>
              </a:rPr>
              <a:t>Ce que tu vois en octobre 2026</a:t>
            </a:r>
          </a:p>
        </p:txBody>
      </p:sp>
      <p:sp>
        <p:nvSpPr>
          <p:cNvPr id="7" name="Rectangle 6"/>
          <p:cNvSpPr/>
          <p:nvPr/>
        </p:nvSpPr>
        <p:spPr>
          <a:xfrm>
            <a:off x="640080" y="1874520"/>
            <a:ext cx="10881360" cy="27432"/>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965960"/>
            <a:ext cx="10881360" cy="45720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020824"/>
            <a:ext cx="4572000" cy="347472"/>
          </a:xfrm>
          <a:prstGeom prst="rect">
            <a:avLst/>
          </a:prstGeom>
          <a:noFill/>
        </p:spPr>
        <p:txBody>
          <a:bodyPr wrap="square">
            <a:spAutoFit/>
          </a:bodyPr>
          <a:lstStyle/>
          <a:p>
            <a:pPr algn="l"/>
            <a:r>
              <a:rPr sz="1600" b="1">
                <a:solidFill>
                  <a:srgbClr val="1A1A1A"/>
                </a:solidFill>
                <a:latin typeface="Bricolage Grotesque"/>
              </a:rPr>
              <a:t>Trois modes : Chat, Cowork, Code</a:t>
            </a:r>
          </a:p>
        </p:txBody>
      </p:sp>
      <p:sp>
        <p:nvSpPr>
          <p:cNvPr id="10" name="TextBox 9"/>
          <p:cNvSpPr txBox="1"/>
          <p:nvPr/>
        </p:nvSpPr>
        <p:spPr>
          <a:xfrm>
            <a:off x="5532120" y="2020824"/>
            <a:ext cx="5943600" cy="347472"/>
          </a:xfrm>
          <a:prstGeom prst="rect">
            <a:avLst/>
          </a:prstGeom>
          <a:noFill/>
        </p:spPr>
        <p:txBody>
          <a:bodyPr wrap="square">
            <a:spAutoFit/>
          </a:bodyPr>
          <a:lstStyle/>
          <a:p>
            <a:pPr algn="l"/>
            <a:r>
              <a:rPr sz="1600" b="0">
                <a:solidFill>
                  <a:srgbClr val="333333"/>
                </a:solidFill>
                <a:latin typeface="Bricolage Grotesque"/>
              </a:rPr>
              <a:t>Chat et Cowork fusionnés, Code à part</a:t>
            </a:r>
          </a:p>
        </p:txBody>
      </p:sp>
      <p:sp>
        <p:nvSpPr>
          <p:cNvPr id="11" name="TextBox 10"/>
          <p:cNvSpPr txBox="1"/>
          <p:nvPr/>
        </p:nvSpPr>
        <p:spPr>
          <a:xfrm>
            <a:off x="777240" y="2478024"/>
            <a:ext cx="4572000" cy="347472"/>
          </a:xfrm>
          <a:prstGeom prst="rect">
            <a:avLst/>
          </a:prstGeom>
          <a:noFill/>
        </p:spPr>
        <p:txBody>
          <a:bodyPr wrap="square">
            <a:spAutoFit/>
          </a:bodyPr>
          <a:lstStyle/>
          <a:p>
            <a:pPr algn="l"/>
            <a:r>
              <a:rPr sz="1600" b="1">
                <a:solidFill>
                  <a:srgbClr val="1A1A1A"/>
                </a:solidFill>
                <a:latin typeface="Bricolage Grotesque"/>
              </a:rPr>
              <a:t>Préférences personnelles</a:t>
            </a:r>
          </a:p>
        </p:txBody>
      </p:sp>
      <p:sp>
        <p:nvSpPr>
          <p:cNvPr id="12" name="TextBox 11"/>
          <p:cNvSpPr txBox="1"/>
          <p:nvPr/>
        </p:nvSpPr>
        <p:spPr>
          <a:xfrm>
            <a:off x="5532120" y="2478024"/>
            <a:ext cx="5943600" cy="347472"/>
          </a:xfrm>
          <a:prstGeom prst="rect">
            <a:avLst/>
          </a:prstGeom>
          <a:noFill/>
        </p:spPr>
        <p:txBody>
          <a:bodyPr wrap="square">
            <a:spAutoFit/>
          </a:bodyPr>
          <a:lstStyle/>
          <a:p>
            <a:pPr algn="l"/>
            <a:r>
              <a:rPr sz="1600" b="0">
                <a:solidFill>
                  <a:srgbClr val="333333"/>
                </a:solidFill>
                <a:latin typeface="Bricolage Grotesque"/>
              </a:rPr>
              <a:t>Paramètres › Instructions pour Claude</a:t>
            </a:r>
          </a:p>
        </p:txBody>
      </p:sp>
      <p:sp>
        <p:nvSpPr>
          <p:cNvPr id="13" name="Rectangle 12"/>
          <p:cNvSpPr/>
          <p:nvPr/>
        </p:nvSpPr>
        <p:spPr>
          <a:xfrm>
            <a:off x="640080" y="2880360"/>
            <a:ext cx="10881360" cy="45720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935224"/>
            <a:ext cx="4572000" cy="347472"/>
          </a:xfrm>
          <a:prstGeom prst="rect">
            <a:avLst/>
          </a:prstGeom>
          <a:noFill/>
        </p:spPr>
        <p:txBody>
          <a:bodyPr wrap="square">
            <a:spAutoFit/>
          </a:bodyPr>
          <a:lstStyle/>
          <a:p>
            <a:pPr algn="l"/>
            <a:r>
              <a:rPr sz="1600" b="1">
                <a:solidFill>
                  <a:srgbClr val="1A1A1A"/>
                </a:solidFill>
                <a:latin typeface="Bricolage Grotesque"/>
              </a:rPr>
              <a:t>Mémoire dans Confidentialité</a:t>
            </a:r>
          </a:p>
        </p:txBody>
      </p:sp>
      <p:sp>
        <p:nvSpPr>
          <p:cNvPr id="15" name="TextBox 14"/>
          <p:cNvSpPr txBox="1"/>
          <p:nvPr/>
        </p:nvSpPr>
        <p:spPr>
          <a:xfrm>
            <a:off x="5532120" y="2935224"/>
            <a:ext cx="5943600" cy="347472"/>
          </a:xfrm>
          <a:prstGeom prst="rect">
            <a:avLst/>
          </a:prstGeom>
          <a:noFill/>
        </p:spPr>
        <p:txBody>
          <a:bodyPr wrap="square">
            <a:spAutoFit/>
          </a:bodyPr>
          <a:lstStyle/>
          <a:p>
            <a:pPr algn="l"/>
            <a:r>
              <a:rPr sz="1600" b="0">
                <a:solidFill>
                  <a:srgbClr val="333333"/>
                </a:solidFill>
                <a:latin typeface="Bricolage Grotesque"/>
              </a:rPr>
              <a:t>Paramètres › Mémoire, par sujets</a:t>
            </a:r>
          </a:p>
        </p:txBody>
      </p:sp>
      <p:sp>
        <p:nvSpPr>
          <p:cNvPr id="16" name="TextBox 15"/>
          <p:cNvSpPr txBox="1"/>
          <p:nvPr/>
        </p:nvSpPr>
        <p:spPr>
          <a:xfrm>
            <a:off x="777240" y="3392424"/>
            <a:ext cx="4572000" cy="347472"/>
          </a:xfrm>
          <a:prstGeom prst="rect">
            <a:avLst/>
          </a:prstGeom>
          <a:noFill/>
        </p:spPr>
        <p:txBody>
          <a:bodyPr wrap="square">
            <a:spAutoFit/>
          </a:bodyPr>
          <a:lstStyle/>
          <a:p>
            <a:pPr algn="l"/>
            <a:r>
              <a:rPr sz="1600" b="1">
                <a:solidFill>
                  <a:srgbClr val="1A1A1A"/>
                </a:solidFill>
                <a:latin typeface="Bricolage Grotesque"/>
              </a:rPr>
              <a:t>Compétences dans les paramètres</a:t>
            </a:r>
          </a:p>
        </p:txBody>
      </p:sp>
      <p:sp>
        <p:nvSpPr>
          <p:cNvPr id="17" name="TextBox 16"/>
          <p:cNvSpPr txBox="1"/>
          <p:nvPr/>
        </p:nvSpPr>
        <p:spPr>
          <a:xfrm>
            <a:off x="5532120" y="3392424"/>
            <a:ext cx="5943600" cy="347472"/>
          </a:xfrm>
          <a:prstGeom prst="rect">
            <a:avLst/>
          </a:prstGeom>
          <a:noFill/>
        </p:spPr>
        <p:txBody>
          <a:bodyPr wrap="square">
            <a:spAutoFit/>
          </a:bodyPr>
          <a:lstStyle/>
          <a:p>
            <a:pPr algn="l"/>
            <a:r>
              <a:rPr sz="1600" b="0">
                <a:solidFill>
                  <a:srgbClr val="333333"/>
                </a:solidFill>
                <a:latin typeface="Bricolage Grotesque"/>
              </a:rPr>
              <a:t>Personnaliser › Compétences (tes skills)</a:t>
            </a:r>
          </a:p>
        </p:txBody>
      </p:sp>
      <p:sp>
        <p:nvSpPr>
          <p:cNvPr id="18" name="Rectangle 17"/>
          <p:cNvSpPr/>
          <p:nvPr/>
        </p:nvSpPr>
        <p:spPr>
          <a:xfrm>
            <a:off x="640080" y="3794760"/>
            <a:ext cx="10881360" cy="45720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849624"/>
            <a:ext cx="4572000" cy="347472"/>
          </a:xfrm>
          <a:prstGeom prst="rect">
            <a:avLst/>
          </a:prstGeom>
          <a:noFill/>
        </p:spPr>
        <p:txBody>
          <a:bodyPr wrap="square">
            <a:spAutoFit/>
          </a:bodyPr>
          <a:lstStyle/>
          <a:p>
            <a:pPr algn="l"/>
            <a:r>
              <a:rPr sz="1600" b="1">
                <a:solidFill>
                  <a:srgbClr val="1A1A1A"/>
                </a:solidFill>
                <a:latin typeface="Bricolage Grotesque"/>
              </a:rPr>
              <a:t>Cowork : fichiers à télécharger</a:t>
            </a:r>
          </a:p>
        </p:txBody>
      </p:sp>
      <p:sp>
        <p:nvSpPr>
          <p:cNvPr id="20" name="TextBox 19"/>
          <p:cNvSpPr txBox="1"/>
          <p:nvPr/>
        </p:nvSpPr>
        <p:spPr>
          <a:xfrm>
            <a:off x="5532120" y="3849624"/>
            <a:ext cx="5943600" cy="347472"/>
          </a:xfrm>
          <a:prstGeom prst="rect">
            <a:avLst/>
          </a:prstGeom>
          <a:noFill/>
        </p:spPr>
        <p:txBody>
          <a:bodyPr wrap="square">
            <a:spAutoFit/>
          </a:bodyPr>
          <a:lstStyle/>
          <a:p>
            <a:pPr algn="l"/>
            <a:r>
              <a:rPr sz="1600" b="0">
                <a:solidFill>
                  <a:srgbClr val="333333"/>
                </a:solidFill>
                <a:latin typeface="Bricolage Grotesque"/>
              </a:rPr>
              <a:t>Claude crée directement dans ton dossier</a:t>
            </a:r>
          </a:p>
        </p:txBody>
      </p:sp>
      <p:sp>
        <p:nvSpPr>
          <p:cNvPr id="21" name="TextBox 20"/>
          <p:cNvSpPr txBox="1"/>
          <p:nvPr/>
        </p:nvSpPr>
        <p:spPr>
          <a:xfrm>
            <a:off x="640080" y="4480560"/>
            <a:ext cx="10881360" cy="457200"/>
          </a:xfrm>
          <a:prstGeom prst="rect">
            <a:avLst/>
          </a:prstGeom>
          <a:noFill/>
        </p:spPr>
        <p:txBody>
          <a:bodyPr wrap="square">
            <a:spAutoFit/>
          </a:bodyPr>
          <a:lstStyle/>
          <a:p>
            <a:pPr algn="l"/>
            <a:r>
              <a:rPr sz="1700" b="1">
                <a:solidFill>
                  <a:srgbClr val="1B5E6B"/>
                </a:solidFill>
                <a:latin typeface="Bricolage Grotesque"/>
              </a:rPr>
              <a:t>Fusion en cours de déploiement : si tu vois encore « Chat » et « Cowork », rien ne presse.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Ce que Claude a sous les yeux</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Quand tu écris dans un projet, tout s'additionne</a:t>
            </a:r>
          </a:p>
        </p:txBody>
      </p:sp>
      <p:sp>
        <p:nvSpPr>
          <p:cNvPr id="6" name="Rounded Rectangle 5"/>
          <p:cNvSpPr/>
          <p:nvPr/>
        </p:nvSpPr>
        <p:spPr>
          <a:xfrm>
            <a:off x="640080" y="2743200"/>
            <a:ext cx="2331720" cy="77724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907792"/>
            <a:ext cx="2148840" cy="502920"/>
          </a:xfrm>
          <a:prstGeom prst="rect">
            <a:avLst/>
          </a:prstGeom>
          <a:noFill/>
        </p:spPr>
        <p:txBody>
          <a:bodyPr wrap="square">
            <a:spAutoFit/>
          </a:bodyPr>
          <a:lstStyle/>
          <a:p>
            <a:pPr algn="ctr"/>
            <a:r>
              <a:rPr sz="1400" b="1">
                <a:solidFill>
                  <a:srgbClr val="FFFFFF"/>
                </a:solidFill>
                <a:latin typeface="Bricolage Grotesque"/>
              </a:rPr>
              <a:t>Instructions
pour Claude</a:t>
            </a:r>
          </a:p>
        </p:txBody>
      </p:sp>
      <p:sp>
        <p:nvSpPr>
          <p:cNvPr id="8" name="TextBox 7"/>
          <p:cNvSpPr txBox="1"/>
          <p:nvPr/>
        </p:nvSpPr>
        <p:spPr>
          <a:xfrm>
            <a:off x="3008376"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9" name="Rounded Rectangle 8"/>
          <p:cNvSpPr/>
          <p:nvPr/>
        </p:nvSpPr>
        <p:spPr>
          <a:xfrm>
            <a:off x="3355848" y="2743200"/>
            <a:ext cx="2331720" cy="777240"/>
          </a:xfrm>
          <a:prstGeom prst="round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47288" y="2907792"/>
            <a:ext cx="2148840" cy="502920"/>
          </a:xfrm>
          <a:prstGeom prst="rect">
            <a:avLst/>
          </a:prstGeom>
          <a:noFill/>
        </p:spPr>
        <p:txBody>
          <a:bodyPr wrap="square">
            <a:spAutoFit/>
          </a:bodyPr>
          <a:lstStyle/>
          <a:p>
            <a:pPr algn="ctr"/>
            <a:r>
              <a:rPr sz="1400" b="1">
                <a:solidFill>
                  <a:srgbClr val="FFFFFF"/>
                </a:solidFill>
                <a:latin typeface="Bricolage Grotesque"/>
              </a:rPr>
              <a:t>Instructions
du projet</a:t>
            </a:r>
          </a:p>
        </p:txBody>
      </p:sp>
      <p:sp>
        <p:nvSpPr>
          <p:cNvPr id="11" name="TextBox 10"/>
          <p:cNvSpPr txBox="1"/>
          <p:nvPr/>
        </p:nvSpPr>
        <p:spPr>
          <a:xfrm>
            <a:off x="5724144"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12" name="Rounded Rectangle 11"/>
          <p:cNvSpPr/>
          <p:nvPr/>
        </p:nvSpPr>
        <p:spPr>
          <a:xfrm>
            <a:off x="6071616" y="2743200"/>
            <a:ext cx="2331720" cy="77724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63056" y="2907792"/>
            <a:ext cx="2148840" cy="502920"/>
          </a:xfrm>
          <a:prstGeom prst="rect">
            <a:avLst/>
          </a:prstGeom>
          <a:noFill/>
        </p:spPr>
        <p:txBody>
          <a:bodyPr wrap="square">
            <a:spAutoFit/>
          </a:bodyPr>
          <a:lstStyle/>
          <a:p>
            <a:pPr algn="ctr"/>
            <a:r>
              <a:rPr sz="1400" b="1">
                <a:solidFill>
                  <a:srgbClr val="FFFFFF"/>
                </a:solidFill>
                <a:latin typeface="Bricolage Grotesque"/>
              </a:rPr>
              <a:t>Fichiers
du projet</a:t>
            </a:r>
          </a:p>
        </p:txBody>
      </p:sp>
      <p:sp>
        <p:nvSpPr>
          <p:cNvPr id="14" name="TextBox 13"/>
          <p:cNvSpPr txBox="1"/>
          <p:nvPr/>
        </p:nvSpPr>
        <p:spPr>
          <a:xfrm>
            <a:off x="8439912"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15" name="Rounded Rectangle 14"/>
          <p:cNvSpPr/>
          <p:nvPr/>
        </p:nvSpPr>
        <p:spPr>
          <a:xfrm>
            <a:off x="8787384" y="2743200"/>
            <a:ext cx="2331720" cy="777240"/>
          </a:xfrm>
          <a:prstGeom prst="round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78824" y="2907792"/>
            <a:ext cx="2148840" cy="502920"/>
          </a:xfrm>
          <a:prstGeom prst="rect">
            <a:avLst/>
          </a:prstGeom>
          <a:noFill/>
        </p:spPr>
        <p:txBody>
          <a:bodyPr wrap="square">
            <a:spAutoFit/>
          </a:bodyPr>
          <a:lstStyle/>
          <a:p>
            <a:pPr algn="ctr"/>
            <a:r>
              <a:rPr sz="1400" b="1">
                <a:solidFill>
                  <a:srgbClr val="FFFFFF"/>
                </a:solidFill>
                <a:latin typeface="Bricolage Grotesque"/>
              </a:rPr>
              <a:t>Mémoire
du projet</a:t>
            </a:r>
          </a:p>
        </p:txBody>
      </p:sp>
      <p:sp>
        <p:nvSpPr>
          <p:cNvPr id="17" name="Rounded Rectangle 16"/>
          <p:cNvSpPr/>
          <p:nvPr/>
        </p:nvSpPr>
        <p:spPr>
          <a:xfrm>
            <a:off x="640080" y="4160520"/>
            <a:ext cx="2331720" cy="77724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325112"/>
            <a:ext cx="2148840" cy="502920"/>
          </a:xfrm>
          <a:prstGeom prst="rect">
            <a:avLst/>
          </a:prstGeom>
          <a:noFill/>
        </p:spPr>
        <p:txBody>
          <a:bodyPr wrap="square">
            <a:spAutoFit/>
          </a:bodyPr>
          <a:lstStyle/>
          <a:p>
            <a:pPr algn="ctr"/>
            <a:r>
              <a:rPr sz="1400" b="1">
                <a:solidFill>
                  <a:srgbClr val="FFFFFF"/>
                </a:solidFill>
                <a:latin typeface="Bricolage Grotesque"/>
              </a:rPr>
              <a:t>Tes skills,
s'ils servent</a:t>
            </a:r>
          </a:p>
        </p:txBody>
      </p:sp>
      <p:sp>
        <p:nvSpPr>
          <p:cNvPr id="19" name="TextBox 18"/>
          <p:cNvSpPr txBox="1"/>
          <p:nvPr/>
        </p:nvSpPr>
        <p:spPr>
          <a:xfrm>
            <a:off x="3008376" y="434340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20" name="Rounded Rectangle 19"/>
          <p:cNvSpPr/>
          <p:nvPr/>
        </p:nvSpPr>
        <p:spPr>
          <a:xfrm>
            <a:off x="3355848" y="4160520"/>
            <a:ext cx="2331720" cy="777240"/>
          </a:xfrm>
          <a:prstGeom prst="round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47288" y="4325112"/>
            <a:ext cx="2148840" cy="502920"/>
          </a:xfrm>
          <a:prstGeom prst="rect">
            <a:avLst/>
          </a:prstGeom>
          <a:noFill/>
        </p:spPr>
        <p:txBody>
          <a:bodyPr wrap="square">
            <a:spAutoFit/>
          </a:bodyPr>
          <a:lstStyle/>
          <a:p>
            <a:pPr algn="ctr"/>
            <a:r>
              <a:rPr sz="1400" b="1">
                <a:solidFill>
                  <a:srgbClr val="FFFFFF"/>
                </a:solidFill>
                <a:latin typeface="Bricolage Grotesque"/>
              </a:rPr>
              <a:t>Ta demande
et tes connecteurs</a:t>
            </a:r>
          </a:p>
        </p:txBody>
      </p:sp>
      <p:sp>
        <p:nvSpPr>
          <p:cNvPr id="22" name="TextBox 21"/>
          <p:cNvSpPr txBox="1"/>
          <p:nvPr/>
        </p:nvSpPr>
        <p:spPr>
          <a:xfrm>
            <a:off x="640080" y="5029200"/>
            <a:ext cx="10972800" cy="411480"/>
          </a:xfrm>
          <a:prstGeom prst="rect">
            <a:avLst/>
          </a:prstGeom>
          <a:noFill/>
        </p:spPr>
        <p:txBody>
          <a:bodyPr wrap="square">
            <a:spAutoFit/>
          </a:bodyPr>
          <a:lstStyle/>
          <a:p>
            <a:pPr algn="l"/>
            <a:r>
              <a:rPr sz="1800" b="1">
                <a:solidFill>
                  <a:srgbClr val="1B5E6B"/>
                </a:solidFill>
                <a:latin typeface="Bricolage Grotesque"/>
              </a:rPr>
              <a:t>Chaque couche a un rôle. Une règle écrite à deux endroits finit par se contredire.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Six rangements, six rôles</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Du plus large au plus précis</a:t>
            </a:r>
          </a:p>
        </p:txBody>
      </p:sp>
      <p:sp>
        <p:nvSpPr>
          <p:cNvPr id="6" name="Rounded Rectangle 5"/>
          <p:cNvSpPr/>
          <p:nvPr/>
        </p:nvSpPr>
        <p:spPr>
          <a:xfrm>
            <a:off x="640080" y="2194560"/>
            <a:ext cx="3474720" cy="1463040"/>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331720"/>
            <a:ext cx="54864" cy="1188720"/>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2267712"/>
            <a:ext cx="3154679" cy="365760"/>
          </a:xfrm>
          <a:prstGeom prst="rect">
            <a:avLst/>
          </a:prstGeom>
          <a:noFill/>
        </p:spPr>
        <p:txBody>
          <a:bodyPr wrap="square">
            <a:spAutoFit/>
          </a:bodyPr>
          <a:lstStyle/>
          <a:p>
            <a:pPr algn="l"/>
            <a:r>
              <a:rPr sz="1700" b="1">
                <a:solidFill>
                  <a:srgbClr val="1B5E6B"/>
                </a:solidFill>
                <a:latin typeface="Bricolage Grotesque"/>
              </a:rPr>
              <a:t>Instructions pour Claude</a:t>
            </a:r>
          </a:p>
        </p:txBody>
      </p:sp>
      <p:sp>
        <p:nvSpPr>
          <p:cNvPr id="9" name="TextBox 8"/>
          <p:cNvSpPr txBox="1"/>
          <p:nvPr/>
        </p:nvSpPr>
        <p:spPr>
          <a:xfrm>
            <a:off x="841247" y="2633472"/>
            <a:ext cx="3154679" cy="548640"/>
          </a:xfrm>
          <a:prstGeom prst="rect">
            <a:avLst/>
          </a:prstGeom>
          <a:noFill/>
        </p:spPr>
        <p:txBody>
          <a:bodyPr wrap="square">
            <a:spAutoFit/>
          </a:bodyPr>
          <a:lstStyle/>
          <a:p>
            <a:pPr algn="l"/>
            <a:r>
              <a:rPr sz="1600" b="0">
                <a:solidFill>
                  <a:srgbClr val="1A1A1A"/>
                </a:solidFill>
                <a:latin typeface="Bricolage Grotesque"/>
              </a:rPr>
              <a:t>Qui tu es, ton style, tes règles valables partout</a:t>
            </a:r>
          </a:p>
        </p:txBody>
      </p:sp>
      <p:sp>
        <p:nvSpPr>
          <p:cNvPr id="10" name="TextBox 9"/>
          <p:cNvSpPr txBox="1"/>
          <p:nvPr/>
        </p:nvSpPr>
        <p:spPr>
          <a:xfrm>
            <a:off x="841247" y="3182112"/>
            <a:ext cx="3154679" cy="365760"/>
          </a:xfrm>
          <a:prstGeom prst="rect">
            <a:avLst/>
          </a:prstGeom>
          <a:noFill/>
        </p:spPr>
        <p:txBody>
          <a:bodyPr wrap="square">
            <a:spAutoFit/>
          </a:bodyPr>
          <a:lstStyle/>
          <a:p>
            <a:pPr algn="l"/>
            <a:r>
              <a:rPr sz="1600" b="0">
                <a:solidFill>
                  <a:srgbClr val="5A8A8F"/>
                </a:solidFill>
                <a:latin typeface="Bricolage Grotesque"/>
              </a:rPr>
              <a:t>Ex. : jamais de nom réel</a:t>
            </a:r>
          </a:p>
        </p:txBody>
      </p:sp>
      <p:sp>
        <p:nvSpPr>
          <p:cNvPr id="11" name="Rounded Rectangle 10"/>
          <p:cNvSpPr/>
          <p:nvPr/>
        </p:nvSpPr>
        <p:spPr>
          <a:xfrm>
            <a:off x="4343400" y="2194560"/>
            <a:ext cx="3474720" cy="1463040"/>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43400" y="2331720"/>
            <a:ext cx="54864" cy="1188720"/>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44568" y="2267712"/>
            <a:ext cx="3154679" cy="365760"/>
          </a:xfrm>
          <a:prstGeom prst="rect">
            <a:avLst/>
          </a:prstGeom>
          <a:noFill/>
        </p:spPr>
        <p:txBody>
          <a:bodyPr wrap="square">
            <a:spAutoFit/>
          </a:bodyPr>
          <a:lstStyle/>
          <a:p>
            <a:pPr algn="l"/>
            <a:r>
              <a:rPr sz="1700" b="1">
                <a:solidFill>
                  <a:srgbClr val="1B5E6B"/>
                </a:solidFill>
                <a:latin typeface="Bricolage Grotesque"/>
              </a:rPr>
              <a:t>Mémoire</a:t>
            </a:r>
          </a:p>
        </p:txBody>
      </p:sp>
      <p:sp>
        <p:nvSpPr>
          <p:cNvPr id="14" name="TextBox 13"/>
          <p:cNvSpPr txBox="1"/>
          <p:nvPr/>
        </p:nvSpPr>
        <p:spPr>
          <a:xfrm>
            <a:off x="4544568" y="2633472"/>
            <a:ext cx="3154679" cy="548640"/>
          </a:xfrm>
          <a:prstGeom prst="rect">
            <a:avLst/>
          </a:prstGeom>
          <a:noFill/>
        </p:spPr>
        <p:txBody>
          <a:bodyPr wrap="square">
            <a:spAutoFit/>
          </a:bodyPr>
          <a:lstStyle/>
          <a:p>
            <a:pPr algn="l"/>
            <a:r>
              <a:rPr sz="1600" b="0">
                <a:solidFill>
                  <a:srgbClr val="1A1A1A"/>
                </a:solidFill>
                <a:latin typeface="Bricolage Grotesque"/>
              </a:rPr>
              <a:t>Ce que Claude retient seul, au fil des échanges</a:t>
            </a:r>
          </a:p>
        </p:txBody>
      </p:sp>
      <p:sp>
        <p:nvSpPr>
          <p:cNvPr id="15" name="TextBox 14"/>
          <p:cNvSpPr txBox="1"/>
          <p:nvPr/>
        </p:nvSpPr>
        <p:spPr>
          <a:xfrm>
            <a:off x="4544568" y="3182112"/>
            <a:ext cx="3154679" cy="365760"/>
          </a:xfrm>
          <a:prstGeom prst="rect">
            <a:avLst/>
          </a:prstGeom>
          <a:noFill/>
        </p:spPr>
        <p:txBody>
          <a:bodyPr wrap="square">
            <a:spAutoFit/>
          </a:bodyPr>
          <a:lstStyle/>
          <a:p>
            <a:pPr algn="l"/>
            <a:r>
              <a:rPr sz="1600" b="0">
                <a:solidFill>
                  <a:srgbClr val="5A8A8F"/>
                </a:solidFill>
                <a:latin typeface="Bricolage Grotesque"/>
              </a:rPr>
              <a:t>Ex. : tes outils préférés</a:t>
            </a:r>
          </a:p>
        </p:txBody>
      </p:sp>
      <p:sp>
        <p:nvSpPr>
          <p:cNvPr id="16" name="Rounded Rectangle 15"/>
          <p:cNvSpPr/>
          <p:nvPr/>
        </p:nvSpPr>
        <p:spPr>
          <a:xfrm>
            <a:off x="8046719" y="2194560"/>
            <a:ext cx="3474720" cy="1463040"/>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19" y="2331720"/>
            <a:ext cx="54864" cy="1188720"/>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7888" y="2267712"/>
            <a:ext cx="3154679" cy="365760"/>
          </a:xfrm>
          <a:prstGeom prst="rect">
            <a:avLst/>
          </a:prstGeom>
          <a:noFill/>
        </p:spPr>
        <p:txBody>
          <a:bodyPr wrap="square">
            <a:spAutoFit/>
          </a:bodyPr>
          <a:lstStyle/>
          <a:p>
            <a:pPr algn="l"/>
            <a:r>
              <a:rPr sz="1700" b="1">
                <a:solidFill>
                  <a:srgbClr val="1B5E6B"/>
                </a:solidFill>
                <a:latin typeface="Bricolage Grotesque"/>
              </a:rPr>
              <a:t>Projet : instructions</a:t>
            </a:r>
          </a:p>
        </p:txBody>
      </p:sp>
      <p:sp>
        <p:nvSpPr>
          <p:cNvPr id="19" name="TextBox 18"/>
          <p:cNvSpPr txBox="1"/>
          <p:nvPr/>
        </p:nvSpPr>
        <p:spPr>
          <a:xfrm>
            <a:off x="8247888" y="2633472"/>
            <a:ext cx="3154679" cy="548640"/>
          </a:xfrm>
          <a:prstGeom prst="rect">
            <a:avLst/>
          </a:prstGeom>
          <a:noFill/>
        </p:spPr>
        <p:txBody>
          <a:bodyPr wrap="square">
            <a:spAutoFit/>
          </a:bodyPr>
          <a:lstStyle/>
          <a:p>
            <a:pPr algn="l"/>
            <a:r>
              <a:rPr sz="1600" b="0">
                <a:solidFill>
                  <a:srgbClr val="1A1A1A"/>
                </a:solidFill>
                <a:latin typeface="Bricolage Grotesque"/>
              </a:rPr>
              <a:t>Le rôle et les règles de Claude pour UNE activité</a:t>
            </a:r>
          </a:p>
        </p:txBody>
      </p:sp>
      <p:sp>
        <p:nvSpPr>
          <p:cNvPr id="20" name="TextBox 19"/>
          <p:cNvSpPr txBox="1"/>
          <p:nvPr/>
        </p:nvSpPr>
        <p:spPr>
          <a:xfrm>
            <a:off x="8247888" y="3182112"/>
            <a:ext cx="3154679" cy="365760"/>
          </a:xfrm>
          <a:prstGeom prst="rect">
            <a:avLst/>
          </a:prstGeom>
          <a:noFill/>
        </p:spPr>
        <p:txBody>
          <a:bodyPr wrap="square">
            <a:spAutoFit/>
          </a:bodyPr>
          <a:lstStyle/>
          <a:p>
            <a:pPr algn="l"/>
            <a:r>
              <a:rPr sz="1600" b="0">
                <a:solidFill>
                  <a:srgbClr val="5A8A8F"/>
                </a:solidFill>
                <a:latin typeface="Bricolage Grotesque"/>
              </a:rPr>
              <a:t>Ex. : vouvoiement en bilan</a:t>
            </a:r>
          </a:p>
        </p:txBody>
      </p:sp>
      <p:sp>
        <p:nvSpPr>
          <p:cNvPr id="21" name="Rounded Rectangle 20"/>
          <p:cNvSpPr/>
          <p:nvPr/>
        </p:nvSpPr>
        <p:spPr>
          <a:xfrm>
            <a:off x="640080" y="3840480"/>
            <a:ext cx="3474720" cy="1463040"/>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0" y="3977640"/>
            <a:ext cx="54864" cy="1188720"/>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247" y="3913632"/>
            <a:ext cx="3154679" cy="365760"/>
          </a:xfrm>
          <a:prstGeom prst="rect">
            <a:avLst/>
          </a:prstGeom>
          <a:noFill/>
        </p:spPr>
        <p:txBody>
          <a:bodyPr wrap="square">
            <a:spAutoFit/>
          </a:bodyPr>
          <a:lstStyle/>
          <a:p>
            <a:pPr algn="l"/>
            <a:r>
              <a:rPr sz="1700" b="1">
                <a:solidFill>
                  <a:srgbClr val="1B5E6B"/>
                </a:solidFill>
                <a:latin typeface="Bricolage Grotesque"/>
              </a:rPr>
              <a:t>Projet : fichiers</a:t>
            </a:r>
          </a:p>
        </p:txBody>
      </p:sp>
      <p:sp>
        <p:nvSpPr>
          <p:cNvPr id="24" name="TextBox 23"/>
          <p:cNvSpPr txBox="1"/>
          <p:nvPr/>
        </p:nvSpPr>
        <p:spPr>
          <a:xfrm>
            <a:off x="841247" y="4279392"/>
            <a:ext cx="3154679" cy="548640"/>
          </a:xfrm>
          <a:prstGeom prst="rect">
            <a:avLst/>
          </a:prstGeom>
          <a:noFill/>
        </p:spPr>
        <p:txBody>
          <a:bodyPr wrap="square">
            <a:spAutoFit/>
          </a:bodyPr>
          <a:lstStyle/>
          <a:p>
            <a:pPr algn="l"/>
            <a:r>
              <a:rPr sz="1600" b="0">
                <a:solidFill>
                  <a:srgbClr val="1A1A1A"/>
                </a:solidFill>
                <a:latin typeface="Bricolage Grotesque"/>
              </a:rPr>
              <a:t>Ses documents : figés si téléversés, à jour si reliés</a:t>
            </a:r>
          </a:p>
        </p:txBody>
      </p:sp>
      <p:sp>
        <p:nvSpPr>
          <p:cNvPr id="25" name="TextBox 24"/>
          <p:cNvSpPr txBox="1"/>
          <p:nvPr/>
        </p:nvSpPr>
        <p:spPr>
          <a:xfrm>
            <a:off x="841247" y="4828032"/>
            <a:ext cx="3154679" cy="365760"/>
          </a:xfrm>
          <a:prstGeom prst="rect">
            <a:avLst/>
          </a:prstGeom>
          <a:noFill/>
        </p:spPr>
        <p:txBody>
          <a:bodyPr wrap="square">
            <a:spAutoFit/>
          </a:bodyPr>
          <a:lstStyle/>
          <a:p>
            <a:pPr algn="l"/>
            <a:r>
              <a:rPr sz="1600" b="0">
                <a:solidFill>
                  <a:srgbClr val="5A8A8F"/>
                </a:solidFill>
                <a:latin typeface="Bricolage Grotesque"/>
              </a:rPr>
              <a:t>Ex. : la trame d'organisme</a:t>
            </a:r>
          </a:p>
        </p:txBody>
      </p:sp>
      <p:sp>
        <p:nvSpPr>
          <p:cNvPr id="26" name="Rounded Rectangle 25"/>
          <p:cNvSpPr/>
          <p:nvPr/>
        </p:nvSpPr>
        <p:spPr>
          <a:xfrm>
            <a:off x="4343400" y="3840480"/>
            <a:ext cx="3474720" cy="1463040"/>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43400" y="3977640"/>
            <a:ext cx="54864" cy="1188720"/>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44568" y="3913632"/>
            <a:ext cx="3154679" cy="365760"/>
          </a:xfrm>
          <a:prstGeom prst="rect">
            <a:avLst/>
          </a:prstGeom>
          <a:noFill/>
        </p:spPr>
        <p:txBody>
          <a:bodyPr wrap="square">
            <a:spAutoFit/>
          </a:bodyPr>
          <a:lstStyle/>
          <a:p>
            <a:pPr algn="l"/>
            <a:r>
              <a:rPr sz="1700" b="1">
                <a:solidFill>
                  <a:srgbClr val="1B5E6B"/>
                </a:solidFill>
                <a:latin typeface="Bricolage Grotesque"/>
              </a:rPr>
              <a:t>Skill</a:t>
            </a:r>
          </a:p>
        </p:txBody>
      </p:sp>
      <p:sp>
        <p:nvSpPr>
          <p:cNvPr id="29" name="TextBox 28"/>
          <p:cNvSpPr txBox="1"/>
          <p:nvPr/>
        </p:nvSpPr>
        <p:spPr>
          <a:xfrm>
            <a:off x="4544568" y="4279392"/>
            <a:ext cx="3154679" cy="548640"/>
          </a:xfrm>
          <a:prstGeom prst="rect">
            <a:avLst/>
          </a:prstGeom>
          <a:noFill/>
        </p:spPr>
        <p:txBody>
          <a:bodyPr wrap="square">
            <a:spAutoFit/>
          </a:bodyPr>
          <a:lstStyle/>
          <a:p>
            <a:pPr algn="l"/>
            <a:r>
              <a:rPr sz="1600" b="0">
                <a:solidFill>
                  <a:srgbClr val="1A1A1A"/>
                </a:solidFill>
                <a:latin typeface="Bricolage Grotesque"/>
              </a:rPr>
              <a:t>Une façon de faire qui produit un livrable, partout</a:t>
            </a:r>
          </a:p>
        </p:txBody>
      </p:sp>
      <p:sp>
        <p:nvSpPr>
          <p:cNvPr id="30" name="TextBox 29"/>
          <p:cNvSpPr txBox="1"/>
          <p:nvPr/>
        </p:nvSpPr>
        <p:spPr>
          <a:xfrm>
            <a:off x="4544568" y="4828032"/>
            <a:ext cx="3154679" cy="365760"/>
          </a:xfrm>
          <a:prstGeom prst="rect">
            <a:avLst/>
          </a:prstGeom>
          <a:noFill/>
        </p:spPr>
        <p:txBody>
          <a:bodyPr wrap="square">
            <a:spAutoFit/>
          </a:bodyPr>
          <a:lstStyle/>
          <a:p>
            <a:pPr algn="l"/>
            <a:r>
              <a:rPr sz="1600" b="0">
                <a:solidFill>
                  <a:srgbClr val="5A8A8F"/>
                </a:solidFill>
                <a:latin typeface="Bricolage Grotesque"/>
              </a:rPr>
              <a:t>Ex. : synthèse de séance</a:t>
            </a:r>
          </a:p>
        </p:txBody>
      </p:sp>
      <p:sp>
        <p:nvSpPr>
          <p:cNvPr id="31" name="Rounded Rectangle 30"/>
          <p:cNvSpPr/>
          <p:nvPr/>
        </p:nvSpPr>
        <p:spPr>
          <a:xfrm>
            <a:off x="8046719" y="3840480"/>
            <a:ext cx="3474720" cy="1463040"/>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46719" y="3977640"/>
            <a:ext cx="54864" cy="1188720"/>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47888" y="3913632"/>
            <a:ext cx="3154679" cy="365760"/>
          </a:xfrm>
          <a:prstGeom prst="rect">
            <a:avLst/>
          </a:prstGeom>
          <a:noFill/>
        </p:spPr>
        <p:txBody>
          <a:bodyPr wrap="square">
            <a:spAutoFit/>
          </a:bodyPr>
          <a:lstStyle/>
          <a:p>
            <a:pPr algn="l"/>
            <a:r>
              <a:rPr sz="1700" b="1">
                <a:solidFill>
                  <a:srgbClr val="1B5E6B"/>
                </a:solidFill>
                <a:latin typeface="Bricolage Grotesque"/>
              </a:rPr>
              <a:t>Connecteurs</a:t>
            </a:r>
          </a:p>
        </p:txBody>
      </p:sp>
      <p:sp>
        <p:nvSpPr>
          <p:cNvPr id="34" name="TextBox 33"/>
          <p:cNvSpPr txBox="1"/>
          <p:nvPr/>
        </p:nvSpPr>
        <p:spPr>
          <a:xfrm>
            <a:off x="8247888" y="4279392"/>
            <a:ext cx="3154679" cy="548640"/>
          </a:xfrm>
          <a:prstGeom prst="rect">
            <a:avLst/>
          </a:prstGeom>
          <a:noFill/>
        </p:spPr>
        <p:txBody>
          <a:bodyPr wrap="square">
            <a:spAutoFit/>
          </a:bodyPr>
          <a:lstStyle/>
          <a:p>
            <a:pPr algn="l"/>
            <a:r>
              <a:rPr sz="1600" b="0">
                <a:solidFill>
                  <a:srgbClr val="1A1A1A"/>
                </a:solidFill>
                <a:latin typeface="Bricolage Grotesque"/>
              </a:rPr>
              <a:t>Les données qui bougent, lues à la source</a:t>
            </a:r>
          </a:p>
        </p:txBody>
      </p:sp>
      <p:sp>
        <p:nvSpPr>
          <p:cNvPr id="35" name="TextBox 34"/>
          <p:cNvSpPr txBox="1"/>
          <p:nvPr/>
        </p:nvSpPr>
        <p:spPr>
          <a:xfrm>
            <a:off x="8247888" y="4828032"/>
            <a:ext cx="3154679" cy="365760"/>
          </a:xfrm>
          <a:prstGeom prst="rect">
            <a:avLst/>
          </a:prstGeom>
          <a:noFill/>
        </p:spPr>
        <p:txBody>
          <a:bodyPr wrap="square">
            <a:spAutoFit/>
          </a:bodyPr>
          <a:lstStyle/>
          <a:p>
            <a:pPr algn="l"/>
            <a:r>
              <a:rPr sz="1600" b="0">
                <a:solidFill>
                  <a:srgbClr val="5A8A8F"/>
                </a:solidFill>
                <a:latin typeface="Bricolage Grotesque"/>
              </a:rPr>
              <a:t>Ex. : Gmail, ton agenda</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Le test en quatre questions</a:t>
            </a:r>
          </a:p>
        </p:txBody>
      </p:sp>
      <p:sp>
        <p:nvSpPr>
          <p:cNvPr id="5" name="Rounded Rectangle 4"/>
          <p:cNvSpPr/>
          <p:nvPr/>
        </p:nvSpPr>
        <p:spPr>
          <a:xfrm>
            <a:off x="640080" y="1463040"/>
            <a:ext cx="7040880" cy="71323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18488"/>
            <a:ext cx="6675120" cy="411480"/>
          </a:xfrm>
          <a:prstGeom prst="rect">
            <a:avLst/>
          </a:prstGeom>
          <a:noFill/>
        </p:spPr>
        <p:txBody>
          <a:bodyPr wrap="square">
            <a:spAutoFit/>
          </a:bodyPr>
          <a:lstStyle/>
          <a:p>
            <a:pPr algn="l"/>
            <a:r>
              <a:rPr sz="1900" b="0">
                <a:solidFill>
                  <a:srgbClr val="1A1A1A"/>
                </a:solidFill>
                <a:latin typeface="Bricolage Grotesque"/>
              </a:rPr>
              <a:t>Ça vaut pour TOUT ce que tu fais ?</a:t>
            </a:r>
          </a:p>
        </p:txBody>
      </p:sp>
      <p:sp>
        <p:nvSpPr>
          <p:cNvPr id="7" name="TextBox 6"/>
          <p:cNvSpPr txBox="1"/>
          <p:nvPr/>
        </p:nvSpPr>
        <p:spPr>
          <a:xfrm>
            <a:off x="7726679" y="1572768"/>
            <a:ext cx="457200" cy="457200"/>
          </a:xfrm>
          <a:prstGeom prst="rect">
            <a:avLst/>
          </a:prstGeom>
          <a:noFill/>
        </p:spPr>
        <p:txBody>
          <a:bodyPr wrap="square">
            <a:spAutoFit/>
          </a:bodyPr>
          <a:lstStyle/>
          <a:p>
            <a:pPr algn="ctr"/>
            <a:r>
              <a:rPr sz="2600" b="1">
                <a:solidFill>
                  <a:srgbClr val="E8A000"/>
                </a:solidFill>
                <a:latin typeface="Bricolage Grotesque"/>
              </a:rPr>
              <a:t>→</a:t>
            </a:r>
          </a:p>
        </p:txBody>
      </p:sp>
      <p:sp>
        <p:nvSpPr>
          <p:cNvPr id="8" name="Rounded Rectangle 7"/>
          <p:cNvSpPr/>
          <p:nvPr/>
        </p:nvSpPr>
        <p:spPr>
          <a:xfrm>
            <a:off x="8229600" y="1463040"/>
            <a:ext cx="3291840" cy="713232"/>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1627632"/>
            <a:ext cx="3108960" cy="411480"/>
          </a:xfrm>
          <a:prstGeom prst="rect">
            <a:avLst/>
          </a:prstGeom>
          <a:noFill/>
        </p:spPr>
        <p:txBody>
          <a:bodyPr wrap="square">
            <a:spAutoFit/>
          </a:bodyPr>
          <a:lstStyle/>
          <a:p>
            <a:pPr algn="ctr"/>
            <a:r>
              <a:rPr sz="1800" b="1">
                <a:solidFill>
                  <a:srgbClr val="FFFFFF"/>
                </a:solidFill>
                <a:latin typeface="Bricolage Grotesque"/>
              </a:rPr>
              <a:t>Instructions pour Claude</a:t>
            </a:r>
          </a:p>
        </p:txBody>
      </p:sp>
      <p:sp>
        <p:nvSpPr>
          <p:cNvPr id="10" name="Rounded Rectangle 9"/>
          <p:cNvSpPr/>
          <p:nvPr/>
        </p:nvSpPr>
        <p:spPr>
          <a:xfrm>
            <a:off x="640080" y="2331720"/>
            <a:ext cx="7040880" cy="71323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487168"/>
            <a:ext cx="6675120" cy="411480"/>
          </a:xfrm>
          <a:prstGeom prst="rect">
            <a:avLst/>
          </a:prstGeom>
          <a:noFill/>
        </p:spPr>
        <p:txBody>
          <a:bodyPr wrap="square">
            <a:spAutoFit/>
          </a:bodyPr>
          <a:lstStyle/>
          <a:p>
            <a:pPr algn="l"/>
            <a:r>
              <a:rPr sz="1900" b="0">
                <a:solidFill>
                  <a:srgbClr val="1A1A1A"/>
                </a:solidFill>
                <a:latin typeface="Bricolage Grotesque"/>
              </a:rPr>
              <a:t>Ça vaut pour UNE activité (tes bilans) ?</a:t>
            </a:r>
          </a:p>
        </p:txBody>
      </p:sp>
      <p:sp>
        <p:nvSpPr>
          <p:cNvPr id="12" name="TextBox 11"/>
          <p:cNvSpPr txBox="1"/>
          <p:nvPr/>
        </p:nvSpPr>
        <p:spPr>
          <a:xfrm>
            <a:off x="7726679" y="2441448"/>
            <a:ext cx="457200" cy="457200"/>
          </a:xfrm>
          <a:prstGeom prst="rect">
            <a:avLst/>
          </a:prstGeom>
          <a:noFill/>
        </p:spPr>
        <p:txBody>
          <a:bodyPr wrap="square">
            <a:spAutoFit/>
          </a:bodyPr>
          <a:lstStyle/>
          <a:p>
            <a:pPr algn="ctr"/>
            <a:r>
              <a:rPr sz="2600" b="1">
                <a:solidFill>
                  <a:srgbClr val="E8A000"/>
                </a:solidFill>
                <a:latin typeface="Bricolage Grotesque"/>
              </a:rPr>
              <a:t>→</a:t>
            </a:r>
          </a:p>
        </p:txBody>
      </p:sp>
      <p:sp>
        <p:nvSpPr>
          <p:cNvPr id="13" name="Rounded Rectangle 12"/>
          <p:cNvSpPr/>
          <p:nvPr/>
        </p:nvSpPr>
        <p:spPr>
          <a:xfrm>
            <a:off x="8229600" y="2331720"/>
            <a:ext cx="3291840" cy="713232"/>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0" y="2496312"/>
            <a:ext cx="3108960" cy="411480"/>
          </a:xfrm>
          <a:prstGeom prst="rect">
            <a:avLst/>
          </a:prstGeom>
          <a:noFill/>
        </p:spPr>
        <p:txBody>
          <a:bodyPr wrap="square">
            <a:spAutoFit/>
          </a:bodyPr>
          <a:lstStyle/>
          <a:p>
            <a:pPr algn="ctr"/>
            <a:r>
              <a:rPr sz="1800" b="1">
                <a:solidFill>
                  <a:srgbClr val="FFFFFF"/>
                </a:solidFill>
                <a:latin typeface="Bricolage Grotesque"/>
              </a:rPr>
              <a:t>Projet</a:t>
            </a:r>
          </a:p>
        </p:txBody>
      </p:sp>
      <p:sp>
        <p:nvSpPr>
          <p:cNvPr id="15" name="Rounded Rectangle 14"/>
          <p:cNvSpPr/>
          <p:nvPr/>
        </p:nvSpPr>
        <p:spPr>
          <a:xfrm>
            <a:off x="640080" y="3200400"/>
            <a:ext cx="7040880" cy="71323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355848"/>
            <a:ext cx="6675120" cy="411480"/>
          </a:xfrm>
          <a:prstGeom prst="rect">
            <a:avLst/>
          </a:prstGeom>
          <a:noFill/>
        </p:spPr>
        <p:txBody>
          <a:bodyPr wrap="square">
            <a:spAutoFit/>
          </a:bodyPr>
          <a:lstStyle/>
          <a:p>
            <a:pPr algn="l"/>
            <a:r>
              <a:rPr sz="1900" b="0">
                <a:solidFill>
                  <a:srgbClr val="1A1A1A"/>
                </a:solidFill>
                <a:latin typeface="Bricolage Grotesque"/>
              </a:rPr>
              <a:t>C'est une façon de faire, que tu refais ?</a:t>
            </a:r>
          </a:p>
        </p:txBody>
      </p:sp>
      <p:sp>
        <p:nvSpPr>
          <p:cNvPr id="17" name="TextBox 16"/>
          <p:cNvSpPr txBox="1"/>
          <p:nvPr/>
        </p:nvSpPr>
        <p:spPr>
          <a:xfrm>
            <a:off x="7726679" y="3310128"/>
            <a:ext cx="457200" cy="457200"/>
          </a:xfrm>
          <a:prstGeom prst="rect">
            <a:avLst/>
          </a:prstGeom>
          <a:noFill/>
        </p:spPr>
        <p:txBody>
          <a:bodyPr wrap="square">
            <a:spAutoFit/>
          </a:bodyPr>
          <a:lstStyle/>
          <a:p>
            <a:pPr algn="ctr"/>
            <a:r>
              <a:rPr sz="2600" b="1">
                <a:solidFill>
                  <a:srgbClr val="E8A000"/>
                </a:solidFill>
                <a:latin typeface="Bricolage Grotesque"/>
              </a:rPr>
              <a:t>→</a:t>
            </a:r>
          </a:p>
        </p:txBody>
      </p:sp>
      <p:sp>
        <p:nvSpPr>
          <p:cNvPr id="18" name="Rounded Rectangle 17"/>
          <p:cNvSpPr/>
          <p:nvPr/>
        </p:nvSpPr>
        <p:spPr>
          <a:xfrm>
            <a:off x="8229600" y="3200400"/>
            <a:ext cx="3291840" cy="713232"/>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21040" y="3364992"/>
            <a:ext cx="3108960" cy="411480"/>
          </a:xfrm>
          <a:prstGeom prst="rect">
            <a:avLst/>
          </a:prstGeom>
          <a:noFill/>
        </p:spPr>
        <p:txBody>
          <a:bodyPr wrap="square">
            <a:spAutoFit/>
          </a:bodyPr>
          <a:lstStyle/>
          <a:p>
            <a:pPr algn="ctr"/>
            <a:r>
              <a:rPr sz="1800" b="1">
                <a:solidFill>
                  <a:srgbClr val="FFFFFF"/>
                </a:solidFill>
                <a:latin typeface="Bricolage Grotesque"/>
              </a:rPr>
              <a:t>Skill</a:t>
            </a:r>
          </a:p>
        </p:txBody>
      </p:sp>
      <p:sp>
        <p:nvSpPr>
          <p:cNvPr id="20" name="Rounded Rectangle 19"/>
          <p:cNvSpPr/>
          <p:nvPr/>
        </p:nvSpPr>
        <p:spPr>
          <a:xfrm>
            <a:off x="640080" y="4069080"/>
            <a:ext cx="7040880" cy="71323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224528"/>
            <a:ext cx="6675120" cy="411480"/>
          </a:xfrm>
          <a:prstGeom prst="rect">
            <a:avLst/>
          </a:prstGeom>
          <a:noFill/>
        </p:spPr>
        <p:txBody>
          <a:bodyPr wrap="square">
            <a:spAutoFit/>
          </a:bodyPr>
          <a:lstStyle/>
          <a:p>
            <a:pPr algn="l"/>
            <a:r>
              <a:rPr sz="1900" b="0">
                <a:solidFill>
                  <a:srgbClr val="1A1A1A"/>
                </a:solidFill>
                <a:latin typeface="Bricolage Grotesque"/>
              </a:rPr>
              <a:t>Ça change chaque semaine ?</a:t>
            </a:r>
          </a:p>
        </p:txBody>
      </p:sp>
      <p:sp>
        <p:nvSpPr>
          <p:cNvPr id="22" name="TextBox 21"/>
          <p:cNvSpPr txBox="1"/>
          <p:nvPr/>
        </p:nvSpPr>
        <p:spPr>
          <a:xfrm>
            <a:off x="7726679" y="4178808"/>
            <a:ext cx="457200" cy="457200"/>
          </a:xfrm>
          <a:prstGeom prst="rect">
            <a:avLst/>
          </a:prstGeom>
          <a:noFill/>
        </p:spPr>
        <p:txBody>
          <a:bodyPr wrap="square">
            <a:spAutoFit/>
          </a:bodyPr>
          <a:lstStyle/>
          <a:p>
            <a:pPr algn="ctr"/>
            <a:r>
              <a:rPr sz="2600" b="1">
                <a:solidFill>
                  <a:srgbClr val="E8A000"/>
                </a:solidFill>
                <a:latin typeface="Bricolage Grotesque"/>
              </a:rPr>
              <a:t>→</a:t>
            </a:r>
          </a:p>
        </p:txBody>
      </p:sp>
      <p:sp>
        <p:nvSpPr>
          <p:cNvPr id="23" name="Rounded Rectangle 22"/>
          <p:cNvSpPr/>
          <p:nvPr/>
        </p:nvSpPr>
        <p:spPr>
          <a:xfrm>
            <a:off x="8229600" y="4069080"/>
            <a:ext cx="3291840" cy="713232"/>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21040" y="4233672"/>
            <a:ext cx="3108960" cy="411480"/>
          </a:xfrm>
          <a:prstGeom prst="rect">
            <a:avLst/>
          </a:prstGeom>
          <a:noFill/>
        </p:spPr>
        <p:txBody>
          <a:bodyPr wrap="square">
            <a:spAutoFit/>
          </a:bodyPr>
          <a:lstStyle/>
          <a:p>
            <a:pPr algn="ctr"/>
            <a:r>
              <a:rPr sz="1800" b="1">
                <a:solidFill>
                  <a:srgbClr val="FFFFFF"/>
                </a:solidFill>
                <a:latin typeface="Bricolage Grotesque"/>
              </a:rPr>
              <a:t>Doc relié ou connecteur</a:t>
            </a:r>
          </a:p>
        </p:txBody>
      </p:sp>
      <p:sp>
        <p:nvSpPr>
          <p:cNvPr id="25" name="TextBox 24"/>
          <p:cNvSpPr txBox="1"/>
          <p:nvPr/>
        </p:nvSpPr>
        <p:spPr>
          <a:xfrm>
            <a:off x="640080" y="5074920"/>
            <a:ext cx="10881360" cy="411480"/>
          </a:xfrm>
          <a:prstGeom prst="rect">
            <a:avLst/>
          </a:prstGeom>
          <a:noFill/>
        </p:spPr>
        <p:txBody>
          <a:bodyPr wrap="square">
            <a:spAutoFit/>
          </a:bodyPr>
          <a:lstStyle/>
          <a:p>
            <a:pPr algn="l"/>
            <a:r>
              <a:rPr sz="1800" b="1">
                <a:solidFill>
                  <a:srgbClr val="1B5E6B"/>
                </a:solidFill>
                <a:latin typeface="Bricolage Grotesque"/>
              </a:rPr>
              <a:t>Dans le doute : le plus précis gagne. Une règle de bilan va dans le projet Bilans.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Les deux niveaux d'instructions</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Elles s'additionnent, elles ne se remplacent pas</a:t>
            </a:r>
          </a:p>
        </p:txBody>
      </p:sp>
      <p:sp>
        <p:nvSpPr>
          <p:cNvPr id="6" name="Rectangle 5"/>
          <p:cNvSpPr/>
          <p:nvPr/>
        </p:nvSpPr>
        <p:spPr>
          <a:xfrm>
            <a:off x="5897880" y="2286000"/>
            <a:ext cx="27432" cy="2450592"/>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286000"/>
            <a:ext cx="5029200" cy="411480"/>
          </a:xfrm>
          <a:prstGeom prst="rect">
            <a:avLst/>
          </a:prstGeom>
          <a:noFill/>
        </p:spPr>
        <p:txBody>
          <a:bodyPr wrap="square">
            <a:spAutoFit/>
          </a:bodyPr>
          <a:lstStyle/>
          <a:p>
            <a:pPr algn="l"/>
            <a:r>
              <a:rPr sz="2100" b="1">
                <a:solidFill>
                  <a:srgbClr val="1B5E6B"/>
                </a:solidFill>
                <a:latin typeface="Bricolage Grotesque"/>
              </a:rPr>
              <a:t>Instructions pour Claude</a:t>
            </a:r>
          </a:p>
        </p:txBody>
      </p:sp>
      <p:sp>
        <p:nvSpPr>
          <p:cNvPr id="8" name="TextBox 7"/>
          <p:cNvSpPr txBox="1"/>
          <p:nvPr/>
        </p:nvSpPr>
        <p:spPr>
          <a:xfrm>
            <a:off x="640080" y="2880360"/>
            <a:ext cx="5120640" cy="384048"/>
          </a:xfrm>
          <a:prstGeom prst="rect">
            <a:avLst/>
          </a:prstGeom>
          <a:noFill/>
        </p:spPr>
        <p:txBody>
          <a:bodyPr wrap="square">
            <a:spAutoFit/>
          </a:bodyPr>
          <a:lstStyle/>
          <a:p>
            <a:pPr algn="l"/>
            <a:r>
              <a:rPr sz="1800" b="0">
                <a:solidFill>
                  <a:srgbClr val="333333"/>
                </a:solidFill>
                <a:latin typeface="Bricolage Grotesque"/>
              </a:rPr>
              <a:t>Paramètres › Instructions pour Claude</a:t>
            </a:r>
          </a:p>
        </p:txBody>
      </p:sp>
      <p:sp>
        <p:nvSpPr>
          <p:cNvPr id="9" name="TextBox 8"/>
          <p:cNvSpPr txBox="1"/>
          <p:nvPr/>
        </p:nvSpPr>
        <p:spPr>
          <a:xfrm>
            <a:off x="640080" y="3355848"/>
            <a:ext cx="5120640" cy="384048"/>
          </a:xfrm>
          <a:prstGeom prst="rect">
            <a:avLst/>
          </a:prstGeom>
          <a:noFill/>
        </p:spPr>
        <p:txBody>
          <a:bodyPr wrap="square">
            <a:spAutoFit/>
          </a:bodyPr>
          <a:lstStyle/>
          <a:p>
            <a:pPr algn="l"/>
            <a:r>
              <a:rPr sz="1800" b="0">
                <a:solidFill>
                  <a:srgbClr val="333333"/>
                </a:solidFill>
                <a:latin typeface="Bricolage Grotesque"/>
              </a:rPr>
              <a:t>Lues dans TOUTES tes conversations</a:t>
            </a:r>
          </a:p>
        </p:txBody>
      </p:sp>
      <p:sp>
        <p:nvSpPr>
          <p:cNvPr id="10" name="TextBox 9"/>
          <p:cNvSpPr txBox="1"/>
          <p:nvPr/>
        </p:nvSpPr>
        <p:spPr>
          <a:xfrm>
            <a:off x="640080" y="3831335"/>
            <a:ext cx="5120640" cy="384048"/>
          </a:xfrm>
          <a:prstGeom prst="rect">
            <a:avLst/>
          </a:prstGeom>
          <a:noFill/>
        </p:spPr>
        <p:txBody>
          <a:bodyPr wrap="square">
            <a:spAutoFit/>
          </a:bodyPr>
          <a:lstStyle/>
          <a:p>
            <a:pPr algn="l"/>
            <a:r>
              <a:rPr sz="1800" b="0">
                <a:solidFill>
                  <a:srgbClr val="333333"/>
                </a:solidFill>
                <a:latin typeface="Bricolage Grotesque"/>
              </a:rPr>
              <a:t>Qui tu es, ton style, tes règles fixes</a:t>
            </a:r>
          </a:p>
        </p:txBody>
      </p:sp>
      <p:sp>
        <p:nvSpPr>
          <p:cNvPr id="11" name="TextBox 10"/>
          <p:cNvSpPr txBox="1"/>
          <p:nvPr/>
        </p:nvSpPr>
        <p:spPr>
          <a:xfrm>
            <a:off x="640080" y="4306823"/>
            <a:ext cx="5120640" cy="384048"/>
          </a:xfrm>
          <a:prstGeom prst="rect">
            <a:avLst/>
          </a:prstGeom>
          <a:noFill/>
        </p:spPr>
        <p:txBody>
          <a:bodyPr wrap="square">
            <a:spAutoFit/>
          </a:bodyPr>
          <a:lstStyle/>
          <a:p>
            <a:pPr algn="l"/>
            <a:r>
              <a:rPr sz="1800" b="0">
                <a:solidFill>
                  <a:srgbClr val="333333"/>
                </a:solidFill>
                <a:latin typeface="Bricolage Grotesque"/>
              </a:rPr>
              <a:t>Ex. : « Jamais de nom de bénéficiaire »</a:t>
            </a:r>
          </a:p>
        </p:txBody>
      </p:sp>
      <p:sp>
        <p:nvSpPr>
          <p:cNvPr id="12" name="TextBox 11"/>
          <p:cNvSpPr txBox="1"/>
          <p:nvPr/>
        </p:nvSpPr>
        <p:spPr>
          <a:xfrm>
            <a:off x="6172200" y="2286000"/>
            <a:ext cx="5029200" cy="411480"/>
          </a:xfrm>
          <a:prstGeom prst="rect">
            <a:avLst/>
          </a:prstGeom>
          <a:noFill/>
        </p:spPr>
        <p:txBody>
          <a:bodyPr wrap="square">
            <a:spAutoFit/>
          </a:bodyPr>
          <a:lstStyle/>
          <a:p>
            <a:pPr algn="l"/>
            <a:r>
              <a:rPr sz="2100" b="1">
                <a:solidFill>
                  <a:srgbClr val="1B5E6B"/>
                </a:solidFill>
                <a:latin typeface="Bricolage Grotesque"/>
              </a:rPr>
              <a:t>Instructions du projet</a:t>
            </a:r>
          </a:p>
        </p:txBody>
      </p:sp>
      <p:sp>
        <p:nvSpPr>
          <p:cNvPr id="13" name="TextBox 12"/>
          <p:cNvSpPr txBox="1"/>
          <p:nvPr/>
        </p:nvSpPr>
        <p:spPr>
          <a:xfrm>
            <a:off x="6172200" y="2880360"/>
            <a:ext cx="5120640" cy="384048"/>
          </a:xfrm>
          <a:prstGeom prst="rect">
            <a:avLst/>
          </a:prstGeom>
          <a:noFill/>
        </p:spPr>
        <p:txBody>
          <a:bodyPr wrap="square">
            <a:spAutoFit/>
          </a:bodyPr>
          <a:lstStyle/>
          <a:p>
            <a:pPr algn="l"/>
            <a:r>
              <a:rPr sz="1800" b="0">
                <a:solidFill>
                  <a:srgbClr val="333333"/>
                </a:solidFill>
                <a:latin typeface="Bricolage Grotesque"/>
              </a:rPr>
              <a:t>Page du projet › Instructions</a:t>
            </a:r>
          </a:p>
        </p:txBody>
      </p:sp>
      <p:sp>
        <p:nvSpPr>
          <p:cNvPr id="14" name="TextBox 13"/>
          <p:cNvSpPr txBox="1"/>
          <p:nvPr/>
        </p:nvSpPr>
        <p:spPr>
          <a:xfrm>
            <a:off x="6172200" y="3355848"/>
            <a:ext cx="5120640" cy="384048"/>
          </a:xfrm>
          <a:prstGeom prst="rect">
            <a:avLst/>
          </a:prstGeom>
          <a:noFill/>
        </p:spPr>
        <p:txBody>
          <a:bodyPr wrap="square">
            <a:spAutoFit/>
          </a:bodyPr>
          <a:lstStyle/>
          <a:p>
            <a:pPr algn="l"/>
            <a:r>
              <a:rPr sz="1800" b="0">
                <a:solidFill>
                  <a:srgbClr val="333333"/>
                </a:solidFill>
                <a:latin typeface="Bricolage Grotesque"/>
              </a:rPr>
              <a:t>Lues seulement dans CE projet</a:t>
            </a:r>
          </a:p>
        </p:txBody>
      </p:sp>
      <p:sp>
        <p:nvSpPr>
          <p:cNvPr id="15" name="TextBox 14"/>
          <p:cNvSpPr txBox="1"/>
          <p:nvPr/>
        </p:nvSpPr>
        <p:spPr>
          <a:xfrm>
            <a:off x="6172200" y="3831335"/>
            <a:ext cx="5120640" cy="384048"/>
          </a:xfrm>
          <a:prstGeom prst="rect">
            <a:avLst/>
          </a:prstGeom>
          <a:noFill/>
        </p:spPr>
        <p:txBody>
          <a:bodyPr wrap="square">
            <a:spAutoFit/>
          </a:bodyPr>
          <a:lstStyle/>
          <a:p>
            <a:pPr algn="l"/>
            <a:r>
              <a:rPr sz="1800" b="0">
                <a:solidFill>
                  <a:srgbClr val="333333"/>
                </a:solidFill>
                <a:latin typeface="Bricolage Grotesque"/>
              </a:rPr>
              <a:t>Rôle, ton et format pour cette activité</a:t>
            </a:r>
          </a:p>
        </p:txBody>
      </p:sp>
      <p:sp>
        <p:nvSpPr>
          <p:cNvPr id="16" name="TextBox 15"/>
          <p:cNvSpPr txBox="1"/>
          <p:nvPr/>
        </p:nvSpPr>
        <p:spPr>
          <a:xfrm>
            <a:off x="6172200" y="4306823"/>
            <a:ext cx="5120640" cy="384048"/>
          </a:xfrm>
          <a:prstGeom prst="rect">
            <a:avLst/>
          </a:prstGeom>
          <a:noFill/>
        </p:spPr>
        <p:txBody>
          <a:bodyPr wrap="square">
            <a:spAutoFit/>
          </a:bodyPr>
          <a:lstStyle/>
          <a:p>
            <a:pPr algn="l"/>
            <a:r>
              <a:rPr sz="1800" b="0">
                <a:solidFill>
                  <a:srgbClr val="333333"/>
                </a:solidFill>
                <a:latin typeface="Bricolage Grotesque"/>
              </a:rPr>
              <a:t>Ex. : « Vouvoiement, [À vérifier] »</a:t>
            </a:r>
          </a:p>
        </p:txBody>
      </p:sp>
      <p:sp>
        <p:nvSpPr>
          <p:cNvPr id="17" name="TextBox 16"/>
          <p:cNvSpPr txBox="1"/>
          <p:nvPr/>
        </p:nvSpPr>
        <p:spPr>
          <a:xfrm>
            <a:off x="640080" y="4919472"/>
            <a:ext cx="10881360" cy="411480"/>
          </a:xfrm>
          <a:prstGeom prst="rect">
            <a:avLst/>
          </a:prstGeom>
          <a:noFill/>
        </p:spPr>
        <p:txBody>
          <a:bodyPr wrap="square">
            <a:spAutoFit/>
          </a:bodyPr>
          <a:lstStyle/>
          <a:p>
            <a:pPr algn="l"/>
            <a:r>
              <a:rPr sz="1800" b="1">
                <a:solidFill>
                  <a:srgbClr val="E8A000"/>
                </a:solidFill>
                <a:latin typeface="Bricolage Grotesque"/>
              </a:rPr>
              <a:t>Une règle, un seul endroit : partout, c'est ton compte ; sinon, c'est le projet.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Projet ou skill ?</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Le QUOI d'un côté, le COMMENT de l'autre</a:t>
            </a:r>
          </a:p>
        </p:txBody>
      </p:sp>
      <p:sp>
        <p:nvSpPr>
          <p:cNvPr id="6" name="Rectangle 5"/>
          <p:cNvSpPr/>
          <p:nvPr/>
        </p:nvSpPr>
        <p:spPr>
          <a:xfrm>
            <a:off x="5897880" y="2286000"/>
            <a:ext cx="27432" cy="2450592"/>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286000"/>
            <a:ext cx="5029200" cy="411480"/>
          </a:xfrm>
          <a:prstGeom prst="rect">
            <a:avLst/>
          </a:prstGeom>
          <a:noFill/>
        </p:spPr>
        <p:txBody>
          <a:bodyPr wrap="square">
            <a:spAutoFit/>
          </a:bodyPr>
          <a:lstStyle/>
          <a:p>
            <a:pPr algn="l"/>
            <a:r>
              <a:rPr sz="2100" b="1">
                <a:solidFill>
                  <a:srgbClr val="1B5E6B"/>
                </a:solidFill>
                <a:latin typeface="Bricolage Grotesque"/>
              </a:rPr>
              <a:t>Le projet : le contexte</a:t>
            </a:r>
          </a:p>
        </p:txBody>
      </p:sp>
      <p:sp>
        <p:nvSpPr>
          <p:cNvPr id="8" name="TextBox 7"/>
          <p:cNvSpPr txBox="1"/>
          <p:nvPr/>
        </p:nvSpPr>
        <p:spPr>
          <a:xfrm>
            <a:off x="640080" y="2880360"/>
            <a:ext cx="5120640" cy="384048"/>
          </a:xfrm>
          <a:prstGeom prst="rect">
            <a:avLst/>
          </a:prstGeom>
          <a:noFill/>
        </p:spPr>
        <p:txBody>
          <a:bodyPr wrap="square">
            <a:spAutoFit/>
          </a:bodyPr>
          <a:lstStyle/>
          <a:p>
            <a:pPr algn="l"/>
            <a:r>
              <a:rPr sz="1800" b="0">
                <a:solidFill>
                  <a:srgbClr val="333333"/>
                </a:solidFill>
                <a:latin typeface="Bricolage Grotesque"/>
              </a:rPr>
              <a:t>Une activité : tes bilans, tes formations</a:t>
            </a:r>
          </a:p>
        </p:txBody>
      </p:sp>
      <p:sp>
        <p:nvSpPr>
          <p:cNvPr id="9" name="TextBox 8"/>
          <p:cNvSpPr txBox="1"/>
          <p:nvPr/>
        </p:nvSpPr>
        <p:spPr>
          <a:xfrm>
            <a:off x="640080" y="3355848"/>
            <a:ext cx="5120640" cy="384048"/>
          </a:xfrm>
          <a:prstGeom prst="rect">
            <a:avLst/>
          </a:prstGeom>
          <a:noFill/>
        </p:spPr>
        <p:txBody>
          <a:bodyPr wrap="square">
            <a:spAutoFit/>
          </a:bodyPr>
          <a:lstStyle/>
          <a:p>
            <a:pPr algn="l"/>
            <a:r>
              <a:rPr sz="1800" b="0">
                <a:solidFill>
                  <a:srgbClr val="333333"/>
                </a:solidFill>
                <a:latin typeface="Bricolage Grotesque"/>
              </a:rPr>
              <a:t>Toujours chargé dans ses conversations</a:t>
            </a:r>
          </a:p>
        </p:txBody>
      </p:sp>
      <p:sp>
        <p:nvSpPr>
          <p:cNvPr id="10" name="TextBox 9"/>
          <p:cNvSpPr txBox="1"/>
          <p:nvPr/>
        </p:nvSpPr>
        <p:spPr>
          <a:xfrm>
            <a:off x="640080" y="3831335"/>
            <a:ext cx="5120640" cy="384048"/>
          </a:xfrm>
          <a:prstGeom prst="rect">
            <a:avLst/>
          </a:prstGeom>
          <a:noFill/>
        </p:spPr>
        <p:txBody>
          <a:bodyPr wrap="square">
            <a:spAutoFit/>
          </a:bodyPr>
          <a:lstStyle/>
          <a:p>
            <a:pPr algn="l"/>
            <a:r>
              <a:rPr sz="1800" b="0">
                <a:solidFill>
                  <a:srgbClr val="333333"/>
                </a:solidFill>
                <a:latin typeface="Bricolage Grotesque"/>
              </a:rPr>
              <a:t>Instructions, fichiers, mémoire</a:t>
            </a:r>
          </a:p>
        </p:txBody>
      </p:sp>
      <p:sp>
        <p:nvSpPr>
          <p:cNvPr id="11" name="TextBox 10"/>
          <p:cNvSpPr txBox="1"/>
          <p:nvPr/>
        </p:nvSpPr>
        <p:spPr>
          <a:xfrm>
            <a:off x="640080" y="4306823"/>
            <a:ext cx="5120640" cy="384048"/>
          </a:xfrm>
          <a:prstGeom prst="rect">
            <a:avLst/>
          </a:prstGeom>
          <a:noFill/>
        </p:spPr>
        <p:txBody>
          <a:bodyPr wrap="square">
            <a:spAutoFit/>
          </a:bodyPr>
          <a:lstStyle/>
          <a:p>
            <a:pPr algn="l"/>
            <a:r>
              <a:rPr sz="1800" b="0">
                <a:solidFill>
                  <a:srgbClr val="333333"/>
                </a:solidFill>
                <a:latin typeface="Bricolage Grotesque"/>
              </a:rPr>
              <a:t>Ex. : « Bilans de compétences »</a:t>
            </a:r>
          </a:p>
        </p:txBody>
      </p:sp>
      <p:sp>
        <p:nvSpPr>
          <p:cNvPr id="12" name="TextBox 11"/>
          <p:cNvSpPr txBox="1"/>
          <p:nvPr/>
        </p:nvSpPr>
        <p:spPr>
          <a:xfrm>
            <a:off x="6172200" y="2286000"/>
            <a:ext cx="5029200" cy="411480"/>
          </a:xfrm>
          <a:prstGeom prst="rect">
            <a:avLst/>
          </a:prstGeom>
          <a:noFill/>
        </p:spPr>
        <p:txBody>
          <a:bodyPr wrap="square">
            <a:spAutoFit/>
          </a:bodyPr>
          <a:lstStyle/>
          <a:p>
            <a:pPr algn="l"/>
            <a:r>
              <a:rPr sz="2100" b="1">
                <a:solidFill>
                  <a:srgbClr val="1B5E6B"/>
                </a:solidFill>
                <a:latin typeface="Bricolage Grotesque"/>
              </a:rPr>
              <a:t>Le skill : la façon de faire</a:t>
            </a:r>
          </a:p>
        </p:txBody>
      </p:sp>
      <p:sp>
        <p:nvSpPr>
          <p:cNvPr id="13" name="TextBox 12"/>
          <p:cNvSpPr txBox="1"/>
          <p:nvPr/>
        </p:nvSpPr>
        <p:spPr>
          <a:xfrm>
            <a:off x="6172200" y="2880360"/>
            <a:ext cx="5120640" cy="384048"/>
          </a:xfrm>
          <a:prstGeom prst="rect">
            <a:avLst/>
          </a:prstGeom>
          <a:noFill/>
        </p:spPr>
        <p:txBody>
          <a:bodyPr wrap="square">
            <a:spAutoFit/>
          </a:bodyPr>
          <a:lstStyle/>
          <a:p>
            <a:pPr algn="l"/>
            <a:r>
              <a:rPr sz="1800" b="0">
                <a:solidFill>
                  <a:srgbClr val="333333"/>
                </a:solidFill>
                <a:latin typeface="Bricolage Grotesque"/>
              </a:rPr>
              <a:t>Une procédure qui produit un livrable</a:t>
            </a:r>
          </a:p>
        </p:txBody>
      </p:sp>
      <p:sp>
        <p:nvSpPr>
          <p:cNvPr id="14" name="TextBox 13"/>
          <p:cNvSpPr txBox="1"/>
          <p:nvPr/>
        </p:nvSpPr>
        <p:spPr>
          <a:xfrm>
            <a:off x="6172200" y="3355848"/>
            <a:ext cx="5120640" cy="384048"/>
          </a:xfrm>
          <a:prstGeom prst="rect">
            <a:avLst/>
          </a:prstGeom>
          <a:noFill/>
        </p:spPr>
        <p:txBody>
          <a:bodyPr wrap="square">
            <a:spAutoFit/>
          </a:bodyPr>
          <a:lstStyle/>
          <a:p>
            <a:pPr algn="l"/>
            <a:r>
              <a:rPr sz="1800" b="0">
                <a:solidFill>
                  <a:srgbClr val="333333"/>
                </a:solidFill>
                <a:latin typeface="Bricolage Grotesque"/>
              </a:rPr>
              <a:t>Chargé seulement quand il sert</a:t>
            </a:r>
          </a:p>
        </p:txBody>
      </p:sp>
      <p:sp>
        <p:nvSpPr>
          <p:cNvPr id="15" name="TextBox 14"/>
          <p:cNvSpPr txBox="1"/>
          <p:nvPr/>
        </p:nvSpPr>
        <p:spPr>
          <a:xfrm>
            <a:off x="6172200" y="3831335"/>
            <a:ext cx="5120640" cy="384048"/>
          </a:xfrm>
          <a:prstGeom prst="rect">
            <a:avLst/>
          </a:prstGeom>
          <a:noFill/>
        </p:spPr>
        <p:txBody>
          <a:bodyPr wrap="square">
            <a:spAutoFit/>
          </a:bodyPr>
          <a:lstStyle/>
          <a:p>
            <a:pPr algn="l"/>
            <a:r>
              <a:rPr sz="1800" b="0">
                <a:solidFill>
                  <a:srgbClr val="333333"/>
                </a:solidFill>
                <a:latin typeface="Bricolage Grotesque"/>
              </a:rPr>
              <a:t>Utilisable partout, même dans PowerPoint</a:t>
            </a:r>
          </a:p>
        </p:txBody>
      </p:sp>
      <p:sp>
        <p:nvSpPr>
          <p:cNvPr id="16" name="TextBox 15"/>
          <p:cNvSpPr txBox="1"/>
          <p:nvPr/>
        </p:nvSpPr>
        <p:spPr>
          <a:xfrm>
            <a:off x="6172200" y="4306823"/>
            <a:ext cx="5120640" cy="384048"/>
          </a:xfrm>
          <a:prstGeom prst="rect">
            <a:avLst/>
          </a:prstGeom>
          <a:noFill/>
        </p:spPr>
        <p:txBody>
          <a:bodyPr wrap="square">
            <a:spAutoFit/>
          </a:bodyPr>
          <a:lstStyle/>
          <a:p>
            <a:pPr algn="l"/>
            <a:r>
              <a:rPr sz="1800" b="0">
                <a:solidFill>
                  <a:srgbClr val="333333"/>
                </a:solidFill>
                <a:latin typeface="Bricolage Grotesque"/>
              </a:rPr>
              <a:t>Ex. : « Synthèse de séance »</a:t>
            </a:r>
          </a:p>
        </p:txBody>
      </p:sp>
      <p:sp>
        <p:nvSpPr>
          <p:cNvPr id="17" name="TextBox 16"/>
          <p:cNvSpPr txBox="1"/>
          <p:nvPr/>
        </p:nvSpPr>
        <p:spPr>
          <a:xfrm>
            <a:off x="640080" y="4919472"/>
            <a:ext cx="10881360" cy="411480"/>
          </a:xfrm>
          <a:prstGeom prst="rect">
            <a:avLst/>
          </a:prstGeom>
          <a:noFill/>
        </p:spPr>
        <p:txBody>
          <a:bodyPr wrap="square">
            <a:spAutoFit/>
          </a:bodyPr>
          <a:lstStyle/>
          <a:p>
            <a:pPr algn="l"/>
            <a:r>
              <a:rPr sz="1800" b="1">
                <a:solidFill>
                  <a:srgbClr val="E8A000"/>
                </a:solidFill>
                <a:latin typeface="Bricolage Grotesque"/>
              </a:rPr>
              <a:t>Un skill par livrable : plusieurs petits valent mieux qu'un gros.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La mémoire et tes bilans</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Activée par défaut : à régler une fois</a:t>
            </a:r>
          </a:p>
        </p:txBody>
      </p:sp>
      <p:sp>
        <p:nvSpPr>
          <p:cNvPr id="6" name="TextBox 5"/>
          <p:cNvSpPr txBox="1"/>
          <p:nvPr/>
        </p:nvSpPr>
        <p:spPr>
          <a:xfrm>
            <a:off x="640080" y="2331720"/>
            <a:ext cx="10881360" cy="411480"/>
          </a:xfrm>
          <a:prstGeom prst="rect">
            <a:avLst/>
          </a:prstGeom>
          <a:noFill/>
        </p:spPr>
        <p:txBody>
          <a:bodyPr wrap="square">
            <a:spAutoFit/>
          </a:bodyPr>
          <a:lstStyle/>
          <a:p>
            <a:r>
              <a:rPr sz="2000" b="1">
                <a:solidFill>
                  <a:srgbClr val="1B5E6B"/>
                </a:solidFill>
                <a:latin typeface="Bricolage Grotesque"/>
              </a:rPr>
              <a:t>Claude retient seul ton rôle, tes projets, les personnes de ton travail.</a:t>
            </a:r>
          </a:p>
        </p:txBody>
      </p:sp>
      <p:sp>
        <p:nvSpPr>
          <p:cNvPr id="7" name="TextBox 6"/>
          <p:cNvSpPr txBox="1"/>
          <p:nvPr/>
        </p:nvSpPr>
        <p:spPr>
          <a:xfrm>
            <a:off x="640080" y="2852928"/>
            <a:ext cx="10881360" cy="411480"/>
          </a:xfrm>
          <a:prstGeom prst="rect">
            <a:avLst/>
          </a:prstGeom>
          <a:noFill/>
        </p:spPr>
        <p:txBody>
          <a:bodyPr wrap="square">
            <a:spAutoFit/>
          </a:bodyPr>
          <a:lstStyle/>
          <a:p>
            <a:r>
              <a:rPr sz="2000" b="0">
                <a:solidFill>
                  <a:srgbClr val="333333"/>
                </a:solidFill>
                <a:latin typeface="Bricolage Grotesque"/>
              </a:rPr>
              <a:t>Tu vois et corriges tout dans Paramètres › Mémoire.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La mémoire et tes bilans</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Activée par défaut : à régler une fois</a:t>
            </a:r>
          </a:p>
        </p:txBody>
      </p:sp>
      <p:sp>
        <p:nvSpPr>
          <p:cNvPr id="6" name="TextBox 5"/>
          <p:cNvSpPr txBox="1"/>
          <p:nvPr/>
        </p:nvSpPr>
        <p:spPr>
          <a:xfrm>
            <a:off x="640080" y="2331720"/>
            <a:ext cx="10881360" cy="411480"/>
          </a:xfrm>
          <a:prstGeom prst="rect">
            <a:avLst/>
          </a:prstGeom>
          <a:noFill/>
        </p:spPr>
        <p:txBody>
          <a:bodyPr wrap="square">
            <a:spAutoFit/>
          </a:bodyPr>
          <a:lstStyle/>
          <a:p>
            <a:r>
              <a:rPr sz="2000" b="1">
                <a:solidFill>
                  <a:srgbClr val="1B5E6B"/>
                </a:solidFill>
                <a:latin typeface="Bricolage Grotesque"/>
              </a:rPr>
              <a:t>Claude retient seul ton rôle, tes projets, les personnes de ton travail.</a:t>
            </a:r>
          </a:p>
        </p:txBody>
      </p:sp>
      <p:sp>
        <p:nvSpPr>
          <p:cNvPr id="7" name="TextBox 6"/>
          <p:cNvSpPr txBox="1"/>
          <p:nvPr/>
        </p:nvSpPr>
        <p:spPr>
          <a:xfrm>
            <a:off x="640080" y="2852928"/>
            <a:ext cx="10881360" cy="411480"/>
          </a:xfrm>
          <a:prstGeom prst="rect">
            <a:avLst/>
          </a:prstGeom>
          <a:noFill/>
        </p:spPr>
        <p:txBody>
          <a:bodyPr wrap="square">
            <a:spAutoFit/>
          </a:bodyPr>
          <a:lstStyle/>
          <a:p>
            <a:r>
              <a:rPr sz="2000" b="0">
                <a:solidFill>
                  <a:srgbClr val="333333"/>
                </a:solidFill>
                <a:latin typeface="Bricolage Grotesque"/>
              </a:rPr>
              <a:t>Tu vois et corriges tout dans Paramètres › Mémoire.</a:t>
            </a:r>
          </a:p>
        </p:txBody>
      </p:sp>
      <p:sp>
        <p:nvSpPr>
          <p:cNvPr id="8" name="TextBox 7"/>
          <p:cNvSpPr txBox="1"/>
          <p:nvPr/>
        </p:nvSpPr>
        <p:spPr>
          <a:xfrm>
            <a:off x="640080" y="3611880"/>
            <a:ext cx="10881360" cy="411480"/>
          </a:xfrm>
          <a:prstGeom prst="rect">
            <a:avLst/>
          </a:prstGeom>
          <a:noFill/>
        </p:spPr>
        <p:txBody>
          <a:bodyPr wrap="square">
            <a:spAutoFit/>
          </a:bodyPr>
          <a:lstStyle/>
          <a:p>
            <a:r>
              <a:rPr sz="2000" b="1">
                <a:solidFill>
                  <a:srgbClr val="1B5E6B"/>
                </a:solidFill>
                <a:latin typeface="Bricolage Grotesque"/>
              </a:rPr>
              <a:t>La mémoire d'un projet peut ressortir dans tes autres conversations.</a:t>
            </a:r>
          </a:p>
        </p:txBody>
      </p:sp>
      <p:sp>
        <p:nvSpPr>
          <p:cNvPr id="9" name="TextBox 8"/>
          <p:cNvSpPr txBox="1"/>
          <p:nvPr/>
        </p:nvSpPr>
        <p:spPr>
          <a:xfrm>
            <a:off x="640080" y="4133088"/>
            <a:ext cx="10881360" cy="411480"/>
          </a:xfrm>
          <a:prstGeom prst="rect">
            <a:avLst/>
          </a:prstGeom>
          <a:noFill/>
        </p:spPr>
        <p:txBody>
          <a:bodyPr wrap="square">
            <a:spAutoFit/>
          </a:bodyPr>
          <a:lstStyle/>
          <a:p>
            <a:r>
              <a:rPr sz="2000" b="1">
                <a:solidFill>
                  <a:srgbClr val="1B5E6B"/>
                </a:solidFill>
                <a:latin typeface="Bricolage Grotesque"/>
              </a:rPr>
              <a:t>Projet Bilans : coupe l'option « mémoire du compte » pour l'isoler.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Tes données dans Claude Pro</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Ce que tu confies, et comment le protéger</a:t>
            </a:r>
          </a:p>
        </p:txBody>
      </p:sp>
      <p:sp>
        <p:nvSpPr>
          <p:cNvPr id="6" name="TextBox 5"/>
          <p:cNvSpPr txBox="1"/>
          <p:nvPr/>
        </p:nvSpPr>
        <p:spPr>
          <a:xfrm>
            <a:off x="640080" y="2331720"/>
            <a:ext cx="10881360" cy="411480"/>
          </a:xfrm>
          <a:prstGeom prst="rect">
            <a:avLst/>
          </a:prstGeom>
          <a:noFill/>
        </p:spPr>
        <p:txBody>
          <a:bodyPr wrap="square">
            <a:spAutoFit/>
          </a:bodyPr>
          <a:lstStyle/>
          <a:p>
            <a:r>
              <a:rPr sz="2000" b="1">
                <a:solidFill>
                  <a:srgbClr val="1B5E6B"/>
                </a:solidFill>
                <a:latin typeface="Bricolage Grotesque"/>
              </a:rPr>
              <a:t>Paramètres › Confidentialité : l'option d'amélioration des modèles.</a:t>
            </a:r>
          </a:p>
        </p:txBody>
      </p:sp>
      <p:sp>
        <p:nvSpPr>
          <p:cNvPr id="7" name="TextBox 6"/>
          <p:cNvSpPr txBox="1"/>
          <p:nvPr/>
        </p:nvSpPr>
        <p:spPr>
          <a:xfrm>
            <a:off x="640080" y="2852928"/>
            <a:ext cx="10881360" cy="411480"/>
          </a:xfrm>
          <a:prstGeom prst="rect">
            <a:avLst/>
          </a:prstGeom>
          <a:noFill/>
        </p:spPr>
        <p:txBody>
          <a:bodyPr wrap="square">
            <a:spAutoFit/>
          </a:bodyPr>
          <a:lstStyle/>
          <a:p>
            <a:r>
              <a:rPr sz="2000" b="0">
                <a:solidFill>
                  <a:srgbClr val="333333"/>
                </a:solidFill>
                <a:latin typeface="Bricolage Grotesque"/>
              </a:rPr>
              <a:t>Activée : tes conversations peuvent servir à entraîner Claude.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Tes données dans Claude Pro</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Ce que tu confies, et comment le protéger</a:t>
            </a:r>
          </a:p>
        </p:txBody>
      </p:sp>
      <p:sp>
        <p:nvSpPr>
          <p:cNvPr id="6" name="TextBox 5"/>
          <p:cNvSpPr txBox="1"/>
          <p:nvPr/>
        </p:nvSpPr>
        <p:spPr>
          <a:xfrm>
            <a:off x="640080" y="2331720"/>
            <a:ext cx="10881360" cy="411480"/>
          </a:xfrm>
          <a:prstGeom prst="rect">
            <a:avLst/>
          </a:prstGeom>
          <a:noFill/>
        </p:spPr>
        <p:txBody>
          <a:bodyPr wrap="square">
            <a:spAutoFit/>
          </a:bodyPr>
          <a:lstStyle/>
          <a:p>
            <a:r>
              <a:rPr sz="2000" b="1">
                <a:solidFill>
                  <a:srgbClr val="1B5E6B"/>
                </a:solidFill>
                <a:latin typeface="Bricolage Grotesque"/>
              </a:rPr>
              <a:t>Paramètres › Confidentialité : l'option d'amélioration des modèles.</a:t>
            </a:r>
          </a:p>
        </p:txBody>
      </p:sp>
      <p:sp>
        <p:nvSpPr>
          <p:cNvPr id="7" name="TextBox 6"/>
          <p:cNvSpPr txBox="1"/>
          <p:nvPr/>
        </p:nvSpPr>
        <p:spPr>
          <a:xfrm>
            <a:off x="640080" y="2852928"/>
            <a:ext cx="10881360" cy="411480"/>
          </a:xfrm>
          <a:prstGeom prst="rect">
            <a:avLst/>
          </a:prstGeom>
          <a:noFill/>
        </p:spPr>
        <p:txBody>
          <a:bodyPr wrap="square">
            <a:spAutoFit/>
          </a:bodyPr>
          <a:lstStyle/>
          <a:p>
            <a:r>
              <a:rPr sz="2000" b="0">
                <a:solidFill>
                  <a:srgbClr val="333333"/>
                </a:solidFill>
                <a:latin typeface="Bricolage Grotesque"/>
              </a:rPr>
              <a:t>Activée : tes conversations peuvent servir à entraîner Claude.</a:t>
            </a:r>
          </a:p>
        </p:txBody>
      </p:sp>
      <p:sp>
        <p:nvSpPr>
          <p:cNvPr id="8" name="TextBox 7"/>
          <p:cNvSpPr txBox="1"/>
          <p:nvPr/>
        </p:nvSpPr>
        <p:spPr>
          <a:xfrm>
            <a:off x="640080" y="3611880"/>
            <a:ext cx="10881360" cy="411480"/>
          </a:xfrm>
          <a:prstGeom prst="rect">
            <a:avLst/>
          </a:prstGeom>
          <a:noFill/>
        </p:spPr>
        <p:txBody>
          <a:bodyPr wrap="square">
            <a:spAutoFit/>
          </a:bodyPr>
          <a:lstStyle/>
          <a:p>
            <a:r>
              <a:rPr sz="2000" b="1">
                <a:solidFill>
                  <a:srgbClr val="1B5E6B"/>
                </a:solidFill>
                <a:latin typeface="Bricolage Grotesque"/>
              </a:rPr>
              <a:t>Conversation sensible : « + » › Mémoire coupée, avant le 1er message.</a:t>
            </a:r>
          </a:p>
        </p:txBody>
      </p:sp>
      <p:sp>
        <p:nvSpPr>
          <p:cNvPr id="9" name="TextBox 8"/>
          <p:cNvSpPr txBox="1"/>
          <p:nvPr/>
        </p:nvSpPr>
        <p:spPr>
          <a:xfrm>
            <a:off x="640080" y="4133088"/>
            <a:ext cx="10881360" cy="411480"/>
          </a:xfrm>
          <a:prstGeom prst="rect">
            <a:avLst/>
          </a:prstGeom>
          <a:noFill/>
        </p:spPr>
        <p:txBody>
          <a:bodyPr wrap="square">
            <a:spAutoFit/>
          </a:bodyPr>
          <a:lstStyle/>
          <a:p>
            <a:r>
              <a:rPr sz="2000" b="1">
                <a:solidFill>
                  <a:srgbClr val="1B5E6B"/>
                </a:solidFill>
                <a:latin typeface="Bricolage Grotesque"/>
              </a:rPr>
              <a:t>Et la règle de la S1 : anonymiser AVANT de coller.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Ton organisation : un point de départ</a:t>
            </a:r>
          </a:p>
        </p:txBody>
      </p:sp>
      <p:sp>
        <p:nvSpPr>
          <p:cNvPr id="5" name="Rounded Rectangle 4"/>
          <p:cNvSpPr/>
          <p:nvPr/>
        </p:nvSpPr>
        <p:spPr>
          <a:xfrm>
            <a:off x="640080" y="1417320"/>
            <a:ext cx="10881360" cy="640080"/>
          </a:xfrm>
          <a:prstGeom prst="roundRect">
            <a:avLst/>
          </a:prstGeom>
          <a:solidFill>
            <a:srgbClr val="0F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27048"/>
            <a:ext cx="10424160" cy="411480"/>
          </a:xfrm>
          <a:prstGeom prst="rect">
            <a:avLst/>
          </a:prstGeom>
          <a:noFill/>
        </p:spPr>
        <p:txBody>
          <a:bodyPr wrap="square">
            <a:spAutoFit/>
          </a:bodyPr>
          <a:lstStyle/>
          <a:p>
            <a:pPr algn="l"/>
            <a:r>
              <a:rPr sz="1800" b="1">
                <a:solidFill>
                  <a:srgbClr val="FFFFFF"/>
                </a:solidFill>
                <a:latin typeface="Bricolage Grotesque"/>
              </a:rPr>
              <a:t>INSTRUCTIONS POUR CLAUDE · qui tu es, ton style, l'anonymat : lues partout</a:t>
            </a:r>
          </a:p>
        </p:txBody>
      </p:sp>
      <p:sp>
        <p:nvSpPr>
          <p:cNvPr id="7" name="TextBox 6"/>
          <p:cNvSpPr txBox="1"/>
          <p:nvPr/>
        </p:nvSpPr>
        <p:spPr>
          <a:xfrm>
            <a:off x="640080" y="2194560"/>
            <a:ext cx="10881360" cy="320040"/>
          </a:xfrm>
          <a:prstGeom prst="rect">
            <a:avLst/>
          </a:prstGeom>
          <a:noFill/>
        </p:spPr>
        <p:txBody>
          <a:bodyPr wrap="square">
            <a:spAutoFit/>
          </a:bodyPr>
          <a:lstStyle/>
          <a:p>
            <a:pPr algn="l"/>
            <a:r>
              <a:rPr sz="1500" b="1">
                <a:solidFill>
                  <a:srgbClr val="E8A000"/>
                </a:solidFill>
                <a:latin typeface="Bricolage Grotesque"/>
              </a:rPr>
              <a:t>PROJETS · un par activité, avec ses instructions et ses fichiers</a:t>
            </a:r>
          </a:p>
        </p:txBody>
      </p:sp>
      <p:sp>
        <p:nvSpPr>
          <p:cNvPr id="8" name="Rounded Rectangle 7"/>
          <p:cNvSpPr/>
          <p:nvPr/>
        </p:nvSpPr>
        <p:spPr>
          <a:xfrm>
            <a:off x="640080" y="2560320"/>
            <a:ext cx="2560320" cy="105156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633472"/>
            <a:ext cx="2286000" cy="365760"/>
          </a:xfrm>
          <a:prstGeom prst="rect">
            <a:avLst/>
          </a:prstGeom>
          <a:noFill/>
        </p:spPr>
        <p:txBody>
          <a:bodyPr wrap="square">
            <a:spAutoFit/>
          </a:bodyPr>
          <a:lstStyle/>
          <a:p>
            <a:pPr algn="l"/>
            <a:r>
              <a:rPr sz="1700" b="1">
                <a:solidFill>
                  <a:srgbClr val="FFFFFF"/>
                </a:solidFill>
                <a:latin typeface="Bricolage Grotesque"/>
              </a:rPr>
              <a:t>Bilans</a:t>
            </a:r>
          </a:p>
        </p:txBody>
      </p:sp>
      <p:sp>
        <p:nvSpPr>
          <p:cNvPr id="10" name="TextBox 9"/>
          <p:cNvSpPr txBox="1"/>
          <p:nvPr/>
        </p:nvSpPr>
        <p:spPr>
          <a:xfrm>
            <a:off x="777240" y="2999232"/>
            <a:ext cx="2286000" cy="548640"/>
          </a:xfrm>
          <a:prstGeom prst="rect">
            <a:avLst/>
          </a:prstGeom>
          <a:noFill/>
        </p:spPr>
        <p:txBody>
          <a:bodyPr wrap="square">
            <a:spAutoFit/>
          </a:bodyPr>
          <a:lstStyle/>
          <a:p>
            <a:pPr algn="l"/>
            <a:r>
              <a:rPr sz="1500" b="0">
                <a:solidFill>
                  <a:srgbClr val="FFFFFF"/>
                </a:solidFill>
                <a:latin typeface="Bricolage Grotesque"/>
              </a:rPr>
              <a:t>Trames, base de contexte</a:t>
            </a:r>
          </a:p>
        </p:txBody>
      </p:sp>
      <p:sp>
        <p:nvSpPr>
          <p:cNvPr id="11" name="Rounded Rectangle 10"/>
          <p:cNvSpPr/>
          <p:nvPr/>
        </p:nvSpPr>
        <p:spPr>
          <a:xfrm>
            <a:off x="3413760" y="2560320"/>
            <a:ext cx="2560320" cy="1051560"/>
          </a:xfrm>
          <a:prstGeom prst="round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50920" y="2633472"/>
            <a:ext cx="2286000" cy="365760"/>
          </a:xfrm>
          <a:prstGeom prst="rect">
            <a:avLst/>
          </a:prstGeom>
          <a:noFill/>
        </p:spPr>
        <p:txBody>
          <a:bodyPr wrap="square">
            <a:spAutoFit/>
          </a:bodyPr>
          <a:lstStyle/>
          <a:p>
            <a:pPr algn="l"/>
            <a:r>
              <a:rPr sz="1700" b="1">
                <a:solidFill>
                  <a:srgbClr val="FFFFFF"/>
                </a:solidFill>
                <a:latin typeface="Bricolage Grotesque"/>
              </a:rPr>
              <a:t>Formations</a:t>
            </a:r>
          </a:p>
        </p:txBody>
      </p:sp>
      <p:sp>
        <p:nvSpPr>
          <p:cNvPr id="13" name="TextBox 12"/>
          <p:cNvSpPr txBox="1"/>
          <p:nvPr/>
        </p:nvSpPr>
        <p:spPr>
          <a:xfrm>
            <a:off x="3550920" y="2999232"/>
            <a:ext cx="2286000" cy="548640"/>
          </a:xfrm>
          <a:prstGeom prst="rect">
            <a:avLst/>
          </a:prstGeom>
          <a:noFill/>
        </p:spPr>
        <p:txBody>
          <a:bodyPr wrap="square">
            <a:spAutoFit/>
          </a:bodyPr>
          <a:lstStyle/>
          <a:p>
            <a:pPr algn="l"/>
            <a:r>
              <a:rPr sz="1500" b="0">
                <a:solidFill>
                  <a:srgbClr val="FFFFFF"/>
                </a:solidFill>
                <a:latin typeface="Bricolage Grotesque"/>
              </a:rPr>
              <a:t>Masques, supports</a:t>
            </a:r>
          </a:p>
        </p:txBody>
      </p:sp>
      <p:sp>
        <p:nvSpPr>
          <p:cNvPr id="14" name="Rounded Rectangle 13"/>
          <p:cNvSpPr/>
          <p:nvPr/>
        </p:nvSpPr>
        <p:spPr>
          <a:xfrm>
            <a:off x="6187440" y="2560320"/>
            <a:ext cx="2560320" cy="105156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24600" y="2633472"/>
            <a:ext cx="2286000" cy="365760"/>
          </a:xfrm>
          <a:prstGeom prst="rect">
            <a:avLst/>
          </a:prstGeom>
          <a:noFill/>
        </p:spPr>
        <p:txBody>
          <a:bodyPr wrap="square">
            <a:spAutoFit/>
          </a:bodyPr>
          <a:lstStyle/>
          <a:p>
            <a:pPr algn="l"/>
            <a:r>
              <a:rPr sz="1700" b="1">
                <a:solidFill>
                  <a:srgbClr val="FFFFFF"/>
                </a:solidFill>
                <a:latin typeface="Bricolage Grotesque"/>
              </a:rPr>
              <a:t>Coaching</a:t>
            </a:r>
          </a:p>
        </p:txBody>
      </p:sp>
      <p:sp>
        <p:nvSpPr>
          <p:cNvPr id="16" name="TextBox 15"/>
          <p:cNvSpPr txBox="1"/>
          <p:nvPr/>
        </p:nvSpPr>
        <p:spPr>
          <a:xfrm>
            <a:off x="6324600" y="2999232"/>
            <a:ext cx="2286000" cy="548640"/>
          </a:xfrm>
          <a:prstGeom prst="rect">
            <a:avLst/>
          </a:prstGeom>
          <a:noFill/>
        </p:spPr>
        <p:txBody>
          <a:bodyPr wrap="square">
            <a:spAutoFit/>
          </a:bodyPr>
          <a:lstStyle/>
          <a:p>
            <a:pPr algn="l"/>
            <a:r>
              <a:rPr sz="1500" b="0">
                <a:solidFill>
                  <a:srgbClr val="FFFFFF"/>
                </a:solidFill>
                <a:latin typeface="Bricolage Grotesque"/>
              </a:rPr>
              <a:t>Managers, tes méthodes</a:t>
            </a:r>
          </a:p>
        </p:txBody>
      </p:sp>
      <p:sp>
        <p:nvSpPr>
          <p:cNvPr id="17" name="Rounded Rectangle 16"/>
          <p:cNvSpPr/>
          <p:nvPr/>
        </p:nvSpPr>
        <p:spPr>
          <a:xfrm>
            <a:off x="8961120" y="2560320"/>
            <a:ext cx="2560320" cy="1051560"/>
          </a:xfrm>
          <a:prstGeom prst="round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98280" y="2633472"/>
            <a:ext cx="2286000" cy="365760"/>
          </a:xfrm>
          <a:prstGeom prst="rect">
            <a:avLst/>
          </a:prstGeom>
          <a:noFill/>
        </p:spPr>
        <p:txBody>
          <a:bodyPr wrap="square">
            <a:spAutoFit/>
          </a:bodyPr>
          <a:lstStyle/>
          <a:p>
            <a:pPr algn="l"/>
            <a:r>
              <a:rPr sz="1700" b="1">
                <a:solidFill>
                  <a:srgbClr val="FFFFFF"/>
                </a:solidFill>
                <a:latin typeface="Bricolage Grotesque"/>
              </a:rPr>
              <a:t>Check-up de soi</a:t>
            </a:r>
          </a:p>
        </p:txBody>
      </p:sp>
      <p:sp>
        <p:nvSpPr>
          <p:cNvPr id="19" name="TextBox 18"/>
          <p:cNvSpPr txBox="1"/>
          <p:nvPr/>
        </p:nvSpPr>
        <p:spPr>
          <a:xfrm>
            <a:off x="9098280" y="2999232"/>
            <a:ext cx="2286000" cy="548640"/>
          </a:xfrm>
          <a:prstGeom prst="rect">
            <a:avLst/>
          </a:prstGeom>
          <a:noFill/>
        </p:spPr>
        <p:txBody>
          <a:bodyPr wrap="square">
            <a:spAutoFit/>
          </a:bodyPr>
          <a:lstStyle/>
          <a:p>
            <a:pPr algn="l"/>
            <a:r>
              <a:rPr sz="1500" b="0">
                <a:solidFill>
                  <a:srgbClr val="FFFFFF"/>
                </a:solidFill>
                <a:latin typeface="Bricolage Grotesque"/>
              </a:rPr>
              <a:t>Questionnaire, restitution</a:t>
            </a:r>
          </a:p>
        </p:txBody>
      </p:sp>
      <p:sp>
        <p:nvSpPr>
          <p:cNvPr id="20" name="TextBox 19"/>
          <p:cNvSpPr txBox="1"/>
          <p:nvPr/>
        </p:nvSpPr>
        <p:spPr>
          <a:xfrm>
            <a:off x="640080" y="3749039"/>
            <a:ext cx="10881360" cy="320040"/>
          </a:xfrm>
          <a:prstGeom prst="rect">
            <a:avLst/>
          </a:prstGeom>
          <a:noFill/>
        </p:spPr>
        <p:txBody>
          <a:bodyPr wrap="square">
            <a:spAutoFit/>
          </a:bodyPr>
          <a:lstStyle/>
          <a:p>
            <a:pPr algn="l"/>
            <a:r>
              <a:rPr sz="1500" b="1">
                <a:solidFill>
                  <a:srgbClr val="E8A000"/>
                </a:solidFill>
                <a:latin typeface="Bricolage Grotesque"/>
              </a:rPr>
              <a:t>SKILLS · un par livrable, utilisables dans tous tes projets</a:t>
            </a:r>
          </a:p>
        </p:txBody>
      </p:sp>
      <p:sp>
        <p:nvSpPr>
          <p:cNvPr id="21" name="Rounded Rectangle 20"/>
          <p:cNvSpPr/>
          <p:nvPr/>
        </p:nvSpPr>
        <p:spPr>
          <a:xfrm>
            <a:off x="640080" y="4114800"/>
            <a:ext cx="2560320" cy="658368"/>
          </a:xfrm>
          <a:prstGeom prst="roundRect">
            <a:avLst/>
          </a:prstGeom>
          <a:noFill/>
          <a:ln w="19050">
            <a:solidFill>
              <a:srgbClr val="1B5E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4169663"/>
            <a:ext cx="2340863" cy="548640"/>
          </a:xfrm>
          <a:prstGeom prst="rect">
            <a:avLst/>
          </a:prstGeom>
          <a:noFill/>
        </p:spPr>
        <p:txBody>
          <a:bodyPr wrap="square">
            <a:spAutoFit/>
          </a:bodyPr>
          <a:lstStyle/>
          <a:p>
            <a:pPr algn="ctr"/>
            <a:r>
              <a:rPr sz="1600" b="1">
                <a:solidFill>
                  <a:srgbClr val="1B5E6B"/>
                </a:solidFill>
                <a:latin typeface="Bricolage Grotesque"/>
              </a:rPr>
              <a:t>Synthèse de séance</a:t>
            </a:r>
          </a:p>
        </p:txBody>
      </p:sp>
      <p:sp>
        <p:nvSpPr>
          <p:cNvPr id="23" name="Rounded Rectangle 22"/>
          <p:cNvSpPr/>
          <p:nvPr/>
        </p:nvSpPr>
        <p:spPr>
          <a:xfrm>
            <a:off x="3413760" y="4114800"/>
            <a:ext cx="2560320" cy="658368"/>
          </a:xfrm>
          <a:prstGeom prst="roundRect">
            <a:avLst/>
          </a:prstGeom>
          <a:noFill/>
          <a:ln w="19050">
            <a:solidFill>
              <a:srgbClr val="1B5E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523488" y="4169663"/>
            <a:ext cx="2340863" cy="548640"/>
          </a:xfrm>
          <a:prstGeom prst="rect">
            <a:avLst/>
          </a:prstGeom>
          <a:noFill/>
        </p:spPr>
        <p:txBody>
          <a:bodyPr wrap="square">
            <a:spAutoFit/>
          </a:bodyPr>
          <a:lstStyle/>
          <a:p>
            <a:pPr algn="ctr"/>
            <a:r>
              <a:rPr sz="1600" b="1">
                <a:solidFill>
                  <a:srgbClr val="1B5E6B"/>
                </a:solidFill>
                <a:latin typeface="Bricolage Grotesque"/>
              </a:rPr>
              <a:t>Synthèse finale de bilan</a:t>
            </a:r>
          </a:p>
        </p:txBody>
      </p:sp>
      <p:sp>
        <p:nvSpPr>
          <p:cNvPr id="25" name="Rounded Rectangle 24"/>
          <p:cNvSpPr/>
          <p:nvPr/>
        </p:nvSpPr>
        <p:spPr>
          <a:xfrm>
            <a:off x="6187440" y="4114800"/>
            <a:ext cx="2560320" cy="658368"/>
          </a:xfrm>
          <a:prstGeom prst="roundRect">
            <a:avLst/>
          </a:prstGeom>
          <a:noFill/>
          <a:ln w="19050">
            <a:solidFill>
              <a:srgbClr val="1B5E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97168" y="4169663"/>
            <a:ext cx="2340863" cy="548640"/>
          </a:xfrm>
          <a:prstGeom prst="rect">
            <a:avLst/>
          </a:prstGeom>
          <a:noFill/>
        </p:spPr>
        <p:txBody>
          <a:bodyPr wrap="square">
            <a:spAutoFit/>
          </a:bodyPr>
          <a:lstStyle/>
          <a:p>
            <a:pPr algn="ctr"/>
            <a:r>
              <a:rPr sz="1600" b="1">
                <a:solidFill>
                  <a:srgbClr val="1B5E6B"/>
                </a:solidFill>
                <a:latin typeface="Bricolage Grotesque"/>
              </a:rPr>
              <a:t>Questionnaire de valeurs</a:t>
            </a:r>
          </a:p>
        </p:txBody>
      </p:sp>
      <p:sp>
        <p:nvSpPr>
          <p:cNvPr id="27" name="Rounded Rectangle 26"/>
          <p:cNvSpPr/>
          <p:nvPr/>
        </p:nvSpPr>
        <p:spPr>
          <a:xfrm>
            <a:off x="8961120" y="4114800"/>
            <a:ext cx="2560320" cy="658368"/>
          </a:xfrm>
          <a:prstGeom prst="roundRect">
            <a:avLst/>
          </a:prstGeom>
          <a:noFill/>
          <a:ln w="19050">
            <a:solidFill>
              <a:srgbClr val="1B5E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70848" y="4169663"/>
            <a:ext cx="2340863" cy="548640"/>
          </a:xfrm>
          <a:prstGeom prst="rect">
            <a:avLst/>
          </a:prstGeom>
          <a:noFill/>
        </p:spPr>
        <p:txBody>
          <a:bodyPr wrap="square">
            <a:spAutoFit/>
          </a:bodyPr>
          <a:lstStyle/>
          <a:p>
            <a:pPr algn="ctr"/>
            <a:r>
              <a:rPr sz="1600" b="1">
                <a:solidFill>
                  <a:srgbClr val="1B5E6B"/>
                </a:solidFill>
                <a:latin typeface="Bricolage Grotesque"/>
              </a:rPr>
              <a:t>Prompts par poste</a:t>
            </a:r>
          </a:p>
        </p:txBody>
      </p:sp>
      <p:sp>
        <p:nvSpPr>
          <p:cNvPr id="29" name="TextBox 28"/>
          <p:cNvSpPr txBox="1"/>
          <p:nvPr/>
        </p:nvSpPr>
        <p:spPr>
          <a:xfrm>
            <a:off x="640080" y="4956048"/>
            <a:ext cx="10881360" cy="411480"/>
          </a:xfrm>
          <a:prstGeom prst="rect">
            <a:avLst/>
          </a:prstGeom>
          <a:noFill/>
        </p:spPr>
        <p:txBody>
          <a:bodyPr wrap="square">
            <a:spAutoFit/>
          </a:bodyPr>
          <a:lstStyle/>
          <a:p>
            <a:pPr algn="l"/>
            <a:r>
              <a:rPr sz="1700" b="1">
                <a:solidFill>
                  <a:srgbClr val="5A8A8F"/>
                </a:solidFill>
                <a:latin typeface="Bricolage Grotesque"/>
              </a:rPr>
              <a:t>CONNECTEURS · Gmail, OneDrive : les données qui bougent, lues à la source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914400"/>
            <a:ext cx="10515600" cy="731520"/>
          </a:xfrm>
          <a:prstGeom prst="rect">
            <a:avLst/>
          </a:prstGeom>
          <a:noFill/>
        </p:spPr>
        <p:txBody>
          <a:bodyPr wrap="square">
            <a:spAutoFit/>
          </a:bodyPr>
          <a:lstStyle/>
          <a:p>
            <a:pPr algn="l"/>
            <a:r>
              <a:rPr sz="3600" b="1">
                <a:solidFill>
                  <a:srgbClr val="E8A000"/>
                </a:solidFill>
                <a:latin typeface="Bricolage Grotesque"/>
              </a:rPr>
              <a:t>À retenir</a:t>
            </a:r>
          </a:p>
        </p:txBody>
      </p:sp>
      <p:sp>
        <p:nvSpPr>
          <p:cNvPr id="4" name="TextBox 3"/>
          <p:cNvSpPr txBox="1"/>
          <p:nvPr/>
        </p:nvSpPr>
        <p:spPr>
          <a:xfrm>
            <a:off x="640080" y="1645920"/>
            <a:ext cx="10515600" cy="548640"/>
          </a:xfrm>
          <a:prstGeom prst="rect">
            <a:avLst/>
          </a:prstGeom>
          <a:noFill/>
        </p:spPr>
        <p:txBody>
          <a:bodyPr wrap="square">
            <a:spAutoFit/>
          </a:bodyPr>
          <a:lstStyle/>
          <a:p>
            <a:pPr algn="l"/>
            <a:r>
              <a:rPr sz="1800" b="0">
                <a:solidFill>
                  <a:srgbClr val="5A8A8F"/>
                </a:solidFill>
                <a:latin typeface="Bricolage Grotesque"/>
              </a:rPr>
              <a:t>Où ranger quoi</a:t>
            </a:r>
          </a:p>
        </p:txBody>
      </p:sp>
      <p:sp>
        <p:nvSpPr>
          <p:cNvPr id="5" name="Rectangle 4"/>
          <p:cNvSpPr/>
          <p:nvPr/>
        </p:nvSpPr>
        <p:spPr>
          <a:xfrm>
            <a:off x="640080" y="2286000"/>
            <a:ext cx="2743200" cy="27432"/>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651760"/>
            <a:ext cx="10881360" cy="3383280"/>
          </a:xfrm>
          <a:prstGeom prst="rect">
            <a:avLst/>
          </a:prstGeom>
          <a:noFill/>
        </p:spPr>
        <p:txBody>
          <a:bodyPr wrap="square">
            <a:spAutoFit/>
          </a:bodyPr>
          <a:lstStyle/>
          <a:p>
            <a:pPr>
              <a:spcBef>
                <a:spcPts val="1200"/>
              </a:spcBef>
            </a:pPr>
            <a:r>
              <a:rPr sz="2000">
                <a:solidFill>
                  <a:srgbClr val="FFFFFF"/>
                </a:solidFill>
                <a:latin typeface="Bricolage Grotesque"/>
              </a:rPr>
              <a:t>1.  Instructions pour Claude : ce qui vaut partout. Court.</a:t>
            </a:r>
          </a:p>
          <a:p>
            <a:pPr>
              <a:spcBef>
                <a:spcPts val="1200"/>
              </a:spcBef>
            </a:pPr>
            <a:r>
              <a:rPr sz="2000">
                <a:solidFill>
                  <a:srgbClr val="FFFFFF"/>
                </a:solidFill>
                <a:latin typeface="Bricolage Grotesque"/>
              </a:rPr>
              <a:t>2.  Projet : une activité, avec ses instructions et ses fichiers stables.</a:t>
            </a:r>
          </a:p>
          <a:p>
            <a:pPr>
              <a:spcBef>
                <a:spcPts val="1200"/>
              </a:spcBef>
            </a:pPr>
            <a:r>
              <a:rPr sz="2000">
                <a:solidFill>
                  <a:srgbClr val="FFFFFF"/>
                </a:solidFill>
                <a:latin typeface="Bricolage Grotesque"/>
              </a:rPr>
              <a:t>3.  Skill : une façon de faire, un livrable. Il te suit partout.</a:t>
            </a:r>
          </a:p>
          <a:p>
            <a:pPr>
              <a:spcBef>
                <a:spcPts val="1200"/>
              </a:spcBef>
            </a:pPr>
            <a:r>
              <a:rPr sz="2000">
                <a:solidFill>
                  <a:srgbClr val="FFFFFF"/>
                </a:solidFill>
                <a:latin typeface="Bricolage Grotesque"/>
              </a:rPr>
              <a:t>4.  Connecteurs : ce qui bouge, lu à la source.</a:t>
            </a:r>
          </a:p>
          <a:p>
            <a:pPr>
              <a:spcBef>
                <a:spcPts val="1200"/>
              </a:spcBef>
            </a:pPr>
            <a:r>
              <a:rPr sz="2000">
                <a:solidFill>
                  <a:srgbClr val="FFFFFF"/>
                </a:solidFill>
                <a:latin typeface="Bricolage Grotesque"/>
              </a:rPr>
              <a:t>5.  Une règle à un seul endroit, jamais en double.</a:t>
            </a:r>
          </a:p>
        </p:txBody>
      </p:sp>
      <p:pic>
        <p:nvPicPr>
          <p:cNvPr id="7" name="Picture 6" descr="ia-round.png"/>
          <p:cNvPicPr>
            <a:picLocks noChangeAspect="1"/>
          </p:cNvPicPr>
          <p:nvPr/>
        </p:nvPicPr>
        <p:blipFill>
          <a:blip r:embed="rId2"/>
          <a:stretch>
            <a:fillRect/>
          </a:stretch>
        </p:blipFill>
        <p:spPr>
          <a:xfrm>
            <a:off x="457200" y="6355080"/>
            <a:ext cx="320040" cy="320040"/>
          </a:xfrm>
          <a:prstGeom prst="rect">
            <a:avLst/>
          </a:prstGeom>
        </p:spPr>
      </p:pic>
      <p:sp>
        <p:nvSpPr>
          <p:cNvPr id="8" name="TextBox 7"/>
          <p:cNvSpPr txBox="1"/>
          <p:nvPr/>
        </p:nvSpPr>
        <p:spPr>
          <a:xfrm>
            <a:off x="868680" y="633679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965960"/>
            <a:ext cx="2743200" cy="36576"/>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515600" cy="731520"/>
          </a:xfrm>
          <a:prstGeom prst="rect">
            <a:avLst/>
          </a:prstGeom>
          <a:noFill/>
        </p:spPr>
        <p:txBody>
          <a:bodyPr wrap="square">
            <a:spAutoFit/>
          </a:bodyPr>
          <a:lstStyle/>
          <a:p>
            <a:pPr algn="l"/>
            <a:r>
              <a:rPr sz="2200" b="1">
                <a:solidFill>
                  <a:srgbClr val="E8A000"/>
                </a:solidFill>
                <a:latin typeface="Bricolage Grotesque"/>
              </a:rPr>
              <a:t>Séquence 4</a:t>
            </a:r>
          </a:p>
        </p:txBody>
      </p:sp>
      <p:sp>
        <p:nvSpPr>
          <p:cNvPr id="5" name="TextBox 4"/>
          <p:cNvSpPr txBox="1"/>
          <p:nvPr/>
        </p:nvSpPr>
        <p:spPr>
          <a:xfrm>
            <a:off x="640080" y="2286000"/>
            <a:ext cx="10698480" cy="1645920"/>
          </a:xfrm>
          <a:prstGeom prst="rect">
            <a:avLst/>
          </a:prstGeom>
          <a:noFill/>
        </p:spPr>
        <p:txBody>
          <a:bodyPr wrap="square">
            <a:spAutoFit/>
          </a:bodyPr>
          <a:lstStyle/>
          <a:p>
            <a:pPr algn="l"/>
            <a:r>
              <a:rPr sz="4200" b="1">
                <a:solidFill>
                  <a:srgbClr val="FFFFFF"/>
                </a:solidFill>
                <a:latin typeface="Bricolage Grotesque"/>
              </a:rPr>
              <a:t>Pratique 1 : ton organisation</a:t>
            </a:r>
          </a:p>
        </p:txBody>
      </p:sp>
      <p:sp>
        <p:nvSpPr>
          <p:cNvPr id="6" name="TextBox 5"/>
          <p:cNvSpPr txBox="1"/>
          <p:nvPr/>
        </p:nvSpPr>
        <p:spPr>
          <a:xfrm>
            <a:off x="640080" y="4023360"/>
            <a:ext cx="10515600" cy="731520"/>
          </a:xfrm>
          <a:prstGeom prst="rect">
            <a:avLst/>
          </a:prstGeom>
          <a:noFill/>
        </p:spPr>
        <p:txBody>
          <a:bodyPr wrap="square">
            <a:spAutoFit/>
          </a:bodyPr>
          <a:lstStyle/>
          <a:p>
            <a:pPr algn="l"/>
            <a:r>
              <a:rPr sz="2000" b="0">
                <a:solidFill>
                  <a:srgbClr val="5A8A8F"/>
                </a:solidFill>
                <a:latin typeface="Bricolage Grotesque"/>
              </a:rPr>
              <a:t>Tu décides, je challenge</a:t>
            </a:r>
          </a:p>
        </p:txBody>
      </p:sp>
      <p:pic>
        <p:nvPicPr>
          <p:cNvPr id="7" name="Picture 6" descr="ia-round.png"/>
          <p:cNvPicPr>
            <a:picLocks noChangeAspect="1"/>
          </p:cNvPicPr>
          <p:nvPr/>
        </p:nvPicPr>
        <p:blipFill>
          <a:blip r:embed="rId2"/>
          <a:stretch>
            <a:fillRect/>
          </a:stretch>
        </p:blipFill>
        <p:spPr>
          <a:xfrm>
            <a:off x="457200" y="6217920"/>
            <a:ext cx="320040" cy="320040"/>
          </a:xfrm>
          <a:prstGeom prst="rect">
            <a:avLst/>
          </a:prstGeom>
        </p:spPr>
      </p:pic>
      <p:sp>
        <p:nvSpPr>
          <p:cNvPr id="8" name="TextBox 7"/>
          <p:cNvSpPr txBox="1"/>
          <p:nvPr/>
        </p:nvSpPr>
        <p:spPr>
          <a:xfrm>
            <a:off x="868680" y="619963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Pratique 1 · L'énoncé</a:t>
            </a:r>
          </a:p>
        </p:txBody>
      </p:sp>
      <p:sp>
        <p:nvSpPr>
          <p:cNvPr id="5" name="Rounded Rectangle 4"/>
          <p:cNvSpPr/>
          <p:nvPr/>
        </p:nvSpPr>
        <p:spPr>
          <a:xfrm>
            <a:off x="640080" y="1417320"/>
            <a:ext cx="10881360" cy="1143000"/>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08760"/>
            <a:ext cx="4023359" cy="320040"/>
          </a:xfrm>
          <a:prstGeom prst="rect">
            <a:avLst/>
          </a:prstGeom>
          <a:noFill/>
        </p:spPr>
        <p:txBody>
          <a:bodyPr wrap="square">
            <a:spAutoFit/>
          </a:bodyPr>
          <a:lstStyle/>
          <a:p>
            <a:pPr algn="l"/>
            <a:r>
              <a:rPr sz="1400" b="1">
                <a:solidFill>
                  <a:srgbClr val="E8A000"/>
                </a:solidFill>
                <a:latin typeface="Bricolage Grotesque"/>
              </a:rPr>
              <a:t>OBJECTIF</a:t>
            </a:r>
          </a:p>
        </p:txBody>
      </p:sp>
      <p:sp>
        <p:nvSpPr>
          <p:cNvPr id="7" name="TextBox 6"/>
          <p:cNvSpPr txBox="1"/>
          <p:nvPr/>
        </p:nvSpPr>
        <p:spPr>
          <a:xfrm>
            <a:off x="868680" y="1810512"/>
            <a:ext cx="4023359" cy="685800"/>
          </a:xfrm>
          <a:prstGeom prst="rect">
            <a:avLst/>
          </a:prstGeom>
          <a:noFill/>
        </p:spPr>
        <p:txBody>
          <a:bodyPr wrap="square">
            <a:spAutoFit/>
          </a:bodyPr>
          <a:lstStyle/>
          <a:p>
            <a:pPr algn="l"/>
            <a:r>
              <a:rPr sz="1600" b="0">
                <a:solidFill>
                  <a:srgbClr val="1A1A1A"/>
                </a:solidFill>
                <a:latin typeface="Bricolage Grotesque"/>
              </a:rPr>
              <a:t>Décider où va chaque chose, pour ne plus hésiter.</a:t>
            </a:r>
          </a:p>
        </p:txBody>
      </p:sp>
      <p:sp>
        <p:nvSpPr>
          <p:cNvPr id="8" name="TextBox 7"/>
          <p:cNvSpPr txBox="1"/>
          <p:nvPr/>
        </p:nvSpPr>
        <p:spPr>
          <a:xfrm>
            <a:off x="5074920" y="1508760"/>
            <a:ext cx="4389120" cy="320040"/>
          </a:xfrm>
          <a:prstGeom prst="rect">
            <a:avLst/>
          </a:prstGeom>
          <a:noFill/>
        </p:spPr>
        <p:txBody>
          <a:bodyPr wrap="square">
            <a:spAutoFit/>
          </a:bodyPr>
          <a:lstStyle/>
          <a:p>
            <a:pPr algn="l"/>
            <a:r>
              <a:rPr sz="1400" b="1">
                <a:solidFill>
                  <a:srgbClr val="E8A000"/>
                </a:solidFill>
                <a:latin typeface="Bricolage Grotesque"/>
              </a:rPr>
              <a:t>LIVRABLE</a:t>
            </a:r>
          </a:p>
        </p:txBody>
      </p:sp>
      <p:sp>
        <p:nvSpPr>
          <p:cNvPr id="9" name="TextBox 8"/>
          <p:cNvSpPr txBox="1"/>
          <p:nvPr/>
        </p:nvSpPr>
        <p:spPr>
          <a:xfrm>
            <a:off x="5074920" y="1810512"/>
            <a:ext cx="4389120" cy="685800"/>
          </a:xfrm>
          <a:prstGeom prst="rect">
            <a:avLst/>
          </a:prstGeom>
          <a:noFill/>
        </p:spPr>
        <p:txBody>
          <a:bodyPr wrap="square">
            <a:spAutoFit/>
          </a:bodyPr>
          <a:lstStyle/>
          <a:p>
            <a:pPr algn="l"/>
            <a:r>
              <a:rPr sz="1600" b="0">
                <a:solidFill>
                  <a:srgbClr val="1A1A1A"/>
                </a:solidFill>
                <a:latin typeface="Bricolage Grotesque"/>
              </a:rPr>
              <a:t>Ton organisation validée : projets, skills, instructions relues.</a:t>
            </a:r>
          </a:p>
        </p:txBody>
      </p:sp>
      <p:sp>
        <p:nvSpPr>
          <p:cNvPr id="10" name="TextBox 9"/>
          <p:cNvSpPr txBox="1"/>
          <p:nvPr/>
        </p:nvSpPr>
        <p:spPr>
          <a:xfrm>
            <a:off x="9646920" y="1508760"/>
            <a:ext cx="1554480" cy="320040"/>
          </a:xfrm>
          <a:prstGeom prst="rect">
            <a:avLst/>
          </a:prstGeom>
          <a:noFill/>
        </p:spPr>
        <p:txBody>
          <a:bodyPr wrap="square">
            <a:spAutoFit/>
          </a:bodyPr>
          <a:lstStyle/>
          <a:p>
            <a:pPr algn="l"/>
            <a:r>
              <a:rPr sz="1400" b="1">
                <a:solidFill>
                  <a:srgbClr val="E8A000"/>
                </a:solidFill>
                <a:latin typeface="Bricolage Grotesque"/>
              </a:rPr>
              <a:t>DURÉE</a:t>
            </a:r>
          </a:p>
        </p:txBody>
      </p:sp>
      <p:sp>
        <p:nvSpPr>
          <p:cNvPr id="11" name="TextBox 10"/>
          <p:cNvSpPr txBox="1"/>
          <p:nvPr/>
        </p:nvSpPr>
        <p:spPr>
          <a:xfrm>
            <a:off x="9646920" y="1810512"/>
            <a:ext cx="1554480" cy="685800"/>
          </a:xfrm>
          <a:prstGeom prst="rect">
            <a:avLst/>
          </a:prstGeom>
          <a:noFill/>
        </p:spPr>
        <p:txBody>
          <a:bodyPr wrap="square">
            <a:spAutoFit/>
          </a:bodyPr>
          <a:lstStyle/>
          <a:p>
            <a:pPr algn="l"/>
            <a:r>
              <a:rPr sz="1600" b="0">
                <a:solidFill>
                  <a:srgbClr val="1A1A1A"/>
                </a:solidFill>
                <a:latin typeface="Bricolage Grotesque"/>
              </a:rPr>
              <a:t>25 minutes</a:t>
            </a:r>
          </a:p>
        </p:txBody>
      </p:sp>
      <p:sp>
        <p:nvSpPr>
          <p:cNvPr id="12" name="TextBox 11"/>
          <p:cNvSpPr txBox="1"/>
          <p:nvPr/>
        </p:nvSpPr>
        <p:spPr>
          <a:xfrm>
            <a:off x="640080" y="2834640"/>
            <a:ext cx="10881360" cy="411480"/>
          </a:xfrm>
          <a:prstGeom prst="rect">
            <a:avLst/>
          </a:prstGeom>
          <a:noFill/>
        </p:spPr>
        <p:txBody>
          <a:bodyPr wrap="square">
            <a:spAutoFit/>
          </a:bodyPr>
          <a:lstStyle/>
          <a:p>
            <a:r>
              <a:rPr sz="1900" b="1">
                <a:solidFill>
                  <a:srgbClr val="1B5E6B"/>
                </a:solidFill>
                <a:latin typeface="Bricolage Grotesque"/>
              </a:rPr>
              <a:t>1.  </a:t>
            </a:r>
            <a:r>
              <a:rPr sz="1900">
                <a:solidFill>
                  <a:srgbClr val="333333"/>
                </a:solidFill>
                <a:latin typeface="Bricolage Grotesque"/>
              </a:rPr>
              <a:t>Lister tes 8 à 10 tâches récurrentes avec Claude (on les écrit ensemble).</a:t>
            </a:r>
          </a:p>
        </p:txBody>
      </p:sp>
      <p:sp>
        <p:nvSpPr>
          <p:cNvPr id="13" name="TextBox 12"/>
          <p:cNvSpPr txBox="1"/>
          <p:nvPr/>
        </p:nvSpPr>
        <p:spPr>
          <a:xfrm>
            <a:off x="640080" y="3355848"/>
            <a:ext cx="10881360" cy="411480"/>
          </a:xfrm>
          <a:prstGeom prst="rect">
            <a:avLst/>
          </a:prstGeom>
          <a:noFill/>
        </p:spPr>
        <p:txBody>
          <a:bodyPr wrap="square">
            <a:spAutoFit/>
          </a:bodyPr>
          <a:lstStyle/>
          <a:p>
            <a:r>
              <a:rPr sz="1900" b="1">
                <a:solidFill>
                  <a:srgbClr val="1B5E6B"/>
                </a:solidFill>
                <a:latin typeface="Bricolage Grotesque"/>
              </a:rPr>
              <a:t>2.  </a:t>
            </a:r>
            <a:r>
              <a:rPr sz="1900">
                <a:solidFill>
                  <a:srgbClr val="333333"/>
                </a:solidFill>
                <a:latin typeface="Bricolage Grotesque"/>
              </a:rPr>
              <a:t>Passer chacune au test des quatre questions, vu en théorie.</a:t>
            </a:r>
          </a:p>
        </p:txBody>
      </p:sp>
      <p:sp>
        <p:nvSpPr>
          <p:cNvPr id="14" name="TextBox 13"/>
          <p:cNvSpPr txBox="1"/>
          <p:nvPr/>
        </p:nvSpPr>
        <p:spPr>
          <a:xfrm>
            <a:off x="640080" y="3877056"/>
            <a:ext cx="10881360" cy="411480"/>
          </a:xfrm>
          <a:prstGeom prst="rect">
            <a:avLst/>
          </a:prstGeom>
          <a:noFill/>
        </p:spPr>
        <p:txBody>
          <a:bodyPr wrap="square">
            <a:spAutoFit/>
          </a:bodyPr>
          <a:lstStyle/>
          <a:p>
            <a:r>
              <a:rPr sz="1900" b="1">
                <a:solidFill>
                  <a:srgbClr val="1B5E6B"/>
                </a:solidFill>
                <a:latin typeface="Bricolage Grotesque"/>
              </a:rPr>
              <a:t>3.  </a:t>
            </a:r>
            <a:r>
              <a:rPr sz="1900">
                <a:solidFill>
                  <a:srgbClr val="333333"/>
                </a:solidFill>
                <a:latin typeface="Bricolage Grotesque"/>
              </a:rPr>
              <a:t>Valider tes projets : un par activité, pas un par tâche.</a:t>
            </a:r>
          </a:p>
        </p:txBody>
      </p:sp>
      <p:sp>
        <p:nvSpPr>
          <p:cNvPr id="15" name="TextBox 14"/>
          <p:cNvSpPr txBox="1"/>
          <p:nvPr/>
        </p:nvSpPr>
        <p:spPr>
          <a:xfrm>
            <a:off x="640080" y="4398264"/>
            <a:ext cx="10881360" cy="411480"/>
          </a:xfrm>
          <a:prstGeom prst="rect">
            <a:avLst/>
          </a:prstGeom>
          <a:noFill/>
        </p:spPr>
        <p:txBody>
          <a:bodyPr wrap="square">
            <a:spAutoFit/>
          </a:bodyPr>
          <a:lstStyle/>
          <a:p>
            <a:r>
              <a:rPr sz="1900" b="1">
                <a:solidFill>
                  <a:srgbClr val="1B5E6B"/>
                </a:solidFill>
                <a:latin typeface="Bricolage Grotesque"/>
              </a:rPr>
              <a:t>4.  </a:t>
            </a:r>
            <a:r>
              <a:rPr sz="1900">
                <a:solidFill>
                  <a:srgbClr val="333333"/>
                </a:solidFill>
                <a:latin typeface="Bricolage Grotesque"/>
              </a:rPr>
              <a:t>Faire relire tes Instructions pour Claude avec le prompt dédié.</a:t>
            </a:r>
          </a:p>
        </p:txBody>
      </p:sp>
      <p:sp>
        <p:nvSpPr>
          <p:cNvPr id="16" name="TextBox 15"/>
          <p:cNvSpPr txBox="1"/>
          <p:nvPr/>
        </p:nvSpPr>
        <p:spPr>
          <a:xfrm>
            <a:off x="640080" y="4919472"/>
            <a:ext cx="10881360" cy="411480"/>
          </a:xfrm>
          <a:prstGeom prst="rect">
            <a:avLst/>
          </a:prstGeom>
          <a:noFill/>
        </p:spPr>
        <p:txBody>
          <a:bodyPr wrap="square">
            <a:spAutoFit/>
          </a:bodyPr>
          <a:lstStyle/>
          <a:p>
            <a:r>
              <a:rPr sz="1900" b="1">
                <a:solidFill>
                  <a:srgbClr val="1B5E6B"/>
                </a:solidFill>
                <a:latin typeface="Bricolage Grotesque"/>
              </a:rPr>
              <a:t>5.  </a:t>
            </a:r>
            <a:r>
              <a:rPr sz="1900">
                <a:solidFill>
                  <a:srgbClr val="333333"/>
                </a:solidFill>
                <a:latin typeface="Bricolage Grotesque"/>
              </a:rPr>
              <a:t>Ranger le reste : dans le bon projet, ou sur ta liste de skills.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Pratique 1 · Ta grille de tri</a:t>
            </a:r>
          </a:p>
        </p:txBody>
      </p:sp>
      <p:sp>
        <p:nvSpPr>
          <p:cNvPr id="5" name="TextBox 4"/>
          <p:cNvSpPr txBox="1"/>
          <p:nvPr/>
        </p:nvSpPr>
        <p:spPr>
          <a:xfrm>
            <a:off x="777240" y="1463040"/>
            <a:ext cx="4023359" cy="365760"/>
          </a:xfrm>
          <a:prstGeom prst="rect">
            <a:avLst/>
          </a:prstGeom>
          <a:noFill/>
        </p:spPr>
        <p:txBody>
          <a:bodyPr wrap="square">
            <a:spAutoFit/>
          </a:bodyPr>
          <a:lstStyle/>
          <a:p>
            <a:pPr algn="l"/>
            <a:r>
              <a:rPr sz="1800" b="1">
                <a:solidFill>
                  <a:srgbClr val="1B5E6B"/>
                </a:solidFill>
                <a:latin typeface="Bricolage Grotesque"/>
              </a:rPr>
              <a:t>Ta tâche</a:t>
            </a:r>
          </a:p>
        </p:txBody>
      </p:sp>
      <p:sp>
        <p:nvSpPr>
          <p:cNvPr id="6" name="TextBox 5"/>
          <p:cNvSpPr txBox="1"/>
          <p:nvPr/>
        </p:nvSpPr>
        <p:spPr>
          <a:xfrm>
            <a:off x="4983480" y="1463040"/>
            <a:ext cx="2834639" cy="365760"/>
          </a:xfrm>
          <a:prstGeom prst="rect">
            <a:avLst/>
          </a:prstGeom>
          <a:noFill/>
        </p:spPr>
        <p:txBody>
          <a:bodyPr wrap="square">
            <a:spAutoFit/>
          </a:bodyPr>
          <a:lstStyle/>
          <a:p>
            <a:pPr algn="l"/>
            <a:r>
              <a:rPr sz="1800" b="1">
                <a:solidFill>
                  <a:srgbClr val="1B5E6B"/>
                </a:solidFill>
                <a:latin typeface="Bricolage Grotesque"/>
              </a:rPr>
              <a:t>Où la ranger</a:t>
            </a:r>
          </a:p>
        </p:txBody>
      </p:sp>
      <p:sp>
        <p:nvSpPr>
          <p:cNvPr id="7" name="TextBox 6"/>
          <p:cNvSpPr txBox="1"/>
          <p:nvPr/>
        </p:nvSpPr>
        <p:spPr>
          <a:xfrm>
            <a:off x="8001000" y="1463040"/>
            <a:ext cx="3474720" cy="365760"/>
          </a:xfrm>
          <a:prstGeom prst="rect">
            <a:avLst/>
          </a:prstGeom>
          <a:noFill/>
        </p:spPr>
        <p:txBody>
          <a:bodyPr wrap="square">
            <a:spAutoFit/>
          </a:bodyPr>
          <a:lstStyle/>
          <a:p>
            <a:pPr algn="l"/>
            <a:r>
              <a:rPr sz="1800" b="1">
                <a:solidFill>
                  <a:srgbClr val="1B5E6B"/>
                </a:solidFill>
                <a:latin typeface="Bricolage Grotesque"/>
              </a:rPr>
              <a:t>Pourquoi</a:t>
            </a:r>
          </a:p>
        </p:txBody>
      </p:sp>
      <p:sp>
        <p:nvSpPr>
          <p:cNvPr id="8" name="Rectangle 7"/>
          <p:cNvSpPr/>
          <p:nvPr/>
        </p:nvSpPr>
        <p:spPr>
          <a:xfrm>
            <a:off x="640080" y="1874520"/>
            <a:ext cx="10881360" cy="27432"/>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965960"/>
            <a:ext cx="10881360" cy="45720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020824"/>
            <a:ext cx="4023359" cy="347472"/>
          </a:xfrm>
          <a:prstGeom prst="rect">
            <a:avLst/>
          </a:prstGeom>
          <a:noFill/>
        </p:spPr>
        <p:txBody>
          <a:bodyPr wrap="square">
            <a:spAutoFit/>
          </a:bodyPr>
          <a:lstStyle/>
          <a:p>
            <a:pPr algn="l"/>
            <a:r>
              <a:rPr sz="1600" b="1">
                <a:solidFill>
                  <a:srgbClr val="1A1A1A"/>
                </a:solidFill>
                <a:latin typeface="Bricolage Grotesque"/>
              </a:rPr>
              <a:t>Ta synthèse après chaque séance</a:t>
            </a:r>
          </a:p>
        </p:txBody>
      </p:sp>
      <p:sp>
        <p:nvSpPr>
          <p:cNvPr id="11" name="TextBox 10"/>
          <p:cNvSpPr txBox="1"/>
          <p:nvPr/>
        </p:nvSpPr>
        <p:spPr>
          <a:xfrm>
            <a:off x="4983480" y="2020824"/>
            <a:ext cx="2834639" cy="347472"/>
          </a:xfrm>
          <a:prstGeom prst="rect">
            <a:avLst/>
          </a:prstGeom>
          <a:noFill/>
        </p:spPr>
        <p:txBody>
          <a:bodyPr wrap="square">
            <a:spAutoFit/>
          </a:bodyPr>
          <a:lstStyle/>
          <a:p>
            <a:pPr algn="l"/>
            <a:r>
              <a:rPr sz="1600" b="0">
                <a:solidFill>
                  <a:srgbClr val="333333"/>
                </a:solidFill>
                <a:latin typeface="Bricolage Grotesque"/>
              </a:rPr>
              <a:t>Skill</a:t>
            </a:r>
          </a:p>
        </p:txBody>
      </p:sp>
      <p:sp>
        <p:nvSpPr>
          <p:cNvPr id="12" name="TextBox 11"/>
          <p:cNvSpPr txBox="1"/>
          <p:nvPr/>
        </p:nvSpPr>
        <p:spPr>
          <a:xfrm>
            <a:off x="8001000" y="2020824"/>
            <a:ext cx="3474720" cy="347472"/>
          </a:xfrm>
          <a:prstGeom prst="rect">
            <a:avLst/>
          </a:prstGeom>
          <a:noFill/>
        </p:spPr>
        <p:txBody>
          <a:bodyPr wrap="square">
            <a:spAutoFit/>
          </a:bodyPr>
          <a:lstStyle/>
          <a:p>
            <a:pPr algn="l"/>
            <a:r>
              <a:rPr sz="1600" b="0">
                <a:solidFill>
                  <a:srgbClr val="333333"/>
                </a:solidFill>
                <a:latin typeface="Bricolage Grotesque"/>
              </a:rPr>
              <a:t>Même méthode à chaque fois</a:t>
            </a:r>
          </a:p>
        </p:txBody>
      </p:sp>
      <p:sp>
        <p:nvSpPr>
          <p:cNvPr id="13" name="TextBox 12"/>
          <p:cNvSpPr txBox="1"/>
          <p:nvPr/>
        </p:nvSpPr>
        <p:spPr>
          <a:xfrm>
            <a:off x="777240" y="2478024"/>
            <a:ext cx="4023359" cy="347472"/>
          </a:xfrm>
          <a:prstGeom prst="rect">
            <a:avLst/>
          </a:prstGeom>
          <a:noFill/>
        </p:spPr>
        <p:txBody>
          <a:bodyPr wrap="square">
            <a:spAutoFit/>
          </a:bodyPr>
          <a:lstStyle/>
          <a:p>
            <a:pPr algn="l"/>
            <a:r>
              <a:rPr sz="1600" b="1">
                <a:solidFill>
                  <a:srgbClr val="1A1A1A"/>
                </a:solidFill>
                <a:latin typeface="Bricolage Grotesque"/>
              </a:rPr>
              <a:t>La trame d'un organisme</a:t>
            </a:r>
          </a:p>
        </p:txBody>
      </p:sp>
      <p:sp>
        <p:nvSpPr>
          <p:cNvPr id="14" name="TextBox 13"/>
          <p:cNvSpPr txBox="1"/>
          <p:nvPr/>
        </p:nvSpPr>
        <p:spPr>
          <a:xfrm>
            <a:off x="4983480" y="2478024"/>
            <a:ext cx="2834639" cy="347472"/>
          </a:xfrm>
          <a:prstGeom prst="rect">
            <a:avLst/>
          </a:prstGeom>
          <a:noFill/>
        </p:spPr>
        <p:txBody>
          <a:bodyPr wrap="square">
            <a:spAutoFit/>
          </a:bodyPr>
          <a:lstStyle/>
          <a:p>
            <a:pPr algn="l"/>
            <a:r>
              <a:rPr sz="1600" b="0">
                <a:solidFill>
                  <a:srgbClr val="333333"/>
                </a:solidFill>
                <a:latin typeface="Bricolage Grotesque"/>
              </a:rPr>
              <a:t>Projet : fichiers</a:t>
            </a:r>
          </a:p>
        </p:txBody>
      </p:sp>
      <p:sp>
        <p:nvSpPr>
          <p:cNvPr id="15" name="TextBox 14"/>
          <p:cNvSpPr txBox="1"/>
          <p:nvPr/>
        </p:nvSpPr>
        <p:spPr>
          <a:xfrm>
            <a:off x="8001000" y="2478024"/>
            <a:ext cx="3474720" cy="347472"/>
          </a:xfrm>
          <a:prstGeom prst="rect">
            <a:avLst/>
          </a:prstGeom>
          <a:noFill/>
        </p:spPr>
        <p:txBody>
          <a:bodyPr wrap="square">
            <a:spAutoFit/>
          </a:bodyPr>
          <a:lstStyle/>
          <a:p>
            <a:pPr algn="l"/>
            <a:r>
              <a:rPr sz="1600" b="0">
                <a:solidFill>
                  <a:srgbClr val="333333"/>
                </a:solidFill>
                <a:latin typeface="Bricolage Grotesque"/>
              </a:rPr>
              <a:t>Document stable</a:t>
            </a:r>
          </a:p>
        </p:txBody>
      </p:sp>
      <p:sp>
        <p:nvSpPr>
          <p:cNvPr id="16" name="Rectangle 15"/>
          <p:cNvSpPr/>
          <p:nvPr/>
        </p:nvSpPr>
        <p:spPr>
          <a:xfrm>
            <a:off x="640080" y="2880360"/>
            <a:ext cx="10881360" cy="45720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935224"/>
            <a:ext cx="4023359" cy="347472"/>
          </a:xfrm>
          <a:prstGeom prst="rect">
            <a:avLst/>
          </a:prstGeom>
          <a:noFill/>
        </p:spPr>
        <p:txBody>
          <a:bodyPr wrap="square">
            <a:spAutoFit/>
          </a:bodyPr>
          <a:lstStyle/>
          <a:p>
            <a:pPr algn="l"/>
            <a:r>
              <a:rPr sz="1600" b="1">
                <a:solidFill>
                  <a:srgbClr val="1A1A1A"/>
                </a:solidFill>
                <a:latin typeface="Bricolage Grotesque"/>
              </a:rPr>
              <a:t>Vouvoiement dans les bilans</a:t>
            </a:r>
          </a:p>
        </p:txBody>
      </p:sp>
      <p:sp>
        <p:nvSpPr>
          <p:cNvPr id="18" name="TextBox 17"/>
          <p:cNvSpPr txBox="1"/>
          <p:nvPr/>
        </p:nvSpPr>
        <p:spPr>
          <a:xfrm>
            <a:off x="4983480" y="2935224"/>
            <a:ext cx="2834639" cy="347472"/>
          </a:xfrm>
          <a:prstGeom prst="rect">
            <a:avLst/>
          </a:prstGeom>
          <a:noFill/>
        </p:spPr>
        <p:txBody>
          <a:bodyPr wrap="square">
            <a:spAutoFit/>
          </a:bodyPr>
          <a:lstStyle/>
          <a:p>
            <a:pPr algn="l"/>
            <a:r>
              <a:rPr sz="1600" b="0">
                <a:solidFill>
                  <a:srgbClr val="333333"/>
                </a:solidFill>
                <a:latin typeface="Bricolage Grotesque"/>
              </a:rPr>
              <a:t>Projet : instructions</a:t>
            </a:r>
          </a:p>
        </p:txBody>
      </p:sp>
      <p:sp>
        <p:nvSpPr>
          <p:cNvPr id="19" name="TextBox 18"/>
          <p:cNvSpPr txBox="1"/>
          <p:nvPr/>
        </p:nvSpPr>
        <p:spPr>
          <a:xfrm>
            <a:off x="8001000" y="2935224"/>
            <a:ext cx="3474720" cy="347472"/>
          </a:xfrm>
          <a:prstGeom prst="rect">
            <a:avLst/>
          </a:prstGeom>
          <a:noFill/>
        </p:spPr>
        <p:txBody>
          <a:bodyPr wrap="square">
            <a:spAutoFit/>
          </a:bodyPr>
          <a:lstStyle/>
          <a:p>
            <a:pPr algn="l"/>
            <a:r>
              <a:rPr sz="1600" b="0">
                <a:solidFill>
                  <a:srgbClr val="333333"/>
                </a:solidFill>
                <a:latin typeface="Bricolage Grotesque"/>
              </a:rPr>
              <a:t>Propre à cette activité</a:t>
            </a:r>
          </a:p>
        </p:txBody>
      </p:sp>
      <p:sp>
        <p:nvSpPr>
          <p:cNvPr id="20" name="TextBox 19"/>
          <p:cNvSpPr txBox="1"/>
          <p:nvPr/>
        </p:nvSpPr>
        <p:spPr>
          <a:xfrm>
            <a:off x="777240" y="3392424"/>
            <a:ext cx="4023359" cy="347472"/>
          </a:xfrm>
          <a:prstGeom prst="rect">
            <a:avLst/>
          </a:prstGeom>
          <a:noFill/>
        </p:spPr>
        <p:txBody>
          <a:bodyPr wrap="square">
            <a:spAutoFit/>
          </a:bodyPr>
          <a:lstStyle/>
          <a:p>
            <a:pPr algn="l"/>
            <a:r>
              <a:rPr sz="1600" b="1">
                <a:solidFill>
                  <a:srgbClr val="1A1A1A"/>
                </a:solidFill>
                <a:latin typeface="Bricolage Grotesque"/>
              </a:rPr>
              <a:t>Jamais de nom de bénéficiaire</a:t>
            </a:r>
          </a:p>
        </p:txBody>
      </p:sp>
      <p:sp>
        <p:nvSpPr>
          <p:cNvPr id="21" name="TextBox 20"/>
          <p:cNvSpPr txBox="1"/>
          <p:nvPr/>
        </p:nvSpPr>
        <p:spPr>
          <a:xfrm>
            <a:off x="4983480" y="3392424"/>
            <a:ext cx="2834639" cy="347472"/>
          </a:xfrm>
          <a:prstGeom prst="rect">
            <a:avLst/>
          </a:prstGeom>
          <a:noFill/>
        </p:spPr>
        <p:txBody>
          <a:bodyPr wrap="square">
            <a:spAutoFit/>
          </a:bodyPr>
          <a:lstStyle/>
          <a:p>
            <a:pPr algn="l"/>
            <a:r>
              <a:rPr sz="1600" b="0">
                <a:solidFill>
                  <a:srgbClr val="333333"/>
                </a:solidFill>
                <a:latin typeface="Bricolage Grotesque"/>
              </a:rPr>
              <a:t>Instructions pour Claude</a:t>
            </a:r>
          </a:p>
        </p:txBody>
      </p:sp>
      <p:sp>
        <p:nvSpPr>
          <p:cNvPr id="22" name="TextBox 21"/>
          <p:cNvSpPr txBox="1"/>
          <p:nvPr/>
        </p:nvSpPr>
        <p:spPr>
          <a:xfrm>
            <a:off x="8001000" y="3392424"/>
            <a:ext cx="3474720" cy="347472"/>
          </a:xfrm>
          <a:prstGeom prst="rect">
            <a:avLst/>
          </a:prstGeom>
          <a:noFill/>
        </p:spPr>
        <p:txBody>
          <a:bodyPr wrap="square">
            <a:spAutoFit/>
          </a:bodyPr>
          <a:lstStyle/>
          <a:p>
            <a:pPr algn="l"/>
            <a:r>
              <a:rPr sz="1600" b="0">
                <a:solidFill>
                  <a:srgbClr val="333333"/>
                </a:solidFill>
                <a:latin typeface="Bricolage Grotesque"/>
              </a:rPr>
              <a:t>Vaut partout</a:t>
            </a:r>
          </a:p>
        </p:txBody>
      </p:sp>
      <p:sp>
        <p:nvSpPr>
          <p:cNvPr id="23" name="Rectangle 22"/>
          <p:cNvSpPr/>
          <p:nvPr/>
        </p:nvSpPr>
        <p:spPr>
          <a:xfrm>
            <a:off x="640080" y="3794760"/>
            <a:ext cx="10881360" cy="45720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3849624"/>
            <a:ext cx="4023359" cy="347472"/>
          </a:xfrm>
          <a:prstGeom prst="rect">
            <a:avLst/>
          </a:prstGeom>
          <a:noFill/>
        </p:spPr>
        <p:txBody>
          <a:bodyPr wrap="square">
            <a:spAutoFit/>
          </a:bodyPr>
          <a:lstStyle/>
          <a:p>
            <a:pPr algn="l"/>
            <a:r>
              <a:rPr sz="1600" b="1">
                <a:solidFill>
                  <a:srgbClr val="1A1A1A"/>
                </a:solidFill>
                <a:latin typeface="Bricolage Grotesque"/>
              </a:rPr>
              <a:t>Tes échanges avec un organisme</a:t>
            </a:r>
          </a:p>
        </p:txBody>
      </p:sp>
      <p:sp>
        <p:nvSpPr>
          <p:cNvPr id="25" name="TextBox 24"/>
          <p:cNvSpPr txBox="1"/>
          <p:nvPr/>
        </p:nvSpPr>
        <p:spPr>
          <a:xfrm>
            <a:off x="4983480" y="3849624"/>
            <a:ext cx="2834639" cy="347472"/>
          </a:xfrm>
          <a:prstGeom prst="rect">
            <a:avLst/>
          </a:prstGeom>
          <a:noFill/>
        </p:spPr>
        <p:txBody>
          <a:bodyPr wrap="square">
            <a:spAutoFit/>
          </a:bodyPr>
          <a:lstStyle/>
          <a:p>
            <a:pPr algn="l"/>
            <a:r>
              <a:rPr sz="1600" b="0">
                <a:solidFill>
                  <a:srgbClr val="333333"/>
                </a:solidFill>
                <a:latin typeface="Bricolage Grotesque"/>
              </a:rPr>
              <a:t>Connecteur Gmail</a:t>
            </a:r>
          </a:p>
        </p:txBody>
      </p:sp>
      <p:sp>
        <p:nvSpPr>
          <p:cNvPr id="26" name="TextBox 25"/>
          <p:cNvSpPr txBox="1"/>
          <p:nvPr/>
        </p:nvSpPr>
        <p:spPr>
          <a:xfrm>
            <a:off x="8001000" y="3849624"/>
            <a:ext cx="3474720" cy="347472"/>
          </a:xfrm>
          <a:prstGeom prst="rect">
            <a:avLst/>
          </a:prstGeom>
          <a:noFill/>
        </p:spPr>
        <p:txBody>
          <a:bodyPr wrap="square">
            <a:spAutoFit/>
          </a:bodyPr>
          <a:lstStyle/>
          <a:p>
            <a:pPr algn="l"/>
            <a:r>
              <a:rPr sz="1600" b="0">
                <a:solidFill>
                  <a:srgbClr val="333333"/>
                </a:solidFill>
                <a:latin typeface="Bricolage Grotesque"/>
              </a:rPr>
              <a:t>Ça bouge chaque semaine</a:t>
            </a:r>
          </a:p>
        </p:txBody>
      </p:sp>
      <p:sp>
        <p:nvSpPr>
          <p:cNvPr id="27" name="TextBox 26"/>
          <p:cNvSpPr txBox="1"/>
          <p:nvPr/>
        </p:nvSpPr>
        <p:spPr>
          <a:xfrm>
            <a:off x="640080" y="4480560"/>
            <a:ext cx="10881360" cy="457200"/>
          </a:xfrm>
          <a:prstGeom prst="rect">
            <a:avLst/>
          </a:prstGeom>
          <a:noFill/>
        </p:spPr>
        <p:txBody>
          <a:bodyPr wrap="square">
            <a:spAutoFit/>
          </a:bodyPr>
          <a:lstStyle/>
          <a:p>
            <a:pPr algn="l"/>
            <a:r>
              <a:rPr sz="1700" b="1">
                <a:solidFill>
                  <a:srgbClr val="1B5E6B"/>
                </a:solidFill>
                <a:latin typeface="Bricolage Grotesque"/>
              </a:rPr>
              <a:t>À toi : tes tâches, une par ligne. On remplit ensemble, en partage d'écran.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Pratique 1 · Relire tes instructions</a:t>
            </a:r>
          </a:p>
        </p:txBody>
      </p:sp>
      <p:sp>
        <p:nvSpPr>
          <p:cNvPr id="5" name="TextBox 4"/>
          <p:cNvSpPr txBox="1"/>
          <p:nvPr/>
        </p:nvSpPr>
        <p:spPr>
          <a:xfrm>
            <a:off x="640080" y="1554480"/>
            <a:ext cx="10881360" cy="411480"/>
          </a:xfrm>
          <a:prstGeom prst="rect">
            <a:avLst/>
          </a:prstGeom>
          <a:noFill/>
        </p:spPr>
        <p:txBody>
          <a:bodyPr wrap="square">
            <a:spAutoFit/>
          </a:bodyPr>
          <a:lstStyle/>
          <a:p>
            <a:r>
              <a:rPr sz="2000" b="0">
                <a:solidFill>
                  <a:srgbClr val="333333"/>
                </a:solidFill>
                <a:latin typeface="Bricolage Grotesque"/>
              </a:rPr>
              <a:t>Nouvelle conversation, hors projet :</a:t>
            </a:r>
          </a:p>
        </p:txBody>
      </p:sp>
      <p:sp>
        <p:nvSpPr>
          <p:cNvPr id="6" name="TextBox 5"/>
          <p:cNvSpPr txBox="1"/>
          <p:nvPr/>
        </p:nvSpPr>
        <p:spPr>
          <a:xfrm>
            <a:off x="640080" y="2075688"/>
            <a:ext cx="10881360" cy="411480"/>
          </a:xfrm>
          <a:prstGeom prst="rect">
            <a:avLst/>
          </a:prstGeom>
          <a:noFill/>
        </p:spPr>
        <p:txBody>
          <a:bodyPr wrap="square">
            <a:spAutoFit/>
          </a:bodyPr>
          <a:lstStyle/>
          <a:p>
            <a:r>
              <a:rPr sz="2000" b="0">
                <a:solidFill>
                  <a:srgbClr val="0F2B3A"/>
                </a:solidFill>
                <a:latin typeface="Consolas"/>
              </a:rPr>
              <a:t>Voici mes Instructions pour Claude, puis la liste de mes projets.</a:t>
            </a:r>
          </a:p>
        </p:txBody>
      </p:sp>
      <p:sp>
        <p:nvSpPr>
          <p:cNvPr id="7" name="TextBox 6"/>
          <p:cNvSpPr txBox="1"/>
          <p:nvPr/>
        </p:nvSpPr>
        <p:spPr>
          <a:xfrm>
            <a:off x="640080" y="2596896"/>
            <a:ext cx="10881360" cy="411480"/>
          </a:xfrm>
          <a:prstGeom prst="rect">
            <a:avLst/>
          </a:prstGeom>
          <a:noFill/>
        </p:spPr>
        <p:txBody>
          <a:bodyPr wrap="square">
            <a:spAutoFit/>
          </a:bodyPr>
          <a:lstStyle/>
          <a:p>
            <a:r>
              <a:rPr sz="2000" b="0">
                <a:solidFill>
                  <a:srgbClr val="0F2B3A"/>
                </a:solidFill>
                <a:latin typeface="Consolas"/>
              </a:rPr>
              <a:t>Classe chaque phrase : partout, propre à un projet, ou méthode.</a:t>
            </a:r>
          </a:p>
        </p:txBody>
      </p:sp>
      <p:sp>
        <p:nvSpPr>
          <p:cNvPr id="8" name="TextBox 7"/>
          <p:cNvSpPr txBox="1"/>
          <p:nvPr/>
        </p:nvSpPr>
        <p:spPr>
          <a:xfrm>
            <a:off x="640080" y="3118104"/>
            <a:ext cx="10881360" cy="411480"/>
          </a:xfrm>
          <a:prstGeom prst="rect">
            <a:avLst/>
          </a:prstGeom>
          <a:noFill/>
        </p:spPr>
        <p:txBody>
          <a:bodyPr wrap="square">
            <a:spAutoFit/>
          </a:bodyPr>
          <a:lstStyle/>
          <a:p>
            <a:r>
              <a:rPr sz="2000" b="0">
                <a:solidFill>
                  <a:srgbClr val="0F2B3A"/>
                </a:solidFill>
                <a:latin typeface="Consolas"/>
              </a:rPr>
              <a:t>Propose une version courte, sans rien ajouter ni inventer.</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Pratique 1 · Relire tes instructions</a:t>
            </a:r>
          </a:p>
        </p:txBody>
      </p:sp>
      <p:sp>
        <p:nvSpPr>
          <p:cNvPr id="5" name="TextBox 4"/>
          <p:cNvSpPr txBox="1"/>
          <p:nvPr/>
        </p:nvSpPr>
        <p:spPr>
          <a:xfrm>
            <a:off x="640080" y="1554480"/>
            <a:ext cx="10881360" cy="411480"/>
          </a:xfrm>
          <a:prstGeom prst="rect">
            <a:avLst/>
          </a:prstGeom>
          <a:noFill/>
        </p:spPr>
        <p:txBody>
          <a:bodyPr wrap="square">
            <a:spAutoFit/>
          </a:bodyPr>
          <a:lstStyle/>
          <a:p>
            <a:r>
              <a:rPr sz="2000" b="0">
                <a:solidFill>
                  <a:srgbClr val="333333"/>
                </a:solidFill>
                <a:latin typeface="Bricolage Grotesque"/>
              </a:rPr>
              <a:t>Nouvelle conversation, hors projet :</a:t>
            </a:r>
          </a:p>
        </p:txBody>
      </p:sp>
      <p:sp>
        <p:nvSpPr>
          <p:cNvPr id="6" name="TextBox 5"/>
          <p:cNvSpPr txBox="1"/>
          <p:nvPr/>
        </p:nvSpPr>
        <p:spPr>
          <a:xfrm>
            <a:off x="640080" y="2075688"/>
            <a:ext cx="10881360" cy="411480"/>
          </a:xfrm>
          <a:prstGeom prst="rect">
            <a:avLst/>
          </a:prstGeom>
          <a:noFill/>
        </p:spPr>
        <p:txBody>
          <a:bodyPr wrap="square">
            <a:spAutoFit/>
          </a:bodyPr>
          <a:lstStyle/>
          <a:p>
            <a:r>
              <a:rPr sz="2000" b="0">
                <a:solidFill>
                  <a:srgbClr val="0F2B3A"/>
                </a:solidFill>
                <a:latin typeface="Consolas"/>
              </a:rPr>
              <a:t>Voici mes Instructions pour Claude, puis la liste de mes projets.</a:t>
            </a:r>
          </a:p>
        </p:txBody>
      </p:sp>
      <p:sp>
        <p:nvSpPr>
          <p:cNvPr id="7" name="TextBox 6"/>
          <p:cNvSpPr txBox="1"/>
          <p:nvPr/>
        </p:nvSpPr>
        <p:spPr>
          <a:xfrm>
            <a:off x="640080" y="2596896"/>
            <a:ext cx="10881360" cy="411480"/>
          </a:xfrm>
          <a:prstGeom prst="rect">
            <a:avLst/>
          </a:prstGeom>
          <a:noFill/>
        </p:spPr>
        <p:txBody>
          <a:bodyPr wrap="square">
            <a:spAutoFit/>
          </a:bodyPr>
          <a:lstStyle/>
          <a:p>
            <a:r>
              <a:rPr sz="2000" b="0">
                <a:solidFill>
                  <a:srgbClr val="0F2B3A"/>
                </a:solidFill>
                <a:latin typeface="Consolas"/>
              </a:rPr>
              <a:t>Classe chaque phrase : partout, propre à un projet, ou méthode.</a:t>
            </a:r>
          </a:p>
        </p:txBody>
      </p:sp>
      <p:sp>
        <p:nvSpPr>
          <p:cNvPr id="8" name="TextBox 7"/>
          <p:cNvSpPr txBox="1"/>
          <p:nvPr/>
        </p:nvSpPr>
        <p:spPr>
          <a:xfrm>
            <a:off x="640080" y="3118104"/>
            <a:ext cx="10881360" cy="411480"/>
          </a:xfrm>
          <a:prstGeom prst="rect">
            <a:avLst/>
          </a:prstGeom>
          <a:noFill/>
        </p:spPr>
        <p:txBody>
          <a:bodyPr wrap="square">
            <a:spAutoFit/>
          </a:bodyPr>
          <a:lstStyle/>
          <a:p>
            <a:r>
              <a:rPr sz="2000" b="0">
                <a:solidFill>
                  <a:srgbClr val="0F2B3A"/>
                </a:solidFill>
                <a:latin typeface="Consolas"/>
              </a:rPr>
              <a:t>Propose une version courte, sans rien ajouter ni inventer.</a:t>
            </a:r>
          </a:p>
        </p:txBody>
      </p:sp>
      <p:sp>
        <p:nvSpPr>
          <p:cNvPr id="9" name="TextBox 8"/>
          <p:cNvSpPr txBox="1"/>
          <p:nvPr/>
        </p:nvSpPr>
        <p:spPr>
          <a:xfrm>
            <a:off x="640080" y="3877056"/>
            <a:ext cx="10881360" cy="411480"/>
          </a:xfrm>
          <a:prstGeom prst="rect">
            <a:avLst/>
          </a:prstGeom>
          <a:noFill/>
        </p:spPr>
        <p:txBody>
          <a:bodyPr wrap="square">
            <a:spAutoFit/>
          </a:bodyPr>
          <a:lstStyle/>
          <a:p>
            <a:r>
              <a:rPr sz="2000" b="1">
                <a:solidFill>
                  <a:srgbClr val="1B5E6B"/>
                </a:solidFill>
                <a:latin typeface="Bricolage Grotesque"/>
              </a:rPr>
              <a:t>Ce qui est propre à un projet part dans ses instructions.</a:t>
            </a:r>
          </a:p>
        </p:txBody>
      </p:sp>
      <p:sp>
        <p:nvSpPr>
          <p:cNvPr id="10" name="TextBox 9"/>
          <p:cNvSpPr txBox="1"/>
          <p:nvPr/>
        </p:nvSpPr>
        <p:spPr>
          <a:xfrm>
            <a:off x="640080" y="4398264"/>
            <a:ext cx="10881360" cy="411480"/>
          </a:xfrm>
          <a:prstGeom prst="rect">
            <a:avLst/>
          </a:prstGeom>
          <a:noFill/>
        </p:spPr>
        <p:txBody>
          <a:bodyPr wrap="square">
            <a:spAutoFit/>
          </a:bodyPr>
          <a:lstStyle/>
          <a:p>
            <a:r>
              <a:rPr sz="2000" b="1">
                <a:solidFill>
                  <a:srgbClr val="1B5E6B"/>
                </a:solidFill>
                <a:latin typeface="Bricolage Grotesque"/>
              </a:rPr>
              <a:t>Ce qui est une méthode rejoint ta liste de skills.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965960"/>
            <a:ext cx="2743200" cy="36576"/>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515600" cy="731520"/>
          </a:xfrm>
          <a:prstGeom prst="rect">
            <a:avLst/>
          </a:prstGeom>
          <a:noFill/>
        </p:spPr>
        <p:txBody>
          <a:bodyPr wrap="square">
            <a:spAutoFit/>
          </a:bodyPr>
          <a:lstStyle/>
          <a:p>
            <a:pPr algn="l"/>
            <a:r>
              <a:rPr sz="2200" b="1">
                <a:solidFill>
                  <a:srgbClr val="E8A000"/>
                </a:solidFill>
                <a:latin typeface="Bricolage Grotesque"/>
              </a:rPr>
              <a:t>Séquence 5</a:t>
            </a:r>
          </a:p>
        </p:txBody>
      </p:sp>
      <p:sp>
        <p:nvSpPr>
          <p:cNvPr id="5" name="TextBox 4"/>
          <p:cNvSpPr txBox="1"/>
          <p:nvPr/>
        </p:nvSpPr>
        <p:spPr>
          <a:xfrm>
            <a:off x="640080" y="2286000"/>
            <a:ext cx="10698480" cy="1645920"/>
          </a:xfrm>
          <a:prstGeom prst="rect">
            <a:avLst/>
          </a:prstGeom>
          <a:noFill/>
        </p:spPr>
        <p:txBody>
          <a:bodyPr wrap="square">
            <a:spAutoFit/>
          </a:bodyPr>
          <a:lstStyle/>
          <a:p>
            <a:pPr algn="l"/>
            <a:r>
              <a:rPr sz="4200" b="1">
                <a:solidFill>
                  <a:srgbClr val="FFFFFF"/>
                </a:solidFill>
                <a:latin typeface="Bricolage Grotesque"/>
              </a:rPr>
              <a:t>Pratique 2 : ton premier skill</a:t>
            </a:r>
          </a:p>
        </p:txBody>
      </p:sp>
      <p:sp>
        <p:nvSpPr>
          <p:cNvPr id="6" name="TextBox 5"/>
          <p:cNvSpPr txBox="1"/>
          <p:nvPr/>
        </p:nvSpPr>
        <p:spPr>
          <a:xfrm>
            <a:off x="640080" y="4023360"/>
            <a:ext cx="10515600" cy="731520"/>
          </a:xfrm>
          <a:prstGeom prst="rect">
            <a:avLst/>
          </a:prstGeom>
          <a:noFill/>
        </p:spPr>
        <p:txBody>
          <a:bodyPr wrap="square">
            <a:spAutoFit/>
          </a:bodyPr>
          <a:lstStyle/>
          <a:p>
            <a:pPr algn="l"/>
            <a:r>
              <a:rPr sz="2000" b="0">
                <a:solidFill>
                  <a:srgbClr val="5A8A8F"/>
                </a:solidFill>
                <a:latin typeface="Bricolage Grotesque"/>
              </a:rPr>
              <a:t>La synthèse de séance, à ta façon</a:t>
            </a:r>
          </a:p>
        </p:txBody>
      </p:sp>
      <p:pic>
        <p:nvPicPr>
          <p:cNvPr id="7" name="Picture 6" descr="ia-round.png"/>
          <p:cNvPicPr>
            <a:picLocks noChangeAspect="1"/>
          </p:cNvPicPr>
          <p:nvPr/>
        </p:nvPicPr>
        <p:blipFill>
          <a:blip r:embed="rId2"/>
          <a:stretch>
            <a:fillRect/>
          </a:stretch>
        </p:blipFill>
        <p:spPr>
          <a:xfrm>
            <a:off x="457200" y="6217920"/>
            <a:ext cx="320040" cy="320040"/>
          </a:xfrm>
          <a:prstGeom prst="rect">
            <a:avLst/>
          </a:prstGeom>
        </p:spPr>
      </p:pic>
      <p:sp>
        <p:nvSpPr>
          <p:cNvPr id="8" name="TextBox 7"/>
          <p:cNvSpPr txBox="1"/>
          <p:nvPr/>
        </p:nvSpPr>
        <p:spPr>
          <a:xfrm>
            <a:off x="868680" y="619963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Ce que contient un bon skill</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Ce que Claude va construire avec toi</a:t>
            </a:r>
          </a:p>
        </p:txBody>
      </p:sp>
      <p:sp>
        <p:nvSpPr>
          <p:cNvPr id="6" name="TextBox 5"/>
          <p:cNvSpPr txBox="1"/>
          <p:nvPr/>
        </p:nvSpPr>
        <p:spPr>
          <a:xfrm>
            <a:off x="640080" y="2331720"/>
            <a:ext cx="10881360" cy="411480"/>
          </a:xfrm>
          <a:prstGeom prst="rect">
            <a:avLst/>
          </a:prstGeom>
          <a:noFill/>
        </p:spPr>
        <p:txBody>
          <a:bodyPr wrap="square">
            <a:spAutoFit/>
          </a:bodyPr>
          <a:lstStyle/>
          <a:p>
            <a:r>
              <a:rPr sz="2000" b="1">
                <a:solidFill>
                  <a:srgbClr val="1B5E6B"/>
                </a:solidFill>
                <a:latin typeface="Bricolage Grotesque"/>
              </a:rPr>
              <a:t>Un nom et une description : c'est elle qui dit QUAND l'utiliser.</a:t>
            </a:r>
          </a:p>
        </p:txBody>
      </p:sp>
      <p:sp>
        <p:nvSpPr>
          <p:cNvPr id="7" name="TextBox 6"/>
          <p:cNvSpPr txBox="1"/>
          <p:nvPr/>
        </p:nvSpPr>
        <p:spPr>
          <a:xfrm>
            <a:off x="640080" y="2852928"/>
            <a:ext cx="10881360" cy="411480"/>
          </a:xfrm>
          <a:prstGeom prst="rect">
            <a:avLst/>
          </a:prstGeom>
          <a:noFill/>
        </p:spPr>
        <p:txBody>
          <a:bodyPr wrap="square">
            <a:spAutoFit/>
          </a:bodyPr>
          <a:lstStyle/>
          <a:p>
            <a:r>
              <a:rPr sz="2000" b="0">
                <a:solidFill>
                  <a:srgbClr val="333333"/>
                </a:solidFill>
                <a:latin typeface="Bricolage Grotesque"/>
              </a:rPr>
              <a:t>200 caractères maximum. Claude choisit ses skills en la lisant.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Ce que contient un bon skill</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Ce que Claude va construire avec toi</a:t>
            </a:r>
          </a:p>
        </p:txBody>
      </p:sp>
      <p:sp>
        <p:nvSpPr>
          <p:cNvPr id="6" name="TextBox 5"/>
          <p:cNvSpPr txBox="1"/>
          <p:nvPr/>
        </p:nvSpPr>
        <p:spPr>
          <a:xfrm>
            <a:off x="640080" y="2331720"/>
            <a:ext cx="10881360" cy="411480"/>
          </a:xfrm>
          <a:prstGeom prst="rect">
            <a:avLst/>
          </a:prstGeom>
          <a:noFill/>
        </p:spPr>
        <p:txBody>
          <a:bodyPr wrap="square">
            <a:spAutoFit/>
          </a:bodyPr>
          <a:lstStyle/>
          <a:p>
            <a:r>
              <a:rPr sz="2000" b="1">
                <a:solidFill>
                  <a:srgbClr val="1B5E6B"/>
                </a:solidFill>
                <a:latin typeface="Bricolage Grotesque"/>
              </a:rPr>
              <a:t>Un nom et une description : c'est elle qui dit QUAND l'utiliser.</a:t>
            </a:r>
          </a:p>
        </p:txBody>
      </p:sp>
      <p:sp>
        <p:nvSpPr>
          <p:cNvPr id="7" name="TextBox 6"/>
          <p:cNvSpPr txBox="1"/>
          <p:nvPr/>
        </p:nvSpPr>
        <p:spPr>
          <a:xfrm>
            <a:off x="640080" y="2852928"/>
            <a:ext cx="10881360" cy="411480"/>
          </a:xfrm>
          <a:prstGeom prst="rect">
            <a:avLst/>
          </a:prstGeom>
          <a:noFill/>
        </p:spPr>
        <p:txBody>
          <a:bodyPr wrap="square">
            <a:spAutoFit/>
          </a:bodyPr>
          <a:lstStyle/>
          <a:p>
            <a:r>
              <a:rPr sz="2000" b="0">
                <a:solidFill>
                  <a:srgbClr val="333333"/>
                </a:solidFill>
                <a:latin typeface="Bricolage Grotesque"/>
              </a:rPr>
              <a:t>200 caractères maximum. Claude choisit ses skills en la lisant.</a:t>
            </a:r>
          </a:p>
        </p:txBody>
      </p:sp>
      <p:sp>
        <p:nvSpPr>
          <p:cNvPr id="8" name="TextBox 7"/>
          <p:cNvSpPr txBox="1"/>
          <p:nvPr/>
        </p:nvSpPr>
        <p:spPr>
          <a:xfrm>
            <a:off x="640080" y="3611880"/>
            <a:ext cx="10881360" cy="411480"/>
          </a:xfrm>
          <a:prstGeom prst="rect">
            <a:avLst/>
          </a:prstGeom>
          <a:noFill/>
        </p:spPr>
        <p:txBody>
          <a:bodyPr wrap="square">
            <a:spAutoFit/>
          </a:bodyPr>
          <a:lstStyle/>
          <a:p>
            <a:r>
              <a:rPr sz="2000" b="1">
                <a:solidFill>
                  <a:srgbClr val="1B5E6B"/>
                </a:solidFill>
                <a:latin typeface="Bricolage Grotesque"/>
              </a:rPr>
              <a:t>Ta méthode, étape par étape, et un exemple réussi.</a:t>
            </a:r>
          </a:p>
        </p:txBody>
      </p:sp>
      <p:sp>
        <p:nvSpPr>
          <p:cNvPr id="9" name="TextBox 8"/>
          <p:cNvSpPr txBox="1"/>
          <p:nvPr/>
        </p:nvSpPr>
        <p:spPr>
          <a:xfrm>
            <a:off x="640080" y="4133088"/>
            <a:ext cx="10881360" cy="411480"/>
          </a:xfrm>
          <a:prstGeom prst="rect">
            <a:avLst/>
          </a:prstGeom>
          <a:noFill/>
        </p:spPr>
        <p:txBody>
          <a:bodyPr wrap="square">
            <a:spAutoFit/>
          </a:bodyPr>
          <a:lstStyle/>
          <a:p>
            <a:r>
              <a:rPr sz="2000" b="1">
                <a:solidFill>
                  <a:srgbClr val="1B5E6B"/>
                </a:solidFill>
                <a:latin typeface="Bricolage Grotesque"/>
              </a:rPr>
              <a:t>Tes modèles en fichiers joints : la trame de l'organisme.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Créer un skill en conversation</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Pas une ligne de code à écrire</a:t>
            </a:r>
          </a:p>
        </p:txBody>
      </p:sp>
      <p:sp>
        <p:nvSpPr>
          <p:cNvPr id="6" name="Rounded Rectangle 5"/>
          <p:cNvSpPr/>
          <p:nvPr/>
        </p:nvSpPr>
        <p:spPr>
          <a:xfrm>
            <a:off x="640080" y="2743200"/>
            <a:ext cx="2331720" cy="77724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907792"/>
            <a:ext cx="2148840" cy="502920"/>
          </a:xfrm>
          <a:prstGeom prst="rect">
            <a:avLst/>
          </a:prstGeom>
          <a:noFill/>
        </p:spPr>
        <p:txBody>
          <a:bodyPr wrap="square">
            <a:spAutoFit/>
          </a:bodyPr>
          <a:lstStyle/>
          <a:p>
            <a:pPr algn="ctr"/>
            <a:r>
              <a:rPr sz="1400" b="1">
                <a:solidFill>
                  <a:srgbClr val="FFFFFF"/>
                </a:solidFill>
                <a:latin typeface="Bricolage Grotesque"/>
              </a:rPr>
              <a:t>1. Tu décris
ta méthode</a:t>
            </a:r>
          </a:p>
        </p:txBody>
      </p:sp>
      <p:sp>
        <p:nvSpPr>
          <p:cNvPr id="8" name="TextBox 7"/>
          <p:cNvSpPr txBox="1"/>
          <p:nvPr/>
        </p:nvSpPr>
        <p:spPr>
          <a:xfrm>
            <a:off x="3008376"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9" name="Rounded Rectangle 8"/>
          <p:cNvSpPr/>
          <p:nvPr/>
        </p:nvSpPr>
        <p:spPr>
          <a:xfrm>
            <a:off x="3355848" y="2743200"/>
            <a:ext cx="2331720" cy="777240"/>
          </a:xfrm>
          <a:prstGeom prst="round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47288" y="2907792"/>
            <a:ext cx="2148840" cy="502920"/>
          </a:xfrm>
          <a:prstGeom prst="rect">
            <a:avLst/>
          </a:prstGeom>
          <a:noFill/>
        </p:spPr>
        <p:txBody>
          <a:bodyPr wrap="square">
            <a:spAutoFit/>
          </a:bodyPr>
          <a:lstStyle/>
          <a:p>
            <a:pPr algn="ctr"/>
            <a:r>
              <a:rPr sz="1400" b="1">
                <a:solidFill>
                  <a:srgbClr val="FFFFFF"/>
                </a:solidFill>
                <a:latin typeface="Bricolage Grotesque"/>
              </a:rPr>
              <a:t>2. Claude te pose
ses questions</a:t>
            </a:r>
          </a:p>
        </p:txBody>
      </p:sp>
      <p:sp>
        <p:nvSpPr>
          <p:cNvPr id="11" name="TextBox 10"/>
          <p:cNvSpPr txBox="1"/>
          <p:nvPr/>
        </p:nvSpPr>
        <p:spPr>
          <a:xfrm>
            <a:off x="5724144"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12" name="Rounded Rectangle 11"/>
          <p:cNvSpPr/>
          <p:nvPr/>
        </p:nvSpPr>
        <p:spPr>
          <a:xfrm>
            <a:off x="6071616" y="2743200"/>
            <a:ext cx="2331720" cy="77724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63056" y="2907792"/>
            <a:ext cx="2148840" cy="502920"/>
          </a:xfrm>
          <a:prstGeom prst="rect">
            <a:avLst/>
          </a:prstGeom>
          <a:noFill/>
        </p:spPr>
        <p:txBody>
          <a:bodyPr wrap="square">
            <a:spAutoFit/>
          </a:bodyPr>
          <a:lstStyle/>
          <a:p>
            <a:pPr algn="ctr"/>
            <a:r>
              <a:rPr sz="1400" b="1">
                <a:solidFill>
                  <a:srgbClr val="FFFFFF"/>
                </a:solidFill>
                <a:latin typeface="Bricolage Grotesque"/>
              </a:rPr>
              <a:t>3. Claude construit
le skill</a:t>
            </a:r>
          </a:p>
        </p:txBody>
      </p:sp>
      <p:sp>
        <p:nvSpPr>
          <p:cNvPr id="14" name="TextBox 13"/>
          <p:cNvSpPr txBox="1"/>
          <p:nvPr/>
        </p:nvSpPr>
        <p:spPr>
          <a:xfrm>
            <a:off x="8439912"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15" name="Rounded Rectangle 14"/>
          <p:cNvSpPr/>
          <p:nvPr/>
        </p:nvSpPr>
        <p:spPr>
          <a:xfrm>
            <a:off x="8787384" y="2743200"/>
            <a:ext cx="2331720" cy="777240"/>
          </a:xfrm>
          <a:prstGeom prst="round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78824" y="2907792"/>
            <a:ext cx="2148840" cy="502920"/>
          </a:xfrm>
          <a:prstGeom prst="rect">
            <a:avLst/>
          </a:prstGeom>
          <a:noFill/>
        </p:spPr>
        <p:txBody>
          <a:bodyPr wrap="square">
            <a:spAutoFit/>
          </a:bodyPr>
          <a:lstStyle/>
          <a:p>
            <a:pPr algn="ctr"/>
            <a:r>
              <a:rPr sz="1400" b="1">
                <a:solidFill>
                  <a:srgbClr val="FFFFFF"/>
                </a:solidFill>
                <a:latin typeface="Bricolage Grotesque"/>
              </a:rPr>
              <a:t>4. Tu testes
et tu corriges</a:t>
            </a:r>
          </a:p>
        </p:txBody>
      </p:sp>
      <p:sp>
        <p:nvSpPr>
          <p:cNvPr id="17" name="TextBox 16"/>
          <p:cNvSpPr txBox="1"/>
          <p:nvPr/>
        </p:nvSpPr>
        <p:spPr>
          <a:xfrm>
            <a:off x="640080" y="4114800"/>
            <a:ext cx="10972800" cy="411480"/>
          </a:xfrm>
          <a:prstGeom prst="rect">
            <a:avLst/>
          </a:prstGeom>
          <a:noFill/>
        </p:spPr>
        <p:txBody>
          <a:bodyPr wrap="square">
            <a:spAutoFit/>
          </a:bodyPr>
          <a:lstStyle/>
          <a:p>
            <a:pPr algn="l"/>
            <a:r>
              <a:rPr sz="1800" b="1">
                <a:solidFill>
                  <a:srgbClr val="1B5E6B"/>
                </a:solidFill>
                <a:latin typeface="Bricolage Grotesque"/>
              </a:rPr>
              <a:t>Claude s'appuie sur son propre skill de création pour bien le structurer.</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Pratique 2 · L'énoncé</a:t>
            </a:r>
          </a:p>
        </p:txBody>
      </p:sp>
      <p:sp>
        <p:nvSpPr>
          <p:cNvPr id="5" name="Rounded Rectangle 4"/>
          <p:cNvSpPr/>
          <p:nvPr/>
        </p:nvSpPr>
        <p:spPr>
          <a:xfrm>
            <a:off x="640080" y="1417320"/>
            <a:ext cx="10881360" cy="1143000"/>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08760"/>
            <a:ext cx="4023359" cy="320040"/>
          </a:xfrm>
          <a:prstGeom prst="rect">
            <a:avLst/>
          </a:prstGeom>
          <a:noFill/>
        </p:spPr>
        <p:txBody>
          <a:bodyPr wrap="square">
            <a:spAutoFit/>
          </a:bodyPr>
          <a:lstStyle/>
          <a:p>
            <a:pPr algn="l"/>
            <a:r>
              <a:rPr sz="1400" b="1">
                <a:solidFill>
                  <a:srgbClr val="E8A000"/>
                </a:solidFill>
                <a:latin typeface="Bricolage Grotesque"/>
              </a:rPr>
              <a:t>OBJECTIF</a:t>
            </a:r>
          </a:p>
        </p:txBody>
      </p:sp>
      <p:sp>
        <p:nvSpPr>
          <p:cNvPr id="7" name="TextBox 6"/>
          <p:cNvSpPr txBox="1"/>
          <p:nvPr/>
        </p:nvSpPr>
        <p:spPr>
          <a:xfrm>
            <a:off x="868680" y="1810512"/>
            <a:ext cx="4023359" cy="685800"/>
          </a:xfrm>
          <a:prstGeom prst="rect">
            <a:avLst/>
          </a:prstGeom>
          <a:noFill/>
        </p:spPr>
        <p:txBody>
          <a:bodyPr wrap="square">
            <a:spAutoFit/>
          </a:bodyPr>
          <a:lstStyle/>
          <a:p>
            <a:pPr algn="l"/>
            <a:r>
              <a:rPr sz="1600" b="0">
                <a:solidFill>
                  <a:srgbClr val="1A1A1A"/>
                </a:solidFill>
                <a:latin typeface="Bricolage Grotesque"/>
              </a:rPr>
              <a:t>Un skill qui rédige tes synthèses de séance, à ta façon.</a:t>
            </a:r>
          </a:p>
        </p:txBody>
      </p:sp>
      <p:sp>
        <p:nvSpPr>
          <p:cNvPr id="8" name="TextBox 7"/>
          <p:cNvSpPr txBox="1"/>
          <p:nvPr/>
        </p:nvSpPr>
        <p:spPr>
          <a:xfrm>
            <a:off x="5074920" y="1508760"/>
            <a:ext cx="4389120" cy="320040"/>
          </a:xfrm>
          <a:prstGeom prst="rect">
            <a:avLst/>
          </a:prstGeom>
          <a:noFill/>
        </p:spPr>
        <p:txBody>
          <a:bodyPr wrap="square">
            <a:spAutoFit/>
          </a:bodyPr>
          <a:lstStyle/>
          <a:p>
            <a:pPr algn="l"/>
            <a:r>
              <a:rPr sz="1400" b="1">
                <a:solidFill>
                  <a:srgbClr val="E8A000"/>
                </a:solidFill>
                <a:latin typeface="Bricolage Grotesque"/>
              </a:rPr>
              <a:t>LIVRABLE</a:t>
            </a:r>
          </a:p>
        </p:txBody>
      </p:sp>
      <p:sp>
        <p:nvSpPr>
          <p:cNvPr id="9" name="TextBox 8"/>
          <p:cNvSpPr txBox="1"/>
          <p:nvPr/>
        </p:nvSpPr>
        <p:spPr>
          <a:xfrm>
            <a:off x="5074920" y="1810512"/>
            <a:ext cx="4389120" cy="685800"/>
          </a:xfrm>
          <a:prstGeom prst="rect">
            <a:avLst/>
          </a:prstGeom>
          <a:noFill/>
        </p:spPr>
        <p:txBody>
          <a:bodyPr wrap="square">
            <a:spAutoFit/>
          </a:bodyPr>
          <a:lstStyle/>
          <a:p>
            <a:pPr algn="l"/>
            <a:r>
              <a:rPr sz="1600" b="0">
                <a:solidFill>
                  <a:srgbClr val="1A1A1A"/>
                </a:solidFill>
                <a:latin typeface="Bricolage Grotesque"/>
              </a:rPr>
              <a:t>Le skill « synthèse de séance », testé sur les notes de Mme R.</a:t>
            </a:r>
          </a:p>
        </p:txBody>
      </p:sp>
      <p:sp>
        <p:nvSpPr>
          <p:cNvPr id="10" name="TextBox 9"/>
          <p:cNvSpPr txBox="1"/>
          <p:nvPr/>
        </p:nvSpPr>
        <p:spPr>
          <a:xfrm>
            <a:off x="9646920" y="1508760"/>
            <a:ext cx="1554480" cy="320040"/>
          </a:xfrm>
          <a:prstGeom prst="rect">
            <a:avLst/>
          </a:prstGeom>
          <a:noFill/>
        </p:spPr>
        <p:txBody>
          <a:bodyPr wrap="square">
            <a:spAutoFit/>
          </a:bodyPr>
          <a:lstStyle/>
          <a:p>
            <a:pPr algn="l"/>
            <a:r>
              <a:rPr sz="1400" b="1">
                <a:solidFill>
                  <a:srgbClr val="E8A000"/>
                </a:solidFill>
                <a:latin typeface="Bricolage Grotesque"/>
              </a:rPr>
              <a:t>DURÉE</a:t>
            </a:r>
          </a:p>
        </p:txBody>
      </p:sp>
      <p:sp>
        <p:nvSpPr>
          <p:cNvPr id="11" name="TextBox 10"/>
          <p:cNvSpPr txBox="1"/>
          <p:nvPr/>
        </p:nvSpPr>
        <p:spPr>
          <a:xfrm>
            <a:off x="9646920" y="1810512"/>
            <a:ext cx="1554480" cy="685800"/>
          </a:xfrm>
          <a:prstGeom prst="rect">
            <a:avLst/>
          </a:prstGeom>
          <a:noFill/>
        </p:spPr>
        <p:txBody>
          <a:bodyPr wrap="square">
            <a:spAutoFit/>
          </a:bodyPr>
          <a:lstStyle/>
          <a:p>
            <a:pPr algn="l"/>
            <a:r>
              <a:rPr sz="1600" b="0">
                <a:solidFill>
                  <a:srgbClr val="1A1A1A"/>
                </a:solidFill>
                <a:latin typeface="Bricolage Grotesque"/>
              </a:rPr>
              <a:t>40 minutes</a:t>
            </a:r>
          </a:p>
        </p:txBody>
      </p:sp>
      <p:sp>
        <p:nvSpPr>
          <p:cNvPr id="12" name="TextBox 11"/>
          <p:cNvSpPr txBox="1"/>
          <p:nvPr/>
        </p:nvSpPr>
        <p:spPr>
          <a:xfrm>
            <a:off x="640080" y="2834640"/>
            <a:ext cx="10881360" cy="411480"/>
          </a:xfrm>
          <a:prstGeom prst="rect">
            <a:avLst/>
          </a:prstGeom>
          <a:noFill/>
        </p:spPr>
        <p:txBody>
          <a:bodyPr wrap="square">
            <a:spAutoFit/>
          </a:bodyPr>
          <a:lstStyle/>
          <a:p>
            <a:r>
              <a:rPr sz="1900" b="1">
                <a:solidFill>
                  <a:srgbClr val="1B5E6B"/>
                </a:solidFill>
                <a:latin typeface="Bricolage Grotesque"/>
              </a:rPr>
              <a:t>1.  </a:t>
            </a:r>
            <a:r>
              <a:rPr sz="1900">
                <a:solidFill>
                  <a:srgbClr val="333333"/>
                </a:solidFill>
                <a:latin typeface="Bricolage Grotesque"/>
              </a:rPr>
              <a:t>Vérifier : Paramètres › Capacités › exécution de code activée.</a:t>
            </a:r>
          </a:p>
        </p:txBody>
      </p:sp>
      <p:sp>
        <p:nvSpPr>
          <p:cNvPr id="13" name="TextBox 12"/>
          <p:cNvSpPr txBox="1"/>
          <p:nvPr/>
        </p:nvSpPr>
        <p:spPr>
          <a:xfrm>
            <a:off x="640080" y="3355848"/>
            <a:ext cx="10881360" cy="411480"/>
          </a:xfrm>
          <a:prstGeom prst="rect">
            <a:avLst/>
          </a:prstGeom>
          <a:noFill/>
        </p:spPr>
        <p:txBody>
          <a:bodyPr wrap="square">
            <a:spAutoFit/>
          </a:bodyPr>
          <a:lstStyle/>
          <a:p>
            <a:r>
              <a:rPr sz="1900" b="1">
                <a:solidFill>
                  <a:srgbClr val="1B5E6B"/>
                </a:solidFill>
                <a:latin typeface="Bricolage Grotesque"/>
              </a:rPr>
              <a:t>2.  </a:t>
            </a:r>
            <a:r>
              <a:rPr sz="1900">
                <a:solidFill>
                  <a:srgbClr val="333333"/>
                </a:solidFill>
                <a:latin typeface="Bricolage Grotesque"/>
              </a:rPr>
              <a:t>Nouvelle conversation : coller le prompt de création (slide suivante).</a:t>
            </a:r>
          </a:p>
        </p:txBody>
      </p:sp>
      <p:sp>
        <p:nvSpPr>
          <p:cNvPr id="14" name="TextBox 13"/>
          <p:cNvSpPr txBox="1"/>
          <p:nvPr/>
        </p:nvSpPr>
        <p:spPr>
          <a:xfrm>
            <a:off x="640080" y="3877056"/>
            <a:ext cx="10881360" cy="411480"/>
          </a:xfrm>
          <a:prstGeom prst="rect">
            <a:avLst/>
          </a:prstGeom>
          <a:noFill/>
        </p:spPr>
        <p:txBody>
          <a:bodyPr wrap="square">
            <a:spAutoFit/>
          </a:bodyPr>
          <a:lstStyle/>
          <a:p>
            <a:r>
              <a:rPr sz="1900" b="1">
                <a:solidFill>
                  <a:srgbClr val="1B5E6B"/>
                </a:solidFill>
                <a:latin typeface="Bricolage Grotesque"/>
              </a:rPr>
              <a:t>3.  </a:t>
            </a:r>
            <a:r>
              <a:rPr sz="1900">
                <a:solidFill>
                  <a:srgbClr val="333333"/>
                </a:solidFill>
                <a:latin typeface="Bricolage Grotesque"/>
              </a:rPr>
              <a:t>Joindre ta trame de synthèse et un exemple réussi, anonymisés.</a:t>
            </a:r>
          </a:p>
        </p:txBody>
      </p:sp>
      <p:sp>
        <p:nvSpPr>
          <p:cNvPr id="15" name="TextBox 14"/>
          <p:cNvSpPr txBox="1"/>
          <p:nvPr/>
        </p:nvSpPr>
        <p:spPr>
          <a:xfrm>
            <a:off x="640080" y="4398264"/>
            <a:ext cx="10881360" cy="411480"/>
          </a:xfrm>
          <a:prstGeom prst="rect">
            <a:avLst/>
          </a:prstGeom>
          <a:noFill/>
        </p:spPr>
        <p:txBody>
          <a:bodyPr wrap="square">
            <a:spAutoFit/>
          </a:bodyPr>
          <a:lstStyle/>
          <a:p>
            <a:r>
              <a:rPr sz="1900" b="1">
                <a:solidFill>
                  <a:srgbClr val="1B5E6B"/>
                </a:solidFill>
                <a:latin typeface="Bricolage Grotesque"/>
              </a:rPr>
              <a:t>4.  </a:t>
            </a:r>
            <a:r>
              <a:rPr sz="1900">
                <a:solidFill>
                  <a:srgbClr val="333333"/>
                </a:solidFill>
                <a:latin typeface="Bricolage Grotesque"/>
              </a:rPr>
              <a:t>Répondre aux questions de Claude, puis enregistrer le skill proposé.</a:t>
            </a:r>
          </a:p>
        </p:txBody>
      </p:sp>
      <p:sp>
        <p:nvSpPr>
          <p:cNvPr id="16" name="TextBox 15"/>
          <p:cNvSpPr txBox="1"/>
          <p:nvPr/>
        </p:nvSpPr>
        <p:spPr>
          <a:xfrm>
            <a:off x="640080" y="4919472"/>
            <a:ext cx="10881360" cy="411480"/>
          </a:xfrm>
          <a:prstGeom prst="rect">
            <a:avLst/>
          </a:prstGeom>
          <a:noFill/>
        </p:spPr>
        <p:txBody>
          <a:bodyPr wrap="square">
            <a:spAutoFit/>
          </a:bodyPr>
          <a:lstStyle/>
          <a:p>
            <a:r>
              <a:rPr sz="1900" b="1">
                <a:solidFill>
                  <a:srgbClr val="1B5E6B"/>
                </a:solidFill>
                <a:latin typeface="Bricolage Grotesque"/>
              </a:rPr>
              <a:t>5.  </a:t>
            </a:r>
            <a:r>
              <a:rPr sz="1900">
                <a:solidFill>
                  <a:srgbClr val="333333"/>
                </a:solidFill>
                <a:latin typeface="Bricolage Grotesque"/>
              </a:rPr>
              <a:t>Tester dans le projet Bilans : « Synthèse de ces notes » + Mme R.</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Pratique 2 · Le prompt de création</a:t>
            </a:r>
          </a:p>
        </p:txBody>
      </p:sp>
      <p:sp>
        <p:nvSpPr>
          <p:cNvPr id="5" name="TextBox 4"/>
          <p:cNvSpPr txBox="1"/>
          <p:nvPr/>
        </p:nvSpPr>
        <p:spPr>
          <a:xfrm>
            <a:off x="640080" y="1554480"/>
            <a:ext cx="10881360" cy="411480"/>
          </a:xfrm>
          <a:prstGeom prst="rect">
            <a:avLst/>
          </a:prstGeom>
          <a:noFill/>
        </p:spPr>
        <p:txBody>
          <a:bodyPr wrap="square">
            <a:spAutoFit/>
          </a:bodyPr>
          <a:lstStyle/>
          <a:p>
            <a:r>
              <a:rPr sz="2000" b="0">
                <a:solidFill>
                  <a:srgbClr val="0F2B3A"/>
                </a:solidFill>
                <a:latin typeface="Consolas"/>
              </a:rPr>
              <a:t>Je veux créer un skill : « synthèse de séance de bilan ».</a:t>
            </a:r>
          </a:p>
        </p:txBody>
      </p:sp>
      <p:sp>
        <p:nvSpPr>
          <p:cNvPr id="6" name="TextBox 5"/>
          <p:cNvSpPr txBox="1"/>
          <p:nvPr/>
        </p:nvSpPr>
        <p:spPr>
          <a:xfrm>
            <a:off x="640080" y="2075688"/>
            <a:ext cx="10881360" cy="411480"/>
          </a:xfrm>
          <a:prstGeom prst="rect">
            <a:avLst/>
          </a:prstGeom>
          <a:noFill/>
        </p:spPr>
        <p:txBody>
          <a:bodyPr wrap="square">
            <a:spAutoFit/>
          </a:bodyPr>
          <a:lstStyle/>
          <a:p>
            <a:r>
              <a:rPr sz="2000" b="0">
                <a:solidFill>
                  <a:srgbClr val="0F2B3A"/>
                </a:solidFill>
                <a:latin typeface="Consolas"/>
              </a:rPr>
              <a:t>Il part de mes notes brutes et rédige la synthèse de séance.</a:t>
            </a:r>
          </a:p>
        </p:txBody>
      </p:sp>
      <p:sp>
        <p:nvSpPr>
          <p:cNvPr id="7" name="TextBox 6"/>
          <p:cNvSpPr txBox="1"/>
          <p:nvPr/>
        </p:nvSpPr>
        <p:spPr>
          <a:xfrm>
            <a:off x="640080" y="2596896"/>
            <a:ext cx="10881360" cy="411480"/>
          </a:xfrm>
          <a:prstGeom prst="rect">
            <a:avLst/>
          </a:prstGeom>
          <a:noFill/>
        </p:spPr>
        <p:txBody>
          <a:bodyPr wrap="square">
            <a:spAutoFit/>
          </a:bodyPr>
          <a:lstStyle/>
          <a:p>
            <a:r>
              <a:rPr sz="2000" b="0">
                <a:solidFill>
                  <a:srgbClr val="0F2B3A"/>
                </a:solidFill>
                <a:latin typeface="Consolas"/>
              </a:rPr>
              <a:t>Pose-moi tes questions une par une : étapes, format, ton, pièges.</a:t>
            </a:r>
          </a:p>
        </p:txBody>
      </p:sp>
      <p:sp>
        <p:nvSpPr>
          <p:cNvPr id="8" name="TextBox 7"/>
          <p:cNvSpPr txBox="1"/>
          <p:nvPr/>
        </p:nvSpPr>
        <p:spPr>
          <a:xfrm>
            <a:off x="640080" y="3118104"/>
            <a:ext cx="10881360" cy="411480"/>
          </a:xfrm>
          <a:prstGeom prst="rect">
            <a:avLst/>
          </a:prstGeom>
          <a:noFill/>
        </p:spPr>
        <p:txBody>
          <a:bodyPr wrap="square">
            <a:spAutoFit/>
          </a:bodyPr>
          <a:lstStyle/>
          <a:p>
            <a:r>
              <a:rPr sz="2000" b="0">
                <a:solidFill>
                  <a:srgbClr val="0F2B3A"/>
                </a:solidFill>
                <a:latin typeface="Consolas"/>
              </a:rPr>
              <a:t>Appuie-toi sur ma trame et mon exemple joints (anonymisés).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Pratique 2 · Le prompt de création</a:t>
            </a:r>
          </a:p>
        </p:txBody>
      </p:sp>
      <p:sp>
        <p:nvSpPr>
          <p:cNvPr id="5" name="TextBox 4"/>
          <p:cNvSpPr txBox="1"/>
          <p:nvPr/>
        </p:nvSpPr>
        <p:spPr>
          <a:xfrm>
            <a:off x="640080" y="1554480"/>
            <a:ext cx="10881360" cy="411480"/>
          </a:xfrm>
          <a:prstGeom prst="rect">
            <a:avLst/>
          </a:prstGeom>
          <a:noFill/>
        </p:spPr>
        <p:txBody>
          <a:bodyPr wrap="square">
            <a:spAutoFit/>
          </a:bodyPr>
          <a:lstStyle/>
          <a:p>
            <a:r>
              <a:rPr sz="2000" b="0">
                <a:solidFill>
                  <a:srgbClr val="0F2B3A"/>
                </a:solidFill>
                <a:latin typeface="Consolas"/>
              </a:rPr>
              <a:t>Je veux créer un skill : « synthèse de séance de bilan ».</a:t>
            </a:r>
          </a:p>
        </p:txBody>
      </p:sp>
      <p:sp>
        <p:nvSpPr>
          <p:cNvPr id="6" name="TextBox 5"/>
          <p:cNvSpPr txBox="1"/>
          <p:nvPr/>
        </p:nvSpPr>
        <p:spPr>
          <a:xfrm>
            <a:off x="640080" y="2075688"/>
            <a:ext cx="10881360" cy="411480"/>
          </a:xfrm>
          <a:prstGeom prst="rect">
            <a:avLst/>
          </a:prstGeom>
          <a:noFill/>
        </p:spPr>
        <p:txBody>
          <a:bodyPr wrap="square">
            <a:spAutoFit/>
          </a:bodyPr>
          <a:lstStyle/>
          <a:p>
            <a:r>
              <a:rPr sz="2000" b="0">
                <a:solidFill>
                  <a:srgbClr val="0F2B3A"/>
                </a:solidFill>
                <a:latin typeface="Consolas"/>
              </a:rPr>
              <a:t>Il part de mes notes brutes et rédige la synthèse de séance.</a:t>
            </a:r>
          </a:p>
        </p:txBody>
      </p:sp>
      <p:sp>
        <p:nvSpPr>
          <p:cNvPr id="7" name="TextBox 6"/>
          <p:cNvSpPr txBox="1"/>
          <p:nvPr/>
        </p:nvSpPr>
        <p:spPr>
          <a:xfrm>
            <a:off x="640080" y="2596896"/>
            <a:ext cx="10881360" cy="411480"/>
          </a:xfrm>
          <a:prstGeom prst="rect">
            <a:avLst/>
          </a:prstGeom>
          <a:noFill/>
        </p:spPr>
        <p:txBody>
          <a:bodyPr wrap="square">
            <a:spAutoFit/>
          </a:bodyPr>
          <a:lstStyle/>
          <a:p>
            <a:r>
              <a:rPr sz="2000" b="0">
                <a:solidFill>
                  <a:srgbClr val="0F2B3A"/>
                </a:solidFill>
                <a:latin typeface="Consolas"/>
              </a:rPr>
              <a:t>Pose-moi tes questions une par une : étapes, format, ton, pièges.</a:t>
            </a:r>
          </a:p>
        </p:txBody>
      </p:sp>
      <p:sp>
        <p:nvSpPr>
          <p:cNvPr id="8" name="TextBox 7"/>
          <p:cNvSpPr txBox="1"/>
          <p:nvPr/>
        </p:nvSpPr>
        <p:spPr>
          <a:xfrm>
            <a:off x="640080" y="3118104"/>
            <a:ext cx="10881360" cy="411480"/>
          </a:xfrm>
          <a:prstGeom prst="rect">
            <a:avLst/>
          </a:prstGeom>
          <a:noFill/>
        </p:spPr>
        <p:txBody>
          <a:bodyPr wrap="square">
            <a:spAutoFit/>
          </a:bodyPr>
          <a:lstStyle/>
          <a:p>
            <a:r>
              <a:rPr sz="2000" b="0">
                <a:solidFill>
                  <a:srgbClr val="0F2B3A"/>
                </a:solidFill>
                <a:latin typeface="Consolas"/>
              </a:rPr>
              <a:t>Appuie-toi sur ma trame et mon exemple joints (anonymisés).</a:t>
            </a:r>
          </a:p>
        </p:txBody>
      </p:sp>
      <p:sp>
        <p:nvSpPr>
          <p:cNvPr id="9" name="TextBox 8"/>
          <p:cNvSpPr txBox="1"/>
          <p:nvPr/>
        </p:nvSpPr>
        <p:spPr>
          <a:xfrm>
            <a:off x="640080" y="3877056"/>
            <a:ext cx="10881360" cy="411480"/>
          </a:xfrm>
          <a:prstGeom prst="rect">
            <a:avLst/>
          </a:prstGeom>
          <a:noFill/>
        </p:spPr>
        <p:txBody>
          <a:bodyPr wrap="square">
            <a:spAutoFit/>
          </a:bodyPr>
          <a:lstStyle/>
          <a:p>
            <a:r>
              <a:rPr sz="2000" b="0">
                <a:solidFill>
                  <a:srgbClr val="0F2B3A"/>
                </a:solidFill>
                <a:latin typeface="Consolas"/>
              </a:rPr>
              <a:t>Règles : rien d'inventé, [À vérifier] sur chaque déduction,</a:t>
            </a:r>
          </a:p>
        </p:txBody>
      </p:sp>
      <p:sp>
        <p:nvSpPr>
          <p:cNvPr id="10" name="TextBox 9"/>
          <p:cNvSpPr txBox="1"/>
          <p:nvPr/>
        </p:nvSpPr>
        <p:spPr>
          <a:xfrm>
            <a:off x="640080" y="4398264"/>
            <a:ext cx="10881360" cy="411480"/>
          </a:xfrm>
          <a:prstGeom prst="rect">
            <a:avLst/>
          </a:prstGeom>
          <a:noFill/>
        </p:spPr>
        <p:txBody>
          <a:bodyPr wrap="square">
            <a:spAutoFit/>
          </a:bodyPr>
          <a:lstStyle/>
          <a:p>
            <a:r>
              <a:rPr sz="2000" b="0">
                <a:solidFill>
                  <a:srgbClr val="0F2B3A"/>
                </a:solidFill>
                <a:latin typeface="Consolas"/>
              </a:rPr>
              <a:t>et une liste finale des points que je relis avant envoi.</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Pratique 2 · Le test</a:t>
            </a:r>
          </a:p>
        </p:txBody>
      </p:sp>
      <p:sp>
        <p:nvSpPr>
          <p:cNvPr id="5" name="TextBox 4"/>
          <p:cNvSpPr txBox="1"/>
          <p:nvPr/>
        </p:nvSpPr>
        <p:spPr>
          <a:xfrm>
            <a:off x="640080" y="1554480"/>
            <a:ext cx="10881360" cy="411480"/>
          </a:xfrm>
          <a:prstGeom prst="rect">
            <a:avLst/>
          </a:prstGeom>
          <a:noFill/>
        </p:spPr>
        <p:txBody>
          <a:bodyPr wrap="square">
            <a:spAutoFit/>
          </a:bodyPr>
          <a:lstStyle/>
          <a:p>
            <a:r>
              <a:rPr sz="2000" b="1">
                <a:solidFill>
                  <a:srgbClr val="1B5E6B"/>
                </a:solidFill>
                <a:latin typeface="Bricolage Grotesque"/>
              </a:rPr>
              <a:t>1.  A-t-il servi ? Claude l'indique dans son raisonnement.</a:t>
            </a:r>
          </a:p>
        </p:txBody>
      </p:sp>
      <p:sp>
        <p:nvSpPr>
          <p:cNvPr id="6" name="TextBox 5"/>
          <p:cNvSpPr txBox="1"/>
          <p:nvPr/>
        </p:nvSpPr>
        <p:spPr>
          <a:xfrm>
            <a:off x="640080" y="2075688"/>
            <a:ext cx="10881360" cy="411480"/>
          </a:xfrm>
          <a:prstGeom prst="rect">
            <a:avLst/>
          </a:prstGeom>
          <a:noFill/>
        </p:spPr>
        <p:txBody>
          <a:bodyPr wrap="square">
            <a:spAutoFit/>
          </a:bodyPr>
          <a:lstStyle/>
          <a:p>
            <a:r>
              <a:rPr sz="2000" b="1">
                <a:solidFill>
                  <a:srgbClr val="1B5E6B"/>
                </a:solidFill>
                <a:latin typeface="Bricolage Grotesque"/>
              </a:rPr>
              <a:t>2.  Fidélité : rien d'inventé, chaque déduction en [À vérifier] ?</a:t>
            </a:r>
          </a:p>
        </p:txBody>
      </p:sp>
      <p:sp>
        <p:nvSpPr>
          <p:cNvPr id="7" name="TextBox 6"/>
          <p:cNvSpPr txBox="1"/>
          <p:nvPr/>
        </p:nvSpPr>
        <p:spPr>
          <a:xfrm>
            <a:off x="640080" y="2596896"/>
            <a:ext cx="10881360" cy="411480"/>
          </a:xfrm>
          <a:prstGeom prst="rect">
            <a:avLst/>
          </a:prstGeom>
          <a:noFill/>
        </p:spPr>
        <p:txBody>
          <a:bodyPr wrap="square">
            <a:spAutoFit/>
          </a:bodyPr>
          <a:lstStyle/>
          <a:p>
            <a:r>
              <a:rPr sz="2000" b="1">
                <a:solidFill>
                  <a:srgbClr val="1B5E6B"/>
                </a:solidFill>
                <a:latin typeface="Bricolage Grotesque"/>
              </a:rPr>
              <a:t>3.  Format : ta trame, dans l'ordre, au bon ton ?</a:t>
            </a:r>
          </a:p>
        </p:txBody>
      </p:sp>
      <p:sp>
        <p:nvSpPr>
          <p:cNvPr id="8" name="TextBox 7"/>
          <p:cNvSpPr txBox="1"/>
          <p:nvPr/>
        </p:nvSpPr>
        <p:spPr>
          <a:xfrm>
            <a:off x="640080" y="3118104"/>
            <a:ext cx="10881360" cy="411480"/>
          </a:xfrm>
          <a:prstGeom prst="rect">
            <a:avLst/>
          </a:prstGeom>
          <a:noFill/>
        </p:spPr>
        <p:txBody>
          <a:bodyPr wrap="square">
            <a:spAutoFit/>
          </a:bodyPr>
          <a:lstStyle/>
          <a:p>
            <a:r>
              <a:rPr sz="2000" b="1">
                <a:solidFill>
                  <a:srgbClr val="1B5E6B"/>
                </a:solidFill>
                <a:latin typeface="Bricolage Grotesque"/>
              </a:rPr>
              <a:t>4.  Prête à l'emploi : combien de minutes de retouche ?</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Pratique 2 · Le test</a:t>
            </a:r>
          </a:p>
        </p:txBody>
      </p:sp>
      <p:sp>
        <p:nvSpPr>
          <p:cNvPr id="5" name="TextBox 4"/>
          <p:cNvSpPr txBox="1"/>
          <p:nvPr/>
        </p:nvSpPr>
        <p:spPr>
          <a:xfrm>
            <a:off x="640080" y="1554480"/>
            <a:ext cx="10881360" cy="411480"/>
          </a:xfrm>
          <a:prstGeom prst="rect">
            <a:avLst/>
          </a:prstGeom>
          <a:noFill/>
        </p:spPr>
        <p:txBody>
          <a:bodyPr wrap="square">
            <a:spAutoFit/>
          </a:bodyPr>
          <a:lstStyle/>
          <a:p>
            <a:r>
              <a:rPr sz="2000" b="1">
                <a:solidFill>
                  <a:srgbClr val="1B5E6B"/>
                </a:solidFill>
                <a:latin typeface="Bricolage Grotesque"/>
              </a:rPr>
              <a:t>1.  A-t-il servi ? Claude l'indique dans son raisonnement.</a:t>
            </a:r>
          </a:p>
        </p:txBody>
      </p:sp>
      <p:sp>
        <p:nvSpPr>
          <p:cNvPr id="6" name="TextBox 5"/>
          <p:cNvSpPr txBox="1"/>
          <p:nvPr/>
        </p:nvSpPr>
        <p:spPr>
          <a:xfrm>
            <a:off x="640080" y="2075688"/>
            <a:ext cx="10881360" cy="411480"/>
          </a:xfrm>
          <a:prstGeom prst="rect">
            <a:avLst/>
          </a:prstGeom>
          <a:noFill/>
        </p:spPr>
        <p:txBody>
          <a:bodyPr wrap="square">
            <a:spAutoFit/>
          </a:bodyPr>
          <a:lstStyle/>
          <a:p>
            <a:r>
              <a:rPr sz="2000" b="1">
                <a:solidFill>
                  <a:srgbClr val="1B5E6B"/>
                </a:solidFill>
                <a:latin typeface="Bricolage Grotesque"/>
              </a:rPr>
              <a:t>2.  Fidélité : rien d'inventé, chaque déduction en [À vérifier] ?</a:t>
            </a:r>
          </a:p>
        </p:txBody>
      </p:sp>
      <p:sp>
        <p:nvSpPr>
          <p:cNvPr id="7" name="TextBox 6"/>
          <p:cNvSpPr txBox="1"/>
          <p:nvPr/>
        </p:nvSpPr>
        <p:spPr>
          <a:xfrm>
            <a:off x="640080" y="2596896"/>
            <a:ext cx="10881360" cy="411480"/>
          </a:xfrm>
          <a:prstGeom prst="rect">
            <a:avLst/>
          </a:prstGeom>
          <a:noFill/>
        </p:spPr>
        <p:txBody>
          <a:bodyPr wrap="square">
            <a:spAutoFit/>
          </a:bodyPr>
          <a:lstStyle/>
          <a:p>
            <a:r>
              <a:rPr sz="2000" b="1">
                <a:solidFill>
                  <a:srgbClr val="1B5E6B"/>
                </a:solidFill>
                <a:latin typeface="Bricolage Grotesque"/>
              </a:rPr>
              <a:t>3.  Format : ta trame, dans l'ordre, au bon ton ?</a:t>
            </a:r>
          </a:p>
        </p:txBody>
      </p:sp>
      <p:sp>
        <p:nvSpPr>
          <p:cNvPr id="8" name="TextBox 7"/>
          <p:cNvSpPr txBox="1"/>
          <p:nvPr/>
        </p:nvSpPr>
        <p:spPr>
          <a:xfrm>
            <a:off x="640080" y="3118104"/>
            <a:ext cx="10881360" cy="411480"/>
          </a:xfrm>
          <a:prstGeom prst="rect">
            <a:avLst/>
          </a:prstGeom>
          <a:noFill/>
        </p:spPr>
        <p:txBody>
          <a:bodyPr wrap="square">
            <a:spAutoFit/>
          </a:bodyPr>
          <a:lstStyle/>
          <a:p>
            <a:r>
              <a:rPr sz="2000" b="1">
                <a:solidFill>
                  <a:srgbClr val="1B5E6B"/>
                </a:solidFill>
                <a:latin typeface="Bricolage Grotesque"/>
              </a:rPr>
              <a:t>4.  Prête à l'emploi : combien de minutes de retouche ?</a:t>
            </a:r>
          </a:p>
        </p:txBody>
      </p:sp>
      <p:sp>
        <p:nvSpPr>
          <p:cNvPr id="9" name="TextBox 8"/>
          <p:cNvSpPr txBox="1"/>
          <p:nvPr/>
        </p:nvSpPr>
        <p:spPr>
          <a:xfrm>
            <a:off x="640080" y="3877056"/>
            <a:ext cx="10881360" cy="411480"/>
          </a:xfrm>
          <a:prstGeom prst="rect">
            <a:avLst/>
          </a:prstGeom>
          <a:noFill/>
        </p:spPr>
        <p:txBody>
          <a:bodyPr wrap="square">
            <a:spAutoFit/>
          </a:bodyPr>
          <a:lstStyle/>
          <a:p>
            <a:r>
              <a:rPr sz="2000" b="1">
                <a:solidFill>
                  <a:srgbClr val="E8A000"/>
                </a:solidFill>
                <a:latin typeface="Bricolage Grotesque"/>
              </a:rPr>
              <a:t>« Un défaut ? Fais corriger le skill, pas seulement la synthèse »</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Ton skill te suit partout</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Une fois activé, dans tous tes outils Claude</a:t>
            </a:r>
          </a:p>
        </p:txBody>
      </p:sp>
      <p:sp>
        <p:nvSpPr>
          <p:cNvPr id="6" name="TextBox 5"/>
          <p:cNvSpPr txBox="1"/>
          <p:nvPr/>
        </p:nvSpPr>
        <p:spPr>
          <a:xfrm>
            <a:off x="640080" y="2331720"/>
            <a:ext cx="10881360" cy="411480"/>
          </a:xfrm>
          <a:prstGeom prst="rect">
            <a:avLst/>
          </a:prstGeom>
          <a:noFill/>
        </p:spPr>
        <p:txBody>
          <a:bodyPr wrap="square">
            <a:spAutoFit/>
          </a:bodyPr>
          <a:lstStyle/>
          <a:p>
            <a:r>
              <a:rPr sz="2000" b="1">
                <a:solidFill>
                  <a:srgbClr val="1B5E6B"/>
                </a:solidFill>
                <a:latin typeface="Bricolage Grotesque"/>
              </a:rPr>
              <a:t>Dans toutes tes conversations, avec ou sans projet.</a:t>
            </a:r>
          </a:p>
        </p:txBody>
      </p:sp>
      <p:sp>
        <p:nvSpPr>
          <p:cNvPr id="7" name="TextBox 6"/>
          <p:cNvSpPr txBox="1"/>
          <p:nvPr/>
        </p:nvSpPr>
        <p:spPr>
          <a:xfrm>
            <a:off x="640080" y="2852928"/>
            <a:ext cx="10881360" cy="411480"/>
          </a:xfrm>
          <a:prstGeom prst="rect">
            <a:avLst/>
          </a:prstGeom>
          <a:noFill/>
        </p:spPr>
        <p:txBody>
          <a:bodyPr wrap="square">
            <a:spAutoFit/>
          </a:bodyPr>
          <a:lstStyle/>
          <a:p>
            <a:r>
              <a:rPr sz="2000" b="1">
                <a:solidFill>
                  <a:srgbClr val="1B5E6B"/>
                </a:solidFill>
                <a:latin typeface="Bricolage Grotesque"/>
              </a:rPr>
              <a:t>Dans PowerPoint, Excel et Word : tape / et choisis-le.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Ton skill te suit partout</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Une fois activé, dans tous tes outils Claude</a:t>
            </a:r>
          </a:p>
        </p:txBody>
      </p:sp>
      <p:sp>
        <p:nvSpPr>
          <p:cNvPr id="6" name="TextBox 5"/>
          <p:cNvSpPr txBox="1"/>
          <p:nvPr/>
        </p:nvSpPr>
        <p:spPr>
          <a:xfrm>
            <a:off x="640080" y="2331720"/>
            <a:ext cx="10881360" cy="411480"/>
          </a:xfrm>
          <a:prstGeom prst="rect">
            <a:avLst/>
          </a:prstGeom>
          <a:noFill/>
        </p:spPr>
        <p:txBody>
          <a:bodyPr wrap="square">
            <a:spAutoFit/>
          </a:bodyPr>
          <a:lstStyle/>
          <a:p>
            <a:r>
              <a:rPr sz="2000" b="1">
                <a:solidFill>
                  <a:srgbClr val="1B5E6B"/>
                </a:solidFill>
                <a:latin typeface="Bricolage Grotesque"/>
              </a:rPr>
              <a:t>Dans toutes tes conversations, avec ou sans projet.</a:t>
            </a:r>
          </a:p>
        </p:txBody>
      </p:sp>
      <p:sp>
        <p:nvSpPr>
          <p:cNvPr id="7" name="TextBox 6"/>
          <p:cNvSpPr txBox="1"/>
          <p:nvPr/>
        </p:nvSpPr>
        <p:spPr>
          <a:xfrm>
            <a:off x="640080" y="2852928"/>
            <a:ext cx="10881360" cy="411480"/>
          </a:xfrm>
          <a:prstGeom prst="rect">
            <a:avLst/>
          </a:prstGeom>
          <a:noFill/>
        </p:spPr>
        <p:txBody>
          <a:bodyPr wrap="square">
            <a:spAutoFit/>
          </a:bodyPr>
          <a:lstStyle/>
          <a:p>
            <a:r>
              <a:rPr sz="2000" b="1">
                <a:solidFill>
                  <a:srgbClr val="1B5E6B"/>
                </a:solidFill>
                <a:latin typeface="Bricolage Grotesque"/>
              </a:rPr>
              <a:t>Dans PowerPoint, Excel et Word : tape / et choisis-le.</a:t>
            </a:r>
          </a:p>
        </p:txBody>
      </p:sp>
      <p:sp>
        <p:nvSpPr>
          <p:cNvPr id="8" name="TextBox 7"/>
          <p:cNvSpPr txBox="1"/>
          <p:nvPr/>
        </p:nvSpPr>
        <p:spPr>
          <a:xfrm>
            <a:off x="640080" y="3611880"/>
            <a:ext cx="10881360" cy="411480"/>
          </a:xfrm>
          <a:prstGeom prst="rect">
            <a:avLst/>
          </a:prstGeom>
          <a:noFill/>
        </p:spPr>
        <p:txBody>
          <a:bodyPr wrap="square">
            <a:spAutoFit/>
          </a:bodyPr>
          <a:lstStyle/>
          <a:p>
            <a:r>
              <a:rPr sz="2000" b="1">
                <a:solidFill>
                  <a:srgbClr val="1B5E6B"/>
                </a:solidFill>
                <a:latin typeface="Bricolage Grotesque"/>
              </a:rPr>
              <a:t>Avec la trame d'un organisme en modèle, Claude la reprend</a:t>
            </a:r>
          </a:p>
        </p:txBody>
      </p:sp>
      <p:sp>
        <p:nvSpPr>
          <p:cNvPr id="9" name="TextBox 8"/>
          <p:cNvSpPr txBox="1"/>
          <p:nvPr/>
        </p:nvSpPr>
        <p:spPr>
          <a:xfrm>
            <a:off x="640080" y="4133088"/>
            <a:ext cx="10881360" cy="411480"/>
          </a:xfrm>
          <a:prstGeom prst="rect">
            <a:avLst/>
          </a:prstGeom>
          <a:noFill/>
        </p:spPr>
        <p:txBody>
          <a:bodyPr wrap="square">
            <a:spAutoFit/>
          </a:bodyPr>
          <a:lstStyle/>
          <a:p>
            <a:r>
              <a:rPr sz="2000" b="1">
                <a:solidFill>
                  <a:srgbClr val="1B5E6B"/>
                </a:solidFill>
                <a:latin typeface="Bricolage Grotesque"/>
              </a:rPr>
              <a:t>à l'identique dans PowerPoint et Excel.</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965960"/>
            <a:ext cx="2743200" cy="36576"/>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515600" cy="731520"/>
          </a:xfrm>
          <a:prstGeom prst="rect">
            <a:avLst/>
          </a:prstGeom>
          <a:noFill/>
        </p:spPr>
        <p:txBody>
          <a:bodyPr wrap="square">
            <a:spAutoFit/>
          </a:bodyPr>
          <a:lstStyle/>
          <a:p>
            <a:pPr algn="l"/>
            <a:r>
              <a:rPr sz="2200" b="1">
                <a:solidFill>
                  <a:srgbClr val="E8A000"/>
                </a:solidFill>
                <a:latin typeface="Bricolage Grotesque"/>
              </a:rPr>
              <a:t>Séquence 6</a:t>
            </a:r>
          </a:p>
        </p:txBody>
      </p:sp>
      <p:sp>
        <p:nvSpPr>
          <p:cNvPr id="5" name="TextBox 4"/>
          <p:cNvSpPr txBox="1"/>
          <p:nvPr/>
        </p:nvSpPr>
        <p:spPr>
          <a:xfrm>
            <a:off x="640080" y="2286000"/>
            <a:ext cx="10698480" cy="1645920"/>
          </a:xfrm>
          <a:prstGeom prst="rect">
            <a:avLst/>
          </a:prstGeom>
          <a:noFill/>
        </p:spPr>
        <p:txBody>
          <a:bodyPr wrap="square">
            <a:spAutoFit/>
          </a:bodyPr>
          <a:lstStyle/>
          <a:p>
            <a:pPr algn="l"/>
            <a:r>
              <a:rPr sz="4200" b="1">
                <a:solidFill>
                  <a:srgbClr val="FFFFFF"/>
                </a:solidFill>
                <a:latin typeface="Bricolage Grotesque"/>
              </a:rPr>
              <a:t>Bonus : le questionnaire de valeurs</a:t>
            </a:r>
          </a:p>
        </p:txBody>
      </p:sp>
      <p:sp>
        <p:nvSpPr>
          <p:cNvPr id="6" name="TextBox 5"/>
          <p:cNvSpPr txBox="1"/>
          <p:nvPr/>
        </p:nvSpPr>
        <p:spPr>
          <a:xfrm>
            <a:off x="640080" y="4023360"/>
            <a:ext cx="10515600" cy="731520"/>
          </a:xfrm>
          <a:prstGeom prst="rect">
            <a:avLst/>
          </a:prstGeom>
          <a:noFill/>
        </p:spPr>
        <p:txBody>
          <a:bodyPr wrap="square">
            <a:spAutoFit/>
          </a:bodyPr>
          <a:lstStyle/>
          <a:p>
            <a:pPr algn="l"/>
            <a:r>
              <a:rPr sz="2000" b="0">
                <a:solidFill>
                  <a:srgbClr val="5A8A8F"/>
                </a:solidFill>
                <a:latin typeface="Bricolage Grotesque"/>
              </a:rPr>
              <a:t>Si on a de l'avance</a:t>
            </a:r>
          </a:p>
        </p:txBody>
      </p:sp>
      <p:pic>
        <p:nvPicPr>
          <p:cNvPr id="7" name="Picture 6" descr="ia-round.png"/>
          <p:cNvPicPr>
            <a:picLocks noChangeAspect="1"/>
          </p:cNvPicPr>
          <p:nvPr/>
        </p:nvPicPr>
        <p:blipFill>
          <a:blip r:embed="rId2"/>
          <a:stretch>
            <a:fillRect/>
          </a:stretch>
        </p:blipFill>
        <p:spPr>
          <a:xfrm>
            <a:off x="457200" y="6217920"/>
            <a:ext cx="320040" cy="320040"/>
          </a:xfrm>
          <a:prstGeom prst="rect">
            <a:avLst/>
          </a:prstGeom>
        </p:spPr>
      </p:pic>
      <p:sp>
        <p:nvSpPr>
          <p:cNvPr id="8" name="TextBox 7"/>
          <p:cNvSpPr txBox="1"/>
          <p:nvPr/>
        </p:nvSpPr>
        <p:spPr>
          <a:xfrm>
            <a:off x="868680" y="619963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Bonus · Le questionnaire de valeurs</a:t>
            </a:r>
          </a:p>
        </p:txBody>
      </p:sp>
      <p:sp>
        <p:nvSpPr>
          <p:cNvPr id="5" name="Rounded Rectangle 4"/>
          <p:cNvSpPr/>
          <p:nvPr/>
        </p:nvSpPr>
        <p:spPr>
          <a:xfrm>
            <a:off x="640080" y="1417320"/>
            <a:ext cx="10881360" cy="1143000"/>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08760"/>
            <a:ext cx="4023359" cy="320040"/>
          </a:xfrm>
          <a:prstGeom prst="rect">
            <a:avLst/>
          </a:prstGeom>
          <a:noFill/>
        </p:spPr>
        <p:txBody>
          <a:bodyPr wrap="square">
            <a:spAutoFit/>
          </a:bodyPr>
          <a:lstStyle/>
          <a:p>
            <a:pPr algn="l"/>
            <a:r>
              <a:rPr sz="1400" b="1">
                <a:solidFill>
                  <a:srgbClr val="E8A000"/>
                </a:solidFill>
                <a:latin typeface="Bricolage Grotesque"/>
              </a:rPr>
              <a:t>OBJECTIF</a:t>
            </a:r>
          </a:p>
        </p:txBody>
      </p:sp>
      <p:sp>
        <p:nvSpPr>
          <p:cNvPr id="7" name="TextBox 6"/>
          <p:cNvSpPr txBox="1"/>
          <p:nvPr/>
        </p:nvSpPr>
        <p:spPr>
          <a:xfrm>
            <a:off x="868680" y="1810512"/>
            <a:ext cx="4023359" cy="685800"/>
          </a:xfrm>
          <a:prstGeom prst="rect">
            <a:avLst/>
          </a:prstGeom>
          <a:noFill/>
        </p:spPr>
        <p:txBody>
          <a:bodyPr wrap="square">
            <a:spAutoFit/>
          </a:bodyPr>
          <a:lstStyle/>
          <a:p>
            <a:pPr algn="l"/>
            <a:r>
              <a:rPr sz="1600" b="0">
                <a:solidFill>
                  <a:srgbClr val="1A1A1A"/>
                </a:solidFill>
                <a:latin typeface="Bricolage Grotesque"/>
              </a:rPr>
              <a:t>Un premier outil pour tes coachés : valeurs, talents, compétences.</a:t>
            </a:r>
          </a:p>
        </p:txBody>
      </p:sp>
      <p:sp>
        <p:nvSpPr>
          <p:cNvPr id="8" name="TextBox 7"/>
          <p:cNvSpPr txBox="1"/>
          <p:nvPr/>
        </p:nvSpPr>
        <p:spPr>
          <a:xfrm>
            <a:off x="5074920" y="1508760"/>
            <a:ext cx="4389120" cy="320040"/>
          </a:xfrm>
          <a:prstGeom prst="rect">
            <a:avLst/>
          </a:prstGeom>
          <a:noFill/>
        </p:spPr>
        <p:txBody>
          <a:bodyPr wrap="square">
            <a:spAutoFit/>
          </a:bodyPr>
          <a:lstStyle/>
          <a:p>
            <a:pPr algn="l"/>
            <a:r>
              <a:rPr sz="1400" b="1">
                <a:solidFill>
                  <a:srgbClr val="E8A000"/>
                </a:solidFill>
                <a:latin typeface="Bricolage Grotesque"/>
              </a:rPr>
              <a:t>LIVRABLE</a:t>
            </a:r>
          </a:p>
        </p:txBody>
      </p:sp>
      <p:sp>
        <p:nvSpPr>
          <p:cNvPr id="9" name="TextBox 8"/>
          <p:cNvSpPr txBox="1"/>
          <p:nvPr/>
        </p:nvSpPr>
        <p:spPr>
          <a:xfrm>
            <a:off x="5074920" y="1810512"/>
            <a:ext cx="4389120" cy="685800"/>
          </a:xfrm>
          <a:prstGeom prst="rect">
            <a:avLst/>
          </a:prstGeom>
          <a:noFill/>
        </p:spPr>
        <p:txBody>
          <a:bodyPr wrap="square">
            <a:spAutoFit/>
          </a:bodyPr>
          <a:lstStyle/>
          <a:p>
            <a:pPr algn="l"/>
            <a:r>
              <a:rPr sz="1600" b="0">
                <a:solidFill>
                  <a:srgbClr val="1A1A1A"/>
                </a:solidFill>
                <a:latin typeface="Bricolage Grotesque"/>
              </a:rPr>
              <a:t>Un questionnaire en Word, prêt à remettre à un coaché.</a:t>
            </a:r>
          </a:p>
        </p:txBody>
      </p:sp>
      <p:sp>
        <p:nvSpPr>
          <p:cNvPr id="10" name="TextBox 9"/>
          <p:cNvSpPr txBox="1"/>
          <p:nvPr/>
        </p:nvSpPr>
        <p:spPr>
          <a:xfrm>
            <a:off x="9646920" y="1508760"/>
            <a:ext cx="1554480" cy="320040"/>
          </a:xfrm>
          <a:prstGeom prst="rect">
            <a:avLst/>
          </a:prstGeom>
          <a:noFill/>
        </p:spPr>
        <p:txBody>
          <a:bodyPr wrap="square">
            <a:spAutoFit/>
          </a:bodyPr>
          <a:lstStyle/>
          <a:p>
            <a:pPr algn="l"/>
            <a:r>
              <a:rPr sz="1400" b="1">
                <a:solidFill>
                  <a:srgbClr val="E8A000"/>
                </a:solidFill>
                <a:latin typeface="Bricolage Grotesque"/>
              </a:rPr>
              <a:t>DURÉE</a:t>
            </a:r>
          </a:p>
        </p:txBody>
      </p:sp>
      <p:sp>
        <p:nvSpPr>
          <p:cNvPr id="11" name="TextBox 10"/>
          <p:cNvSpPr txBox="1"/>
          <p:nvPr/>
        </p:nvSpPr>
        <p:spPr>
          <a:xfrm>
            <a:off x="9646920" y="1810512"/>
            <a:ext cx="1554480" cy="685800"/>
          </a:xfrm>
          <a:prstGeom prst="rect">
            <a:avLst/>
          </a:prstGeom>
          <a:noFill/>
        </p:spPr>
        <p:txBody>
          <a:bodyPr wrap="square">
            <a:spAutoFit/>
          </a:bodyPr>
          <a:lstStyle/>
          <a:p>
            <a:pPr algn="l"/>
            <a:r>
              <a:rPr sz="1600" b="0">
                <a:solidFill>
                  <a:srgbClr val="1A1A1A"/>
                </a:solidFill>
                <a:latin typeface="Bricolage Grotesque"/>
              </a:rPr>
              <a:t>20 minutes</a:t>
            </a:r>
          </a:p>
        </p:txBody>
      </p:sp>
      <p:sp>
        <p:nvSpPr>
          <p:cNvPr id="12" name="TextBox 11"/>
          <p:cNvSpPr txBox="1"/>
          <p:nvPr/>
        </p:nvSpPr>
        <p:spPr>
          <a:xfrm>
            <a:off x="640080" y="2834640"/>
            <a:ext cx="10881360" cy="411480"/>
          </a:xfrm>
          <a:prstGeom prst="rect">
            <a:avLst/>
          </a:prstGeom>
          <a:noFill/>
        </p:spPr>
        <p:txBody>
          <a:bodyPr wrap="square">
            <a:spAutoFit/>
          </a:bodyPr>
          <a:lstStyle/>
          <a:p>
            <a:r>
              <a:rPr sz="1900" b="1">
                <a:solidFill>
                  <a:srgbClr val="1B5E6B"/>
                </a:solidFill>
                <a:latin typeface="Bricolage Grotesque"/>
              </a:rPr>
              <a:t>1.  </a:t>
            </a:r>
            <a:r>
              <a:rPr sz="1900">
                <a:solidFill>
                  <a:srgbClr val="333333"/>
                </a:solidFill>
                <a:latin typeface="Bricolage Grotesque"/>
              </a:rPr>
              <a:t>Dans le projet Bilans : nouvelle conversation, coller le prompt.</a:t>
            </a:r>
          </a:p>
        </p:txBody>
      </p:sp>
      <p:sp>
        <p:nvSpPr>
          <p:cNvPr id="13" name="TextBox 12"/>
          <p:cNvSpPr txBox="1"/>
          <p:nvPr/>
        </p:nvSpPr>
        <p:spPr>
          <a:xfrm>
            <a:off x="640080" y="3355848"/>
            <a:ext cx="10881360" cy="411480"/>
          </a:xfrm>
          <a:prstGeom prst="rect">
            <a:avLst/>
          </a:prstGeom>
          <a:noFill/>
        </p:spPr>
        <p:txBody>
          <a:bodyPr wrap="square">
            <a:spAutoFit/>
          </a:bodyPr>
          <a:lstStyle/>
          <a:p>
            <a:r>
              <a:rPr sz="1900" b="1">
                <a:solidFill>
                  <a:srgbClr val="1B5E6B"/>
                </a:solidFill>
                <a:latin typeface="Bricolage Grotesque"/>
              </a:rPr>
              <a:t>2.  </a:t>
            </a:r>
            <a:r>
              <a:rPr sz="1900">
                <a:solidFill>
                  <a:srgbClr val="333333"/>
                </a:solidFill>
                <a:latin typeface="Bricolage Grotesque"/>
              </a:rPr>
              <a:t>Préciser le public : attachés de direction, ou recherche d'emploi.</a:t>
            </a:r>
          </a:p>
        </p:txBody>
      </p:sp>
      <p:sp>
        <p:nvSpPr>
          <p:cNvPr id="14" name="TextBox 13"/>
          <p:cNvSpPr txBox="1"/>
          <p:nvPr/>
        </p:nvSpPr>
        <p:spPr>
          <a:xfrm>
            <a:off x="640080" y="3877056"/>
            <a:ext cx="10881360" cy="411480"/>
          </a:xfrm>
          <a:prstGeom prst="rect">
            <a:avLst/>
          </a:prstGeom>
          <a:noFill/>
        </p:spPr>
        <p:txBody>
          <a:bodyPr wrap="square">
            <a:spAutoFit/>
          </a:bodyPr>
          <a:lstStyle/>
          <a:p>
            <a:r>
              <a:rPr sz="1900" b="1">
                <a:solidFill>
                  <a:srgbClr val="1B5E6B"/>
                </a:solidFill>
                <a:latin typeface="Bricolage Grotesque"/>
              </a:rPr>
              <a:t>3.  </a:t>
            </a:r>
            <a:r>
              <a:rPr sz="1900">
                <a:solidFill>
                  <a:srgbClr val="333333"/>
                </a:solidFill>
                <a:latin typeface="Bricolage Grotesque"/>
              </a:rPr>
              <a:t>Relire comme un coaché : clair, sans jargon, faisable en 20 minutes ?</a:t>
            </a:r>
          </a:p>
        </p:txBody>
      </p:sp>
      <p:sp>
        <p:nvSpPr>
          <p:cNvPr id="15" name="TextBox 14"/>
          <p:cNvSpPr txBox="1"/>
          <p:nvPr/>
        </p:nvSpPr>
        <p:spPr>
          <a:xfrm>
            <a:off x="640080" y="4398264"/>
            <a:ext cx="10881360" cy="411480"/>
          </a:xfrm>
          <a:prstGeom prst="rect">
            <a:avLst/>
          </a:prstGeom>
          <a:noFill/>
        </p:spPr>
        <p:txBody>
          <a:bodyPr wrap="square">
            <a:spAutoFit/>
          </a:bodyPr>
          <a:lstStyle/>
          <a:p>
            <a:r>
              <a:rPr sz="1900" b="1">
                <a:solidFill>
                  <a:srgbClr val="1B5E6B"/>
                </a:solidFill>
                <a:latin typeface="Bricolage Grotesque"/>
              </a:rPr>
              <a:t>4.  </a:t>
            </a:r>
            <a:r>
              <a:rPr sz="1900">
                <a:solidFill>
                  <a:srgbClr val="333333"/>
                </a:solidFill>
                <a:latin typeface="Bricolage Grotesque"/>
              </a:rPr>
              <a:t>Faire corriger, puis demander le fichier Word final.</a:t>
            </a:r>
          </a:p>
        </p:txBody>
      </p:sp>
      <p:sp>
        <p:nvSpPr>
          <p:cNvPr id="16" name="TextBox 15"/>
          <p:cNvSpPr txBox="1"/>
          <p:nvPr/>
        </p:nvSpPr>
        <p:spPr>
          <a:xfrm>
            <a:off x="640080" y="4919472"/>
            <a:ext cx="10881360" cy="411480"/>
          </a:xfrm>
          <a:prstGeom prst="rect">
            <a:avLst/>
          </a:prstGeom>
          <a:noFill/>
        </p:spPr>
        <p:txBody>
          <a:bodyPr wrap="square">
            <a:spAutoFit/>
          </a:bodyPr>
          <a:lstStyle/>
          <a:p>
            <a:r>
              <a:rPr sz="1900" b="1">
                <a:solidFill>
                  <a:srgbClr val="1B5E6B"/>
                </a:solidFill>
                <a:latin typeface="Bricolage Grotesque"/>
              </a:rPr>
              <a:t>5.  </a:t>
            </a:r>
            <a:r>
              <a:rPr sz="1900">
                <a:solidFill>
                  <a:srgbClr val="333333"/>
                </a:solidFill>
                <a:latin typeface="Bricolage Grotesque"/>
              </a:rPr>
              <a:t>Tu le referas souvent ? Ce sera ton 2e skill (devoir).</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Bonus · Le prompt</a:t>
            </a:r>
          </a:p>
        </p:txBody>
      </p:sp>
      <p:sp>
        <p:nvSpPr>
          <p:cNvPr id="5" name="TextBox 4"/>
          <p:cNvSpPr txBox="1"/>
          <p:nvPr/>
        </p:nvSpPr>
        <p:spPr>
          <a:xfrm>
            <a:off x="640080" y="1554480"/>
            <a:ext cx="10881360" cy="411480"/>
          </a:xfrm>
          <a:prstGeom prst="rect">
            <a:avLst/>
          </a:prstGeom>
          <a:noFill/>
        </p:spPr>
        <p:txBody>
          <a:bodyPr wrap="square">
            <a:spAutoFit/>
          </a:bodyPr>
          <a:lstStyle/>
          <a:p>
            <a:r>
              <a:rPr sz="2000" b="0">
                <a:solidFill>
                  <a:srgbClr val="0F2B3A"/>
                </a:solidFill>
                <a:latin typeface="Consolas"/>
              </a:rPr>
              <a:t>Crée un questionnaire pour mes coachés, en trois parties :</a:t>
            </a:r>
          </a:p>
        </p:txBody>
      </p:sp>
      <p:sp>
        <p:nvSpPr>
          <p:cNvPr id="6" name="TextBox 5"/>
          <p:cNvSpPr txBox="1"/>
          <p:nvPr/>
        </p:nvSpPr>
        <p:spPr>
          <a:xfrm>
            <a:off x="640080" y="2075688"/>
            <a:ext cx="10881360" cy="411480"/>
          </a:xfrm>
          <a:prstGeom prst="rect">
            <a:avLst/>
          </a:prstGeom>
          <a:noFill/>
        </p:spPr>
        <p:txBody>
          <a:bodyPr wrap="square">
            <a:spAutoFit/>
          </a:bodyPr>
          <a:lstStyle/>
          <a:p>
            <a:r>
              <a:rPr sz="2000" b="0">
                <a:solidFill>
                  <a:srgbClr val="0F2B3A"/>
                </a:solidFill>
                <a:latin typeface="Consolas"/>
              </a:rPr>
              <a:t>mes valeurs, mes talents, mes compétences techniques.</a:t>
            </a:r>
          </a:p>
        </p:txBody>
      </p:sp>
      <p:sp>
        <p:nvSpPr>
          <p:cNvPr id="7" name="TextBox 6"/>
          <p:cNvSpPr txBox="1"/>
          <p:nvPr/>
        </p:nvSpPr>
        <p:spPr>
          <a:xfrm>
            <a:off x="640080" y="2596896"/>
            <a:ext cx="10881360" cy="411480"/>
          </a:xfrm>
          <a:prstGeom prst="rect">
            <a:avLst/>
          </a:prstGeom>
          <a:noFill/>
        </p:spPr>
        <p:txBody>
          <a:bodyPr wrap="square">
            <a:spAutoFit/>
          </a:bodyPr>
          <a:lstStyle/>
          <a:p>
            <a:r>
              <a:rPr sz="2000" b="0">
                <a:solidFill>
                  <a:srgbClr val="0F2B3A"/>
                </a:solidFill>
                <a:latin typeface="Consolas"/>
              </a:rPr>
              <a:t>Public : [attachés de direction / recherche d'emploi].</a:t>
            </a:r>
          </a:p>
        </p:txBody>
      </p:sp>
      <p:sp>
        <p:nvSpPr>
          <p:cNvPr id="8" name="TextBox 7"/>
          <p:cNvSpPr txBox="1"/>
          <p:nvPr/>
        </p:nvSpPr>
        <p:spPr>
          <a:xfrm>
            <a:off x="640080" y="3118104"/>
            <a:ext cx="10881360" cy="411480"/>
          </a:xfrm>
          <a:prstGeom prst="rect">
            <a:avLst/>
          </a:prstGeom>
          <a:noFill/>
        </p:spPr>
        <p:txBody>
          <a:bodyPr wrap="square">
            <a:spAutoFit/>
          </a:bodyPr>
          <a:lstStyle/>
          <a:p>
            <a:r>
              <a:rPr sz="2000" b="0">
                <a:solidFill>
                  <a:srgbClr val="0F2B3A"/>
                </a:solidFill>
                <a:latin typeface="Consolas"/>
              </a:rPr>
              <a:t>Questions ouvertes et échelles de 1 à 5, sans jargon RH.</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Bonus · Le prompt</a:t>
            </a:r>
          </a:p>
        </p:txBody>
      </p:sp>
      <p:sp>
        <p:nvSpPr>
          <p:cNvPr id="5" name="TextBox 4"/>
          <p:cNvSpPr txBox="1"/>
          <p:nvPr/>
        </p:nvSpPr>
        <p:spPr>
          <a:xfrm>
            <a:off x="640080" y="1554480"/>
            <a:ext cx="10881360" cy="411480"/>
          </a:xfrm>
          <a:prstGeom prst="rect">
            <a:avLst/>
          </a:prstGeom>
          <a:noFill/>
        </p:spPr>
        <p:txBody>
          <a:bodyPr wrap="square">
            <a:spAutoFit/>
          </a:bodyPr>
          <a:lstStyle/>
          <a:p>
            <a:r>
              <a:rPr sz="2000" b="0">
                <a:solidFill>
                  <a:srgbClr val="0F2B3A"/>
                </a:solidFill>
                <a:latin typeface="Consolas"/>
              </a:rPr>
              <a:t>Crée un questionnaire pour mes coachés, en trois parties :</a:t>
            </a:r>
          </a:p>
        </p:txBody>
      </p:sp>
      <p:sp>
        <p:nvSpPr>
          <p:cNvPr id="6" name="TextBox 5"/>
          <p:cNvSpPr txBox="1"/>
          <p:nvPr/>
        </p:nvSpPr>
        <p:spPr>
          <a:xfrm>
            <a:off x="640080" y="2075688"/>
            <a:ext cx="10881360" cy="411480"/>
          </a:xfrm>
          <a:prstGeom prst="rect">
            <a:avLst/>
          </a:prstGeom>
          <a:noFill/>
        </p:spPr>
        <p:txBody>
          <a:bodyPr wrap="square">
            <a:spAutoFit/>
          </a:bodyPr>
          <a:lstStyle/>
          <a:p>
            <a:r>
              <a:rPr sz="2000" b="0">
                <a:solidFill>
                  <a:srgbClr val="0F2B3A"/>
                </a:solidFill>
                <a:latin typeface="Consolas"/>
              </a:rPr>
              <a:t>mes valeurs, mes talents, mes compétences techniques.</a:t>
            </a:r>
          </a:p>
        </p:txBody>
      </p:sp>
      <p:sp>
        <p:nvSpPr>
          <p:cNvPr id="7" name="TextBox 6"/>
          <p:cNvSpPr txBox="1"/>
          <p:nvPr/>
        </p:nvSpPr>
        <p:spPr>
          <a:xfrm>
            <a:off x="640080" y="2596896"/>
            <a:ext cx="10881360" cy="411480"/>
          </a:xfrm>
          <a:prstGeom prst="rect">
            <a:avLst/>
          </a:prstGeom>
          <a:noFill/>
        </p:spPr>
        <p:txBody>
          <a:bodyPr wrap="square">
            <a:spAutoFit/>
          </a:bodyPr>
          <a:lstStyle/>
          <a:p>
            <a:r>
              <a:rPr sz="2000" b="0">
                <a:solidFill>
                  <a:srgbClr val="0F2B3A"/>
                </a:solidFill>
                <a:latin typeface="Consolas"/>
              </a:rPr>
              <a:t>Public : [attachés de direction / recherche d'emploi].</a:t>
            </a:r>
          </a:p>
        </p:txBody>
      </p:sp>
      <p:sp>
        <p:nvSpPr>
          <p:cNvPr id="8" name="TextBox 7"/>
          <p:cNvSpPr txBox="1"/>
          <p:nvPr/>
        </p:nvSpPr>
        <p:spPr>
          <a:xfrm>
            <a:off x="640080" y="3118104"/>
            <a:ext cx="10881360" cy="411480"/>
          </a:xfrm>
          <a:prstGeom prst="rect">
            <a:avLst/>
          </a:prstGeom>
          <a:noFill/>
        </p:spPr>
        <p:txBody>
          <a:bodyPr wrap="square">
            <a:spAutoFit/>
          </a:bodyPr>
          <a:lstStyle/>
          <a:p>
            <a:r>
              <a:rPr sz="2000" b="0">
                <a:solidFill>
                  <a:srgbClr val="0F2B3A"/>
                </a:solidFill>
                <a:latin typeface="Consolas"/>
              </a:rPr>
              <a:t>Questions ouvertes et échelles de 1 à 5, sans jargon RH.</a:t>
            </a:r>
          </a:p>
        </p:txBody>
      </p:sp>
      <p:sp>
        <p:nvSpPr>
          <p:cNvPr id="9" name="TextBox 8"/>
          <p:cNvSpPr txBox="1"/>
          <p:nvPr/>
        </p:nvSpPr>
        <p:spPr>
          <a:xfrm>
            <a:off x="640080" y="3877056"/>
            <a:ext cx="10881360" cy="411480"/>
          </a:xfrm>
          <a:prstGeom prst="rect">
            <a:avLst/>
          </a:prstGeom>
          <a:noFill/>
        </p:spPr>
        <p:txBody>
          <a:bodyPr wrap="square">
            <a:spAutoFit/>
          </a:bodyPr>
          <a:lstStyle/>
          <a:p>
            <a:r>
              <a:rPr sz="2000" b="0">
                <a:solidFill>
                  <a:srgbClr val="0F2B3A"/>
                </a:solidFill>
                <a:latin typeface="Consolas"/>
              </a:rPr>
              <a:t>20 minutes maximum à remplir. Livre-le en fichier Word.</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965960"/>
            <a:ext cx="2743200" cy="36576"/>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515600" cy="731520"/>
          </a:xfrm>
          <a:prstGeom prst="rect">
            <a:avLst/>
          </a:prstGeom>
          <a:noFill/>
        </p:spPr>
        <p:txBody>
          <a:bodyPr wrap="square">
            <a:spAutoFit/>
          </a:bodyPr>
          <a:lstStyle/>
          <a:p>
            <a:pPr algn="l"/>
            <a:r>
              <a:rPr sz="2200" b="1">
                <a:solidFill>
                  <a:srgbClr val="E8A000"/>
                </a:solidFill>
                <a:latin typeface="Bricolage Grotesque"/>
              </a:rPr>
              <a:t>Séquence 7</a:t>
            </a:r>
          </a:p>
        </p:txBody>
      </p:sp>
      <p:sp>
        <p:nvSpPr>
          <p:cNvPr id="5" name="TextBox 4"/>
          <p:cNvSpPr txBox="1"/>
          <p:nvPr/>
        </p:nvSpPr>
        <p:spPr>
          <a:xfrm>
            <a:off x="640080" y="2286000"/>
            <a:ext cx="10698480" cy="1645920"/>
          </a:xfrm>
          <a:prstGeom prst="rect">
            <a:avLst/>
          </a:prstGeom>
          <a:noFill/>
        </p:spPr>
        <p:txBody>
          <a:bodyPr wrap="square">
            <a:spAutoFit/>
          </a:bodyPr>
          <a:lstStyle/>
          <a:p>
            <a:pPr algn="l"/>
            <a:r>
              <a:rPr sz="4200" b="1">
                <a:solidFill>
                  <a:srgbClr val="FFFFFF"/>
                </a:solidFill>
                <a:latin typeface="Bricolage Grotesque"/>
              </a:rPr>
              <a:t>Les devoirs</a:t>
            </a:r>
          </a:p>
        </p:txBody>
      </p:sp>
      <p:sp>
        <p:nvSpPr>
          <p:cNvPr id="6" name="TextBox 5"/>
          <p:cNvSpPr txBox="1"/>
          <p:nvPr/>
        </p:nvSpPr>
        <p:spPr>
          <a:xfrm>
            <a:off x="640080" y="4023360"/>
            <a:ext cx="10515600" cy="731520"/>
          </a:xfrm>
          <a:prstGeom prst="rect">
            <a:avLst/>
          </a:prstGeom>
          <a:noFill/>
        </p:spPr>
        <p:txBody>
          <a:bodyPr wrap="square">
            <a:spAutoFit/>
          </a:bodyPr>
          <a:lstStyle/>
          <a:p>
            <a:pPr algn="l"/>
            <a:r>
              <a:rPr sz="2000" b="0">
                <a:solidFill>
                  <a:srgbClr val="5A8A8F"/>
                </a:solidFill>
                <a:latin typeface="Bricolage Grotesque"/>
              </a:rPr>
              <a:t>Pour la séance 3, jeudi 22 octobre</a:t>
            </a:r>
          </a:p>
        </p:txBody>
      </p:sp>
      <p:pic>
        <p:nvPicPr>
          <p:cNvPr id="7" name="Picture 6" descr="ia-round.png"/>
          <p:cNvPicPr>
            <a:picLocks noChangeAspect="1"/>
          </p:cNvPicPr>
          <p:nvPr/>
        </p:nvPicPr>
        <p:blipFill>
          <a:blip r:embed="rId2"/>
          <a:stretch>
            <a:fillRect/>
          </a:stretch>
        </p:blipFill>
        <p:spPr>
          <a:xfrm>
            <a:off x="457200" y="6217920"/>
            <a:ext cx="320040" cy="320040"/>
          </a:xfrm>
          <a:prstGeom prst="rect">
            <a:avLst/>
          </a:prstGeom>
        </p:spPr>
      </p:pic>
      <p:sp>
        <p:nvSpPr>
          <p:cNvPr id="8" name="TextBox 7"/>
          <p:cNvSpPr txBox="1"/>
          <p:nvPr/>
        </p:nvSpPr>
        <p:spPr>
          <a:xfrm>
            <a:off x="868680" y="619963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Devoirs · avant le 22 octobre</a:t>
            </a:r>
          </a:p>
        </p:txBody>
      </p:sp>
      <p:sp>
        <p:nvSpPr>
          <p:cNvPr id="5" name="TextBox 4"/>
          <p:cNvSpPr txBox="1"/>
          <p:nvPr/>
        </p:nvSpPr>
        <p:spPr>
          <a:xfrm>
            <a:off x="640080" y="1554480"/>
            <a:ext cx="10881360" cy="411480"/>
          </a:xfrm>
          <a:prstGeom prst="rect">
            <a:avLst/>
          </a:prstGeom>
          <a:noFill/>
        </p:spPr>
        <p:txBody>
          <a:bodyPr wrap="square">
            <a:spAutoFit/>
          </a:bodyPr>
          <a:lstStyle/>
          <a:p>
            <a:r>
              <a:rPr sz="2000" b="1">
                <a:solidFill>
                  <a:srgbClr val="1B5E6B"/>
                </a:solidFill>
                <a:latin typeface="Bricolage Grotesque"/>
              </a:rPr>
              <a:t>1.  Mettre en place ton organisation : projets, instructions, skills</a:t>
            </a:r>
          </a:p>
        </p:txBody>
      </p:sp>
      <p:sp>
        <p:nvSpPr>
          <p:cNvPr id="6" name="TextBox 5"/>
          <p:cNvSpPr txBox="1"/>
          <p:nvPr/>
        </p:nvSpPr>
        <p:spPr>
          <a:xfrm>
            <a:off x="640080" y="2075688"/>
            <a:ext cx="10881360" cy="411480"/>
          </a:xfrm>
          <a:prstGeom prst="rect">
            <a:avLst/>
          </a:prstGeom>
          <a:noFill/>
        </p:spPr>
        <p:txBody>
          <a:bodyPr wrap="square">
            <a:spAutoFit/>
          </a:bodyPr>
          <a:lstStyle/>
          <a:p>
            <a:r>
              <a:rPr sz="2000" b="1">
                <a:solidFill>
                  <a:srgbClr val="1B5E6B"/>
                </a:solidFill>
                <a:latin typeface="Bricolage Grotesque"/>
              </a:rPr>
              <a:t>2.  Utiliser ton skill sur 2 vraies séances anonymisées, et le corriger</a:t>
            </a:r>
          </a:p>
        </p:txBody>
      </p:sp>
      <p:sp>
        <p:nvSpPr>
          <p:cNvPr id="7" name="TextBox 6"/>
          <p:cNvSpPr txBox="1"/>
          <p:nvPr/>
        </p:nvSpPr>
        <p:spPr>
          <a:xfrm>
            <a:off x="640080" y="2596896"/>
            <a:ext cx="10881360" cy="411480"/>
          </a:xfrm>
          <a:prstGeom prst="rect">
            <a:avLst/>
          </a:prstGeom>
          <a:noFill/>
        </p:spPr>
        <p:txBody>
          <a:bodyPr wrap="square">
            <a:spAutoFit/>
          </a:bodyPr>
          <a:lstStyle/>
          <a:p>
            <a:r>
              <a:rPr sz="2000" b="1">
                <a:solidFill>
                  <a:srgbClr val="1B5E6B"/>
                </a:solidFill>
                <a:latin typeface="Bricolage Grotesque"/>
              </a:rPr>
              <a:t>3.  Créer seule ton 2e skill : le questionnaire de valeurs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Devoirs · avant le 22 octobre</a:t>
            </a:r>
          </a:p>
        </p:txBody>
      </p:sp>
      <p:sp>
        <p:nvSpPr>
          <p:cNvPr id="5" name="TextBox 4"/>
          <p:cNvSpPr txBox="1"/>
          <p:nvPr/>
        </p:nvSpPr>
        <p:spPr>
          <a:xfrm>
            <a:off x="640080" y="1554480"/>
            <a:ext cx="10881360" cy="411480"/>
          </a:xfrm>
          <a:prstGeom prst="rect">
            <a:avLst/>
          </a:prstGeom>
          <a:noFill/>
        </p:spPr>
        <p:txBody>
          <a:bodyPr wrap="square">
            <a:spAutoFit/>
          </a:bodyPr>
          <a:lstStyle/>
          <a:p>
            <a:r>
              <a:rPr sz="2000" b="1">
                <a:solidFill>
                  <a:srgbClr val="1B5E6B"/>
                </a:solidFill>
                <a:latin typeface="Bricolage Grotesque"/>
              </a:rPr>
              <a:t>1.  Mettre en place ton organisation : projets, instructions, skills</a:t>
            </a:r>
          </a:p>
        </p:txBody>
      </p:sp>
      <p:sp>
        <p:nvSpPr>
          <p:cNvPr id="6" name="TextBox 5"/>
          <p:cNvSpPr txBox="1"/>
          <p:nvPr/>
        </p:nvSpPr>
        <p:spPr>
          <a:xfrm>
            <a:off x="640080" y="2075688"/>
            <a:ext cx="10881360" cy="411480"/>
          </a:xfrm>
          <a:prstGeom prst="rect">
            <a:avLst/>
          </a:prstGeom>
          <a:noFill/>
        </p:spPr>
        <p:txBody>
          <a:bodyPr wrap="square">
            <a:spAutoFit/>
          </a:bodyPr>
          <a:lstStyle/>
          <a:p>
            <a:r>
              <a:rPr sz="2000" b="1">
                <a:solidFill>
                  <a:srgbClr val="1B5E6B"/>
                </a:solidFill>
                <a:latin typeface="Bricolage Grotesque"/>
              </a:rPr>
              <a:t>2.  Utiliser ton skill sur 2 vraies séances anonymisées, et le corriger</a:t>
            </a:r>
          </a:p>
        </p:txBody>
      </p:sp>
      <p:sp>
        <p:nvSpPr>
          <p:cNvPr id="7" name="TextBox 6"/>
          <p:cNvSpPr txBox="1"/>
          <p:nvPr/>
        </p:nvSpPr>
        <p:spPr>
          <a:xfrm>
            <a:off x="640080" y="2596896"/>
            <a:ext cx="10881360" cy="411480"/>
          </a:xfrm>
          <a:prstGeom prst="rect">
            <a:avLst/>
          </a:prstGeom>
          <a:noFill/>
        </p:spPr>
        <p:txBody>
          <a:bodyPr wrap="square">
            <a:spAutoFit/>
          </a:bodyPr>
          <a:lstStyle/>
          <a:p>
            <a:r>
              <a:rPr sz="2000" b="1">
                <a:solidFill>
                  <a:srgbClr val="1B5E6B"/>
                </a:solidFill>
                <a:latin typeface="Bricolage Grotesque"/>
              </a:rPr>
              <a:t>3.  Créer seule ton 2e skill : le questionnaire de valeurs</a:t>
            </a:r>
          </a:p>
        </p:txBody>
      </p:sp>
      <p:sp>
        <p:nvSpPr>
          <p:cNvPr id="8" name="TextBox 7"/>
          <p:cNvSpPr txBox="1"/>
          <p:nvPr/>
        </p:nvSpPr>
        <p:spPr>
          <a:xfrm>
            <a:off x="640080" y="3355848"/>
            <a:ext cx="10881360" cy="411480"/>
          </a:xfrm>
          <a:prstGeom prst="rect">
            <a:avLst/>
          </a:prstGeom>
          <a:noFill/>
        </p:spPr>
        <p:txBody>
          <a:bodyPr wrap="square">
            <a:spAutoFit/>
          </a:bodyPr>
          <a:lstStyle/>
          <a:p>
            <a:r>
              <a:rPr sz="2000" b="1">
                <a:solidFill>
                  <a:srgbClr val="1B5E6B"/>
                </a:solidFill>
                <a:latin typeface="Bricolage Grotesque"/>
              </a:rPr>
              <a:t>4.  Pour la S3 : un transcript de séance anonymisé, accord du coaché</a:t>
            </a:r>
          </a:p>
        </p:txBody>
      </p:sp>
      <p:sp>
        <p:nvSpPr>
          <p:cNvPr id="9" name="TextBox 8"/>
          <p:cNvSpPr txBox="1"/>
          <p:nvPr/>
        </p:nvSpPr>
        <p:spPr>
          <a:xfrm>
            <a:off x="640080" y="3877056"/>
            <a:ext cx="10881360" cy="411480"/>
          </a:xfrm>
          <a:prstGeom prst="rect">
            <a:avLst/>
          </a:prstGeom>
          <a:noFill/>
        </p:spPr>
        <p:txBody>
          <a:bodyPr wrap="square">
            <a:spAutoFit/>
          </a:bodyPr>
          <a:lstStyle/>
          <a:p>
            <a:r>
              <a:rPr sz="2000" b="1">
                <a:solidFill>
                  <a:srgbClr val="1B5E6B"/>
                </a:solidFill>
                <a:latin typeface="Bricolage Grotesque"/>
              </a:rPr>
              <a:t>5.  E-learning « Focus Midjourney &amp; Nano Banana », et ton point le 21</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914400"/>
            <a:ext cx="10515600" cy="731520"/>
          </a:xfrm>
          <a:prstGeom prst="rect">
            <a:avLst/>
          </a:prstGeom>
          <a:noFill/>
        </p:spPr>
        <p:txBody>
          <a:bodyPr wrap="square">
            <a:spAutoFit/>
          </a:bodyPr>
          <a:lstStyle/>
          <a:p>
            <a:pPr algn="l"/>
            <a:r>
              <a:rPr sz="3600" b="1">
                <a:solidFill>
                  <a:srgbClr val="E8A000"/>
                </a:solidFill>
                <a:latin typeface="Bricolage Grotesque"/>
              </a:rPr>
              <a:t>À retenir</a:t>
            </a:r>
          </a:p>
        </p:txBody>
      </p:sp>
      <p:sp>
        <p:nvSpPr>
          <p:cNvPr id="4" name="TextBox 3"/>
          <p:cNvSpPr txBox="1"/>
          <p:nvPr/>
        </p:nvSpPr>
        <p:spPr>
          <a:xfrm>
            <a:off x="640080" y="1645920"/>
            <a:ext cx="10515600" cy="548640"/>
          </a:xfrm>
          <a:prstGeom prst="rect">
            <a:avLst/>
          </a:prstGeom>
          <a:noFill/>
        </p:spPr>
        <p:txBody>
          <a:bodyPr wrap="square">
            <a:spAutoFit/>
          </a:bodyPr>
          <a:lstStyle/>
          <a:p>
            <a:pPr algn="l"/>
            <a:r>
              <a:rPr sz="1800" b="0">
                <a:solidFill>
                  <a:srgbClr val="5A8A8F"/>
                </a:solidFill>
                <a:latin typeface="Bricolage Grotesque"/>
              </a:rPr>
              <a:t>Ce que tu as fait aujourd'hui</a:t>
            </a:r>
          </a:p>
        </p:txBody>
      </p:sp>
      <p:sp>
        <p:nvSpPr>
          <p:cNvPr id="5" name="Rectangle 4"/>
          <p:cNvSpPr/>
          <p:nvPr/>
        </p:nvSpPr>
        <p:spPr>
          <a:xfrm>
            <a:off x="640080" y="2286000"/>
            <a:ext cx="2743200" cy="27432"/>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651760"/>
            <a:ext cx="10881360" cy="3383280"/>
          </a:xfrm>
          <a:prstGeom prst="rect">
            <a:avLst/>
          </a:prstGeom>
          <a:noFill/>
        </p:spPr>
        <p:txBody>
          <a:bodyPr wrap="square">
            <a:spAutoFit/>
          </a:bodyPr>
          <a:lstStyle/>
          <a:p>
            <a:pPr>
              <a:spcBef>
                <a:spcPts val="1200"/>
              </a:spcBef>
            </a:pPr>
            <a:r>
              <a:rPr sz="2000">
                <a:solidFill>
                  <a:srgbClr val="FFFFFF"/>
                </a:solidFill>
                <a:latin typeface="Bricolage Grotesque"/>
              </a:rPr>
              <a:t>1.  Tu sais où ranger chaque chose : le test des quatre questions.</a:t>
            </a:r>
          </a:p>
          <a:p>
            <a:pPr>
              <a:spcBef>
                <a:spcPts val="1200"/>
              </a:spcBef>
            </a:pPr>
            <a:r>
              <a:rPr sz="2000">
                <a:solidFill>
                  <a:srgbClr val="FFFFFF"/>
                </a:solidFill>
                <a:latin typeface="Bricolage Grotesque"/>
              </a:rPr>
              <a:t>2.  Ton organisation est décidée : un projet par activité, un skill par livrable.</a:t>
            </a:r>
          </a:p>
          <a:p>
            <a:pPr>
              <a:spcBef>
                <a:spcPts val="1200"/>
              </a:spcBef>
            </a:pPr>
            <a:r>
              <a:rPr sz="2000">
                <a:solidFill>
                  <a:srgbClr val="FFFFFF"/>
                </a:solidFill>
                <a:latin typeface="Bricolage Grotesque"/>
              </a:rPr>
              <a:t>3.  Ton premier skill est testé : tu corriges le skill, pas le résultat.</a:t>
            </a:r>
          </a:p>
          <a:p>
            <a:pPr>
              <a:spcBef>
                <a:spcPts val="1200"/>
              </a:spcBef>
            </a:pPr>
            <a:r>
              <a:rPr sz="2000">
                <a:solidFill>
                  <a:srgbClr val="FFFFFF"/>
                </a:solidFill>
                <a:latin typeface="Bricolage Grotesque"/>
              </a:rPr>
              <a:t>4.  Tes bilans restent anonymes, jusque dans la mémoire de Claude.</a:t>
            </a:r>
          </a:p>
        </p:txBody>
      </p:sp>
      <p:pic>
        <p:nvPicPr>
          <p:cNvPr id="7" name="Picture 6" descr="ia-round.png"/>
          <p:cNvPicPr>
            <a:picLocks noChangeAspect="1"/>
          </p:cNvPicPr>
          <p:nvPr/>
        </p:nvPicPr>
        <p:blipFill>
          <a:blip r:embed="rId2"/>
          <a:stretch>
            <a:fillRect/>
          </a:stretch>
        </p:blipFill>
        <p:spPr>
          <a:xfrm>
            <a:off x="457200" y="6355080"/>
            <a:ext cx="320040" cy="320040"/>
          </a:xfrm>
          <a:prstGeom prst="rect">
            <a:avLst/>
          </a:prstGeom>
        </p:spPr>
      </p:pic>
      <p:sp>
        <p:nvSpPr>
          <p:cNvPr id="8" name="TextBox 7"/>
          <p:cNvSpPr txBox="1"/>
          <p:nvPr/>
        </p:nvSpPr>
        <p:spPr>
          <a:xfrm>
            <a:off x="868680" y="633679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560320"/>
            <a:ext cx="12191695" cy="1828800"/>
          </a:xfrm>
          <a:prstGeom prst="rect">
            <a:avLst/>
          </a:prstGeom>
          <a:noFill/>
        </p:spPr>
        <p:txBody>
          <a:bodyPr wrap="square">
            <a:spAutoFit/>
          </a:bodyPr>
          <a:lstStyle/>
          <a:p>
            <a:pPr algn="ctr"/>
            <a:r>
              <a:rPr sz="6400" b="1">
                <a:solidFill>
                  <a:srgbClr val="FFFFFF"/>
                </a:solidFill>
                <a:latin typeface="Bricolage Grotesque"/>
              </a:rPr>
              <a:t>Des questions ?</a:t>
            </a:r>
          </a:p>
        </p:txBody>
      </p:sp>
      <p:pic>
        <p:nvPicPr>
          <p:cNvPr id="4" name="Picture 3" descr="ia-round.png"/>
          <p:cNvPicPr>
            <a:picLocks noChangeAspect="1"/>
          </p:cNvPicPr>
          <p:nvPr/>
        </p:nvPicPr>
        <p:blipFill>
          <a:blip r:embed="rId2"/>
          <a:stretch>
            <a:fillRect/>
          </a:stretch>
        </p:blipFill>
        <p:spPr>
          <a:xfrm>
            <a:off x="4846320" y="4754880"/>
            <a:ext cx="320040" cy="320040"/>
          </a:xfrm>
          <a:prstGeom prst="rect">
            <a:avLst/>
          </a:prstGeom>
        </p:spPr>
      </p:pic>
      <p:sp>
        <p:nvSpPr>
          <p:cNvPr id="5" name="TextBox 4"/>
          <p:cNvSpPr txBox="1"/>
          <p:nvPr/>
        </p:nvSpPr>
        <p:spPr>
          <a:xfrm>
            <a:off x="5257800" y="473659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