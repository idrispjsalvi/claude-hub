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Reprise fidèle de son mail du 27/10 (réponse à mon mail du jour). L'API confirme : les 8 modules e-learning sont terminés, Midjourney &amp; Nano Banana compris. Ce qu'elle n'a pas fini : formaliser toute son organisation dans Claude, et peaufiner ses instructions. Les images sortent de la séance à sa demande. Sa question « interface ou plateforme » rejoint le projet de plateforme collaborative évoqué par Antoine à l'appel de vente.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E-learning « Fonctionnalités avancées de ChatGPT », vidéo 1 : « ça s'appliquera tout le temps, sauf aux GPT personnalisés ». Pont avec la S2 : elle a créé des instructions des deux côtés, même règle de tri (partout / projet / méthode).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E-learning « Fonctionnalités avancées de ChatGPT », vidéo 1 : « ça s'appliquera tout le temps, sauf aux GPT personnalisés ». Pont avec la S2 : elle a créé des instructions des deux côtés, même règle de tri (partout / projet / méthode).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E-learning, vidéo « Réaliser une recherche approfondie sur un sujet » : jusqu'à 200 pages, un vrai agent qui peut cliquer (FAQ dépliables), intérêt « principalement sur des données objectives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E-learning, vidéo « Réaliser une recherche approfondie sur un sujet » : jusqu'à 200 pages, un vrai agent qui peut cliquer (FAQ dépliables), intérêt « principalement sur des données objectives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E-learning « Focus Midjourney &amp; Nano Banana », vidéo Moodboard. Le module ChatGPT avancé dit aussi qu'on ne peut pas (ou difficilement) citer un artiste dans un prompt d'image. Question courte : les images ne sont pas sa priorité, on ne s'y attarde pas.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E-learning « Focus Midjourney &amp; Nano Banana », vidéo Moodboard. Le module ChatGPT avancé dit aussi qu'on ne peut pas (ou difficilement) citer un artiste dans un prompt d'image. Question courte : les images ne sont pas sa priorité, on ne s'y attarde pas.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Pont direct vers la Pratique 1. Centre d'aide « Use Google Workspace connectors » : le connecteur Google Drive lit les Sheets (texte seulement). La synchronisation automatique dans les fichiers d'un projet n'est confirmée que pour les Google Docs : pour un Sheets, on demande la lecture dans la conversation, qui lit la version du moment.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Pont direct vers la Pratique 1. Centre d'aide « Use Google Workspace connectors » : le connecteur Google Drive lit les Sheets (texte seulement). La synchronisation automatique dans les fichiers d'un projet n'est confirmée que pour les Google Docs : pour un Sheets, on demande la lecture dans la conversation, qui lit la version du moment.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1 : 5 minutes maximum, juste débloquer ce qui l'empêche de finir (souvent : où ranger un cas limite). Point 3 : lui faire lancer le skill sur des notes fictives, vérifier qu'il se déclenche seul. Point 4 : c'est le pont vers la théorie. Regarder si son artefact affiche « Publish » (artefact legacy, créé dans un chat avant le 16/09/2026 : publié, il s'ouvre SANS compte Claude) ou « Share » (artefact récent : compte Claude obligatoire). Regarder aussi s'il appelle Claude pour produire la cartographie : dans ce cas, l'IA consomme le forfait de la personne qui le remplit.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1 : 5 minutes maximum, juste débloquer ce qui l'empêche de finir (souvent : où ranger un cas limite). Point 3 : lui faire lancer le skill sur des notes fictives, vérifier qu'il se déclenche seul. Point 4 : c'est le pont vers la théorie. Regarder si son artefact affiche « Publish » (artefact legacy, créé dans un chat avant le 16/09/2026 : publié, il s'ouvre SANS compte Claude) ou « Share » (artefact récent : compte Claude obligatoire). Regarder aussi s'il appelle Claude pour produire la cartographie : dans ce cas, l'IA consomme le forfait de la personne qui le remplit.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Réponse directe à son mail : « une interface pour mes clients, ou une plateforme, je ne sais pas si c'est différent ». Oui : la différence tient aux comptes et à la durée. Une interface sert un usage ponctuel ; une plateforme suit une personne dans le temps.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Grille de lecture pour la suite : pour chaque solution, se demander où se passe chaque temps. Le temps 4 ne change jamais : rien ne part au coaché sans sa relecture (c'est aussi son positionnement de coach face à l'IA).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Marche 3 : une petite application construite avec Claude Code et mise en ligne chez un hébergeur (compter quelques euros par mois, ordre de grandeur donné en S2). Marche 4 : un outil de portail client no-code (par exemple Softr sur une base Airtable) ou un développement sur mesure.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Sources, centre d'aide Claude : « Share artifacts » (23/09/2026) : « Everyone needs a Claude account. People without one can't open a shared artifact, even with the link. The only exception is a legacy artifact published from a chat. » « What are artifacts » (mis à jour cette semaine) : stockage sur Pro, Max, Team, Enterprise, 20 Mo par artefact, texte seulement ; personnel ou partagé ; l'usage de Claude « counts against each person's own plan limits ». Aucune page ne décrit la collecte des réponses de plusieurs visiteurs ni leur export par le créateur : le présenter comme non documenté, pas comme impossible. Point non tranché entre deux pages : « Share artifacts » dit qu'un artefact qui utilise Claude ne peut pas être en « Anyone with the link ». À tester en direct sur le sien.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Sources, centre d'aide Claude : « Share artifacts » (23/09/2026) : « Everyone needs a Claude account. People without one can't open a shared artifact, even with the link. The only exception is a legacy artifact published from a chat. » « What are artifacts » (mis à jour cette semaine) : stockage sur Pro, Max, Team, Enterprise, 20 Mo par artefact, texte seulement ; personnel ou partagé ; l'usage de Claude « counts against each person's own plan limits ». Aucune page ne décrit la collecte des réponses de plusieurs visiteurs ni leur export par le créateur : le présenter comme non documenté, pas comme impossible. Point non tranché entre deux pages : « Share artifacts » dit qu'un artefact qui utilise Claude ne peut pas être en « Anyone with the link ». À tester en direct sur le sien.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Sources, centre d'aide Claude : « Share artifacts » (23/09/2026) : « Everyone needs a Claude account. People without one can't open a shared artifact, even with the link. The only exception is a legacy artifact published from a chat. » « What are artifacts » (mis à jour cette semaine) : stockage sur Pro, Max, Team, Enterprise, 20 Mo par artefact, texte seulement ; personnel ou partagé ; l'usage de Claude « counts against each person's own plan limits ». Aucune page ne décrit la collecte des réponses de plusieurs visiteurs ni leur export par le créateur : le présenter comme non documenté, pas comme impossible. Point non tranché entre deux pages : « Share artifacts » dit qu'un artefact qui utilise Claude ne peut pas être en « Anyone with the link ». À tester en direct sur le sien.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Marche 2 : Google Forms est gratuit avec un compte Google, et le répondant n'a besoin d'aucun compte tant qu'on ne coche pas « Limiter à 1 réponse » (qui impose la connexion Google). « Ton Claude » : c'est elle qui lance l'analyse dans son Claude Pro, avec le connecteur Google Drive. Marches 3 et 4 : une IA intégrée à une application passe par l'API Claude, payée à l'usage. Pourquoi Google et pas Microsoft : le connecteur Microsoft 365 de Claude refuse les comptes personnels (outlook.com, hotmail, live), il exige un compte pro ou école (centre d'aide « Connect to Microsoft 365 »). Avec son adresse outlook.fr, c'est bloqué ; elle a déjà connecté Gmail, donc un compte Google.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 check-ups touchent à la personne (valeurs, objectifs, parfois la santé ou la vie privée) : ce sont des données personnelles au sens du RGPD. Rappel S2 : Paramètres › Confidentialité, option d'amélioration des modèles à désactiver. Sur un artefact en stockage partagé, ce qu'un coaché saisit peut être vu par les autres : c'est l'avertissement de l'aide Claude.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 check-ups touchent à la personne (valeurs, objectifs, parfois la santé ou la vie privée) : ce sont des données personnelles au sens du RGPD. Rappel S2 : Paramètres › Confidentialité, option d'amélioration des modèles à désactiver. Sur un artefact en stockage partagé, ce qu'un coaché saisit peut être vu par les autres : c'est l'avertissement de l'aide Claude.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 check-ups touchent à la personne (valeurs, objectifs, parfois la santé ou la vie privée) : ce sont des données personnelles au sens du RGPD. Rappel S2 : Paramètres › Confidentialité, option d'amélioration des modèles à désactiver. Sur un artefact en stockage partagé, ce qu'un coaché saisit peut être vu par les autres : c'est l'avertissement de l'aide Claude.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circuit complet sous les yeux avant de commencer, pour qu'elle sache à chaque étape où elle en 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prompt A est dans s3-a-coller.md, à coller dans le chat de la visio. Paramètres du formulaire : ne PAS cocher « Limiter à 1 réponse » (elle impose un compte Google au répondant). Collecte d'e-mails : seulement si elle en a besoin pour renvoyer la cartographie. Ajouter une question « Ton code » (C-01…) qu'elle donne au coaché : c'est ce code, pas le nom, que Claude verra.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Texte complet dans s3-a-coller.md, à coller dans le chat de la visio. À lancer dans la conversation où elle a créé son outil d'autocoaching : Claude y a déjà toutes les questions sous les yeux.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Texte complet dans s3-a-coller.md, à coller dans le chat de la visio. À lancer dans la conversation où elle a créé son outil d'autocoaching : Claude y a déjà toutes les questions sous les yeux.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noms suivent l'interface française de Google Forms. Une échelle ou des cases donnent des réponses comparables d'un coaché à l'autre ; les paragraphes donnent la matière de la cartographie. Le prompt A demande justement à Claude de proposer le type de chaque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noms suivent l'interface française de Google Forms. Une échelle ou des cases donnent des réponses comparables d'un coaché à l'autre ; les paragraphes donnent la matière de la cartographie. Le prompt A demande justement à Claude de proposer le type de chaque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connecteur Google Drive lit les Sheets (centre d'aide « Use Google Workspace connectors ») : texte seulement, et le fichier doit tenir dans la fenêtre de contexte. On demande la lecture dans la conversation : Claude lit la version du moment. Ne pas compter sur l'ajout du Sheets aux fichiers du projet : la synchronisation automatique n'est documentée que pour les Google Docs. Étapes 4-5 : la méthode de création de skill de la S2.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Texte complet dans s3-a-coller.md. Adapter le nom du Sheets et les rubriques à SA cartographie (celle que produit son artefact actuel). Les règles reprennent celles de la S1 et de son skill de synthèse : elles passeront dans le skill Cartographie.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Texte complet dans s3-a-coller.md. Adapter le nom du Sheets et les rubriques à SA cartographie (celle que produit son artefact actuel). Les règles reprennent celles de la S1 et de son skill de synthèse : elles passeront dans le skill Cartographie.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Outil de décision de la Pratique 2, sur le modèle du test en quatre questions de la S2. Marche 1 : cas réaliste en séance (elle partage son écran) ou pour un client équipé de Claude.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l'exercice dans Claude (une conversation dans son projet de coaching, ou un document partagé) pour qu'elle reparte avec la page. Le prompt C de la fiche structure la feuille de route. Ses publics connus (dossier TIA) : managers, attachés de direction, personnes en reconversion, organismes de bilan.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Ces six réponses forment le cahier des charges de la marche 3 ou 4, que Claude Code ou un outil no-code saura construire. C'est aussi le module 4 du programme (« Poser la première version de l'espace partagé avec le coaché »), qu'on attaque en S4.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Claude Code est inclus dans le forfait Pro. Ordre de grandeur de l'hébergement donné en S2 (environ 5 € par mois). Softr et Airtable : exemple d'outils de portail client, pas une recommandation ferme ; le choix se fera en S4 à partir de sa feuille de route. L'API Claude est facturée à l'usage, séparément de l'abonnement Pro.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Claude Code est inclus dans le forfait Pro. Ordre de grandeur de l'hébergement donné en S2 (environ 5 € par mois). Softr et Airtable : exemple d'outils de portail client, pas une recommandation ferme ; le choix se fera en S4 à partir de sa feuille de route. L'API Claude est facturée à l'usage, séparément de l'abonnement Pro.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Claude Code est inclus dans le forfait Pro. Ordre de grandeur de l'hébergement donné en S2 (environ 5 € par mois). Softr et Airtable : exemple d'outils de portail client, pas une recommandation ferme ; le choix se fera en S4 à partir de sa feuille de route. L'API Claude est facturée à l'usage, séparément de l'abonnement Pro.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1 et le 2 donnent la matière réelle de la S4. Le 4 laisse deux jours pour préparer la S4 sur sa feuille de route (marche choisie, première version de l'espace coaché). Le 5 sert le module 3 du programme (agent de lecture de séance), assemblé en S4 dans la chaîne séance, lecture, cartographie.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1 et le 2 donnent la matière réelle de la S4. Le 4 laisse deux jours pour préparer la S4 sur sa feuille de route (marche choisie, première version de l'espace coaché). Le 5 sert le module 3 du programme (agent de lecture de séance), assemblé en S4 dans la chaîne séance, lecture, cartographie.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06240"/>
            <a:ext cx="12191695" cy="2651760"/>
          </a:xfrm>
          <a:prstGeom prst="rect">
            <a:avLst/>
          </a:prstGeom>
          <a:solidFill>
            <a:srgbClr val="1E5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960120"/>
            <a:ext cx="2194560" cy="36576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8A000"/>
                </a:solidFill>
                <a:latin typeface="Bricolage Grotesque"/>
              </a:rPr>
              <a:t>SÉANCE 3 / 4 · CÉLINE LAFITTE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0" b="1">
                <a:solidFill>
                  <a:srgbClr val="FFFFFF"/>
                </a:solidFill>
                <a:latin typeface="Bricolage Grotesque"/>
              </a:rPr>
              <a:t>Ton outil, en service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3832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E8A000"/>
                </a:solidFill>
                <a:latin typeface="Bricolage Grotesque"/>
              </a:rPr>
              <a:t>De l'artefact à la plateforme : le bon chemin pour tes clients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4805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5A8A8F"/>
                </a:solidFill>
                <a:latin typeface="Bricolage Grotesque"/>
              </a:rPr>
              <a:t>Mercredi 28 octobre 2026 · 13h-15h · Idris Salvi</a:t>
            </a:r>
          </a:p>
        </p:txBody>
      </p:sp>
      <p:pic>
        <p:nvPicPr>
          <p:cNvPr id="9" name="Picture 8" descr="ia-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217920"/>
            <a:ext cx="320040" cy="3200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8680" y="619963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Bricolage Grotesque"/>
              </a:rPr>
              <a:t>intelligence academy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Ton parcours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Bricolage Grotesque"/>
              </a:rPr>
              <a:t>4 séances, un fil rouge : tes outils de coach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743200"/>
            <a:ext cx="2331720" cy="777240"/>
          </a:xfrm>
          <a:prstGeom prst="roundRect">
            <a:avLst/>
          </a:prstGeom>
          <a:solidFill>
            <a:srgbClr val="1B5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907792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Bricolage Grotesque"/>
              </a:rPr>
              <a:t>S1 · 8 oct.
Comprendre 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08376" y="2926080"/>
            <a:ext cx="3108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E8A000"/>
                </a:solidFill>
                <a:latin typeface="Bricolage Grotesque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55848" y="2743200"/>
            <a:ext cx="2331720" cy="777240"/>
          </a:xfrm>
          <a:prstGeom prst="roundRect">
            <a:avLst/>
          </a:prstGeom>
          <a:solidFill>
            <a:srgbClr val="1E5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47288" y="2907792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Bricolage Grotesque"/>
              </a:rPr>
              <a:t>S2 · 19 oct.
Ranger + skills 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24144" y="2926080"/>
            <a:ext cx="3108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E8A000"/>
                </a:solidFill>
                <a:latin typeface="Bricolage Grotesque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71616" y="2743200"/>
            <a:ext cx="2331720" cy="777240"/>
          </a:xfrm>
          <a:prstGeom prst="roundRect">
            <a:avLst/>
          </a:prstGeom>
          <a:solidFill>
            <a:srgbClr val="1B5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63056" y="2907792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Bricolage Grotesque"/>
              </a:rPr>
              <a:t>S3 · 28 oct.
Ton outil en ligne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39912" y="2926080"/>
            <a:ext cx="3108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E8A000"/>
                </a:solidFill>
                <a:latin typeface="Bricolage Grotesque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87384" y="2743200"/>
            <a:ext cx="2331720" cy="777240"/>
          </a:xfrm>
          <a:prstGeom prst="roundRect">
            <a:avLst/>
          </a:prstGeom>
          <a:solidFill>
            <a:srgbClr val="1E5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78824" y="2907792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Bricolage Grotesque"/>
              </a:rPr>
              <a:t>S4 · 5 nov.
Ta chaîne complète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1148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5E6B"/>
                </a:solidFill>
                <a:latin typeface="Bricolage Grotesque"/>
              </a:rPr>
              <a:t>Aujourd'hui : ton check-up rempli par un coaché, et ta route vers ta plateforme.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Ce que tu m'as écrit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Bricolage Grotesque"/>
              </a:rPr>
              <a:t>Ton point d'avancement du 27 octobre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897880" y="2286000"/>
            <a:ext cx="27432" cy="2926080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1B5E6B"/>
                </a:solidFill>
                <a:latin typeface="Bricolage Grotesque"/>
              </a:rPr>
              <a:t>Ce que tu as avancé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8036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33333"/>
                </a:solidFill>
                <a:latin typeface="Bricolage Grotesque"/>
              </a:rPr>
              <a:t>Ton organisation : claire dans ta tête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55848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33333"/>
                </a:solidFill>
                <a:latin typeface="Bricolage Grotesque"/>
              </a:rPr>
              <a:t>Instructions créées, Claude et ChatGPT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831335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33333"/>
                </a:solidFill>
                <a:latin typeface="Bricolage Grotesque"/>
              </a:rPr>
              <a:t>Ton skill de synthèse : « nickel 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306823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33333"/>
                </a:solidFill>
                <a:latin typeface="Bricolage Grotesque"/>
              </a:rPr>
              <a:t>Un 2e skill : préparation et compte rendu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782311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33333"/>
                </a:solidFill>
                <a:latin typeface="Bricolage Grotesque"/>
              </a:rPr>
              <a:t>Tout l'e-learning disponible : terminé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22860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1B5E6B"/>
                </a:solidFill>
                <a:latin typeface="Bricolage Grotesque"/>
              </a:rPr>
              <a:t>Ce que tu veux aujourd'hui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288036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33333"/>
                </a:solidFill>
                <a:latin typeface="Bricolage Grotesque"/>
              </a:rPr>
              <a:t>Partager ton outil d'autocoaching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3355848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33333"/>
                </a:solidFill>
                <a:latin typeface="Bricolage Grotesque"/>
              </a:rPr>
              <a:t>Récupérer les réponses de tes coachés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3831335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33333"/>
                </a:solidFill>
                <a:latin typeface="Bricolage Grotesque"/>
              </a:rPr>
              <a:t>Interface ou plateforme : la différence 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4306823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33333"/>
                </a:solidFill>
                <a:latin typeface="Bricolage Grotesque"/>
              </a:rPr>
              <a:t>Les images : pas ta priorité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Le déroulé de cet après-midi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1.  Quiz : tes e-learnings et la séance 2 (10 min)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7568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2.  Tes devoirs : tu me montres (15 min)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96896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3.  Théorie : de l'artefact à la plateforme (20 min)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Le déroulé de cet après-midi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1.  Quiz : tes e-learnings et la séance 2 (10 min)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7568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2.  Tes devoirs : tu me montres (15 min)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96896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3.  Théorie : de l'artefact à la plateforme (20 min)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5584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4.  Pratique 1 : ton check-up en service (40 min)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877056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5.  Pratique 2 : ta feuille de route (25 min)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398264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6.  Les devoirs (10 min)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1965960"/>
            <a:ext cx="2743200" cy="36576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8A000"/>
                </a:solidFill>
                <a:latin typeface="Bricolage Grotesque"/>
              </a:rPr>
              <a:t>Séquence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Bricolage Grotesque"/>
              </a:rPr>
              <a:t>Quiz d'ouverture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0233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5A8A8F"/>
                </a:solidFill>
                <a:latin typeface="Bricolage Grotesque"/>
              </a:rPr>
              <a:t>Quatre questions : tes e-learnings et la séance 2</a:t>
            </a:r>
          </a:p>
        </p:txBody>
      </p:sp>
      <p:pic>
        <p:nvPicPr>
          <p:cNvPr id="7" name="Picture 6" descr="ia-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217920"/>
            <a:ext cx="320040" cy="3200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68680" y="619963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Bricolage Grotesque"/>
              </a:rPr>
              <a:t>intelligence academy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Quiz · Question 1 /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Bricolage Grotesque"/>
              </a:rPr>
              <a:t>Les instructions personnalisées de ChatGPT s'appliquent…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86000"/>
            <a:ext cx="10881360" cy="530352"/>
          </a:xfrm>
          <a:prstGeom prst="round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359152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333333"/>
                </a:solidFill>
                <a:latin typeface="Bricolage Grotesque"/>
              </a:rPr>
              <a:t>A.  Seulement au GPT personnalisé que tu as créé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26080"/>
            <a:ext cx="10881360" cy="530352"/>
          </a:xfrm>
          <a:prstGeom prst="round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999232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333333"/>
                </a:solidFill>
                <a:latin typeface="Bricolage Grotesque"/>
              </a:rPr>
              <a:t>B.  À toutes tes conversations, sauf tes GPT personnalisés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566160"/>
            <a:ext cx="10881360" cy="530352"/>
          </a:xfrm>
          <a:prstGeom prst="round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639312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333333"/>
                </a:solidFill>
                <a:latin typeface="Bricolage Grotesque"/>
              </a:rPr>
              <a:t>C.  Seulement à la conversation en cours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Quiz · Question 1 /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Bricolage Grotesque"/>
              </a:rPr>
              <a:t>Les instructions personnalisées de ChatGPT s'appliquent…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86000"/>
            <a:ext cx="10881360" cy="530352"/>
          </a:xfrm>
          <a:prstGeom prst="round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359152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333333"/>
                </a:solidFill>
                <a:latin typeface="Bricolage Grotesque"/>
              </a:rPr>
              <a:t>A.  Seulement au GPT personnalisé que tu as créé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26080"/>
            <a:ext cx="10881360" cy="530352"/>
          </a:xfrm>
          <a:prstGeom prst="round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999232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333333"/>
                </a:solidFill>
                <a:latin typeface="Bricolage Grotesque"/>
              </a:rPr>
              <a:t>B.  À toutes tes conversations, sauf tes GPT personnalisés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566160"/>
            <a:ext cx="10881360" cy="530352"/>
          </a:xfrm>
          <a:prstGeom prst="round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639312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333333"/>
                </a:solidFill>
                <a:latin typeface="Bricolage Grotesque"/>
              </a:rPr>
              <a:t>C.  Seulement à la conversation en cours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343400"/>
            <a:ext cx="10881360" cy="1051560"/>
          </a:xfrm>
          <a:prstGeom prst="roundRect">
            <a:avLst/>
          </a:prstGeom>
          <a:solidFill>
            <a:srgbClr val="1B5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434840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Bricolage Grotesque"/>
              </a:rPr>
              <a:t>B. C'est l'équivalent de tes Instructions pour Claude 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864607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Bricolage Grotesque"/>
              </a:rPr>
              <a:t>ce qui vaut partout, court, sans règle de tâche.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Quiz · Question 2 /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Bricolage Grotesque"/>
              </a:rPr>
              <a:t>Deep Research, par rapport à une recherche web classique…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86000"/>
            <a:ext cx="10881360" cy="530352"/>
          </a:xfrm>
          <a:prstGeom prst="round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359152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333333"/>
                </a:solidFill>
                <a:latin typeface="Bricolage Grotesque"/>
              </a:rPr>
              <a:t>A.  Va plus vite, sur moins de pages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26080"/>
            <a:ext cx="10881360" cy="530352"/>
          </a:xfrm>
          <a:prstGeom prst="round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999232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333333"/>
                </a:solidFill>
                <a:latin typeface="Bricolage Grotesque"/>
              </a:rPr>
              <a:t>B.  Agit comme un agent : des centaines de pages, il clique, il creuse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566160"/>
            <a:ext cx="10881360" cy="530352"/>
          </a:xfrm>
          <a:prstGeom prst="round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639312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333333"/>
                </a:solidFill>
                <a:latin typeface="Bricolage Grotesque"/>
              </a:rPr>
              <a:t>C.  Ne cite pas ses sources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Quiz · Question 2 /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Bricolage Grotesque"/>
              </a:rPr>
              <a:t>Deep Research, par rapport à une recherche web classique…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86000"/>
            <a:ext cx="10881360" cy="530352"/>
          </a:xfrm>
          <a:prstGeom prst="round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359152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333333"/>
                </a:solidFill>
                <a:latin typeface="Bricolage Grotesque"/>
              </a:rPr>
              <a:t>A.  Va plus vite, sur moins de pages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26080"/>
            <a:ext cx="10881360" cy="530352"/>
          </a:xfrm>
          <a:prstGeom prst="round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999232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333333"/>
                </a:solidFill>
                <a:latin typeface="Bricolage Grotesque"/>
              </a:rPr>
              <a:t>B.  Agit comme un agent : des centaines de pages, il clique, il creuse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566160"/>
            <a:ext cx="10881360" cy="530352"/>
          </a:xfrm>
          <a:prstGeom prst="round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639312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333333"/>
                </a:solidFill>
                <a:latin typeface="Bricolage Grotesque"/>
              </a:rPr>
              <a:t>C.  Ne cite pas ses sources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343400"/>
            <a:ext cx="10881360" cy="1051560"/>
          </a:xfrm>
          <a:prstGeom prst="roundRect">
            <a:avLst/>
          </a:prstGeom>
          <a:solidFill>
            <a:srgbClr val="1B5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434840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Bricolage Grotesque"/>
              </a:rPr>
              <a:t>B. Idéal pour des données objectives : un marché, des chiffres, des dispositifs.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864607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Bricolage Grotesque"/>
              </a:rPr>
              <a:t>Pour ton métier : un panorama des financements d'un bilan, par exemple.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Quiz · Question 3 /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Bricolage Grotesque"/>
              </a:rPr>
              <a:t>Midjourney : garder le même style sur 20 visuels, avec…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86000"/>
            <a:ext cx="10881360" cy="530352"/>
          </a:xfrm>
          <a:prstGeom prst="round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359152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333333"/>
                </a:solidFill>
                <a:latin typeface="Bricolage Grotesque"/>
              </a:rPr>
              <a:t>A.  Le même prompt, copié à chaque fois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26080"/>
            <a:ext cx="10881360" cy="530352"/>
          </a:xfrm>
          <a:prstGeom prst="round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999232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333333"/>
                </a:solidFill>
                <a:latin typeface="Bricolage Grotesque"/>
              </a:rPr>
              <a:t>B.  Un moodboard : quelques images de référence de ton style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566160"/>
            <a:ext cx="10881360" cy="530352"/>
          </a:xfrm>
          <a:prstGeom prst="round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639312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333333"/>
                </a:solidFill>
                <a:latin typeface="Bricolage Grotesque"/>
              </a:rPr>
              <a:t>C.  Le nom d'un artiste dans le prompt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Quiz · Question 3 /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Bricolage Grotesque"/>
              </a:rPr>
              <a:t>Midjourney : garder le même style sur 20 visuels, avec…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86000"/>
            <a:ext cx="10881360" cy="530352"/>
          </a:xfrm>
          <a:prstGeom prst="round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359152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333333"/>
                </a:solidFill>
                <a:latin typeface="Bricolage Grotesque"/>
              </a:rPr>
              <a:t>A.  Le même prompt, copié à chaque fois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26080"/>
            <a:ext cx="10881360" cy="530352"/>
          </a:xfrm>
          <a:prstGeom prst="round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999232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333333"/>
                </a:solidFill>
                <a:latin typeface="Bricolage Grotesque"/>
              </a:rPr>
              <a:t>B.  Un moodboard : quelques images de référence de ton style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566160"/>
            <a:ext cx="10881360" cy="530352"/>
          </a:xfrm>
          <a:prstGeom prst="round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639312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333333"/>
                </a:solidFill>
                <a:latin typeface="Bricolage Grotesque"/>
              </a:rPr>
              <a:t>C.  Le nom d'un artiste dans le prompt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343400"/>
            <a:ext cx="10881360" cy="1051560"/>
          </a:xfrm>
          <a:prstGeom prst="roundRect">
            <a:avLst/>
          </a:prstGeom>
          <a:solidFill>
            <a:srgbClr val="1B5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434840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Bricolage Grotesque"/>
              </a:rPr>
              <a:t>B. Le moodboard porte la direction artistique : tes prompts restent courts.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864607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Bricolage Grotesque"/>
              </a:rPr>
              <a:t>Le nom d'un artiste : souvent bloqué, et pas ton style à toi.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Quiz · Question 4 /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Bricolage Grotesque"/>
              </a:rPr>
              <a:t>Séance 2 : un fichier vivant, tu le donnes à Claude…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86000"/>
            <a:ext cx="10881360" cy="530352"/>
          </a:xfrm>
          <a:prstGeom prst="round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359152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333333"/>
                </a:solidFill>
                <a:latin typeface="Bricolage Grotesque"/>
              </a:rPr>
              <a:t>A.  En le téléversant à nouveau chaque lundi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26080"/>
            <a:ext cx="10881360" cy="530352"/>
          </a:xfrm>
          <a:prstGeom prst="round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999232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333333"/>
                </a:solidFill>
                <a:latin typeface="Bricolage Grotesque"/>
              </a:rPr>
              <a:t>B.  En le laissant dans Drive : Claude le lit à la source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566160"/>
            <a:ext cx="10881360" cy="530352"/>
          </a:xfrm>
          <a:prstGeom prst="round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639312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333333"/>
                </a:solidFill>
                <a:latin typeface="Bricolage Grotesque"/>
              </a:rPr>
              <a:t>C.  En le recopiant dans les instructions du projet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Quiz · Question 4 /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Bricolage Grotesque"/>
              </a:rPr>
              <a:t>Séance 2 : un fichier vivant, tu le donnes à Claude…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86000"/>
            <a:ext cx="10881360" cy="530352"/>
          </a:xfrm>
          <a:prstGeom prst="round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359152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333333"/>
                </a:solidFill>
                <a:latin typeface="Bricolage Grotesque"/>
              </a:rPr>
              <a:t>A.  En le téléversant à nouveau chaque lundi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26080"/>
            <a:ext cx="10881360" cy="530352"/>
          </a:xfrm>
          <a:prstGeom prst="round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999232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333333"/>
                </a:solidFill>
                <a:latin typeface="Bricolage Grotesque"/>
              </a:rPr>
              <a:t>B.  En le laissant dans Drive : Claude le lit à la source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566160"/>
            <a:ext cx="10881360" cy="530352"/>
          </a:xfrm>
          <a:prstGeom prst="round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639312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333333"/>
                </a:solidFill>
                <a:latin typeface="Bricolage Grotesque"/>
              </a:rPr>
              <a:t>C.  En le recopiant dans les instructions du projet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343400"/>
            <a:ext cx="10881360" cy="1051560"/>
          </a:xfrm>
          <a:prstGeom prst="roundRect">
            <a:avLst/>
          </a:prstGeom>
          <a:solidFill>
            <a:srgbClr val="1B5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434840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Bricolage Grotesque"/>
              </a:rPr>
              <a:t>B. Et c'est exactement le cas des réponses de tes coachés 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864607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Bricolage Grotesque"/>
              </a:rPr>
              <a:t>elles arrivent dans un tableur, Claude va les lire là où elles sont.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1965960"/>
            <a:ext cx="2743200" cy="36576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8A000"/>
                </a:solidFill>
                <a:latin typeface="Bricolage Grotesque"/>
              </a:rPr>
              <a:t>Séquence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Bricolage Grotesque"/>
              </a:rPr>
              <a:t>Tes devoirs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0233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5A8A8F"/>
                </a:solidFill>
                <a:latin typeface="Bricolage Grotesque"/>
              </a:rPr>
              <a:t>Partage d'écran : tu me montres</a:t>
            </a:r>
          </a:p>
        </p:txBody>
      </p:sp>
      <p:pic>
        <p:nvPicPr>
          <p:cNvPr id="7" name="Picture 6" descr="ia-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217920"/>
            <a:ext cx="320040" cy="3200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68680" y="619963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Bricolage Grotesque"/>
              </a:rPr>
              <a:t>intelligence academy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Tes devoirs : tu me montres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1.  Ton organisation : ce qui est en place, ce qui reste à faire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7568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2.  Tes instructions, Claude et ChatGPT : on les relit ensemble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Tes devoirs : tu me montres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1.  Ton organisation : ce qui est en place, ce qui reste à faire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7568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2.  Tes instructions, Claude et ChatGPT : on les relit ensemble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3464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3.  Ton 2e skill, préparation et compte rendu : un test en direct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5584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4.  Ton outil d'autocoaching, tel qu'il est aujourd'hui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1965960"/>
            <a:ext cx="2743200" cy="36576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8A000"/>
                </a:solidFill>
                <a:latin typeface="Bricolage Grotesque"/>
              </a:rPr>
              <a:t>Séquence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Bricolage Grotesque"/>
              </a:rPr>
              <a:t>De l'artefact à la plateforme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0233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5A8A8F"/>
                </a:solidFill>
                <a:latin typeface="Bricolage Grotesque"/>
              </a:rPr>
              <a:t>Quatre marches, une question : jusqu'où monter ?</a:t>
            </a:r>
          </a:p>
        </p:txBody>
      </p:sp>
      <p:pic>
        <p:nvPicPr>
          <p:cNvPr id="7" name="Picture 6" descr="ia-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217920"/>
            <a:ext cx="320040" cy="3200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68680" y="619963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Bricolage Grotesque"/>
              </a:rPr>
              <a:t>intelligence academy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Interface ou plateforme 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Bricolage Grotesque"/>
              </a:rPr>
              <a:t>Ta question, la réponse en une slide</a:t>
            </a:r>
          </a:p>
        </p:txBody>
      </p:sp>
      <p:sp>
        <p:nvSpPr>
          <p:cNvPr id="6" name="Rectangle 5"/>
          <p:cNvSpPr/>
          <p:nvPr/>
        </p:nvSpPr>
        <p:spPr>
          <a:xfrm>
            <a:off x="5897880" y="2286000"/>
            <a:ext cx="27432" cy="2450592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1B5E6B"/>
                </a:solidFill>
                <a:latin typeface="Bricolage Grotesque"/>
              </a:rPr>
              <a:t>Une interface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8036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33333"/>
                </a:solidFill>
                <a:latin typeface="Bricolage Grotesque"/>
              </a:rPr>
              <a:t>Une porte d'entrée : une page, un lien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55848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33333"/>
                </a:solidFill>
                <a:latin typeface="Bricolage Grotesque"/>
              </a:rPr>
              <a:t>Le coaché remplit, tu reçois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831335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33333"/>
                </a:solidFill>
                <a:latin typeface="Bricolage Grotesque"/>
              </a:rPr>
              <a:t>Pas de compte, pas d'historique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306823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33333"/>
                </a:solidFill>
                <a:latin typeface="Bricolage Grotesque"/>
              </a:rPr>
              <a:t>Ex. : ton check-up en ligne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22860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1B5E6B"/>
                </a:solidFill>
                <a:latin typeface="Bricolage Grotesque"/>
              </a:rPr>
              <a:t>Une plateforme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288036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33333"/>
                </a:solidFill>
                <a:latin typeface="Bricolage Grotesque"/>
              </a:rPr>
              <a:t>Des comptes : chacun se connecte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3355848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33333"/>
                </a:solidFill>
                <a:latin typeface="Bricolage Grotesque"/>
              </a:rPr>
              <a:t>Un espace par coaché, à lui seul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3831335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33333"/>
                </a:solidFill>
                <a:latin typeface="Bricolage Grotesque"/>
              </a:rPr>
              <a:t>Son historique : réponses, synthèses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4306823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33333"/>
                </a:solidFill>
                <a:latin typeface="Bricolage Grotesque"/>
              </a:rPr>
              <a:t>Ex. : ton espace de suivi de coaching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919472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8A000"/>
                </a:solidFill>
                <a:latin typeface="Bricolage Grotesque"/>
              </a:rPr>
              <a:t>Une plateforme = des interfaces + des comptes + une mémoire par coaché.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Ton outil, en quatre temps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Bricolage Grotesque"/>
              </a:rPr>
              <a:t>Ce que fait ton check-up, quel que soit l'outil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743200"/>
            <a:ext cx="2331720" cy="777240"/>
          </a:xfrm>
          <a:prstGeom prst="roundRect">
            <a:avLst/>
          </a:prstGeom>
          <a:solidFill>
            <a:srgbClr val="1B5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907792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Bricolage Grotesque"/>
              </a:rPr>
              <a:t>1. Le coaché
répond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08376" y="2926080"/>
            <a:ext cx="3108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E8A000"/>
                </a:solidFill>
                <a:latin typeface="Bricolage Grotesque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55848" y="2743200"/>
            <a:ext cx="2331720" cy="777240"/>
          </a:xfrm>
          <a:prstGeom prst="roundRect">
            <a:avLst/>
          </a:prstGeom>
          <a:solidFill>
            <a:srgbClr val="1E5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47288" y="2907792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Bricolage Grotesque"/>
              </a:rPr>
              <a:t>2. Ses réponses
sont rangées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24144" y="2926080"/>
            <a:ext cx="3108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E8A000"/>
                </a:solidFill>
                <a:latin typeface="Bricolage Grotesque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71616" y="2743200"/>
            <a:ext cx="2331720" cy="777240"/>
          </a:xfrm>
          <a:prstGeom prst="roundRect">
            <a:avLst/>
          </a:prstGeom>
          <a:solidFill>
            <a:srgbClr val="1B5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63056" y="2907792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Bricolage Grotesque"/>
              </a:rPr>
              <a:t>3. L'IA
analyse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39912" y="2926080"/>
            <a:ext cx="3108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E8A000"/>
                </a:solidFill>
                <a:latin typeface="Bricolage Grotesque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87384" y="2743200"/>
            <a:ext cx="2331720" cy="777240"/>
          </a:xfrm>
          <a:prstGeom prst="roundRect">
            <a:avLst/>
          </a:prstGeom>
          <a:solidFill>
            <a:srgbClr val="1E5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78824" y="2907792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Bricolage Grotesque"/>
              </a:rPr>
              <a:t>4. Tu relis,
tu restitues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1148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5E6B"/>
                </a:solidFill>
                <a:latin typeface="Bricolage Grotesque"/>
              </a:rPr>
              <a:t>Chaque marche de l'échelle fait ces quatre temps, mais pas au même endroit.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De l'artefact à la plateforme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4160520"/>
            <a:ext cx="6766560" cy="786384"/>
          </a:xfrm>
          <a:prstGeom prst="roundRect">
            <a:avLst/>
          </a:prstGeom>
          <a:solidFill>
            <a:srgbClr val="1B5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4197096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Bricolage Grotesque"/>
              </a:rPr>
              <a:t>1.  Artefact Claude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4544568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Bricolage Grotesque"/>
              </a:rPr>
              <a:t>Le coaché ouvre ton lien avec son propre compte Claude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11680" y="3264408"/>
            <a:ext cx="6766560" cy="786384"/>
          </a:xfrm>
          <a:prstGeom prst="roundRect">
            <a:avLst/>
          </a:prstGeom>
          <a:solidFill>
            <a:srgbClr val="1E5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94560" y="3300984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Bricolage Grotesque"/>
              </a:rPr>
              <a:t>2.  Formulaire + tableur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3648456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Bricolage Grotesque"/>
              </a:rPr>
              <a:t>Lien ouvert à tous, réponses rangées dans un Google Sheets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2368296"/>
            <a:ext cx="6766560" cy="786384"/>
          </a:xfrm>
          <a:prstGeom prst="roundRect">
            <a:avLst/>
          </a:prstGeom>
          <a:solidFill>
            <a:srgbClr val="1B5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2404872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Bricolage Grotesque"/>
              </a:rPr>
              <a:t>3.  Interface hébergée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2752344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Bricolage Grotesque"/>
              </a:rPr>
              <a:t>Ton outil à ton image, en ligne, sans compte à créer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54880" y="1472184"/>
            <a:ext cx="6766560" cy="786384"/>
          </a:xfrm>
          <a:prstGeom prst="roundRect">
            <a:avLst/>
          </a:prstGeom>
          <a:solidFill>
            <a:srgbClr val="1E5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37760" y="15087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Bricolage Grotesque"/>
              </a:rPr>
              <a:t>4.  Plateforme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1856231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Bricolage Grotesque"/>
              </a:rPr>
              <a:t>Des comptes, un espace et un historique par coaché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150876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A000"/>
                </a:solidFill>
                <a:latin typeface="Bricolage Grotesque"/>
              </a:rPr>
              <a:t>↑  PLUS COMPLET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1874519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A8A8F"/>
                </a:solidFill>
                <a:latin typeface="Bricolage Grotesque"/>
              </a:rPr>
              <a:t>plus de travail, plus de coût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02920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5E6B"/>
                </a:solidFill>
                <a:latin typeface="Bricolage Grotesque"/>
              </a:rPr>
              <a:t>On monte d'une marche seulement quand la précédente ne suffit plus.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Marche 1 : ton artefact aujourd'hui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Bricolage Grotesque"/>
              </a:rPr>
              <a:t>Ce que dit l'aide Claude, à jour d'octobre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Partager : bouton Share › « Only you » ou « Anyone with the link ».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5292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33333"/>
                </a:solidFill>
                <a:latin typeface="Bricolage Grotesque"/>
              </a:rPr>
              <a:t>Le coaché doit avoir un compte Claude, même gratuit, même avec le lien.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Marche 1 : ton artefact aujourd'hui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Bricolage Grotesque"/>
              </a:rPr>
              <a:t>Ce que dit l'aide Claude, à jour d'octobre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Partager : bouton Share › « Only you » ou « Anyone with the link ».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5292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33333"/>
                </a:solidFill>
                <a:latin typeface="Bricolage Grotesque"/>
              </a:rPr>
              <a:t>Le coaché doit avoir un compte Claude, même gratuit, même avec le lien.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1188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S'il appelle Claude, l'IA tourne sur le forfait de la personne.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3308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Stockage : 20 Mo de texte, personnel ou partagé avec tous.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Marche 1 : ton artefact aujourd'hui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Bricolage Grotesque"/>
              </a:rPr>
              <a:t>Ce que dit l'aide Claude, à jour d'octobre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Partager : bouton Share › « Only you » ou « Anyone with the link ».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5292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33333"/>
                </a:solidFill>
                <a:latin typeface="Bricolage Grotesque"/>
              </a:rPr>
              <a:t>Le coaché doit avoir un compte Claude, même gratuit, même avec le lien.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1188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S'il appelle Claude, l'IA tourne sur le forfait de la personne.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3308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Stockage : 20 Mo de texte, personnel ou partagé avec tous.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89204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E8A000"/>
                </a:solidFill>
                <a:latin typeface="Bricolage Grotesque"/>
              </a:rPr>
              <a:t>« Récupérer les réponses de tous : rien de prévu dans l'aide Claude »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Les 4 marches, côte à côte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63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5E6B"/>
                </a:solidFill>
                <a:latin typeface="Bricolage Grotesque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46120" y="1463040"/>
            <a:ext cx="19202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5E6B"/>
                </a:solidFill>
                <a:latin typeface="Bricolage Grotesque"/>
              </a:rPr>
              <a:t>1. Artefact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49240" y="1463040"/>
            <a:ext cx="19202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5E6B"/>
                </a:solidFill>
                <a:latin typeface="Bricolage Grotesque"/>
              </a:rPr>
              <a:t>2. Formulaire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52360" y="1463040"/>
            <a:ext cx="19202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5E6B"/>
                </a:solidFill>
                <a:latin typeface="Bricolage Grotesque"/>
              </a:rPr>
              <a:t>3. Interface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55480" y="1463040"/>
            <a:ext cx="19202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5E6B"/>
                </a:solidFill>
                <a:latin typeface="Bricolage Grotesque"/>
              </a:rPr>
              <a:t>4. Plateforme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874520"/>
            <a:ext cx="10881360" cy="27432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65960"/>
            <a:ext cx="10881360" cy="45720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020824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Bricolage Grotesque"/>
              </a:rPr>
              <a:t>Compte du coaché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2020824"/>
            <a:ext cx="19202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Bricolage Grotesque"/>
              </a:rPr>
              <a:t>Claude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49240" y="2020824"/>
            <a:ext cx="19202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Bricolage Grotesque"/>
              </a:rPr>
              <a:t>Aucun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52360" y="2020824"/>
            <a:ext cx="19202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Bricolage Grotesque"/>
              </a:rPr>
              <a:t>Aucun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55480" y="2020824"/>
            <a:ext cx="19202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Bricolage Grotesque"/>
              </a:rPr>
              <a:t>Créé chez toi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2478024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Bricolage Grotesque"/>
              </a:rPr>
              <a:t>Ses réponses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46120" y="2478024"/>
            <a:ext cx="19202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Bricolage Grotesque"/>
              </a:rPr>
              <a:t>Dans l'artefact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49240" y="2478024"/>
            <a:ext cx="19202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Bricolage Grotesque"/>
              </a:rPr>
              <a:t>Google Sheets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2360" y="2478024"/>
            <a:ext cx="19202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Bricolage Grotesque"/>
              </a:rPr>
              <a:t>Ta base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55480" y="2478024"/>
            <a:ext cx="19202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Bricolage Grotesque"/>
              </a:rPr>
              <a:t>Ta base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2880360"/>
            <a:ext cx="10881360" cy="45720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2935224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Bricolage Grotesque"/>
              </a:rPr>
              <a:t>L'IA tourne sur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46120" y="2935224"/>
            <a:ext cx="19202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Bricolage Grotesque"/>
              </a:rPr>
              <a:t>Son forfait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49240" y="2935224"/>
            <a:ext cx="19202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Bricolage Grotesque"/>
              </a:rPr>
              <a:t>Ton Claude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52360" y="2935224"/>
            <a:ext cx="19202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Bricolage Grotesque"/>
              </a:rPr>
              <a:t>Une clé API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55480" y="2935224"/>
            <a:ext cx="19202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Bricolage Grotesque"/>
              </a:rPr>
              <a:t>Une clé API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3392424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Bricolage Grotesque"/>
              </a:rPr>
              <a:t>Coût pour toi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46120" y="3392424"/>
            <a:ext cx="19202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Bricolage Grotesque"/>
              </a:rPr>
              <a:t>Inclus (Pro)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49240" y="3392424"/>
            <a:ext cx="19202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Bricolage Grotesque"/>
              </a:rPr>
              <a:t>Gratuit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52360" y="3392424"/>
            <a:ext cx="19202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Bricolage Grotesque"/>
              </a:rPr>
              <a:t>~5 €/mois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55480" y="3392424"/>
            <a:ext cx="19202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Bricolage Grotesque"/>
              </a:rPr>
              <a:t>Abonnement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3794760"/>
            <a:ext cx="10881360" cy="45720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" y="3849624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Bricolage Grotesque"/>
              </a:rPr>
              <a:t>Qui le construit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46120" y="3849624"/>
            <a:ext cx="19202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Bricolage Grotesque"/>
              </a:rPr>
              <a:t>Toi + Claude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49240" y="3849624"/>
            <a:ext cx="19202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Bricolage Grotesque"/>
              </a:rPr>
              <a:t>Toi, 20 min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52360" y="3849624"/>
            <a:ext cx="19202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Bricolage Grotesque"/>
              </a:rPr>
              <a:t>Claude Code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55480" y="3849624"/>
            <a:ext cx="19202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Bricolage Grotesque"/>
              </a:rPr>
              <a:t>Outil no-code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448056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B5E6B"/>
                </a:solidFill>
                <a:latin typeface="Bricolage Grotesque"/>
              </a:rPr>
              <a:t>Aujourd'hui : la marche 2. La 3 et la 4 se décident en Pratique 2.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Les données de tes coachés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Bricolage Grotesque"/>
              </a:rPr>
              <a:t>L'usage responsable, avant la technique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Dis ce que tu collectes et pourquoi : une phrase en tête du formulaire.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5292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Demande l'accord : c'est la première question, obligatoire.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Les données de tes coachés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Bricolage Grotesque"/>
              </a:rPr>
              <a:t>L'usage responsable, avant la technique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Dis ce que tu collectes et pourquoi : une phrase en tête du formulaire.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5292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Demande l'accord : c'est la première question, obligatoire.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1188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Ne demande que le nécessaire : pas de santé, pas de nom complet.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3308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Avant Claude, un code à la place du nom : « C-01 », « C-02 ».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Les données de tes coachés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Bricolage Grotesque"/>
              </a:rPr>
              <a:t>L'usage responsable, avant la technique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Dis ce que tu collectes et pourquoi : une phrase en tête du formulaire.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5292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Demande l'accord : c'est la première question, obligatoire.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1188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Ne demande que le nécessaire : pas de santé, pas de nom complet.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3308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Avant Claude, un code à la place du nom : « C-01 », « C-02 ».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89204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E8A000"/>
                </a:solidFill>
                <a:latin typeface="Bricolage Grotesque"/>
              </a:rPr>
              <a:t>« Rien ne part au coaché sans ta relecture »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E8A000"/>
                </a:solidFill>
                <a:latin typeface="Bricolage Grotesque"/>
              </a:rPr>
              <a:t>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A8A8F"/>
                </a:solidFill>
                <a:latin typeface="Bricolage Grotesque"/>
              </a:rPr>
              <a:t>De l'artefact à la plateforme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286000"/>
            <a:ext cx="2743200" cy="27432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651760"/>
            <a:ext cx="108813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sz="2000">
                <a:solidFill>
                  <a:srgbClr val="FFFFFF"/>
                </a:solidFill>
                <a:latin typeface="Bricolage Grotesque"/>
              </a:rPr>
              <a:t>1.  Interface = une porte d'entrée. Plateforme = des comptes et un suivi.</a:t>
            </a:r>
          </a:p>
          <a:p>
            <a:pPr>
              <a:spcBef>
                <a:spcPts val="1200"/>
              </a:spcBef>
            </a:pPr>
            <a:r>
              <a:rPr sz="2000">
                <a:solidFill>
                  <a:srgbClr val="FFFFFF"/>
                </a:solidFill>
                <a:latin typeface="Bricolage Grotesque"/>
              </a:rPr>
              <a:t>2.  Ton artefact : idéal pour toi, pas pour collecter chez des coachés.</a:t>
            </a:r>
          </a:p>
          <a:p>
            <a:pPr>
              <a:spcBef>
                <a:spcPts val="1200"/>
              </a:spcBef>
            </a:pPr>
            <a:r>
              <a:rPr sz="2000">
                <a:solidFill>
                  <a:srgbClr val="FFFFFF"/>
                </a:solidFill>
                <a:latin typeface="Bricolage Grotesque"/>
              </a:rPr>
              <a:t>3.  Formulaire + tableur : le bon outil pour ton check-up, dès aujourd'hui.</a:t>
            </a:r>
          </a:p>
          <a:p>
            <a:pPr>
              <a:spcBef>
                <a:spcPts val="1200"/>
              </a:spcBef>
            </a:pPr>
            <a:r>
              <a:rPr sz="2000">
                <a:solidFill>
                  <a:srgbClr val="FFFFFF"/>
                </a:solidFill>
                <a:latin typeface="Bricolage Grotesque"/>
              </a:rPr>
              <a:t>4.  On monte d'une marche seulement quand la précédente ne suffit plus.</a:t>
            </a:r>
          </a:p>
          <a:p>
            <a:pPr>
              <a:spcBef>
                <a:spcPts val="1200"/>
              </a:spcBef>
            </a:pPr>
            <a:r>
              <a:rPr sz="2000">
                <a:solidFill>
                  <a:srgbClr val="FFFFFF"/>
                </a:solidFill>
                <a:latin typeface="Bricolage Grotesque"/>
              </a:rPr>
              <a:t>5.  Les données d'abord : accord, minimum, code à la place du nom.</a:t>
            </a:r>
          </a:p>
        </p:txBody>
      </p:sp>
      <p:pic>
        <p:nvPicPr>
          <p:cNvPr id="7" name="Picture 6" descr="ia-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355080"/>
            <a:ext cx="320040" cy="3200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68680" y="633679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Bricolage Grotesque"/>
              </a:rPr>
              <a:t>intelligence academy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1965960"/>
            <a:ext cx="2743200" cy="36576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8A000"/>
                </a:solidFill>
                <a:latin typeface="Bricolage Grotesque"/>
              </a:rPr>
              <a:t>Séquence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Bricolage Grotesque"/>
              </a:rPr>
              <a:t>Pratique 1 : ton check-up en service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0233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5A8A8F"/>
                </a:solidFill>
                <a:latin typeface="Bricolage Grotesque"/>
              </a:rPr>
              <a:t>Deux parties : le formulaire, puis la cartographie</a:t>
            </a:r>
          </a:p>
        </p:txBody>
      </p:sp>
      <p:pic>
        <p:nvPicPr>
          <p:cNvPr id="7" name="Picture 6" descr="ia-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217920"/>
            <a:ext cx="320040" cy="3200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68680" y="619963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Bricolage Grotesque"/>
              </a:rPr>
              <a:t>intelligence academy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Pratique 1 · Le circuit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Bricolage Grotesque"/>
              </a:rPr>
              <a:t>Ce que tu auras construit dans 40 minutes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743200"/>
            <a:ext cx="2331720" cy="777240"/>
          </a:xfrm>
          <a:prstGeom prst="roundRect">
            <a:avLst/>
          </a:prstGeom>
          <a:solidFill>
            <a:srgbClr val="1B5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907792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Bricolage Grotesque"/>
              </a:rPr>
              <a:t>Google Forms
le coaché répond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08376" y="2926080"/>
            <a:ext cx="3108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E8A000"/>
                </a:solidFill>
                <a:latin typeface="Bricolage Grotesque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55848" y="2743200"/>
            <a:ext cx="2331720" cy="777240"/>
          </a:xfrm>
          <a:prstGeom prst="roundRect">
            <a:avLst/>
          </a:prstGeom>
          <a:solidFill>
            <a:srgbClr val="1E5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47288" y="2907792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Bricolage Grotesque"/>
              </a:rPr>
              <a:t>Google Sheets
une ligne par coaché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24144" y="2926080"/>
            <a:ext cx="3108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E8A000"/>
                </a:solidFill>
                <a:latin typeface="Bricolage Grotesque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71616" y="2743200"/>
            <a:ext cx="2331720" cy="777240"/>
          </a:xfrm>
          <a:prstGeom prst="roundRect">
            <a:avLst/>
          </a:prstGeom>
          <a:solidFill>
            <a:srgbClr val="1B5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63056" y="2907792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Bricolage Grotesque"/>
              </a:rPr>
              <a:t>Claude + Drive
lit la ligne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39912" y="2926080"/>
            <a:ext cx="3108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E8A000"/>
                </a:solidFill>
                <a:latin typeface="Bricolage Grotesque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87384" y="2743200"/>
            <a:ext cx="2331720" cy="777240"/>
          </a:xfrm>
          <a:prstGeom prst="roundRect">
            <a:avLst/>
          </a:prstGeom>
          <a:solidFill>
            <a:srgbClr val="1E5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78824" y="2907792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Bricolage Grotesque"/>
              </a:rPr>
              <a:t>Skill Cartographie
rédige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160520"/>
            <a:ext cx="2331720" cy="777240"/>
          </a:xfrm>
          <a:prstGeom prst="roundRect">
            <a:avLst/>
          </a:prstGeom>
          <a:solidFill>
            <a:srgbClr val="1B5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325112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Bricolage Grotesque"/>
              </a:rPr>
              <a:t>Toi
tu relis, tu envoies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0292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5E6B"/>
                </a:solidFill>
                <a:latin typeface="Bricolage Grotesque"/>
              </a:rPr>
              <a:t>Partie A (20 min) : les deux premières boîtes. Partie B (20 min) : les trois suivantes.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Pratique 1 · Partie A : le formulaire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881360" cy="1143000"/>
          </a:xfrm>
          <a:prstGeom prst="round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08760"/>
            <a:ext cx="40233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A000"/>
                </a:solidFill>
                <a:latin typeface="Bricolage Grotesque"/>
              </a:rPr>
              <a:t>OBJECTIF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810512"/>
            <a:ext cx="402335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Bricolage Grotesque"/>
              </a:rPr>
              <a:t>Ton check-up rempli sans compte, les réponses rangées.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74920" y="150876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A000"/>
                </a:solidFill>
                <a:latin typeface="Bricolage Grotesque"/>
              </a:rPr>
              <a:t>LIVRABLE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74920" y="1810512"/>
            <a:ext cx="4389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Bricolage Grotesque"/>
              </a:rPr>
              <a:t>Un Google Form relié à un Google Sheets, testé une fois.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46920" y="150876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A000"/>
                </a:solidFill>
                <a:latin typeface="Bricolage Grotesque"/>
              </a:rPr>
              <a:t>DURÉE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46920" y="1810512"/>
            <a:ext cx="1554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Bricolage Grotesque"/>
              </a:rPr>
              <a:t>20 minutes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83464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1B5E6B"/>
                </a:solidFill>
                <a:latin typeface="Bricolage Grotesque"/>
              </a:rPr>
              <a:t>1.  </a:t>
            </a:r>
            <a:r>
              <a:rPr sz="1900">
                <a:solidFill>
                  <a:srgbClr val="333333"/>
                </a:solidFill>
                <a:latin typeface="Bricolage Grotesque"/>
              </a:rPr>
              <a:t>Dans la conversation de ton artefact : coller le prompt A (chat).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35584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1B5E6B"/>
                </a:solidFill>
                <a:latin typeface="Bricolage Grotesque"/>
              </a:rPr>
              <a:t>2.  </a:t>
            </a:r>
            <a:r>
              <a:rPr sz="1900">
                <a:solidFill>
                  <a:srgbClr val="333333"/>
                </a:solidFill>
                <a:latin typeface="Bricolage Grotesque"/>
              </a:rPr>
              <a:t>Google Forms › Formulaire vierge : titre, puis l'intro de Claude.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877056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1B5E6B"/>
                </a:solidFill>
                <a:latin typeface="Bricolage Grotesque"/>
              </a:rPr>
              <a:t>3.  </a:t>
            </a:r>
            <a:r>
              <a:rPr sz="1900">
                <a:solidFill>
                  <a:srgbClr val="333333"/>
                </a:solidFill>
                <a:latin typeface="Bricolage Grotesque"/>
              </a:rPr>
              <a:t>Créer chaque question listée par Claude, avec le type proposé.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398264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1B5E6B"/>
                </a:solidFill>
                <a:latin typeface="Bricolage Grotesque"/>
              </a:rPr>
              <a:t>4.  </a:t>
            </a:r>
            <a:r>
              <a:rPr sz="1900">
                <a:solidFill>
                  <a:srgbClr val="333333"/>
                </a:solidFill>
                <a:latin typeface="Bricolage Grotesque"/>
              </a:rPr>
              <a:t>Onglet Réponses › Lier à Sheets : une ligne par réponse.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919472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1B5E6B"/>
                </a:solidFill>
                <a:latin typeface="Bricolage Grotesque"/>
              </a:rPr>
              <a:t>5.  </a:t>
            </a:r>
            <a:r>
              <a:rPr sz="1900">
                <a:solidFill>
                  <a:srgbClr val="333333"/>
                </a:solidFill>
                <a:latin typeface="Bricolage Grotesque"/>
              </a:rPr>
              <a:t>Remplir toi-même en coaché fictif C-01, vérifier la ligne dans Sheets.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Partie A · Le prompt, dans ton artefact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0F2B3A"/>
                </a:solidFill>
                <a:latin typeface="Consolas"/>
              </a:rPr>
              <a:t>Je veux transformer cet outil en Google Form. Liste 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7568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0F2B3A"/>
                </a:solidFill>
                <a:latin typeface="Consolas"/>
              </a:rPr>
              <a:t>questions dans l'ordre, avec le type Google Forms de chacune 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96896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0F2B3A"/>
                </a:solidFill>
                <a:latin typeface="Consolas"/>
              </a:rPr>
              <a:t>réponse courte, paragraphe, échelle, choix multiples, cases.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Partie A · Le prompt, dans ton artefact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0F2B3A"/>
                </a:solidFill>
                <a:latin typeface="Consolas"/>
              </a:rPr>
              <a:t>Je veux transformer cet outil en Google Form. Liste 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7568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0F2B3A"/>
                </a:solidFill>
                <a:latin typeface="Consolas"/>
              </a:rPr>
              <a:t>questions dans l'ordre, avec le type Google Forms de chacune 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96896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0F2B3A"/>
                </a:solidFill>
                <a:latin typeface="Consolas"/>
              </a:rPr>
              <a:t>réponse courte, paragraphe, échelle, choix multiples, cases.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5584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0F2B3A"/>
                </a:solidFill>
                <a:latin typeface="Consolas"/>
              </a:rPr>
              <a:t>Ajoute en tête « Ton code coaché » et une question d'accord.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877056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0F2B3A"/>
                </a:solidFill>
                <a:latin typeface="Consolas"/>
              </a:rPr>
              <a:t>Propose une phrase d'intro. N'invente aucune question.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Partie A · Les types de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Bricolage Grotesque"/>
              </a:rPr>
              <a:t>Un type par question, pour des réponses lisibles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Réponse courte : ton code coaché, un prénom, un poste.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5292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Paragraphe : « Qu'est-ce qui compte le plus pour toi au travail ? »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Partie A · Les types de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Bricolage Grotesque"/>
              </a:rPr>
              <a:t>Un type par question, pour des réponses lisibles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Réponse courte : ton code coaché, un prénom, un poste.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5292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Paragraphe : « Qu'est-ce qui compte le plus pour toi au travail ? 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1188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Échelle de 1 à 5 : ton niveau d'énergie, ta satisfaction.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3308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Choix multiples : une seule réponse possible.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54296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Cases à cocher : plusieurs réponses, tes valeurs par exemple.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Pratique 1 · Partie B : la cartographie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881360" cy="1143000"/>
          </a:xfrm>
          <a:prstGeom prst="round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08760"/>
            <a:ext cx="40233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A000"/>
                </a:solidFill>
                <a:latin typeface="Bricolage Grotesque"/>
              </a:rPr>
              <a:t>OBJECTIF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810512"/>
            <a:ext cx="402335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Bricolage Grotesque"/>
              </a:rPr>
              <a:t>Claude lit les réponses d'un coaché et rédige sa cartographie.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74920" y="150876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A000"/>
                </a:solidFill>
                <a:latin typeface="Bricolage Grotesque"/>
              </a:rPr>
              <a:t>LIVRABLE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74920" y="1810512"/>
            <a:ext cx="4389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Bricolage Grotesque"/>
              </a:rPr>
              <a:t>Ton skill « Cartographie », testé sur la réponse fictive.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46920" y="150876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A000"/>
                </a:solidFill>
                <a:latin typeface="Bricolage Grotesque"/>
              </a:rPr>
              <a:t>DURÉE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46920" y="1810512"/>
            <a:ext cx="1554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Bricolage Grotesque"/>
              </a:rPr>
              <a:t>20 minutes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83464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1B5E6B"/>
                </a:solidFill>
                <a:latin typeface="Bricolage Grotesque"/>
              </a:rPr>
              <a:t>1.  </a:t>
            </a:r>
            <a:r>
              <a:rPr sz="1900">
                <a:solidFill>
                  <a:srgbClr val="333333"/>
                </a:solidFill>
                <a:latin typeface="Bricolage Grotesque"/>
              </a:rPr>
              <a:t>Vérifier : Paramètres › Connecteurs › Google Drive est connecté.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35584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1B5E6B"/>
                </a:solidFill>
                <a:latin typeface="Bricolage Grotesque"/>
              </a:rPr>
              <a:t>2.  </a:t>
            </a:r>
            <a:r>
              <a:rPr sz="1900">
                <a:solidFill>
                  <a:srgbClr val="333333"/>
                </a:solidFill>
                <a:latin typeface="Bricolage Grotesque"/>
              </a:rPr>
              <a:t>Dans ton projet de coaching : coller le prompt B (chat), code C-01.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877056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1B5E6B"/>
                </a:solidFill>
                <a:latin typeface="Bricolage Grotesque"/>
              </a:rPr>
              <a:t>3.  </a:t>
            </a:r>
            <a:r>
              <a:rPr sz="1900">
                <a:solidFill>
                  <a:srgbClr val="333333"/>
                </a:solidFill>
                <a:latin typeface="Bricolage Grotesque"/>
              </a:rPr>
              <a:t>Juger le rendu : fidèle aux réponses ? au format de ta cartographie 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398264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1B5E6B"/>
                </a:solidFill>
                <a:latin typeface="Bricolage Grotesque"/>
              </a:rPr>
              <a:t>4.  </a:t>
            </a:r>
            <a:r>
              <a:rPr sz="1900">
                <a:solidFill>
                  <a:srgbClr val="333333"/>
                </a:solidFill>
                <a:latin typeface="Bricolage Grotesque"/>
              </a:rPr>
              <a:t>« On crée un skill à partir de ce rendu » : tu valides sa structure.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919472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1B5E6B"/>
                </a:solidFill>
                <a:latin typeface="Bricolage Grotesque"/>
              </a:rPr>
              <a:t>5.  </a:t>
            </a:r>
            <a:r>
              <a:rPr sz="1900">
                <a:solidFill>
                  <a:srgbClr val="333333"/>
                </a:solidFill>
                <a:latin typeface="Bricolage Grotesque"/>
              </a:rPr>
              <a:t>Le tester sur une 2e réponse fictive : tu corriges le skill, pas le texte.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Partie B · Le prompt, dans ton projet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0F2B3A"/>
                </a:solidFill>
                <a:latin typeface="Consolas"/>
              </a:rPr>
              <a:t>Dans mon Drive, ouvre le Google Sheets « Check-up - réponses 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7568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0F2B3A"/>
                </a:solidFill>
                <a:latin typeface="Consolas"/>
              </a:rPr>
              <a:t>Lis uniquement la ligne du code C-01.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96896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0F2B3A"/>
                </a:solidFill>
                <a:latin typeface="Consolas"/>
              </a:rPr>
              <a:t>Rédige sa cartographie selon ma trame : valeurs, talents,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18104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0F2B3A"/>
                </a:solidFill>
                <a:latin typeface="Consolas"/>
              </a:rPr>
              <a:t>motivations, freins, pistes d'évolution.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Partie B · Le prompt, dans ton projet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0F2B3A"/>
                </a:solidFill>
                <a:latin typeface="Consolas"/>
              </a:rPr>
              <a:t>Dans mon Drive, ouvre le Google Sheets « Check-up - réponses 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7568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0F2B3A"/>
                </a:solidFill>
                <a:latin typeface="Consolas"/>
              </a:rPr>
              <a:t>Lis uniquement la ligne du code C-01.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96896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0F2B3A"/>
                </a:solidFill>
                <a:latin typeface="Consolas"/>
              </a:rPr>
              <a:t>Rédige sa cartographie selon ma trame : valeurs, talents,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18104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0F2B3A"/>
                </a:solidFill>
                <a:latin typeface="Consolas"/>
              </a:rPr>
              <a:t>motivations, freins, pistes d'évolution.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877056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0F2B3A"/>
                </a:solidFill>
                <a:latin typeface="Consolas"/>
              </a:rPr>
              <a:t>Règles : rien d'inventé, cite la réponse qui fonde chaque point,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398264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0F2B3A"/>
                </a:solidFill>
                <a:latin typeface="Consolas"/>
              </a:rPr>
              <a:t>[À vérifier] sur chaque déduction.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E8A000"/>
                </a:solidFill>
                <a:latin typeface="Bricolage Grotesque"/>
              </a:rPr>
              <a:t>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A8A8F"/>
                </a:solidFill>
                <a:latin typeface="Bricolage Grotesque"/>
              </a:rPr>
              <a:t>Ton check-up en service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286000"/>
            <a:ext cx="2743200" cy="27432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651760"/>
            <a:ext cx="108813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sz="2000">
                <a:solidFill>
                  <a:srgbClr val="FFFFFF"/>
                </a:solidFill>
                <a:latin typeface="Bricolage Grotesque"/>
              </a:rPr>
              <a:t>1.  Un lien que tes coachés remplissent, sans compte.</a:t>
            </a:r>
          </a:p>
          <a:p>
            <a:pPr>
              <a:spcBef>
                <a:spcPts val="1200"/>
              </a:spcBef>
            </a:pPr>
            <a:r>
              <a:rPr sz="2000">
                <a:solidFill>
                  <a:srgbClr val="FFFFFF"/>
                </a:solidFill>
                <a:latin typeface="Bricolage Grotesque"/>
              </a:rPr>
              <a:t>2.  Une ligne par coaché, rangée seule dans ton Sheets.</a:t>
            </a:r>
          </a:p>
          <a:p>
            <a:pPr>
              <a:spcBef>
                <a:spcPts val="1200"/>
              </a:spcBef>
            </a:pPr>
            <a:r>
              <a:rPr sz="2000">
                <a:solidFill>
                  <a:srgbClr val="FFFFFF"/>
                </a:solidFill>
                <a:latin typeface="Bricolage Grotesque"/>
              </a:rPr>
              <a:t>3.  Claude lit la ligne à la source, avec un code à la place du nom.</a:t>
            </a:r>
          </a:p>
          <a:p>
            <a:pPr>
              <a:spcBef>
                <a:spcPts val="1200"/>
              </a:spcBef>
            </a:pPr>
            <a:r>
              <a:rPr sz="2000">
                <a:solidFill>
                  <a:srgbClr val="FFFFFF"/>
                </a:solidFill>
                <a:latin typeface="Bricolage Grotesque"/>
              </a:rPr>
              <a:t>4.  Ton skill Cartographie rédige, toi tu relis et tu restitues.</a:t>
            </a:r>
          </a:p>
        </p:txBody>
      </p:sp>
      <p:pic>
        <p:nvPicPr>
          <p:cNvPr id="7" name="Picture 6" descr="ia-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355080"/>
            <a:ext cx="320040" cy="3200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68680" y="633679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Bricolage Grotesque"/>
              </a:rPr>
              <a:t>intelligence academy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1965960"/>
            <a:ext cx="2743200" cy="36576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8A000"/>
                </a:solidFill>
                <a:latin typeface="Bricolage Grotesque"/>
              </a:rPr>
              <a:t>Séquence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Bricolage Grotesque"/>
              </a:rPr>
              <a:t>Pratique 2 : ta feuille de route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0233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5A8A8F"/>
                </a:solidFill>
                <a:latin typeface="Bricolage Grotesque"/>
              </a:rPr>
              <a:t>Jusqu'où monter, pour quels clients ?</a:t>
            </a:r>
          </a:p>
        </p:txBody>
      </p:sp>
      <p:pic>
        <p:nvPicPr>
          <p:cNvPr id="7" name="Picture 6" descr="ia-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217920"/>
            <a:ext cx="320040" cy="3200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68680" y="619963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Bricolage Grotesque"/>
              </a:rPr>
              <a:t>intelligence academy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Quelle marche pour quel besoin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7040880" cy="713232"/>
          </a:xfrm>
          <a:prstGeom prst="round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18488"/>
            <a:ext cx="6675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1A1A1A"/>
                </a:solidFill>
                <a:latin typeface="Bricolage Grotesque"/>
              </a:rPr>
              <a:t>Ton coaché a Claude, et tu restes à ses côtés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26679" y="157276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E8A000"/>
                </a:solidFill>
                <a:latin typeface="Bricolage Grotesque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1463040"/>
            <a:ext cx="3291840" cy="713232"/>
          </a:xfrm>
          <a:prstGeom prst="roundRect">
            <a:avLst/>
          </a:prstGeom>
          <a:solidFill>
            <a:srgbClr val="1B5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1627632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Bricolage Grotesque"/>
              </a:rPr>
              <a:t>Marche 1 · artefact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331720"/>
            <a:ext cx="7040880" cy="713232"/>
          </a:xfrm>
          <a:prstGeom prst="round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487168"/>
            <a:ext cx="6675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1A1A1A"/>
                </a:solidFill>
                <a:latin typeface="Bricolage Grotesque"/>
              </a:rPr>
              <a:t>Un questionnaire, rempli une fois 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6679" y="244144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E8A000"/>
                </a:solidFill>
                <a:latin typeface="Bricolage Grotesque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2331720"/>
            <a:ext cx="3291840" cy="713232"/>
          </a:xfrm>
          <a:prstGeom prst="roundRect">
            <a:avLst/>
          </a:prstGeom>
          <a:solidFill>
            <a:srgbClr val="1B5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2496312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Bricolage Grotesque"/>
              </a:rPr>
              <a:t>Marche 2 · formulaire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200400"/>
            <a:ext cx="7040880" cy="713232"/>
          </a:xfrm>
          <a:prstGeom prst="round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355848"/>
            <a:ext cx="6675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1A1A1A"/>
                </a:solidFill>
                <a:latin typeface="Bricolage Grotesque"/>
              </a:rPr>
              <a:t>Un outil à ton image, sans compte 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26679" y="331012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E8A000"/>
                </a:solidFill>
                <a:latin typeface="Bricolage Grotesque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3200400"/>
            <a:ext cx="3291840" cy="713232"/>
          </a:xfrm>
          <a:prstGeom prst="roundRect">
            <a:avLst/>
          </a:prstGeom>
          <a:solidFill>
            <a:srgbClr val="1B5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3364992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Bricolage Grotesque"/>
              </a:rPr>
              <a:t>Marche 3 · interface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069080"/>
            <a:ext cx="7040880" cy="713232"/>
          </a:xfrm>
          <a:prstGeom prst="round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4224528"/>
            <a:ext cx="6675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1A1A1A"/>
                </a:solidFill>
                <a:latin typeface="Bricolage Grotesque"/>
              </a:rPr>
              <a:t>Chaque coaché revient voir son espace 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26679" y="417880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E8A000"/>
                </a:solidFill>
                <a:latin typeface="Bricolage Grotesque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0" y="4069080"/>
            <a:ext cx="3291840" cy="713232"/>
          </a:xfrm>
          <a:prstGeom prst="roundRect">
            <a:avLst/>
          </a:prstGeom>
          <a:solidFill>
            <a:srgbClr val="1B5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40" y="4233672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Bricolage Grotesque"/>
              </a:rPr>
              <a:t>Marche 4 · plateforme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07492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5E6B"/>
                </a:solidFill>
                <a:latin typeface="Bricolage Grotesque"/>
              </a:rPr>
              <a:t>Une même activité peut combiner deux marches : un formulaire, puis un espace.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Pratique 2 · L'énoncé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881360" cy="1143000"/>
          </a:xfrm>
          <a:prstGeom prst="round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08760"/>
            <a:ext cx="40233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A000"/>
                </a:solidFill>
                <a:latin typeface="Bricolage Grotesque"/>
              </a:rPr>
              <a:t>OBJECTIF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810512"/>
            <a:ext cx="402335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Bricolage Grotesque"/>
              </a:rPr>
              <a:t>Décider ce que tu construis, pour qui, et dans quel ordre.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74920" y="150876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A000"/>
                </a:solidFill>
                <a:latin typeface="Bricolage Grotesque"/>
              </a:rPr>
              <a:t>LIVRABLE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74920" y="1810512"/>
            <a:ext cx="4389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Bricolage Grotesque"/>
              </a:rPr>
              <a:t>Ta feuille de route d'une page : publics, marches, étapes.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46920" y="150876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A000"/>
                </a:solidFill>
                <a:latin typeface="Bricolage Grotesque"/>
              </a:rPr>
              <a:t>DURÉE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46920" y="1810512"/>
            <a:ext cx="1554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Bricolage Grotesque"/>
              </a:rPr>
              <a:t>25 minutes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83464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1B5E6B"/>
                </a:solidFill>
                <a:latin typeface="Bricolage Grotesque"/>
              </a:rPr>
              <a:t>1.  </a:t>
            </a:r>
            <a:r>
              <a:rPr sz="1900">
                <a:solidFill>
                  <a:srgbClr val="333333"/>
                </a:solidFill>
                <a:latin typeface="Bricolage Grotesque"/>
              </a:rPr>
              <a:t>Lister tes publics : coachés, bilans, attachés de direction, organismes.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35584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1B5E6B"/>
                </a:solidFill>
                <a:latin typeface="Bricolage Grotesque"/>
              </a:rPr>
              <a:t>2.  </a:t>
            </a:r>
            <a:r>
              <a:rPr sz="1900">
                <a:solidFill>
                  <a:srgbClr val="333333"/>
                </a:solidFill>
                <a:latin typeface="Bricolage Grotesque"/>
              </a:rPr>
              <a:t>Pour chacun : que remplit-il, que reçoit-il, revient-il 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877056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1B5E6B"/>
                </a:solidFill>
                <a:latin typeface="Bricolage Grotesque"/>
              </a:rPr>
              <a:t>3.  </a:t>
            </a:r>
            <a:r>
              <a:rPr sz="1900">
                <a:solidFill>
                  <a:srgbClr val="333333"/>
                </a:solidFill>
                <a:latin typeface="Bricolage Grotesque"/>
              </a:rPr>
              <a:t>Passer chacun au test : quelle marche lui suffit 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398264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1B5E6B"/>
                </a:solidFill>
                <a:latin typeface="Bricolage Grotesque"/>
              </a:rPr>
              <a:t>4.  </a:t>
            </a:r>
            <a:r>
              <a:rPr sz="1900">
                <a:solidFill>
                  <a:srgbClr val="333333"/>
                </a:solidFill>
                <a:latin typeface="Bricolage Grotesque"/>
              </a:rPr>
              <a:t>Dessiner ta plateforme cible avec les six questions (slide suivante).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919472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1B5E6B"/>
                </a:solidFill>
                <a:latin typeface="Bricolage Grotesque"/>
              </a:rPr>
              <a:t>5.  </a:t>
            </a:r>
            <a:r>
              <a:rPr sz="1900">
                <a:solidFill>
                  <a:srgbClr val="333333"/>
                </a:solidFill>
                <a:latin typeface="Bricolage Grotesque"/>
              </a:rPr>
              <a:t>Choisir la première étape réaliste, à préparer pour la séance 4.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Ta plateforme cible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Bricolage Grotesque"/>
              </a:rPr>
              <a:t>Six questions avant de construire quoi que ce soit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3474720" cy="1463040"/>
          </a:xfrm>
          <a:prstGeom prst="round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331720"/>
            <a:ext cx="54864" cy="1188720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267712"/>
            <a:ext cx="31546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B5E6B"/>
                </a:solidFill>
                <a:latin typeface="Bricolage Grotesque"/>
              </a:rPr>
              <a:t>Qui se connecte 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633472"/>
            <a:ext cx="31546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Bricolage Grotesque"/>
              </a:rPr>
              <a:t>Tes coachés, et peut-être l'organisme qui finance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182112"/>
            <a:ext cx="31546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8A8F"/>
                </a:solidFill>
                <a:latin typeface="Bricolage Grotesque"/>
              </a:rPr>
              <a:t>Ex. : le coaché, toi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2194560"/>
            <a:ext cx="3474720" cy="1463040"/>
          </a:xfrm>
          <a:prstGeom prst="round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2331720"/>
            <a:ext cx="54864" cy="1188720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4568" y="2267712"/>
            <a:ext cx="31546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B5E6B"/>
                </a:solidFill>
                <a:latin typeface="Bricolage Grotesque"/>
              </a:rPr>
              <a:t>Ce qu'il voit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2633472"/>
            <a:ext cx="31546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Bricolage Grotesque"/>
              </a:rPr>
              <a:t>Son espace : ses réponses, ses synthèses, ses étapes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3182112"/>
            <a:ext cx="31546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8A8F"/>
                </a:solidFill>
                <a:latin typeface="Bricolage Grotesque"/>
              </a:rPr>
              <a:t>Ex. : sa cartographie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19" y="2194560"/>
            <a:ext cx="3474720" cy="1463040"/>
          </a:xfrm>
          <a:prstGeom prst="round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19" y="2331720"/>
            <a:ext cx="54864" cy="1188720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7888" y="2267712"/>
            <a:ext cx="31546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B5E6B"/>
                </a:solidFill>
                <a:latin typeface="Bricolage Grotesque"/>
              </a:rPr>
              <a:t>Ce qu'il remplit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2633472"/>
            <a:ext cx="31546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Bricolage Grotesque"/>
              </a:rPr>
              <a:t>Check-up, questionnaire de valeurs, bilan d'étape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7888" y="3182112"/>
            <a:ext cx="31546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8A8F"/>
                </a:solidFill>
                <a:latin typeface="Bricolage Grotesque"/>
              </a:rPr>
              <a:t>Ex. : le check-up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840480"/>
            <a:ext cx="3474720" cy="1463040"/>
          </a:xfrm>
          <a:prstGeom prst="round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3977640"/>
            <a:ext cx="54864" cy="1188720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7" y="3913632"/>
            <a:ext cx="31546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B5E6B"/>
                </a:solidFill>
                <a:latin typeface="Bricolage Grotesque"/>
              </a:rPr>
              <a:t>Ce que fait l'IA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7" y="4279392"/>
            <a:ext cx="31546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Bricolage Grotesque"/>
              </a:rPr>
              <a:t>Analyser, synthétiser, proposer des pistes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7" y="4828032"/>
            <a:ext cx="31546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8A8F"/>
                </a:solidFill>
                <a:latin typeface="Bricolage Grotesque"/>
              </a:rPr>
              <a:t>Ex. : la cartographie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43400" y="3840480"/>
            <a:ext cx="3474720" cy="1463040"/>
          </a:xfrm>
          <a:prstGeom prst="round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43400" y="3977640"/>
            <a:ext cx="54864" cy="1188720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44568" y="3913632"/>
            <a:ext cx="31546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B5E6B"/>
                </a:solidFill>
                <a:latin typeface="Bricolage Grotesque"/>
              </a:rPr>
              <a:t>Ce que tu valides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44568" y="4279392"/>
            <a:ext cx="31546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Bricolage Grotesque"/>
              </a:rPr>
              <a:t>Tout ce qui part au coaché passe par toi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44568" y="4828032"/>
            <a:ext cx="31546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8A8F"/>
                </a:solidFill>
                <a:latin typeface="Bricolage Grotesque"/>
              </a:rPr>
              <a:t>Ex. : chaque restitution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46719" y="3840480"/>
            <a:ext cx="3474720" cy="1463040"/>
          </a:xfrm>
          <a:prstGeom prst="round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46719" y="3977640"/>
            <a:ext cx="54864" cy="1188720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47888" y="3913632"/>
            <a:ext cx="31546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B5E6B"/>
                </a:solidFill>
                <a:latin typeface="Bricolage Grotesque"/>
              </a:rPr>
              <a:t>Où vivent les données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47888" y="4279392"/>
            <a:ext cx="31546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Bricolage Grotesque"/>
              </a:rPr>
              <a:t>Un outil choisi pour ça, avec l'accord du coaché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47888" y="4828032"/>
            <a:ext cx="31546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8A8F"/>
                </a:solidFill>
                <a:latin typeface="Bricolage Grotesque"/>
              </a:rPr>
              <a:t>Ex. : hébergement en UE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Pour monter aux marches 3 et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Bricolage Grotesque"/>
              </a:rPr>
              <a:t>Ce qu'il faut savoir avant de se lancer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Marche 3 : Claude Code construit l'application, un hébergeur la publie.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5292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33333"/>
                </a:solidFill>
                <a:latin typeface="Bricolage Grotesque"/>
              </a:rPr>
              <a:t>Inclus dans ton forfait Pro ; l'hébergement, quelques euros par mois.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Pour monter aux marches 3 et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Bricolage Grotesque"/>
              </a:rPr>
              <a:t>Ce qu'il faut savoir avant de se lancer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Marche 3 : Claude Code construit l'application, un hébergeur la publie.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5292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33333"/>
                </a:solidFill>
                <a:latin typeface="Bricolage Grotesque"/>
              </a:rPr>
              <a:t>Inclus dans ton forfait Pro ; l'hébergement, quelques euros par mois.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1188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Marche 4 : un outil de portail client no-code, ou du sur-mesure.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3308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33333"/>
                </a:solidFill>
                <a:latin typeface="Bricolage Grotesque"/>
              </a:rPr>
              <a:t>Ex. : Softr sur une base Airtable, avec les comptes de tes coachés.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Pour monter aux marches 3 et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Bricolage Grotesque"/>
              </a:rPr>
              <a:t>Ce qu'il faut savoir avant de se lancer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Marche 3 : Claude Code construit l'application, un hébergeur la publie.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5292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33333"/>
                </a:solidFill>
                <a:latin typeface="Bricolage Grotesque"/>
              </a:rPr>
              <a:t>Inclus dans ton forfait Pro ; l'hébergement, quelques euros par mois.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1188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Marche 4 : un outil de portail client no-code, ou du sur-mesure.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3308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33333"/>
                </a:solidFill>
                <a:latin typeface="Bricolage Grotesque"/>
              </a:rPr>
              <a:t>Ex. : Softr sur une base Airtable, avec les comptes de tes coachés.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89204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Dès qu'une application appelle l'IA : une clé API Claude, à l'usage.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1965960"/>
            <a:ext cx="2743200" cy="36576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8A000"/>
                </a:solidFill>
                <a:latin typeface="Bricolage Grotesque"/>
              </a:rPr>
              <a:t>Séquence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Bricolage Grotesque"/>
              </a:rPr>
              <a:t>Les devoirs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0233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5A8A8F"/>
                </a:solidFill>
                <a:latin typeface="Bricolage Grotesque"/>
              </a:rPr>
              <a:t>Pour la séance 4, jeudi 5 novembre</a:t>
            </a:r>
          </a:p>
        </p:txBody>
      </p:sp>
      <p:pic>
        <p:nvPicPr>
          <p:cNvPr id="7" name="Picture 6" descr="ia-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217920"/>
            <a:ext cx="320040" cy="3200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68680" y="619963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Bricolage Grotesque"/>
              </a:rPr>
              <a:t>intelligence academy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Devoirs · avant le 5 novembre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1.  Envoyer ton formulaire à 1 ou 2 coachés réels, avec leur accord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7568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2.  Lancer ton skill Cartographie sur leurs réponses, le corriger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96896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3.  Finir de mettre en place ton organisation dans Claude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Devoirs · avant le 5 novembre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1.  Envoyer ton formulaire à 1 ou 2 coachés réels, avec leur accord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7568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2.  Lancer ton skill Cartographie sur leurs réponses, le corriger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96896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3.  Finir de mettre en place ton organisation dans Claude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5584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4.  M'envoyer ta feuille de route d'une page avant le 3 novembre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877056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5.  Pour la S4 : un transcript de séance anonymisé, avec accord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398264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6.  Émarger sur ton tableau de bord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E8A000"/>
                </a:solidFill>
                <a:latin typeface="Bricolage Grotesque"/>
              </a:rPr>
              <a:t>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A8A8F"/>
                </a:solidFill>
                <a:latin typeface="Bricolage Grotesque"/>
              </a:rPr>
              <a:t>Ce que tu as fait aujourd'hui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286000"/>
            <a:ext cx="2743200" cy="27432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651760"/>
            <a:ext cx="108813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sz="2000">
                <a:solidFill>
                  <a:srgbClr val="FFFFFF"/>
                </a:solidFill>
                <a:latin typeface="Bricolage Grotesque"/>
              </a:rPr>
              <a:t>1.  Tu sais faire la différence entre une interface et une plateforme.</a:t>
            </a:r>
          </a:p>
          <a:p>
            <a:pPr>
              <a:spcBef>
                <a:spcPts val="1200"/>
              </a:spcBef>
            </a:pPr>
            <a:r>
              <a:rPr sz="2000">
                <a:solidFill>
                  <a:srgbClr val="FFFFFF"/>
                </a:solidFill>
                <a:latin typeface="Bricolage Grotesque"/>
              </a:rPr>
              <a:t>2.  Ton check-up est en ligne : un lien, sans compte, réponses rangées.</a:t>
            </a:r>
          </a:p>
          <a:p>
            <a:pPr>
              <a:spcBef>
                <a:spcPts val="1200"/>
              </a:spcBef>
            </a:pPr>
            <a:r>
              <a:rPr sz="2000">
                <a:solidFill>
                  <a:srgbClr val="FFFFFF"/>
                </a:solidFill>
                <a:latin typeface="Bricolage Grotesque"/>
              </a:rPr>
              <a:t>3.  Ton skill Cartographie lit une ligne et rédige, tu relis.</a:t>
            </a:r>
          </a:p>
          <a:p>
            <a:pPr>
              <a:spcBef>
                <a:spcPts val="1200"/>
              </a:spcBef>
            </a:pPr>
            <a:r>
              <a:rPr sz="2000">
                <a:solidFill>
                  <a:srgbClr val="FFFFFF"/>
                </a:solidFill>
                <a:latin typeface="Bricolage Grotesque"/>
              </a:rPr>
              <a:t>4.  Ta feuille de route dit jusqu'où monter, et par quoi commencer.</a:t>
            </a:r>
          </a:p>
        </p:txBody>
      </p:sp>
      <p:pic>
        <p:nvPicPr>
          <p:cNvPr id="7" name="Picture 6" descr="ia-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355080"/>
            <a:ext cx="320040" cy="3200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68680" y="633679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Bricolage Grotesque"/>
              </a:rPr>
              <a:t>intelligence academy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560320"/>
            <a:ext cx="121916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>
                <a:solidFill>
                  <a:srgbClr val="FFFFFF"/>
                </a:solidFill>
                <a:latin typeface="Bricolage Grotesque"/>
              </a:rPr>
              <a:t>Des questions ?</a:t>
            </a:r>
          </a:p>
        </p:txBody>
      </p:sp>
      <p:pic>
        <p:nvPicPr>
          <p:cNvPr id="4" name="Picture 3" descr="ia-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4754880"/>
            <a:ext cx="320040" cy="320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257800" y="473659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Bricolage Grotesque"/>
              </a:rPr>
              <a:t>intelligence academy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