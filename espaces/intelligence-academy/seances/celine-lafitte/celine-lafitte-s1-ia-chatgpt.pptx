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1 / 4 · CÉLINE LAFITTE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L'IA comprise, ChatGPT en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Ta méthode de prompt et ta base de contexte de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Jeudi 8 octobre 2026 · 9h-11h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veux en sortir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Tes mots, lors de notre RDV d'intro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Comprendre vraiment comment ça fonctionne,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pour encadrer les personnes que tu accompagnes sur l'IA.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veux en sortir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Tes mots, lors de notre RDV d'intro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Comprendre vraiment comment ça fonctionne,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pour encadrer les personnes que tu accompagnes sur l'IA.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Arrêter de t'éparpiller : peu d'outils, bien maîtrisés.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tu veux en sortir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Tes mots, lors de notre RDV d'intro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Comprendre vraiment comment ça fonctionne,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pour encadrer les personnes que tu accompagnes sur l'IA.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Arrêter de t'éparpiller : peu d'outils, bien maîtrisés.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Des outils réutilisables, au rendu professionnel.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Ton 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4 séances, un fil rouge : ton bilan de compétences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S1 · 8 oct.
Comprendre + méthode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S2 · 19 oct.
Tes écrits de coach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S3 · 22 oct.
Lire une séance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S4 · 28 oct.
Cartographie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Aujourd'hui : les bases solides, sur lesquelles tout le reste s'appuie.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 matin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sur le e-learning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Comment ça marche, ChatGPT Free ou Plus en octobre 2026 (35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 matin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sur le e-learning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Comment ça marche, ChatGPT Free ou Plus en octobre 2026 (35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Exercice 1 : la méthode SCPIC sur un bilan fictif (30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Exercice 2 : ta base de contexte de coach (30 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 matin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sur le e-learning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Comment ça marche, ChatGPT Free ou Plus en octobre 2026 (35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Exercice 1 : la méthode SCPIC sur un bilan fictif (30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Exercice 2 : ta base de contexte de coach (30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Démo : Granola branché à ChatGPT (5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3600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Les devoirs (10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Cinq questions sur « Comprendre l'IA sans jargon »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LLM comme ChatGPT, au fond, ça fait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Il cherche la bonne réponse dans une 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Il prédit la suite de texte la plus probable, mot après mot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Il comprend le sens comme un humain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LLM comme ChatGPT, au fond, ça fait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Il cherche la bonne réponse dans une 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Il prédit la suite de texte la plus probable, mot après mot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Il comprend le sens comme un humain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B. Il ne « sait » rien : il produit ce qui est plausible.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Comment ChatGPT a-t-il appris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Remets dans l'ordre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Des humains notent ses réponses     B.  Il lit des milliards de textes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Comment ChatGPT a-t-il appris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Remets dans l'ordre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Des humains notent ses réponses     B.  Il lit des milliards de textes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B puis A. Le pré-entraînement lui apprend la langue,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retour humain (RLHF) lui apprend à être utile et poli.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system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Quand tu écris à ChatGPT, qu'est-ce que le modèle lit en premier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system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Quand tu écris à ChatGPT, qu'est-ce que le modèle lit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Des consignes invisibles d'OpenAI, puis les tiennes, puis ta demande.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C'est exactement là qu'on va glisser ta base de contexte.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hallucinations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Vrai ou faux : si ChatGPT répond avec assurance, c'est que c'est juste.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hallucinations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Vrai ou faux : si ChatGPT répond avec assurance, c'est que c'est juste.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Faux. Il produit toujours une suite, vraie ou non, avec le même aplomb.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un bilan : une compétence que la personne n'a jamais citée.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La fenêtre de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Ta conversation dure depuis 2 heures. Que risque-t-il de se passer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Rien      B.  Il oublie le début      C.  Il devient plus précis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La fenêtre de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Ta conversation dure depuis 2 heures. Que risque-t-il de se passer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Rien      B.  Il oublie le début      C.  Il devient plus précis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B. Sa mémoire de travail est limitée : au-delà, le début glisse.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réflexe : un nouveau chat par tâche, et le contexte dans un projet.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Comment ça marche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Ce que tu pourras expliquer à tes apprenants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ChatGPT lit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À chaque message, il relit tout ceci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Consignes
d'OpenAI (invisibles)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Tes instructions
(compte ou projet)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Fichiers
et historique du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Ta demande
du jour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Tout tient dans la fenêtre de contexte : c'est TOUT ce qu'il sait de toi.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ChatGPT lit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La conséquence pour ton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ne te connaît pas. Il ne connaît pas tes organismes, ni ton métier.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Sans contexte, il comble les vides avec du générique.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que ChatGPT lit vraiment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La conséquence pour ton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ne te connaît pas. Il ne connaît pas tes organismes, ni ton métier.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Sans contexte, il comble les vides avec du générique.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qualité de la réponse dépend de ce que tu lui donnes à lire.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D'où deux outils : une méthode pour la demande (SCPIC),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et une base de contexte écrite une fois, relue à chaque échange.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fenêtre de contexte, en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ChatGPT Free, en mode rapide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27 000 jetons au total. Un jeton, c'est un morceau de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Dont environ 12 pages pour ton texte à toi.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fenêtre de contexte, en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ChatGPT Free, en mode rapide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27 000 jetons au total. Un jeton, c'est un morceau de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Dont environ 12 pages pour ton texte à toi.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reste est déjà pris : consignes d'OpenAI, tes instructions,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mémoire, le raisonnement et la réponse elle-même.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fenêtre de contexte, en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ChatGPT Free, en mode rapide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27 000 jetons au total. Un jeton, c'est un morceau de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Dont environ 12 pages pour ton texte à toi.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reste est déjà pris : consignes d'OpenAI, tes instructions,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mémoire, le raisonnement et la réponse elle-même.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 un bilan de 15 séances : une synthèse par séance, pas tout d'un coup.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modèle ou ton forfait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Deux chiffres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GPT-5.6 Sol peut lire 1 050 000 jetons : c'est sa capacité,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accessible aux développeurs, par l'API.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modèle ou ton forfait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Deux chiffres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GPT-5.6 Sol peut lire 1 050 000 jetons : c'est sa capacité,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accessible aux développeurs, par l'API.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ChatGPT, c'est ton forfait qui fixe la limite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Free 27K en mode rapide · Plus 54K, et 256K en raisonnement.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modèle ou ton forfait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Deux chiffres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GPT-5.6 Sol peut lire 1 050 000 jetons : c'est sa capacité,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accessible aux développeurs, par l'API.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ChatGPT, c'est ton forfait qui fixe la limite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Free 27K en mode rapide · Plus 54K, et 256K en raisonnement.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lis « 1 million de jetons » ? Demande : dans quel outil, quel forfait 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mode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Quand le faire réfléchir avant de répondre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Think : le modèle raisonne par étapes avant de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Plus lent, plus fiable sur ce qui demande d'analyser ou de croiser.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mode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Quand le faire réfléchir avant de répondre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Think : le modèle raisonne par étapes avant de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Plus lent, plus fiable sur ce qui demande d'analyser ou de croiser.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Oui : analyser des notes de bilan, comparer des pistes d'évolution.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Inutile : reformuler un mail, corriger l'orthographe.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parades, à appliquer et à transmettre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la demande : « N'ajoute rien qui ne soit pas dans mes notes.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Marquer les déductions : « Signale par [À vérifier] ce que tu déduis. 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parades, à appliquer et à transmettre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Dans la demande : « N'ajoute rien qui ne soit pas dans mes notes.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Marquer les déductions : « Signale par [À vérifier] ce que tu déduis.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Faire relire : « Qu'est-ce qui, dans ta réponse, pourrait être faux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Toujours : c'est toi qui valides avant que ça parte au bénéficiaire.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ChatGPT Free en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as, sans payer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Modèle GPT-5.6 Luna, avec le mode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Recherche web, dépôt de fichiers et d'images, création d'images.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ChatGPT Free en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as, sans payer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Modèle GPT-5.6 Luna, avec le mode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Recherche web, dépôt de fichiers et d'images, création d'images.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Projets : des instructions + 5 fichiers, partageables à 5 personnes.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personnalisées : 1 500 caractères maximum.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ChatGPT Free en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as, sans payer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Modèle GPT-5.6 Luna, avec le mode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Recherche web, dépôt de fichiers et d'images, création d'images.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Projets : des instructions + 5 fichiers, partageables à 5 personnes.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personnalisées : 1 500 caractères maximum.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lit environ 12 pages d'un coup. Limites sur fichiers et images.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Web ou application ordinateur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deux sont gratuites, elles ne font pas pareil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Web et mobile : Chat, avec tes projets et tes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Work n'y est ouvert qu'aux forfaits payants.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Web ou application ordinateur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deux sont gratuites, elles ne font pas pareil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Web et mobile : Chat, avec tes projets et tes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Work n'y est ouvert qu'aux forfaits payants.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Application ordinateur (Mac, Windows) : Chat, Work, Codex et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Free, Work et Codex y sont limités en usage.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Web ou application ordinateur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deux sont gratuites, elles ne font pas pareil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Web et mobile : Chat, avec tes projets et tes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Work n'y est ouvert qu'aux forfaits payants.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Application ordinateur (Mac, Windows) : Chat, Work, Codex et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Free, Work et Codex y sont limités en usage.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Mon conseil : installe l'application. Tes projets s'y retrouvent.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À quoi sert ChatGPT Work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 répond, Work exécute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 : répondre, reformuler, réfléchir avec toi. Rapide.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Work : un agent. Tu donnes un objectif, il découpe et exécute.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À quoi sert ChatGPT Work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 répond, Work exécute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 : répondre, reformuler, réfléchir avec toi. Rapide.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Work : un agent. Tu donnes un objectif, il découpe et exécute.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livre un document, un tableur, des diapositives, un rapport.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suis l'avancement, tu réponds à ses questions, tu valides.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À quoi sert ChatGPT Work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Chat répond, Work exécute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 : répondre, reformuler, réfléchir avec toi. Rapide.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Work : un agent. Tu donnes un objectif, il découpe et exécute.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Il livre un document, un tableur, des diapositives, un rapport.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suis l'avancement, tu réponds à ses questions, tu valides.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 toi, plus tard : tes notes, mises au format Word d'un organisme.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Skills, comme dans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l'application ordinateur, en bêta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procédure réutilisable : instructions, exemples, parfois du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l'utilise tout seul quand la tâche s'y prête.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Skills, comme dans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l'application ordinateur, en bêta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procédure réutilisable : instructions, exemples, parfois du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l'utilise tout seul quand la tâche s'y prête.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Où : Plugins, dans la barre latérale, puis l'onglet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 en créer une : demande-le en conversation, il t'accompagne.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Skills, comme dans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l'application ordinateur, en bêta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procédure réutilisable : instructions, exemples, parfois du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l'utilise tout seul quand la tâche s'y prête.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Où : Plugins, dans la barre latérale, puis l'onglet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Pour en créer une : demande-le en conversation, il t'accompagne.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projet donne le contexte. La skill donne la façon de faire.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Free ou Plus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Free · 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Plus · 23 € par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92808"/>
            <a:ext cx="10881360" cy="42062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938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Modèles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92938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GPT-5.6 Luna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92938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+ GPT-6 et GPT-5.6 Sol (limités)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Fenêtre de contexte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3500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27K, dont ~12 pages à toi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35000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54K, dont ~40 pages à toi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34056"/>
            <a:ext cx="10881360" cy="42062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706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Fichiers par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7706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7063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912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Instructions perso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1912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1 500 caractères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19125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5 000 caractères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10881360" cy="42062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Recherche approfondie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6118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limitée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61188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oui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3250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ChatGPT Work (agent)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03250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limité, appli ordinateur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0325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ordinateur, web et mobile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16552"/>
            <a:ext cx="10881360" cy="42062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5312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Tâches planifiées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45312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4531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oui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7375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ricolage Grotesque"/>
              </a:rPr>
              <a:t>Extensions Word, 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87375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limitées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8737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Bricolage Grotesque"/>
              </a:rPr>
              <a:t>oui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Plus vaut le coup si…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Tes notes de bilan dépassent 12 pages à faire lire d'un coup.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veux plus de 5 documents de référence par projet.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Plus vaut le coup si…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Tes notes de bilan dépassent 12 pages à faire lire d'un coup.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veux plus de 5 documents de référence par projet.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veux confier des tâches longues à ChatGPT Work, sur le web.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prépares des formations avec la recherche approfondie.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Plus vaut le coup si…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Tes notes de bilan dépassent 12 pages à faire lire d'un coup.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veux plus de 5 documents de référence par projet.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veux confier des tâches longues à ChatGPT Work, sur le web.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prépares des formations avec la recherche approfondie.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Free ou Plus : entraînement sur tes données par défaut, refus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3600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Il existe aussi Go (8 €) et Pro (dès 103 €). Prix France, octobre 2026.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qui a changé depuis la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GPT personnalisés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e-learning montre comment créer ton propre GPT.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qui a changé depuis la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GPT personnalisés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e-learning montre comment créer ton propre GPT.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Free, la création de GPT n'est pas disponible.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peux utiliser les GPT existants, pas en créer.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qui a changé depuis la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Les GPT personnalisés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e-learning montre comment créer ton propre GPT.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En Free, la création de GPT n'est pas disponible.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Tu peux utiliser les GPT existants, pas en créer.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L'équivalent en Free : le projet (instructions + fichiers).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Où ranger ton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Trois niveaux, du plus large au plus précis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personnalisées : qui tu es, ton 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Valent pour toutes les conversations. 1 500 caractères en Free.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Où ranger ton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Trois niveaux, du plus large au plus précis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personnalisées : qui tu es, ton 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Valent pour toutes les conversations. 1 500 caractères en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Projet : un usage précis (ex. « Bilans de compétences 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Instructions + fichiers. Prioritaires sur les instructions générales.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Où ranger ton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Trois niveaux, du plus large au plus précis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personnalisées : qui tu es, ton 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Valent pour toutes les conversations. 1 500 caractères en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Projet : un usage précis (ex. « Bilans de compétences 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Instructions + fichiers. Prioritaires sur les instructions générales.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prompt : la tâche du jour, structurée avec SCPIC.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La méthode SCPIC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Cinq briques, vues dans le e-learning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 · Système
qui doit être l'IA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C · Contexte
quelles infos donner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P · Public
à qui c'est destiné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I · Instruction
que doit-elle faire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2511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C · Contraintes
format et limites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La méthode que tu transmettras ensuite à tes coachés.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SCPIC, lettre par lettre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Exemple inventé : préparer une séance de coaching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66928" cy="566928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95144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ricolage Grotesque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03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Système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le rôle de l'IA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5856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Bricolage Grotesque"/>
              </a:rPr>
              <a:t>« Tu es une coach professionnelle certifiée, spécialiste du management.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98648"/>
            <a:ext cx="566928" cy="566928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ricolage Grotesque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Contexte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72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ce qu'elle doit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16936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Bricolage Grotesque"/>
              </a:rPr>
              <a:t>« Mon coaché, manager depuis 6 mois, a du mal à déléguer. Séance 4 sur 8.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57015"/>
            <a:ext cx="566928" cy="566928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79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ricolage Grotesque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04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3133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pour qui est le résultat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575303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Bricolage Grotesque"/>
              </a:rPr>
              <a:t>« Le plan est pour moi : je m'en sers pendant la séance.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15383"/>
            <a:ext cx="566928" cy="566928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70247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ricolage Grotesque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78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Instruction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897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la tâche, avec un verbe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3367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Bricolage Grotesque"/>
              </a:rPr>
              <a:t>« Propose un déroulé en 3 temps, avec 2 questions ouvertes par temps. 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73751"/>
            <a:ext cx="566928" cy="566928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28615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ricolage Grotesque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3717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Contraintes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8A8F"/>
                </a:solidFill>
                <a:latin typeface="Bricolage Grotesque"/>
              </a:rPr>
              <a:t>format, longueur, limites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9203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Bricolage Grotesque"/>
              </a:rPr>
              <a:t>« Une demi-page, en puces, sans jargon RH. »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SCPIC : la synthèse d'une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 :  Tu es une consultante en bilan de compétences expérimentée.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 :  Voici mes notes brutes de la séance 3 sur 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 :  La synthèse est pour la bénéficiaire ; je la relis avant envoi.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SCPIC : la synthèse d'une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 :  Tu es une consultante en bilan de compétences expérimentée.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 :  Voici mes notes brutes de la séance 3 sur 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 :  La synthèse est pour la bénéficiaire ; je la relis avant envoi.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 :  Rédige une synthèse en 4 parties : travaillé, valeurs,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 compétences transférables, travail pour la prochaine séance.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 :  Une page, vouvoiement, rien d'inventé, [À vérifier] si tu déduis.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confies à ChatGPT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Paramètres › Contrôles des données › « Améliorer le modèle pour tous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Activé : tes nouvelles conversations peuvent servir à entraîner les modèles.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tu confies à ChatGPT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Paramètres › Contrôles des données › « Améliorer le modèle pour tous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Activé : tes nouvelles conversations peuvent servir à entraîner les modèles.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 éphémère : ni historique, ni mémoire, ni entraînement.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Piège : un pouce levé ou baissé peut verser la conversation à l'entraînement.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un bilan de compétences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bilan est confidentiel : ce qui entre dans l'outil doit l'être aussi.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un bilan de compétences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bilan est confidentiel : ce qui entre dans l'outil doit l'être aussi.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Jamais : nom, employeur nommé, ville, détail qui permette de reconnaître.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Toujours : prénom fictif ou initiale, entreprise décrite (« PME, 80 pers. »).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Dans un bilan de compétences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bilan est confidentiel : ce qui entre dans l'outil doit l'être aussi.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Jamais : nom, employeur nommé, ville, détail qui permette de reconnaître.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Toujours : prénom fictif ou initiale, entreprise décrite (« PME, 80 pers. 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règle, que tu transmettras : anonymiser AVANT de coller.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Trois phrases pour tes apprenants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Il prédit, il ne sait pas : on vérifie ce qui compte.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Il ne sait de toi que ce que tu lui donnes : on écrit son contexte.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Ce que tu lui donnes peut servir ailleurs : on anonymise avant.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Une demande claire suit SCPIC : système, contexte, public,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     instruction, contraintes.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Exercice 1 : SCPIC sur un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Partage d'écran : tu fais, je montre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1 · L'énoncé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Voir de tes yeux ce que SCPIC change à une synthèse de bilan.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1051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Ton projet « Bilans de compétences » et une synthèse de séance que tu signerais.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81051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30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Régler tes données : Paramètres › Contrôles des données.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Créer le projet « Bilans de compétences » (Nouveau projet, à gauche).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Dans le projet : coller les notes fictives + « Fais une synthèse 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Nouveau chat dans le projet : mêmes notes, demande écrite en SCPIC.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Comparer les deux réponses avec la grille (slide suivante).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1 · Les notes fictives à coller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Séance 3/15 · « Mme R. », 44 ans, assistante de direction depuis 12 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PME industrielle (80 pers.). Veut évoluer : office manager ? RH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Peur de « repartir de zéro ». Fierté : a piloté le déménagement du siège.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Aime organiser, être le point de contact. Évite les conflits frontaux.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Valeurs citées : fiabilité, reconnaissance, équilibre (2 enfants).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Outils : Excel avancé, Sage. Organise les réunions du CSE.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Situation inventée : aucune personne réelle. Texte complet dans le chat.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1 · La grille de 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chaque réponse, quatre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Fidélité : a-t-il inventé quelque chose qui n'est pas dans les notes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Structure : retrouves-tu tes 4 parties, dans l'ordre 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1 · La grille de 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chaque réponse, quatre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Fidélité : a-t-il inventé quelque chose qui n'est pas dans les notes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Structure : retrouves-tu tes 4 parties, dans l'ordre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Ton : est-ce écrit pour Mme R. ou pour un rapport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Prête à l'emploi : combien de minutes de retouche avant envoi 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1 · La grille de 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chaque réponse, quatre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Fidélité : a-t-il inventé quelque chose qui n'est pas dans les notes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Structure : retrouves-tu tes 4 parties, dans l'ordre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Ton : est-ce écrit pour Mme R. ou pour un rapport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Prête à l'emploi : combien de minutes de retouche avant envoi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A000"/>
                </a:solidFill>
                <a:latin typeface="Bricolage Grotesque"/>
              </a:rPr>
              <a:t>« Ce qui a changé entre les deux, c'est ce que tu lui as donné à lire »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Exercice 2 : ta base de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Écrite une fois, relue à chaque échange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Ta base de contexte de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qu'elle contient : une page, huit rubriques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 je suis          2.  Mes publics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Mes accompagnements (bilan, coaching, formation)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Ta base de contexte de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qu'elle contient : une page, huit rubriques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 je suis          2.  Mes publics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Mes accompagnements (bilan, coaching, formation)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Mes méthodes et outils          5.  Mes livrables et leurs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Mon ton          7.  Ce que je ne veux jamais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Ta base de contexte de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qu'elle contient : une page, huit rubriques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 je suis          2.  Mes publics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Mes accompagnements (bilan, coaching, formation)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Mes méthodes et outils          5.  Mes livrables et leurs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Mon ton          7.  Ce que je ne veux jamais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8.  Mes règles de confidentialité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2 · L'énoncé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Que ChatGPT connaisse ton métier sans que tu le répètes.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LIVRABLE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1051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Ta base de contexte : en résumé dans ton compte, en entier dans ton projet.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000"/>
                </a:solidFill>
                <a:latin typeface="Bricolage Grotesque"/>
              </a:rPr>
              <a:t>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81051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ricolage Grotesque"/>
              </a:rPr>
              <a:t>30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1.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Coller le prompt d'interview : ChatGPT te pose 10 questions, une à une.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2.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Il rédige ta base. Tu relis et tu corriges tout ce qui sonne faux.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3.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L'ajouter aux fichiers du projet, puis coller les instructions du projet.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4.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La faire résumer en 1 500 caractères pour tes instructions personnalisées.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5E6B"/>
                </a:solidFill>
                <a:latin typeface="Bricolage Grotesque"/>
              </a:rPr>
              <a:t>5.  </a:t>
            </a:r>
            <a:r>
              <a:rPr sz="1900">
                <a:solidFill>
                  <a:srgbClr val="333333"/>
                </a:solidFill>
                <a:latin typeface="Bricolage Grotesque"/>
              </a:rPr>
              <a:t>Test : nouveau chat, « Synthèse de ces notes » + les notes fictives.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2 · Les instructions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Paramètres du projet ›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Tu es l'assistant de Céline, coach professionnelle.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Appuie-toi toujours sur le fichier « Base de contexte de coach ».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2 · Les instructions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Paramètres du projet ›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Tu es l'assistant de Céline, coach professionnelle.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Appuie-toi toujours sur le fichier « Base de contexte de coach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1. Données anonymisées seulement : signale tout détail identifiant.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2. N'invente rien : marque [À vérifier] ce que tu déduis.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3. Termine par les points que je dois relire avant envoi.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2 · Le résumé pour ton compte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Paramètres › Personnalisation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Résume ma base de contexte en moins de 1 500 caractères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qui je suis, mes publics, mon ton, mes règles de confidentialité.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Garde seulement ce qui vaut pour toutes mes conversations.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2 · Le résumé pour ton compte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Paramètres › Personnalisation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Résume ma base de contexte en moins de 1 500 caractères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qui je suis, mes publics, mon ton, mes règles de confidentialité.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F2B3A"/>
                </a:solidFill>
                <a:latin typeface="Consolas"/>
              </a:rPr>
              <a:t>Garde seulement ce qui vaut pour toutes mes conversations.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 résumé, dans tes instructions personnalisées : lu partout.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base complète, dans chaque projet qui en a besoin.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Bonus · La même base dans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contexte n'est pas prisonnier d'un outil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Claude › Projets › ton projet de bilan existant.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du projet : les mêmes, collées telles quelles.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Bonus · La même base dans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Ton contexte n'est pas prisonnier d'un outil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Claude › Projets › ton projet de bilan existant.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Instructions du projet : les mêmes, collées telles quelles.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Connaissances du projet : le même document de base de contexte.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 seul texte, deux outils : c'est ça, arrêter de s'éparpiller.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Démo : Granola +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Tes notes de réunion, directement dans la conversation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Granola branché à 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je te montre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Granola
prend les notes du RDV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Dans ChatGPT
chercher Granola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On connecte
Granola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On demande
« le mail de suivi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Exemple : notre RDV d'intro, transformé en mail de récap en une demande.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Pour la séance 2, lundi 19 octobre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19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Finir « Découvrir et utiliser ChatGPT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Suivre « Claude : les fondamentaux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Installer ChatGPT pour ordinateur et y retrouver ton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puis tester ta base de contexte sur 3 vraies tâches anonymisées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19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Finir « Découvrir et utiliser ChatGPT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Suivre « Claude : les fondamentaux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Installer ChatGPT pour ordinateur et y retrouver ton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puis tester ta base de contexte sur 3 vraies tâches anonymisées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M'envoyer d'ici le 16 octobre : une note de séance anonymisée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     et les trames de synthèse de tes deux organismes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194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Penser au coaché de la S3 et lui parler de l'enregistrement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