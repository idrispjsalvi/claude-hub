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notesMaster" Target="notesMasters/notesMaster1.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Décision de la S1. Si C est choisi : Tally sait appeler un webhook, on l'a vu au quiz de la S1.</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Décision de la S1. Si C est choisi : Tally sait appeler un webhook, on l'a vu au quiz de la S1.</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C'est le premier workflow qu'il montrera juste après : on vérifiera sa réponse en direct.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C'est le premier workflow qu'il montrera juste après : on vérifiera sa réponse en direct.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Ses workflows ne sont pas arrivés par mail (annoncés le 16/10). Le 18/10, il écrit préparer « une base » pour le plombier et avancer sur Claude Code : contenu inconnu. Commence par lui demander ce qu'il veut montrer en premier. À 14h20, on passe au plombier : ce qui n'est pas fini part dans les devoirs. Si sa base plombier est avancée, elle peut servir de support au bloc suivant.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Ses workflows ne sont pas arrivés par mail (annoncés le 16/10). Le 18/10, il écrit préparer « une base » pour le plombier et avancer sur Claude Code : contenu inconnu. Commence par lui demander ce qu'il veut montrer en premier. À 14h20, on passe au plombier : ce qui n'est pas fini part dans les devoirs. Si sa base plombier est avancée, elle peut servir de support au bloc suivant.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Non vérifié : Interfast a-t-il une API ou des exports ? Le SMS sur appel manqué demande une ligne qui sait déclencher un webhook (téléphonie en ligne type Ringover, Aircall, Twilio). Avec un simple mobile, c'est plus compliqué. Ce sont les deux premières questions de son appel.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prix avait été reporté de la S1 (il pensait à 250 € une fois plus un abonnement, et sous-évaluer le récurrent). Son budget annoncé (100 à 150 €/mois) donne le cadre. Jeu de rôle : objection « j'ai déjà ma secrétaire », puis « je ne sais pas combien de temps ça me ferait gagner ».</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Aggregate : sans lui, Claude est appelé une fois par article au lieu d'une fois pour la semaine. Remove Duplicates : l'option qui écarte les items déjà vus aux exécutions précédentes évite de renvoyer la même news deux lundis de suite.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Cinq nœuds côte à côte plutôt qu'une liste d'URL découpée (Edit Fields puis Split Out) : c'est plus lisible à l'écran et ça suffit pour 5 acteurs. Merge : régler « Number of Inputs » sur 5, mode Append. Évolution possible en devoir : passer à la liste d'URL quand il ajoutera des acteurs.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Cinq nœuds côte à côte plutôt qu'une liste d'URL découpée (Edit Fields puis Split Out) : c'est plus lisible à l'écran et ça suffit pour 5 acteurs. Merge : régler « Number of Inputs » sur 5, mode Append. Évolution possible en devoir : passer à la liste d'URL quand il ajoutera des acteurs.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Vérifier avant la séance si Tim a une clé API Anthropic. Sinon, prévoir une clé de démo pour la séance et lui laisser le choix du modèle ensuite.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Lien avec sa fiche : « Développement d'outils via Claude Code ». Il a commencé le module Fondamentaux Cursor &amp; Claude Code (2 vidéos sur 6). Pour la planification : tâches planifiées, à vérifier selon son abonnement.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Caler les séances 3 et 4 avant de raccrocher : aucune n'est planifiée et la formation se termine le 12/11.</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Caler les séances 3 et 4 avant de raccrocher : aucune n'est planifiée et la formation se termine le 12/11.</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25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206240"/>
            <a:ext cx="12191695" cy="2651760"/>
          </a:xfrm>
          <a:prstGeom prst="rect">
            <a:avLst/>
          </a:prstGeom>
          <a:solidFill>
            <a:srgbClr val="1E55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960120"/>
            <a:ext cx="2194560" cy="36576"/>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0"/>
            <a:ext cx="10515600" cy="731520"/>
          </a:xfrm>
          <a:prstGeom prst="rect">
            <a:avLst/>
          </a:prstGeom>
          <a:noFill/>
        </p:spPr>
        <p:txBody>
          <a:bodyPr wrap="square">
            <a:spAutoFit/>
          </a:bodyPr>
          <a:lstStyle/>
          <a:p>
            <a:pPr algn="l"/>
            <a:r>
              <a:rPr sz="1800" b="1">
                <a:solidFill>
                  <a:srgbClr val="E8A000"/>
                </a:solidFill>
                <a:latin typeface="Bricolage Grotesque"/>
              </a:rPr>
              <a:t>SÉANCE 2 / 4 · TIMOTHÉ BERNARD</a:t>
            </a:r>
          </a:p>
        </p:txBody>
      </p:sp>
      <p:sp>
        <p:nvSpPr>
          <p:cNvPr id="6" name="TextBox 5"/>
          <p:cNvSpPr txBox="1"/>
          <p:nvPr/>
        </p:nvSpPr>
        <p:spPr>
          <a:xfrm>
            <a:off x="640080" y="1920240"/>
            <a:ext cx="10881360" cy="1371600"/>
          </a:xfrm>
          <a:prstGeom prst="rect">
            <a:avLst/>
          </a:prstGeom>
          <a:noFill/>
        </p:spPr>
        <p:txBody>
          <a:bodyPr wrap="square">
            <a:spAutoFit/>
          </a:bodyPr>
          <a:lstStyle/>
          <a:p>
            <a:pPr algn="l"/>
            <a:r>
              <a:rPr sz="5000" b="1">
                <a:solidFill>
                  <a:srgbClr val="FFFFFF"/>
                </a:solidFill>
                <a:latin typeface="Bricolage Grotesque"/>
              </a:rPr>
              <a:t>Un prospect, une veille</a:t>
            </a:r>
          </a:p>
        </p:txBody>
      </p:sp>
      <p:sp>
        <p:nvSpPr>
          <p:cNvPr id="7" name="TextBox 6"/>
          <p:cNvSpPr txBox="1"/>
          <p:nvPr/>
        </p:nvSpPr>
        <p:spPr>
          <a:xfrm>
            <a:off x="640080" y="3383280"/>
            <a:ext cx="10515600" cy="731520"/>
          </a:xfrm>
          <a:prstGeom prst="rect">
            <a:avLst/>
          </a:prstGeom>
          <a:noFill/>
        </p:spPr>
        <p:txBody>
          <a:bodyPr wrap="square">
            <a:spAutoFit/>
          </a:bodyPr>
          <a:lstStyle/>
          <a:p>
            <a:pPr algn="l"/>
            <a:r>
              <a:rPr sz="2600" b="0">
                <a:solidFill>
                  <a:srgbClr val="E8A000"/>
                </a:solidFill>
                <a:latin typeface="Bricolage Grotesque"/>
              </a:rPr>
              <a:t>Préparer l'appel du plombier, construire ta veille défense</a:t>
            </a:r>
          </a:p>
        </p:txBody>
      </p:sp>
      <p:sp>
        <p:nvSpPr>
          <p:cNvPr id="8" name="TextBox 7"/>
          <p:cNvSpPr txBox="1"/>
          <p:nvPr/>
        </p:nvSpPr>
        <p:spPr>
          <a:xfrm>
            <a:off x="640080" y="4480560"/>
            <a:ext cx="10515600" cy="731520"/>
          </a:xfrm>
          <a:prstGeom prst="rect">
            <a:avLst/>
          </a:prstGeom>
          <a:noFill/>
        </p:spPr>
        <p:txBody>
          <a:bodyPr wrap="square">
            <a:spAutoFit/>
          </a:bodyPr>
          <a:lstStyle/>
          <a:p>
            <a:pPr algn="l"/>
            <a:r>
              <a:rPr sz="2000" b="0">
                <a:solidFill>
                  <a:srgbClr val="5A8A8F"/>
                </a:solidFill>
                <a:latin typeface="Bricolage Grotesque"/>
              </a:rPr>
              <a:t>Mercredi 21 octobre 2026 · 13h30-15h30 · Idris Salvi</a:t>
            </a:r>
          </a:p>
        </p:txBody>
      </p:sp>
      <p:pic>
        <p:nvPicPr>
          <p:cNvPr id="9" name="Picture 8" descr="ia-round.png"/>
          <p:cNvPicPr>
            <a:picLocks noChangeAspect="1"/>
          </p:cNvPicPr>
          <p:nvPr/>
        </p:nvPicPr>
        <p:blipFill>
          <a:blip r:embed="rId2"/>
          <a:stretch>
            <a:fillRect/>
          </a:stretch>
        </p:blipFill>
        <p:spPr>
          <a:xfrm>
            <a:off x="457200" y="6217920"/>
            <a:ext cx="320040" cy="320040"/>
          </a:xfrm>
          <a:prstGeom prst="rect">
            <a:avLst/>
          </a:prstGeom>
        </p:spPr>
      </p:pic>
      <p:sp>
        <p:nvSpPr>
          <p:cNvPr id="10" name="TextBox 9"/>
          <p:cNvSpPr txBox="1"/>
          <p:nvPr/>
        </p:nvSpPr>
        <p:spPr>
          <a:xfrm>
            <a:off x="868680" y="6199632"/>
            <a:ext cx="3657600" cy="365760"/>
          </a:xfrm>
          <a:prstGeom prst="rect">
            <a:avLst/>
          </a:prstGeom>
          <a:noFill/>
        </p:spPr>
        <p:txBody>
          <a:bodyPr wrap="square">
            <a:spAutoFit/>
          </a:bodyPr>
          <a:lstStyle/>
          <a:p>
            <a:pPr algn="l"/>
            <a:r>
              <a:rPr sz="1400" b="0">
                <a:solidFill>
                  <a:srgbClr val="FFFFFF"/>
                </a:solidFill>
                <a:latin typeface="Bricolage Grotesque"/>
              </a:rPr>
              <a:t>intelligence academy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Depuis le 9 octobre</a:t>
            </a:r>
          </a:p>
        </p:txBody>
      </p:sp>
      <p:sp>
        <p:nvSpPr>
          <p:cNvPr id="5" name="TextBox 4"/>
          <p:cNvSpPr txBox="1"/>
          <p:nvPr/>
        </p:nvSpPr>
        <p:spPr>
          <a:xfrm>
            <a:off x="640080" y="1554480"/>
            <a:ext cx="10881360" cy="411480"/>
          </a:xfrm>
          <a:prstGeom prst="rect">
            <a:avLst/>
          </a:prstGeom>
          <a:noFill/>
        </p:spPr>
        <p:txBody>
          <a:bodyPr wrap="square">
            <a:spAutoFit/>
          </a:bodyPr>
          <a:lstStyle/>
          <a:p>
            <a:r>
              <a:rPr sz="2000" b="1">
                <a:solidFill>
                  <a:srgbClr val="E8A000"/>
                </a:solidFill>
                <a:latin typeface="Bricolage Grotesque"/>
              </a:rPr>
              <a:t>« j'ai un client potentiel qui veut que je le rappelle !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Depuis le 9 octobre</a:t>
            </a:r>
          </a:p>
        </p:txBody>
      </p:sp>
      <p:sp>
        <p:nvSpPr>
          <p:cNvPr id="5" name="TextBox 4"/>
          <p:cNvSpPr txBox="1"/>
          <p:nvPr/>
        </p:nvSpPr>
        <p:spPr>
          <a:xfrm>
            <a:off x="640080" y="1554480"/>
            <a:ext cx="10881360" cy="411480"/>
          </a:xfrm>
          <a:prstGeom prst="rect">
            <a:avLst/>
          </a:prstGeom>
          <a:noFill/>
        </p:spPr>
        <p:txBody>
          <a:bodyPr wrap="square">
            <a:spAutoFit/>
          </a:bodyPr>
          <a:lstStyle/>
          <a:p>
            <a:r>
              <a:rPr sz="2000" b="1">
                <a:solidFill>
                  <a:srgbClr val="E8A000"/>
                </a:solidFill>
                <a:latin typeface="Bricolage Grotesque"/>
              </a:rPr>
              <a:t>« j'ai un client potentiel qui veut que je le rappelle ! »</a:t>
            </a:r>
          </a:p>
        </p:txBody>
      </p:sp>
      <p:sp>
        <p:nvSpPr>
          <p:cNvPr id="6" name="TextBox 5"/>
          <p:cNvSpPr txBox="1"/>
          <p:nvPr/>
        </p:nvSpPr>
        <p:spPr>
          <a:xfrm>
            <a:off x="640080" y="2313432"/>
            <a:ext cx="10881360" cy="411480"/>
          </a:xfrm>
          <a:prstGeom prst="rect">
            <a:avLst/>
          </a:prstGeom>
          <a:noFill/>
        </p:spPr>
        <p:txBody>
          <a:bodyPr wrap="square">
            <a:spAutoFit/>
          </a:bodyPr>
          <a:lstStyle/>
          <a:p>
            <a:r>
              <a:rPr sz="2000" b="1">
                <a:solidFill>
                  <a:srgbClr val="1B5E6B"/>
                </a:solidFill>
                <a:latin typeface="Bricolage Grotesque"/>
              </a:rPr>
              <a:t>12/10 : tu m'envoies ta fiche de poste dans la défense.</a:t>
            </a:r>
          </a:p>
        </p:txBody>
      </p:sp>
      <p:sp>
        <p:nvSpPr>
          <p:cNvPr id="7" name="TextBox 6"/>
          <p:cNvSpPr txBox="1"/>
          <p:nvPr/>
        </p:nvSpPr>
        <p:spPr>
          <a:xfrm>
            <a:off x="640080" y="2834640"/>
            <a:ext cx="10881360" cy="411480"/>
          </a:xfrm>
          <a:prstGeom prst="rect">
            <a:avLst/>
          </a:prstGeom>
          <a:noFill/>
        </p:spPr>
        <p:txBody>
          <a:bodyPr wrap="square">
            <a:spAutoFit/>
          </a:bodyPr>
          <a:lstStyle/>
          <a:p>
            <a:r>
              <a:rPr sz="2000" b="1">
                <a:solidFill>
                  <a:srgbClr val="1B5E6B"/>
                </a:solidFill>
                <a:latin typeface="Bricolage Grotesque"/>
              </a:rPr>
              <a:t>16/10 : tu choisis la veille concurrentielle comme exercice.</a:t>
            </a:r>
          </a:p>
        </p:txBody>
      </p:sp>
      <p:sp>
        <p:nvSpPr>
          <p:cNvPr id="8" name="TextBox 7"/>
          <p:cNvSpPr txBox="1"/>
          <p:nvPr/>
        </p:nvSpPr>
        <p:spPr>
          <a:xfrm>
            <a:off x="640080" y="3355848"/>
            <a:ext cx="10881360" cy="411480"/>
          </a:xfrm>
          <a:prstGeom prst="rect">
            <a:avLst/>
          </a:prstGeom>
          <a:noFill/>
        </p:spPr>
        <p:txBody>
          <a:bodyPr wrap="square">
            <a:spAutoFit/>
          </a:bodyPr>
          <a:lstStyle/>
          <a:p>
            <a:r>
              <a:rPr sz="2000" b="1">
                <a:solidFill>
                  <a:srgbClr val="1B5E6B"/>
                </a:solidFill>
                <a:latin typeface="Bricolage Grotesque"/>
              </a:rPr>
              <a:t>18/10 : un plombier-chauffagiste attend ton appel.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Depuis le 9 octobre</a:t>
            </a:r>
          </a:p>
        </p:txBody>
      </p:sp>
      <p:sp>
        <p:nvSpPr>
          <p:cNvPr id="5" name="TextBox 4"/>
          <p:cNvSpPr txBox="1"/>
          <p:nvPr/>
        </p:nvSpPr>
        <p:spPr>
          <a:xfrm>
            <a:off x="640080" y="1554480"/>
            <a:ext cx="10881360" cy="411480"/>
          </a:xfrm>
          <a:prstGeom prst="rect">
            <a:avLst/>
          </a:prstGeom>
          <a:noFill/>
        </p:spPr>
        <p:txBody>
          <a:bodyPr wrap="square">
            <a:spAutoFit/>
          </a:bodyPr>
          <a:lstStyle/>
          <a:p>
            <a:r>
              <a:rPr sz="2000" b="1">
                <a:solidFill>
                  <a:srgbClr val="E8A000"/>
                </a:solidFill>
                <a:latin typeface="Bricolage Grotesque"/>
              </a:rPr>
              <a:t>« j'ai un client potentiel qui veut que je le rappelle ! »</a:t>
            </a:r>
          </a:p>
        </p:txBody>
      </p:sp>
      <p:sp>
        <p:nvSpPr>
          <p:cNvPr id="6" name="TextBox 5"/>
          <p:cNvSpPr txBox="1"/>
          <p:nvPr/>
        </p:nvSpPr>
        <p:spPr>
          <a:xfrm>
            <a:off x="640080" y="2313432"/>
            <a:ext cx="10881360" cy="411480"/>
          </a:xfrm>
          <a:prstGeom prst="rect">
            <a:avLst/>
          </a:prstGeom>
          <a:noFill/>
        </p:spPr>
        <p:txBody>
          <a:bodyPr wrap="square">
            <a:spAutoFit/>
          </a:bodyPr>
          <a:lstStyle/>
          <a:p>
            <a:r>
              <a:rPr sz="2000" b="1">
                <a:solidFill>
                  <a:srgbClr val="1B5E6B"/>
                </a:solidFill>
                <a:latin typeface="Bricolage Grotesque"/>
              </a:rPr>
              <a:t>12/10 : tu m'envoies ta fiche de poste dans la défense.</a:t>
            </a:r>
          </a:p>
        </p:txBody>
      </p:sp>
      <p:sp>
        <p:nvSpPr>
          <p:cNvPr id="7" name="TextBox 6"/>
          <p:cNvSpPr txBox="1"/>
          <p:nvPr/>
        </p:nvSpPr>
        <p:spPr>
          <a:xfrm>
            <a:off x="640080" y="2834640"/>
            <a:ext cx="10881360" cy="411480"/>
          </a:xfrm>
          <a:prstGeom prst="rect">
            <a:avLst/>
          </a:prstGeom>
          <a:noFill/>
        </p:spPr>
        <p:txBody>
          <a:bodyPr wrap="square">
            <a:spAutoFit/>
          </a:bodyPr>
          <a:lstStyle/>
          <a:p>
            <a:r>
              <a:rPr sz="2000" b="1">
                <a:solidFill>
                  <a:srgbClr val="1B5E6B"/>
                </a:solidFill>
                <a:latin typeface="Bricolage Grotesque"/>
              </a:rPr>
              <a:t>16/10 : tu choisis la veille concurrentielle comme exercice.</a:t>
            </a:r>
          </a:p>
        </p:txBody>
      </p:sp>
      <p:sp>
        <p:nvSpPr>
          <p:cNvPr id="8" name="TextBox 7"/>
          <p:cNvSpPr txBox="1"/>
          <p:nvPr/>
        </p:nvSpPr>
        <p:spPr>
          <a:xfrm>
            <a:off x="640080" y="3355848"/>
            <a:ext cx="10881360" cy="411480"/>
          </a:xfrm>
          <a:prstGeom prst="rect">
            <a:avLst/>
          </a:prstGeom>
          <a:noFill/>
        </p:spPr>
        <p:txBody>
          <a:bodyPr wrap="square">
            <a:spAutoFit/>
          </a:bodyPr>
          <a:lstStyle/>
          <a:p>
            <a:r>
              <a:rPr sz="2000" b="1">
                <a:solidFill>
                  <a:srgbClr val="1B5E6B"/>
                </a:solidFill>
                <a:latin typeface="Bricolage Grotesque"/>
              </a:rPr>
              <a:t>18/10 : un plombier-chauffagiste attend ton appel.</a:t>
            </a:r>
          </a:p>
        </p:txBody>
      </p:sp>
      <p:sp>
        <p:nvSpPr>
          <p:cNvPr id="9" name="TextBox 8"/>
          <p:cNvSpPr txBox="1"/>
          <p:nvPr/>
        </p:nvSpPr>
        <p:spPr>
          <a:xfrm>
            <a:off x="640080" y="4114800"/>
            <a:ext cx="10881360" cy="411480"/>
          </a:xfrm>
          <a:prstGeom prst="rect">
            <a:avLst/>
          </a:prstGeom>
          <a:noFill/>
        </p:spPr>
        <p:txBody>
          <a:bodyPr wrap="square">
            <a:spAutoFit/>
          </a:bodyPr>
          <a:lstStyle/>
          <a:p>
            <a:r>
              <a:rPr sz="2000" b="0">
                <a:solidFill>
                  <a:srgbClr val="333333"/>
                </a:solidFill>
                <a:latin typeface="Bricolage Grotesque"/>
              </a:rPr>
              <a:t>Aujourd'hui : ton travail d'abord, puis le plombier, puis ta veille.</a:t>
            </a:r>
          </a:p>
        </p:txBody>
      </p:sp>
      <p:sp>
        <p:nvSpPr>
          <p:cNvPr id="10" name="TextBox 9"/>
          <p:cNvSpPr txBox="1"/>
          <p:nvPr/>
        </p:nvSpPr>
        <p:spPr>
          <a:xfrm>
            <a:off x="640080" y="4636008"/>
            <a:ext cx="10881360" cy="411480"/>
          </a:xfrm>
          <a:prstGeom prst="rect">
            <a:avLst/>
          </a:prstGeom>
          <a:noFill/>
        </p:spPr>
        <p:txBody>
          <a:bodyPr wrap="square">
            <a:spAutoFit/>
          </a:bodyPr>
          <a:lstStyle/>
          <a:p>
            <a:r>
              <a:rPr sz="2000" b="0">
                <a:solidFill>
                  <a:srgbClr val="333333"/>
                </a:solidFill>
                <a:latin typeface="Bricolage Grotesque"/>
              </a:rPr>
              <a:t>La veille, deux fois : avec n8n, puis avec Claude.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Le déroulé</a:t>
            </a:r>
          </a:p>
        </p:txBody>
      </p:sp>
      <p:sp>
        <p:nvSpPr>
          <p:cNvPr id="5" name="TextBox 4"/>
          <p:cNvSpPr txBox="1"/>
          <p:nvPr/>
        </p:nvSpPr>
        <p:spPr>
          <a:xfrm>
            <a:off x="777240" y="1463040"/>
            <a:ext cx="1280160" cy="365760"/>
          </a:xfrm>
          <a:prstGeom prst="rect">
            <a:avLst/>
          </a:prstGeom>
          <a:noFill/>
        </p:spPr>
        <p:txBody>
          <a:bodyPr wrap="square">
            <a:spAutoFit/>
          </a:bodyPr>
          <a:lstStyle/>
          <a:p>
            <a:pPr algn="l"/>
            <a:r>
              <a:rPr sz="1800" b="1">
                <a:solidFill>
                  <a:srgbClr val="1B5E6B"/>
                </a:solidFill>
                <a:latin typeface="Bricolage Grotesque"/>
              </a:rPr>
              <a:t>Horaire</a:t>
            </a:r>
          </a:p>
        </p:txBody>
      </p:sp>
      <p:sp>
        <p:nvSpPr>
          <p:cNvPr id="6" name="TextBox 5"/>
          <p:cNvSpPr txBox="1"/>
          <p:nvPr/>
        </p:nvSpPr>
        <p:spPr>
          <a:xfrm>
            <a:off x="2240279" y="1463040"/>
            <a:ext cx="3749039" cy="365760"/>
          </a:xfrm>
          <a:prstGeom prst="rect">
            <a:avLst/>
          </a:prstGeom>
          <a:noFill/>
        </p:spPr>
        <p:txBody>
          <a:bodyPr wrap="square">
            <a:spAutoFit/>
          </a:bodyPr>
          <a:lstStyle/>
          <a:p>
            <a:pPr algn="l"/>
            <a:r>
              <a:rPr sz="1800" b="1">
                <a:solidFill>
                  <a:srgbClr val="1B5E6B"/>
                </a:solidFill>
                <a:latin typeface="Bricolage Grotesque"/>
              </a:rPr>
              <a:t>Bloc</a:t>
            </a:r>
          </a:p>
        </p:txBody>
      </p:sp>
      <p:sp>
        <p:nvSpPr>
          <p:cNvPr id="7" name="TextBox 6"/>
          <p:cNvSpPr txBox="1"/>
          <p:nvPr/>
        </p:nvSpPr>
        <p:spPr>
          <a:xfrm>
            <a:off x="6172200" y="1463040"/>
            <a:ext cx="5303520" cy="365760"/>
          </a:xfrm>
          <a:prstGeom prst="rect">
            <a:avLst/>
          </a:prstGeom>
          <a:noFill/>
        </p:spPr>
        <p:txBody>
          <a:bodyPr wrap="square">
            <a:spAutoFit/>
          </a:bodyPr>
          <a:lstStyle/>
          <a:p>
            <a:pPr algn="l"/>
            <a:r>
              <a:rPr sz="1800" b="1">
                <a:solidFill>
                  <a:srgbClr val="1B5E6B"/>
                </a:solidFill>
                <a:latin typeface="Bricolage Grotesque"/>
              </a:rPr>
              <a:t>Tu repars avec</a:t>
            </a:r>
          </a:p>
        </p:txBody>
      </p:sp>
      <p:sp>
        <p:nvSpPr>
          <p:cNvPr id="8" name="Rectangle 7"/>
          <p:cNvSpPr/>
          <p:nvPr/>
        </p:nvSpPr>
        <p:spPr>
          <a:xfrm>
            <a:off x="640080" y="1874520"/>
            <a:ext cx="10881360" cy="27432"/>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1965960"/>
            <a:ext cx="10881360" cy="457200"/>
          </a:xfrm>
          <a:prstGeom prst="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2020824"/>
            <a:ext cx="1280160" cy="347472"/>
          </a:xfrm>
          <a:prstGeom prst="rect">
            <a:avLst/>
          </a:prstGeom>
          <a:noFill/>
        </p:spPr>
        <p:txBody>
          <a:bodyPr wrap="square">
            <a:spAutoFit/>
          </a:bodyPr>
          <a:lstStyle/>
          <a:p>
            <a:pPr algn="l"/>
            <a:r>
              <a:rPr sz="1600" b="1">
                <a:solidFill>
                  <a:srgbClr val="1A1A1A"/>
                </a:solidFill>
                <a:latin typeface="Bricolage Grotesque"/>
              </a:rPr>
              <a:t>13h30</a:t>
            </a:r>
          </a:p>
        </p:txBody>
      </p:sp>
      <p:sp>
        <p:nvSpPr>
          <p:cNvPr id="11" name="TextBox 10"/>
          <p:cNvSpPr txBox="1"/>
          <p:nvPr/>
        </p:nvSpPr>
        <p:spPr>
          <a:xfrm>
            <a:off x="2240279" y="2020824"/>
            <a:ext cx="3749039" cy="347472"/>
          </a:xfrm>
          <a:prstGeom prst="rect">
            <a:avLst/>
          </a:prstGeom>
          <a:noFill/>
        </p:spPr>
        <p:txBody>
          <a:bodyPr wrap="square">
            <a:spAutoFit/>
          </a:bodyPr>
          <a:lstStyle/>
          <a:p>
            <a:pPr algn="l"/>
            <a:r>
              <a:rPr sz="1600" b="0">
                <a:solidFill>
                  <a:srgbClr val="333333"/>
                </a:solidFill>
                <a:latin typeface="Bricolage Grotesque"/>
              </a:rPr>
              <a:t>Quiz</a:t>
            </a:r>
          </a:p>
        </p:txBody>
      </p:sp>
      <p:sp>
        <p:nvSpPr>
          <p:cNvPr id="12" name="TextBox 11"/>
          <p:cNvSpPr txBox="1"/>
          <p:nvPr/>
        </p:nvSpPr>
        <p:spPr>
          <a:xfrm>
            <a:off x="6172200" y="2020824"/>
            <a:ext cx="5303520" cy="347472"/>
          </a:xfrm>
          <a:prstGeom prst="rect">
            <a:avLst/>
          </a:prstGeom>
          <a:noFill/>
        </p:spPr>
        <p:txBody>
          <a:bodyPr wrap="square">
            <a:spAutoFit/>
          </a:bodyPr>
          <a:lstStyle/>
          <a:p>
            <a:pPr algn="l"/>
            <a:r>
              <a:rPr sz="1600" b="0">
                <a:solidFill>
                  <a:srgbClr val="333333"/>
                </a:solidFill>
                <a:latin typeface="Bricolage Grotesque"/>
              </a:rPr>
              <a:t>Les réflexes de la séance 1</a:t>
            </a:r>
          </a:p>
        </p:txBody>
      </p:sp>
      <p:sp>
        <p:nvSpPr>
          <p:cNvPr id="13" name="TextBox 12"/>
          <p:cNvSpPr txBox="1"/>
          <p:nvPr/>
        </p:nvSpPr>
        <p:spPr>
          <a:xfrm>
            <a:off x="777240" y="2478024"/>
            <a:ext cx="1280160" cy="347472"/>
          </a:xfrm>
          <a:prstGeom prst="rect">
            <a:avLst/>
          </a:prstGeom>
          <a:noFill/>
        </p:spPr>
        <p:txBody>
          <a:bodyPr wrap="square">
            <a:spAutoFit/>
          </a:bodyPr>
          <a:lstStyle/>
          <a:p>
            <a:pPr algn="l"/>
            <a:r>
              <a:rPr sz="1600" b="1">
                <a:solidFill>
                  <a:srgbClr val="1A1A1A"/>
                </a:solidFill>
                <a:latin typeface="Bricolage Grotesque"/>
              </a:rPr>
              <a:t>13h40</a:t>
            </a:r>
          </a:p>
        </p:txBody>
      </p:sp>
      <p:sp>
        <p:nvSpPr>
          <p:cNvPr id="14" name="TextBox 13"/>
          <p:cNvSpPr txBox="1"/>
          <p:nvPr/>
        </p:nvSpPr>
        <p:spPr>
          <a:xfrm>
            <a:off x="2240279" y="2478024"/>
            <a:ext cx="3749039" cy="347472"/>
          </a:xfrm>
          <a:prstGeom prst="rect">
            <a:avLst/>
          </a:prstGeom>
          <a:noFill/>
        </p:spPr>
        <p:txBody>
          <a:bodyPr wrap="square">
            <a:spAutoFit/>
          </a:bodyPr>
          <a:lstStyle/>
          <a:p>
            <a:pPr algn="l"/>
            <a:r>
              <a:rPr sz="1600" b="0">
                <a:solidFill>
                  <a:srgbClr val="333333"/>
                </a:solidFill>
                <a:latin typeface="Bricolage Grotesque"/>
              </a:rPr>
              <a:t>Ce que tu as construit</a:t>
            </a:r>
          </a:p>
        </p:txBody>
      </p:sp>
      <p:sp>
        <p:nvSpPr>
          <p:cNvPr id="15" name="TextBox 14"/>
          <p:cNvSpPr txBox="1"/>
          <p:nvPr/>
        </p:nvSpPr>
        <p:spPr>
          <a:xfrm>
            <a:off x="6172200" y="2478024"/>
            <a:ext cx="5303520" cy="347472"/>
          </a:xfrm>
          <a:prstGeom prst="rect">
            <a:avLst/>
          </a:prstGeom>
          <a:noFill/>
        </p:spPr>
        <p:txBody>
          <a:bodyPr wrap="square">
            <a:spAutoFit/>
          </a:bodyPr>
          <a:lstStyle/>
          <a:p>
            <a:pPr algn="l"/>
            <a:r>
              <a:rPr sz="1600" b="0">
                <a:solidFill>
                  <a:srgbClr val="333333"/>
                </a:solidFill>
                <a:latin typeface="Bricolage Grotesque"/>
              </a:rPr>
              <a:t>Tes workflows revus et améliorés</a:t>
            </a:r>
          </a:p>
        </p:txBody>
      </p:sp>
      <p:sp>
        <p:nvSpPr>
          <p:cNvPr id="16" name="Rectangle 15"/>
          <p:cNvSpPr/>
          <p:nvPr/>
        </p:nvSpPr>
        <p:spPr>
          <a:xfrm>
            <a:off x="640080" y="2880360"/>
            <a:ext cx="10881360" cy="457200"/>
          </a:xfrm>
          <a:prstGeom prst="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935224"/>
            <a:ext cx="1280160" cy="347472"/>
          </a:xfrm>
          <a:prstGeom prst="rect">
            <a:avLst/>
          </a:prstGeom>
          <a:noFill/>
        </p:spPr>
        <p:txBody>
          <a:bodyPr wrap="square">
            <a:spAutoFit/>
          </a:bodyPr>
          <a:lstStyle/>
          <a:p>
            <a:pPr algn="l"/>
            <a:r>
              <a:rPr sz="1600" b="1">
                <a:solidFill>
                  <a:srgbClr val="1A1A1A"/>
                </a:solidFill>
                <a:latin typeface="Bricolage Grotesque"/>
              </a:rPr>
              <a:t>14h20</a:t>
            </a:r>
          </a:p>
        </p:txBody>
      </p:sp>
      <p:sp>
        <p:nvSpPr>
          <p:cNvPr id="18" name="TextBox 17"/>
          <p:cNvSpPr txBox="1"/>
          <p:nvPr/>
        </p:nvSpPr>
        <p:spPr>
          <a:xfrm>
            <a:off x="2240279" y="2935224"/>
            <a:ext cx="3749039" cy="347472"/>
          </a:xfrm>
          <a:prstGeom prst="rect">
            <a:avLst/>
          </a:prstGeom>
          <a:noFill/>
        </p:spPr>
        <p:txBody>
          <a:bodyPr wrap="square">
            <a:spAutoFit/>
          </a:bodyPr>
          <a:lstStyle/>
          <a:p>
            <a:pPr algn="l"/>
            <a:r>
              <a:rPr sz="1600" b="0">
                <a:solidFill>
                  <a:srgbClr val="333333"/>
                </a:solidFill>
                <a:latin typeface="Bricolage Grotesque"/>
              </a:rPr>
              <a:t>Le prospect plombier</a:t>
            </a:r>
          </a:p>
        </p:txBody>
      </p:sp>
      <p:sp>
        <p:nvSpPr>
          <p:cNvPr id="19" name="TextBox 18"/>
          <p:cNvSpPr txBox="1"/>
          <p:nvPr/>
        </p:nvSpPr>
        <p:spPr>
          <a:xfrm>
            <a:off x="6172200" y="2935224"/>
            <a:ext cx="5303520" cy="347472"/>
          </a:xfrm>
          <a:prstGeom prst="rect">
            <a:avLst/>
          </a:prstGeom>
          <a:noFill/>
        </p:spPr>
        <p:txBody>
          <a:bodyPr wrap="square">
            <a:spAutoFit/>
          </a:bodyPr>
          <a:lstStyle/>
          <a:p>
            <a:pPr algn="l"/>
            <a:r>
              <a:rPr sz="1600" b="0">
                <a:solidFill>
                  <a:srgbClr val="333333"/>
                </a:solidFill>
                <a:latin typeface="Bricolage Grotesque"/>
              </a:rPr>
              <a:t>Ta trame d'appel et ton offre</a:t>
            </a:r>
          </a:p>
        </p:txBody>
      </p:sp>
      <p:sp>
        <p:nvSpPr>
          <p:cNvPr id="20" name="TextBox 19"/>
          <p:cNvSpPr txBox="1"/>
          <p:nvPr/>
        </p:nvSpPr>
        <p:spPr>
          <a:xfrm>
            <a:off x="777240" y="3392424"/>
            <a:ext cx="1280160" cy="347472"/>
          </a:xfrm>
          <a:prstGeom prst="rect">
            <a:avLst/>
          </a:prstGeom>
          <a:noFill/>
        </p:spPr>
        <p:txBody>
          <a:bodyPr wrap="square">
            <a:spAutoFit/>
          </a:bodyPr>
          <a:lstStyle/>
          <a:p>
            <a:pPr algn="l"/>
            <a:r>
              <a:rPr sz="1600" b="1">
                <a:solidFill>
                  <a:srgbClr val="1A1A1A"/>
                </a:solidFill>
                <a:latin typeface="Bricolage Grotesque"/>
              </a:rPr>
              <a:t>14h50</a:t>
            </a:r>
          </a:p>
        </p:txBody>
      </p:sp>
      <p:sp>
        <p:nvSpPr>
          <p:cNvPr id="21" name="TextBox 20"/>
          <p:cNvSpPr txBox="1"/>
          <p:nvPr/>
        </p:nvSpPr>
        <p:spPr>
          <a:xfrm>
            <a:off x="2240279" y="3392424"/>
            <a:ext cx="3749039" cy="347472"/>
          </a:xfrm>
          <a:prstGeom prst="rect">
            <a:avLst/>
          </a:prstGeom>
          <a:noFill/>
        </p:spPr>
        <p:txBody>
          <a:bodyPr wrap="square">
            <a:spAutoFit/>
          </a:bodyPr>
          <a:lstStyle/>
          <a:p>
            <a:pPr algn="l"/>
            <a:r>
              <a:rPr sz="1600" b="0">
                <a:solidFill>
                  <a:srgbClr val="333333"/>
                </a:solidFill>
                <a:latin typeface="Bricolage Grotesque"/>
              </a:rPr>
              <a:t>Veille avec n8n</a:t>
            </a:r>
          </a:p>
        </p:txBody>
      </p:sp>
      <p:sp>
        <p:nvSpPr>
          <p:cNvPr id="22" name="TextBox 21"/>
          <p:cNvSpPr txBox="1"/>
          <p:nvPr/>
        </p:nvSpPr>
        <p:spPr>
          <a:xfrm>
            <a:off x="6172200" y="3392424"/>
            <a:ext cx="5303520" cy="347472"/>
          </a:xfrm>
          <a:prstGeom prst="rect">
            <a:avLst/>
          </a:prstGeom>
          <a:noFill/>
        </p:spPr>
        <p:txBody>
          <a:bodyPr wrap="square">
            <a:spAutoFit/>
          </a:bodyPr>
          <a:lstStyle/>
          <a:p>
            <a:pPr algn="l"/>
            <a:r>
              <a:rPr sz="1600" b="0">
                <a:solidFill>
                  <a:srgbClr val="333333"/>
                </a:solidFill>
                <a:latin typeface="Bricolage Grotesque"/>
              </a:rPr>
              <a:t>Un workflow qui tourne chaque lundi</a:t>
            </a:r>
          </a:p>
        </p:txBody>
      </p:sp>
      <p:sp>
        <p:nvSpPr>
          <p:cNvPr id="23" name="Rectangle 22"/>
          <p:cNvSpPr/>
          <p:nvPr/>
        </p:nvSpPr>
        <p:spPr>
          <a:xfrm>
            <a:off x="640080" y="3794760"/>
            <a:ext cx="10881360" cy="457200"/>
          </a:xfrm>
          <a:prstGeom prst="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3849624"/>
            <a:ext cx="1280160" cy="347472"/>
          </a:xfrm>
          <a:prstGeom prst="rect">
            <a:avLst/>
          </a:prstGeom>
          <a:noFill/>
        </p:spPr>
        <p:txBody>
          <a:bodyPr wrap="square">
            <a:spAutoFit/>
          </a:bodyPr>
          <a:lstStyle/>
          <a:p>
            <a:pPr algn="l"/>
            <a:r>
              <a:rPr sz="1600" b="1">
                <a:solidFill>
                  <a:srgbClr val="1A1A1A"/>
                </a:solidFill>
                <a:latin typeface="Bricolage Grotesque"/>
              </a:rPr>
              <a:t>15h10</a:t>
            </a:r>
          </a:p>
        </p:txBody>
      </p:sp>
      <p:sp>
        <p:nvSpPr>
          <p:cNvPr id="25" name="TextBox 24"/>
          <p:cNvSpPr txBox="1"/>
          <p:nvPr/>
        </p:nvSpPr>
        <p:spPr>
          <a:xfrm>
            <a:off x="2240279" y="3849624"/>
            <a:ext cx="3749039" cy="347472"/>
          </a:xfrm>
          <a:prstGeom prst="rect">
            <a:avLst/>
          </a:prstGeom>
          <a:noFill/>
        </p:spPr>
        <p:txBody>
          <a:bodyPr wrap="square">
            <a:spAutoFit/>
          </a:bodyPr>
          <a:lstStyle/>
          <a:p>
            <a:pPr algn="l"/>
            <a:r>
              <a:rPr sz="1600" b="0">
                <a:solidFill>
                  <a:srgbClr val="333333"/>
                </a:solidFill>
                <a:latin typeface="Bricolage Grotesque"/>
              </a:rPr>
              <a:t>Veille avec Claude</a:t>
            </a:r>
          </a:p>
        </p:txBody>
      </p:sp>
      <p:sp>
        <p:nvSpPr>
          <p:cNvPr id="26" name="TextBox 25"/>
          <p:cNvSpPr txBox="1"/>
          <p:nvPr/>
        </p:nvSpPr>
        <p:spPr>
          <a:xfrm>
            <a:off x="6172200" y="3849624"/>
            <a:ext cx="5303520" cy="347472"/>
          </a:xfrm>
          <a:prstGeom prst="rect">
            <a:avLst/>
          </a:prstGeom>
          <a:noFill/>
        </p:spPr>
        <p:txBody>
          <a:bodyPr wrap="square">
            <a:spAutoFit/>
          </a:bodyPr>
          <a:lstStyle/>
          <a:p>
            <a:pPr algn="l"/>
            <a:r>
              <a:rPr sz="1600" b="0">
                <a:solidFill>
                  <a:srgbClr val="333333"/>
                </a:solidFill>
                <a:latin typeface="Bricolage Grotesque"/>
              </a:rPr>
              <a:t>Un skill comparé au workflow</a:t>
            </a:r>
          </a:p>
        </p:txBody>
      </p:sp>
      <p:sp>
        <p:nvSpPr>
          <p:cNvPr id="27" name="TextBox 26"/>
          <p:cNvSpPr txBox="1"/>
          <p:nvPr/>
        </p:nvSpPr>
        <p:spPr>
          <a:xfrm>
            <a:off x="777240" y="4306824"/>
            <a:ext cx="1280160" cy="347472"/>
          </a:xfrm>
          <a:prstGeom prst="rect">
            <a:avLst/>
          </a:prstGeom>
          <a:noFill/>
        </p:spPr>
        <p:txBody>
          <a:bodyPr wrap="square">
            <a:spAutoFit/>
          </a:bodyPr>
          <a:lstStyle/>
          <a:p>
            <a:pPr algn="l"/>
            <a:r>
              <a:rPr sz="1600" b="1">
                <a:solidFill>
                  <a:srgbClr val="1A1A1A"/>
                </a:solidFill>
                <a:latin typeface="Bricolage Grotesque"/>
              </a:rPr>
              <a:t>15h25</a:t>
            </a:r>
          </a:p>
        </p:txBody>
      </p:sp>
      <p:sp>
        <p:nvSpPr>
          <p:cNvPr id="28" name="TextBox 27"/>
          <p:cNvSpPr txBox="1"/>
          <p:nvPr/>
        </p:nvSpPr>
        <p:spPr>
          <a:xfrm>
            <a:off x="2240279" y="4306824"/>
            <a:ext cx="3749039" cy="347472"/>
          </a:xfrm>
          <a:prstGeom prst="rect">
            <a:avLst/>
          </a:prstGeom>
          <a:noFill/>
        </p:spPr>
        <p:txBody>
          <a:bodyPr wrap="square">
            <a:spAutoFit/>
          </a:bodyPr>
          <a:lstStyle/>
          <a:p>
            <a:pPr algn="l"/>
            <a:r>
              <a:rPr sz="1600" b="0">
                <a:solidFill>
                  <a:srgbClr val="333333"/>
                </a:solidFill>
                <a:latin typeface="Bricolage Grotesque"/>
              </a:rPr>
              <a:t>Devoirs</a:t>
            </a:r>
          </a:p>
        </p:txBody>
      </p:sp>
      <p:sp>
        <p:nvSpPr>
          <p:cNvPr id="29" name="TextBox 28"/>
          <p:cNvSpPr txBox="1"/>
          <p:nvPr/>
        </p:nvSpPr>
        <p:spPr>
          <a:xfrm>
            <a:off x="6172200" y="4306824"/>
            <a:ext cx="5303520" cy="347472"/>
          </a:xfrm>
          <a:prstGeom prst="rect">
            <a:avLst/>
          </a:prstGeom>
          <a:noFill/>
        </p:spPr>
        <p:txBody>
          <a:bodyPr wrap="square">
            <a:spAutoFit/>
          </a:bodyPr>
          <a:lstStyle/>
          <a:p>
            <a:pPr algn="l"/>
            <a:r>
              <a:rPr sz="1600" b="0">
                <a:solidFill>
                  <a:srgbClr val="333333"/>
                </a:solidFill>
                <a:latin typeface="Bricolage Grotesque"/>
              </a:rPr>
              <a:t>Ta semaine, et la date de la séance 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1965960"/>
            <a:ext cx="2743200" cy="36576"/>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515600" cy="731520"/>
          </a:xfrm>
          <a:prstGeom prst="rect">
            <a:avLst/>
          </a:prstGeom>
          <a:noFill/>
        </p:spPr>
        <p:txBody>
          <a:bodyPr wrap="square">
            <a:spAutoFit/>
          </a:bodyPr>
          <a:lstStyle/>
          <a:p>
            <a:pPr algn="l"/>
            <a:r>
              <a:rPr sz="2200" b="1">
                <a:solidFill>
                  <a:srgbClr val="E8A000"/>
                </a:solidFill>
                <a:latin typeface="Bricolage Grotesque"/>
              </a:rPr>
              <a:t>Séquence 1</a:t>
            </a:r>
          </a:p>
        </p:txBody>
      </p:sp>
      <p:sp>
        <p:nvSpPr>
          <p:cNvPr id="5" name="TextBox 4"/>
          <p:cNvSpPr txBox="1"/>
          <p:nvPr/>
        </p:nvSpPr>
        <p:spPr>
          <a:xfrm>
            <a:off x="640080" y="2286000"/>
            <a:ext cx="10698480" cy="1645920"/>
          </a:xfrm>
          <a:prstGeom prst="rect">
            <a:avLst/>
          </a:prstGeom>
          <a:noFill/>
        </p:spPr>
        <p:txBody>
          <a:bodyPr wrap="square">
            <a:spAutoFit/>
          </a:bodyPr>
          <a:lstStyle/>
          <a:p>
            <a:pPr algn="l"/>
            <a:r>
              <a:rPr sz="4200" b="1">
                <a:solidFill>
                  <a:srgbClr val="FFFFFF"/>
                </a:solidFill>
                <a:latin typeface="Bricolage Grotesque"/>
              </a:rPr>
              <a:t>Quiz d'ouverture</a:t>
            </a:r>
          </a:p>
        </p:txBody>
      </p:sp>
      <p:sp>
        <p:nvSpPr>
          <p:cNvPr id="6" name="TextBox 5"/>
          <p:cNvSpPr txBox="1"/>
          <p:nvPr/>
        </p:nvSpPr>
        <p:spPr>
          <a:xfrm>
            <a:off x="640080" y="4023360"/>
            <a:ext cx="10515600" cy="731520"/>
          </a:xfrm>
          <a:prstGeom prst="rect">
            <a:avLst/>
          </a:prstGeom>
          <a:noFill/>
        </p:spPr>
        <p:txBody>
          <a:bodyPr wrap="square">
            <a:spAutoFit/>
          </a:bodyPr>
          <a:lstStyle/>
          <a:p>
            <a:pPr algn="l"/>
            <a:r>
              <a:rPr sz="2000" b="0">
                <a:solidFill>
                  <a:srgbClr val="5A8A8F"/>
                </a:solidFill>
                <a:latin typeface="Bricolage Grotesque"/>
              </a:rPr>
              <a:t>Quatre questions sur la séance 1</a:t>
            </a:r>
          </a:p>
        </p:txBody>
      </p:sp>
      <p:pic>
        <p:nvPicPr>
          <p:cNvPr id="7" name="Picture 6" descr="ia-round.png"/>
          <p:cNvPicPr>
            <a:picLocks noChangeAspect="1"/>
          </p:cNvPicPr>
          <p:nvPr/>
        </p:nvPicPr>
        <p:blipFill>
          <a:blip r:embed="rId2"/>
          <a:stretch>
            <a:fillRect/>
          </a:stretch>
        </p:blipFill>
        <p:spPr>
          <a:xfrm>
            <a:off x="457200" y="6217920"/>
            <a:ext cx="320040" cy="320040"/>
          </a:xfrm>
          <a:prstGeom prst="rect">
            <a:avLst/>
          </a:prstGeom>
        </p:spPr>
      </p:pic>
      <p:sp>
        <p:nvSpPr>
          <p:cNvPr id="8" name="TextBox 7"/>
          <p:cNvSpPr txBox="1"/>
          <p:nvPr/>
        </p:nvSpPr>
        <p:spPr>
          <a:xfrm>
            <a:off x="868680" y="6199632"/>
            <a:ext cx="3657600" cy="365760"/>
          </a:xfrm>
          <a:prstGeom prst="rect">
            <a:avLst/>
          </a:prstGeom>
          <a:noFill/>
        </p:spPr>
        <p:txBody>
          <a:bodyPr wrap="square">
            <a:spAutoFit/>
          </a:bodyPr>
          <a:lstStyle/>
          <a:p>
            <a:pPr algn="l"/>
            <a:r>
              <a:rPr sz="1400" b="0">
                <a:solidFill>
                  <a:srgbClr val="FFFFFF"/>
                </a:solidFill>
                <a:latin typeface="Bricolage Grotesque"/>
              </a:rPr>
              <a:t>intelligence academy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Quiz · Question 1 / 4</a:t>
            </a:r>
          </a:p>
        </p:txBody>
      </p:sp>
      <p:sp>
        <p:nvSpPr>
          <p:cNvPr id="5" name="TextBox 4"/>
          <p:cNvSpPr txBox="1"/>
          <p:nvPr/>
        </p:nvSpPr>
        <p:spPr>
          <a:xfrm>
            <a:off x="640080" y="1417320"/>
            <a:ext cx="10881360" cy="731520"/>
          </a:xfrm>
          <a:prstGeom prst="rect">
            <a:avLst/>
          </a:prstGeom>
          <a:noFill/>
        </p:spPr>
        <p:txBody>
          <a:bodyPr wrap="square">
            <a:spAutoFit/>
          </a:bodyPr>
          <a:lstStyle/>
          <a:p>
            <a:pPr algn="l"/>
            <a:r>
              <a:rPr sz="2400" b="1">
                <a:solidFill>
                  <a:srgbClr val="1A1A1A"/>
                </a:solidFill>
                <a:latin typeface="Bricolage Grotesque"/>
              </a:rPr>
              <a:t>Pourquoi Tally écrit-il directement dans Airtable, sans passer par n8n ?</a:t>
            </a:r>
          </a:p>
        </p:txBody>
      </p:sp>
      <p:sp>
        <p:nvSpPr>
          <p:cNvPr id="6" name="Rounded Rectangle 5"/>
          <p:cNvSpPr/>
          <p:nvPr/>
        </p:nvSpPr>
        <p:spPr>
          <a:xfrm>
            <a:off x="640080" y="2286000"/>
            <a:ext cx="10881360" cy="530352"/>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359152"/>
            <a:ext cx="10515600" cy="384048"/>
          </a:xfrm>
          <a:prstGeom prst="rect">
            <a:avLst/>
          </a:prstGeom>
          <a:noFill/>
        </p:spPr>
        <p:txBody>
          <a:bodyPr wrap="square">
            <a:spAutoFit/>
          </a:bodyPr>
          <a:lstStyle/>
          <a:p>
            <a:pPr algn="l"/>
            <a:r>
              <a:rPr sz="1900" b="0">
                <a:solidFill>
                  <a:srgbClr val="333333"/>
                </a:solidFill>
                <a:latin typeface="Bricolage Grotesque"/>
              </a:rPr>
              <a:t>A.  C'est plus rapide pour le client</a:t>
            </a:r>
          </a:p>
        </p:txBody>
      </p:sp>
      <p:sp>
        <p:nvSpPr>
          <p:cNvPr id="8" name="Rounded Rectangle 7"/>
          <p:cNvSpPr/>
          <p:nvPr/>
        </p:nvSpPr>
        <p:spPr>
          <a:xfrm>
            <a:off x="640080" y="2926080"/>
            <a:ext cx="10881360" cy="530352"/>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999232"/>
            <a:ext cx="10515600" cy="384048"/>
          </a:xfrm>
          <a:prstGeom prst="rect">
            <a:avLst/>
          </a:prstGeom>
          <a:noFill/>
        </p:spPr>
        <p:txBody>
          <a:bodyPr wrap="square">
            <a:spAutoFit/>
          </a:bodyPr>
          <a:lstStyle/>
          <a:p>
            <a:pPr algn="l"/>
            <a:r>
              <a:rPr sz="1900" b="0">
                <a:solidFill>
                  <a:srgbClr val="333333"/>
                </a:solidFill>
                <a:latin typeface="Bricolage Grotesque"/>
              </a:rPr>
              <a:t>B.  Si n8n plante, aucune demande n'est perdue</a:t>
            </a:r>
          </a:p>
        </p:txBody>
      </p:sp>
      <p:sp>
        <p:nvSpPr>
          <p:cNvPr id="10" name="Rounded Rectangle 9"/>
          <p:cNvSpPr/>
          <p:nvPr/>
        </p:nvSpPr>
        <p:spPr>
          <a:xfrm>
            <a:off x="640080" y="3566160"/>
            <a:ext cx="10881360" cy="530352"/>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3639312"/>
            <a:ext cx="10515600" cy="384048"/>
          </a:xfrm>
          <a:prstGeom prst="rect">
            <a:avLst/>
          </a:prstGeom>
          <a:noFill/>
        </p:spPr>
        <p:txBody>
          <a:bodyPr wrap="square">
            <a:spAutoFit/>
          </a:bodyPr>
          <a:lstStyle/>
          <a:p>
            <a:pPr algn="l"/>
            <a:r>
              <a:rPr sz="1900" b="0">
                <a:solidFill>
                  <a:srgbClr val="333333"/>
                </a:solidFill>
                <a:latin typeface="Bricolage Grotesque"/>
              </a:rPr>
              <a:t>C.  Tally ne sait pas appeler un webhook</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Quiz · Question 1 / 4</a:t>
            </a:r>
          </a:p>
        </p:txBody>
      </p:sp>
      <p:sp>
        <p:nvSpPr>
          <p:cNvPr id="5" name="TextBox 4"/>
          <p:cNvSpPr txBox="1"/>
          <p:nvPr/>
        </p:nvSpPr>
        <p:spPr>
          <a:xfrm>
            <a:off x="640080" y="1417320"/>
            <a:ext cx="10881360" cy="731520"/>
          </a:xfrm>
          <a:prstGeom prst="rect">
            <a:avLst/>
          </a:prstGeom>
          <a:noFill/>
        </p:spPr>
        <p:txBody>
          <a:bodyPr wrap="square">
            <a:spAutoFit/>
          </a:bodyPr>
          <a:lstStyle/>
          <a:p>
            <a:pPr algn="l"/>
            <a:r>
              <a:rPr sz="2400" b="1">
                <a:solidFill>
                  <a:srgbClr val="1A1A1A"/>
                </a:solidFill>
                <a:latin typeface="Bricolage Grotesque"/>
              </a:rPr>
              <a:t>Pourquoi Tally écrit-il directement dans Airtable, sans passer par n8n ?</a:t>
            </a:r>
          </a:p>
        </p:txBody>
      </p:sp>
      <p:sp>
        <p:nvSpPr>
          <p:cNvPr id="6" name="Rounded Rectangle 5"/>
          <p:cNvSpPr/>
          <p:nvPr/>
        </p:nvSpPr>
        <p:spPr>
          <a:xfrm>
            <a:off x="640080" y="2286000"/>
            <a:ext cx="10881360" cy="530352"/>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359152"/>
            <a:ext cx="10515600" cy="384048"/>
          </a:xfrm>
          <a:prstGeom prst="rect">
            <a:avLst/>
          </a:prstGeom>
          <a:noFill/>
        </p:spPr>
        <p:txBody>
          <a:bodyPr wrap="square">
            <a:spAutoFit/>
          </a:bodyPr>
          <a:lstStyle/>
          <a:p>
            <a:pPr algn="l"/>
            <a:r>
              <a:rPr sz="1900" b="0">
                <a:solidFill>
                  <a:srgbClr val="333333"/>
                </a:solidFill>
                <a:latin typeface="Bricolage Grotesque"/>
              </a:rPr>
              <a:t>A.  C'est plus rapide pour le client</a:t>
            </a:r>
          </a:p>
        </p:txBody>
      </p:sp>
      <p:sp>
        <p:nvSpPr>
          <p:cNvPr id="8" name="Rounded Rectangle 7"/>
          <p:cNvSpPr/>
          <p:nvPr/>
        </p:nvSpPr>
        <p:spPr>
          <a:xfrm>
            <a:off x="640080" y="2926080"/>
            <a:ext cx="10881360" cy="530352"/>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999232"/>
            <a:ext cx="10515600" cy="384048"/>
          </a:xfrm>
          <a:prstGeom prst="rect">
            <a:avLst/>
          </a:prstGeom>
          <a:noFill/>
        </p:spPr>
        <p:txBody>
          <a:bodyPr wrap="square">
            <a:spAutoFit/>
          </a:bodyPr>
          <a:lstStyle/>
          <a:p>
            <a:pPr algn="l"/>
            <a:r>
              <a:rPr sz="1900" b="0">
                <a:solidFill>
                  <a:srgbClr val="333333"/>
                </a:solidFill>
                <a:latin typeface="Bricolage Grotesque"/>
              </a:rPr>
              <a:t>B.  Si n8n plante, aucune demande n'est perdue</a:t>
            </a:r>
          </a:p>
        </p:txBody>
      </p:sp>
      <p:sp>
        <p:nvSpPr>
          <p:cNvPr id="10" name="Rounded Rectangle 9"/>
          <p:cNvSpPr/>
          <p:nvPr/>
        </p:nvSpPr>
        <p:spPr>
          <a:xfrm>
            <a:off x="640080" y="3566160"/>
            <a:ext cx="10881360" cy="530352"/>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3639312"/>
            <a:ext cx="10515600" cy="384048"/>
          </a:xfrm>
          <a:prstGeom prst="rect">
            <a:avLst/>
          </a:prstGeom>
          <a:noFill/>
        </p:spPr>
        <p:txBody>
          <a:bodyPr wrap="square">
            <a:spAutoFit/>
          </a:bodyPr>
          <a:lstStyle/>
          <a:p>
            <a:pPr algn="l"/>
            <a:r>
              <a:rPr sz="1900" b="0">
                <a:solidFill>
                  <a:srgbClr val="333333"/>
                </a:solidFill>
                <a:latin typeface="Bricolage Grotesque"/>
              </a:rPr>
              <a:t>C.  Tally ne sait pas appeler un webhook</a:t>
            </a:r>
          </a:p>
        </p:txBody>
      </p:sp>
      <p:sp>
        <p:nvSpPr>
          <p:cNvPr id="12" name="Rounded Rectangle 11"/>
          <p:cNvSpPr/>
          <p:nvPr/>
        </p:nvSpPr>
        <p:spPr>
          <a:xfrm>
            <a:off x="640080" y="4343400"/>
            <a:ext cx="10881360" cy="1051560"/>
          </a:xfrm>
          <a:prstGeom prst="roundRect">
            <a:avLst/>
          </a:prstGeom>
          <a:solidFill>
            <a:srgbClr val="1B5E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4434840"/>
            <a:ext cx="10515600" cy="384048"/>
          </a:xfrm>
          <a:prstGeom prst="rect">
            <a:avLst/>
          </a:prstGeom>
          <a:noFill/>
        </p:spPr>
        <p:txBody>
          <a:bodyPr wrap="square">
            <a:spAutoFit/>
          </a:bodyPr>
          <a:lstStyle/>
          <a:p>
            <a:pPr algn="l"/>
            <a:r>
              <a:rPr sz="1800" b="1">
                <a:solidFill>
                  <a:srgbClr val="FFFFFF"/>
                </a:solidFill>
                <a:latin typeface="Bricolage Grotesque"/>
              </a:rPr>
              <a:t>Réponse B : la demande est en sécurité dans Airtable.</a:t>
            </a:r>
          </a:p>
        </p:txBody>
      </p:sp>
      <p:sp>
        <p:nvSpPr>
          <p:cNvPr id="14" name="TextBox 13"/>
          <p:cNvSpPr txBox="1"/>
          <p:nvPr/>
        </p:nvSpPr>
        <p:spPr>
          <a:xfrm>
            <a:off x="868680" y="4864607"/>
            <a:ext cx="10515600" cy="384048"/>
          </a:xfrm>
          <a:prstGeom prst="rect">
            <a:avLst/>
          </a:prstGeom>
          <a:noFill/>
        </p:spPr>
        <p:txBody>
          <a:bodyPr wrap="square">
            <a:spAutoFit/>
          </a:bodyPr>
          <a:lstStyle/>
          <a:p>
            <a:pPr algn="l"/>
            <a:r>
              <a:rPr sz="1800" b="1">
                <a:solidFill>
                  <a:srgbClr val="FFFFFF"/>
                </a:solidFill>
                <a:latin typeface="Bricolage Grotesque"/>
              </a:rPr>
              <a:t>n8n travaille ensuite à partir de la base, pas à partir du formulaire.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Quiz · Question 2 / 4</a:t>
            </a:r>
          </a:p>
        </p:txBody>
      </p:sp>
      <p:sp>
        <p:nvSpPr>
          <p:cNvPr id="5" name="TextBox 4"/>
          <p:cNvSpPr txBox="1"/>
          <p:nvPr/>
        </p:nvSpPr>
        <p:spPr>
          <a:xfrm>
            <a:off x="640080" y="1417320"/>
            <a:ext cx="10881360" cy="731520"/>
          </a:xfrm>
          <a:prstGeom prst="rect">
            <a:avLst/>
          </a:prstGeom>
          <a:noFill/>
        </p:spPr>
        <p:txBody>
          <a:bodyPr wrap="square">
            <a:spAutoFit/>
          </a:bodyPr>
          <a:lstStyle/>
          <a:p>
            <a:pPr algn="l"/>
            <a:r>
              <a:rPr sz="2400" b="1">
                <a:solidFill>
                  <a:srgbClr val="1A1A1A"/>
                </a:solidFill>
                <a:latin typeface="Bricolage Grotesque"/>
              </a:rPr>
              <a:t>Aucune règle de ton Switch ne correspond à la demande. Que devient-elle ?</a:t>
            </a:r>
          </a:p>
        </p:txBody>
      </p:sp>
      <p:sp>
        <p:nvSpPr>
          <p:cNvPr id="6" name="Rounded Rectangle 5"/>
          <p:cNvSpPr/>
          <p:nvPr/>
        </p:nvSpPr>
        <p:spPr>
          <a:xfrm>
            <a:off x="640080" y="2286000"/>
            <a:ext cx="10881360" cy="530352"/>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359152"/>
            <a:ext cx="10515600" cy="384048"/>
          </a:xfrm>
          <a:prstGeom prst="rect">
            <a:avLst/>
          </a:prstGeom>
          <a:noFill/>
        </p:spPr>
        <p:txBody>
          <a:bodyPr wrap="square">
            <a:spAutoFit/>
          </a:bodyPr>
          <a:lstStyle/>
          <a:p>
            <a:pPr algn="l"/>
            <a:r>
              <a:rPr sz="1900" b="0">
                <a:solidFill>
                  <a:srgbClr val="333333"/>
                </a:solidFill>
                <a:latin typeface="Bricolage Grotesque"/>
              </a:rPr>
              <a:t>A.  n8n affiche une erreur</a:t>
            </a:r>
          </a:p>
        </p:txBody>
      </p:sp>
      <p:sp>
        <p:nvSpPr>
          <p:cNvPr id="8" name="Rounded Rectangle 7"/>
          <p:cNvSpPr/>
          <p:nvPr/>
        </p:nvSpPr>
        <p:spPr>
          <a:xfrm>
            <a:off x="640080" y="2926080"/>
            <a:ext cx="10881360" cy="530352"/>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999232"/>
            <a:ext cx="10515600" cy="384048"/>
          </a:xfrm>
          <a:prstGeom prst="rect">
            <a:avLst/>
          </a:prstGeom>
          <a:noFill/>
        </p:spPr>
        <p:txBody>
          <a:bodyPr wrap="square">
            <a:spAutoFit/>
          </a:bodyPr>
          <a:lstStyle/>
          <a:p>
            <a:pPr algn="l"/>
            <a:r>
              <a:rPr sz="1900" b="0">
                <a:solidFill>
                  <a:srgbClr val="333333"/>
                </a:solidFill>
                <a:latin typeface="Bricolage Grotesque"/>
              </a:rPr>
              <a:t>B.  Elle est abandonnée, sans aucun message</a:t>
            </a:r>
          </a:p>
        </p:txBody>
      </p:sp>
      <p:sp>
        <p:nvSpPr>
          <p:cNvPr id="10" name="Rounded Rectangle 9"/>
          <p:cNvSpPr/>
          <p:nvPr/>
        </p:nvSpPr>
        <p:spPr>
          <a:xfrm>
            <a:off x="640080" y="3566160"/>
            <a:ext cx="10881360" cy="530352"/>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3639312"/>
            <a:ext cx="10515600" cy="384048"/>
          </a:xfrm>
          <a:prstGeom prst="rect">
            <a:avLst/>
          </a:prstGeom>
          <a:noFill/>
        </p:spPr>
        <p:txBody>
          <a:bodyPr wrap="square">
            <a:spAutoFit/>
          </a:bodyPr>
          <a:lstStyle/>
          <a:p>
            <a:pPr algn="l"/>
            <a:r>
              <a:rPr sz="1900" b="0">
                <a:solidFill>
                  <a:srgbClr val="333333"/>
                </a:solidFill>
                <a:latin typeface="Bricolage Grotesque"/>
              </a:rPr>
              <a:t>C.  Elle part dans la première sortie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Quiz · Question 2 / 4</a:t>
            </a:r>
          </a:p>
        </p:txBody>
      </p:sp>
      <p:sp>
        <p:nvSpPr>
          <p:cNvPr id="5" name="TextBox 4"/>
          <p:cNvSpPr txBox="1"/>
          <p:nvPr/>
        </p:nvSpPr>
        <p:spPr>
          <a:xfrm>
            <a:off x="640080" y="1417320"/>
            <a:ext cx="10881360" cy="731520"/>
          </a:xfrm>
          <a:prstGeom prst="rect">
            <a:avLst/>
          </a:prstGeom>
          <a:noFill/>
        </p:spPr>
        <p:txBody>
          <a:bodyPr wrap="square">
            <a:spAutoFit/>
          </a:bodyPr>
          <a:lstStyle/>
          <a:p>
            <a:pPr algn="l"/>
            <a:r>
              <a:rPr sz="2400" b="1">
                <a:solidFill>
                  <a:srgbClr val="1A1A1A"/>
                </a:solidFill>
                <a:latin typeface="Bricolage Grotesque"/>
              </a:rPr>
              <a:t>Aucune règle de ton Switch ne correspond à la demande. Que devient-elle ?</a:t>
            </a:r>
          </a:p>
        </p:txBody>
      </p:sp>
      <p:sp>
        <p:nvSpPr>
          <p:cNvPr id="6" name="Rounded Rectangle 5"/>
          <p:cNvSpPr/>
          <p:nvPr/>
        </p:nvSpPr>
        <p:spPr>
          <a:xfrm>
            <a:off x="640080" y="2286000"/>
            <a:ext cx="10881360" cy="530352"/>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359152"/>
            <a:ext cx="10515600" cy="384048"/>
          </a:xfrm>
          <a:prstGeom prst="rect">
            <a:avLst/>
          </a:prstGeom>
          <a:noFill/>
        </p:spPr>
        <p:txBody>
          <a:bodyPr wrap="square">
            <a:spAutoFit/>
          </a:bodyPr>
          <a:lstStyle/>
          <a:p>
            <a:pPr algn="l"/>
            <a:r>
              <a:rPr sz="1900" b="0">
                <a:solidFill>
                  <a:srgbClr val="333333"/>
                </a:solidFill>
                <a:latin typeface="Bricolage Grotesque"/>
              </a:rPr>
              <a:t>A.  n8n affiche une erreur</a:t>
            </a:r>
          </a:p>
        </p:txBody>
      </p:sp>
      <p:sp>
        <p:nvSpPr>
          <p:cNvPr id="8" name="Rounded Rectangle 7"/>
          <p:cNvSpPr/>
          <p:nvPr/>
        </p:nvSpPr>
        <p:spPr>
          <a:xfrm>
            <a:off x="640080" y="2926080"/>
            <a:ext cx="10881360" cy="530352"/>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999232"/>
            <a:ext cx="10515600" cy="384048"/>
          </a:xfrm>
          <a:prstGeom prst="rect">
            <a:avLst/>
          </a:prstGeom>
          <a:noFill/>
        </p:spPr>
        <p:txBody>
          <a:bodyPr wrap="square">
            <a:spAutoFit/>
          </a:bodyPr>
          <a:lstStyle/>
          <a:p>
            <a:pPr algn="l"/>
            <a:r>
              <a:rPr sz="1900" b="0">
                <a:solidFill>
                  <a:srgbClr val="333333"/>
                </a:solidFill>
                <a:latin typeface="Bricolage Grotesque"/>
              </a:rPr>
              <a:t>B.  Elle est abandonnée, sans aucun message</a:t>
            </a:r>
          </a:p>
        </p:txBody>
      </p:sp>
      <p:sp>
        <p:nvSpPr>
          <p:cNvPr id="10" name="Rounded Rectangle 9"/>
          <p:cNvSpPr/>
          <p:nvPr/>
        </p:nvSpPr>
        <p:spPr>
          <a:xfrm>
            <a:off x="640080" y="3566160"/>
            <a:ext cx="10881360" cy="530352"/>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3639312"/>
            <a:ext cx="10515600" cy="384048"/>
          </a:xfrm>
          <a:prstGeom prst="rect">
            <a:avLst/>
          </a:prstGeom>
          <a:noFill/>
        </p:spPr>
        <p:txBody>
          <a:bodyPr wrap="square">
            <a:spAutoFit/>
          </a:bodyPr>
          <a:lstStyle/>
          <a:p>
            <a:pPr algn="l"/>
            <a:r>
              <a:rPr sz="1900" b="0">
                <a:solidFill>
                  <a:srgbClr val="333333"/>
                </a:solidFill>
                <a:latin typeface="Bricolage Grotesque"/>
              </a:rPr>
              <a:t>C.  Elle part dans la première sortie</a:t>
            </a:r>
          </a:p>
        </p:txBody>
      </p:sp>
      <p:sp>
        <p:nvSpPr>
          <p:cNvPr id="12" name="Rounded Rectangle 11"/>
          <p:cNvSpPr/>
          <p:nvPr/>
        </p:nvSpPr>
        <p:spPr>
          <a:xfrm>
            <a:off x="640080" y="4343400"/>
            <a:ext cx="10881360" cy="1051560"/>
          </a:xfrm>
          <a:prstGeom prst="roundRect">
            <a:avLst/>
          </a:prstGeom>
          <a:solidFill>
            <a:srgbClr val="1B5E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4434840"/>
            <a:ext cx="10515600" cy="384048"/>
          </a:xfrm>
          <a:prstGeom prst="rect">
            <a:avLst/>
          </a:prstGeom>
          <a:noFill/>
        </p:spPr>
        <p:txBody>
          <a:bodyPr wrap="square">
            <a:spAutoFit/>
          </a:bodyPr>
          <a:lstStyle/>
          <a:p>
            <a:pPr algn="l"/>
            <a:r>
              <a:rPr sz="1800" b="1">
                <a:solidFill>
                  <a:srgbClr val="FFFFFF"/>
                </a:solidFill>
                <a:latin typeface="Bricolage Grotesque"/>
              </a:rPr>
              <a:t>Réponse B : d'où le « Fallback Output », une sortie de secours.</a:t>
            </a:r>
          </a:p>
        </p:txBody>
      </p:sp>
      <p:sp>
        <p:nvSpPr>
          <p:cNvPr id="14" name="TextBox 13"/>
          <p:cNvSpPr txBox="1"/>
          <p:nvPr/>
        </p:nvSpPr>
        <p:spPr>
          <a:xfrm>
            <a:off x="868680" y="4864607"/>
            <a:ext cx="10515600" cy="384048"/>
          </a:xfrm>
          <a:prstGeom prst="rect">
            <a:avLst/>
          </a:prstGeom>
          <a:noFill/>
        </p:spPr>
        <p:txBody>
          <a:bodyPr wrap="square">
            <a:spAutoFit/>
          </a:bodyPr>
          <a:lstStyle/>
          <a:p>
            <a:pPr algn="l"/>
            <a:r>
              <a:rPr sz="1800" b="1">
                <a:solidFill>
                  <a:srgbClr val="FFFFFF"/>
                </a:solidFill>
                <a:latin typeface="Bricolage Grotesque"/>
              </a:rPr>
              <a:t>Sans lui, tu ne sauras jamais qu'une demande a disparu.</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Quiz · Question 3 / 4</a:t>
            </a:r>
          </a:p>
        </p:txBody>
      </p:sp>
      <p:sp>
        <p:nvSpPr>
          <p:cNvPr id="5" name="TextBox 4"/>
          <p:cNvSpPr txBox="1"/>
          <p:nvPr/>
        </p:nvSpPr>
        <p:spPr>
          <a:xfrm>
            <a:off x="640080" y="1417320"/>
            <a:ext cx="10881360" cy="731520"/>
          </a:xfrm>
          <a:prstGeom prst="rect">
            <a:avLst/>
          </a:prstGeom>
          <a:noFill/>
        </p:spPr>
        <p:txBody>
          <a:bodyPr wrap="square">
            <a:spAutoFit/>
          </a:bodyPr>
          <a:lstStyle/>
          <a:p>
            <a:pPr algn="l"/>
            <a:r>
              <a:rPr sz="2400" b="1">
                <a:solidFill>
                  <a:srgbClr val="1A1A1A"/>
                </a:solidFill>
                <a:latin typeface="Bricolage Grotesque"/>
              </a:rPr>
              <a:t>Ta relance J+3 plante à 9h. Comment es-tu prévenu ?</a:t>
            </a:r>
          </a:p>
        </p:txBody>
      </p:sp>
      <p:sp>
        <p:nvSpPr>
          <p:cNvPr id="6" name="Rounded Rectangle 5"/>
          <p:cNvSpPr/>
          <p:nvPr/>
        </p:nvSpPr>
        <p:spPr>
          <a:xfrm>
            <a:off x="640080" y="2286000"/>
            <a:ext cx="10881360" cy="530352"/>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359152"/>
            <a:ext cx="10515600" cy="384048"/>
          </a:xfrm>
          <a:prstGeom prst="rect">
            <a:avLst/>
          </a:prstGeom>
          <a:noFill/>
        </p:spPr>
        <p:txBody>
          <a:bodyPr wrap="square">
            <a:spAutoFit/>
          </a:bodyPr>
          <a:lstStyle/>
          <a:p>
            <a:pPr algn="l"/>
            <a:r>
              <a:rPr sz="1900" b="0">
                <a:solidFill>
                  <a:srgbClr val="333333"/>
                </a:solidFill>
                <a:latin typeface="Bricolage Grotesque"/>
              </a:rPr>
              <a:t>A.  n8n t'écrit automatiquement</a:t>
            </a:r>
          </a:p>
        </p:txBody>
      </p:sp>
      <p:sp>
        <p:nvSpPr>
          <p:cNvPr id="8" name="Rounded Rectangle 7"/>
          <p:cNvSpPr/>
          <p:nvPr/>
        </p:nvSpPr>
        <p:spPr>
          <a:xfrm>
            <a:off x="640080" y="2926080"/>
            <a:ext cx="10881360" cy="530352"/>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999232"/>
            <a:ext cx="10515600" cy="384048"/>
          </a:xfrm>
          <a:prstGeom prst="rect">
            <a:avLst/>
          </a:prstGeom>
          <a:noFill/>
        </p:spPr>
        <p:txBody>
          <a:bodyPr wrap="square">
            <a:spAutoFit/>
          </a:bodyPr>
          <a:lstStyle/>
          <a:p>
            <a:pPr algn="l"/>
            <a:r>
              <a:rPr sz="1900" b="0">
                <a:solidFill>
                  <a:srgbClr val="333333"/>
                </a:solidFill>
                <a:latin typeface="Bricolage Grotesque"/>
              </a:rPr>
              <a:t>B.  Par ton workflow « Erreurs », choisi dans les Settings de J+3</a:t>
            </a:r>
          </a:p>
        </p:txBody>
      </p:sp>
      <p:sp>
        <p:nvSpPr>
          <p:cNvPr id="10" name="Rounded Rectangle 9"/>
          <p:cNvSpPr/>
          <p:nvPr/>
        </p:nvSpPr>
        <p:spPr>
          <a:xfrm>
            <a:off x="640080" y="3566160"/>
            <a:ext cx="10881360" cy="530352"/>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3639312"/>
            <a:ext cx="10515600" cy="384048"/>
          </a:xfrm>
          <a:prstGeom prst="rect">
            <a:avLst/>
          </a:prstGeom>
          <a:noFill/>
        </p:spPr>
        <p:txBody>
          <a:bodyPr wrap="square">
            <a:spAutoFit/>
          </a:bodyPr>
          <a:lstStyle/>
          <a:p>
            <a:pPr algn="l"/>
            <a:r>
              <a:rPr sz="1900" b="0">
                <a:solidFill>
                  <a:srgbClr val="333333"/>
                </a:solidFill>
                <a:latin typeface="Bricolage Grotesque"/>
              </a:rPr>
              <a:t>C.  Le client te le dit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Quiz · Question 3 / 4</a:t>
            </a:r>
          </a:p>
        </p:txBody>
      </p:sp>
      <p:sp>
        <p:nvSpPr>
          <p:cNvPr id="5" name="TextBox 4"/>
          <p:cNvSpPr txBox="1"/>
          <p:nvPr/>
        </p:nvSpPr>
        <p:spPr>
          <a:xfrm>
            <a:off x="640080" y="1417320"/>
            <a:ext cx="10881360" cy="731520"/>
          </a:xfrm>
          <a:prstGeom prst="rect">
            <a:avLst/>
          </a:prstGeom>
          <a:noFill/>
        </p:spPr>
        <p:txBody>
          <a:bodyPr wrap="square">
            <a:spAutoFit/>
          </a:bodyPr>
          <a:lstStyle/>
          <a:p>
            <a:pPr algn="l"/>
            <a:r>
              <a:rPr sz="2400" b="1">
                <a:solidFill>
                  <a:srgbClr val="1A1A1A"/>
                </a:solidFill>
                <a:latin typeface="Bricolage Grotesque"/>
              </a:rPr>
              <a:t>Ta relance J+3 plante à 9h. Comment es-tu prévenu ?</a:t>
            </a:r>
          </a:p>
        </p:txBody>
      </p:sp>
      <p:sp>
        <p:nvSpPr>
          <p:cNvPr id="6" name="Rounded Rectangle 5"/>
          <p:cNvSpPr/>
          <p:nvPr/>
        </p:nvSpPr>
        <p:spPr>
          <a:xfrm>
            <a:off x="640080" y="2286000"/>
            <a:ext cx="10881360" cy="530352"/>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359152"/>
            <a:ext cx="10515600" cy="384048"/>
          </a:xfrm>
          <a:prstGeom prst="rect">
            <a:avLst/>
          </a:prstGeom>
          <a:noFill/>
        </p:spPr>
        <p:txBody>
          <a:bodyPr wrap="square">
            <a:spAutoFit/>
          </a:bodyPr>
          <a:lstStyle/>
          <a:p>
            <a:pPr algn="l"/>
            <a:r>
              <a:rPr sz="1900" b="0">
                <a:solidFill>
                  <a:srgbClr val="333333"/>
                </a:solidFill>
                <a:latin typeface="Bricolage Grotesque"/>
              </a:rPr>
              <a:t>A.  n8n t'écrit automatiquement</a:t>
            </a:r>
          </a:p>
        </p:txBody>
      </p:sp>
      <p:sp>
        <p:nvSpPr>
          <p:cNvPr id="8" name="Rounded Rectangle 7"/>
          <p:cNvSpPr/>
          <p:nvPr/>
        </p:nvSpPr>
        <p:spPr>
          <a:xfrm>
            <a:off x="640080" y="2926080"/>
            <a:ext cx="10881360" cy="530352"/>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999232"/>
            <a:ext cx="10515600" cy="384048"/>
          </a:xfrm>
          <a:prstGeom prst="rect">
            <a:avLst/>
          </a:prstGeom>
          <a:noFill/>
        </p:spPr>
        <p:txBody>
          <a:bodyPr wrap="square">
            <a:spAutoFit/>
          </a:bodyPr>
          <a:lstStyle/>
          <a:p>
            <a:pPr algn="l"/>
            <a:r>
              <a:rPr sz="1900" b="0">
                <a:solidFill>
                  <a:srgbClr val="333333"/>
                </a:solidFill>
                <a:latin typeface="Bricolage Grotesque"/>
              </a:rPr>
              <a:t>B.  Par ton workflow « Erreurs », choisi dans les Settings de J+3</a:t>
            </a:r>
          </a:p>
        </p:txBody>
      </p:sp>
      <p:sp>
        <p:nvSpPr>
          <p:cNvPr id="10" name="Rounded Rectangle 9"/>
          <p:cNvSpPr/>
          <p:nvPr/>
        </p:nvSpPr>
        <p:spPr>
          <a:xfrm>
            <a:off x="640080" y="3566160"/>
            <a:ext cx="10881360" cy="530352"/>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3639312"/>
            <a:ext cx="10515600" cy="384048"/>
          </a:xfrm>
          <a:prstGeom prst="rect">
            <a:avLst/>
          </a:prstGeom>
          <a:noFill/>
        </p:spPr>
        <p:txBody>
          <a:bodyPr wrap="square">
            <a:spAutoFit/>
          </a:bodyPr>
          <a:lstStyle/>
          <a:p>
            <a:pPr algn="l"/>
            <a:r>
              <a:rPr sz="1900" b="0">
                <a:solidFill>
                  <a:srgbClr val="333333"/>
                </a:solidFill>
                <a:latin typeface="Bricolage Grotesque"/>
              </a:rPr>
              <a:t>C.  Le client te le dit</a:t>
            </a:r>
          </a:p>
        </p:txBody>
      </p:sp>
      <p:sp>
        <p:nvSpPr>
          <p:cNvPr id="12" name="Rounded Rectangle 11"/>
          <p:cNvSpPr/>
          <p:nvPr/>
        </p:nvSpPr>
        <p:spPr>
          <a:xfrm>
            <a:off x="640080" y="4343400"/>
            <a:ext cx="10881360" cy="1051560"/>
          </a:xfrm>
          <a:prstGeom prst="roundRect">
            <a:avLst/>
          </a:prstGeom>
          <a:solidFill>
            <a:srgbClr val="1B5E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4434840"/>
            <a:ext cx="10515600" cy="384048"/>
          </a:xfrm>
          <a:prstGeom prst="rect">
            <a:avLst/>
          </a:prstGeom>
          <a:noFill/>
        </p:spPr>
        <p:txBody>
          <a:bodyPr wrap="square">
            <a:spAutoFit/>
          </a:bodyPr>
          <a:lstStyle/>
          <a:p>
            <a:pPr algn="l"/>
            <a:r>
              <a:rPr sz="1800" b="1">
                <a:solidFill>
                  <a:srgbClr val="FFFFFF"/>
                </a:solidFill>
                <a:latin typeface="Bricolage Grotesque"/>
              </a:rPr>
              <a:t>Réponse B : Error Trigger, puis le message sur ton bot Telegram.</a:t>
            </a:r>
          </a:p>
        </p:txBody>
      </p:sp>
      <p:sp>
        <p:nvSpPr>
          <p:cNvPr id="14" name="TextBox 13"/>
          <p:cNvSpPr txBox="1"/>
          <p:nvPr/>
        </p:nvSpPr>
        <p:spPr>
          <a:xfrm>
            <a:off x="868680" y="4864607"/>
            <a:ext cx="10515600" cy="384048"/>
          </a:xfrm>
          <a:prstGeom prst="rect">
            <a:avLst/>
          </a:prstGeom>
          <a:noFill/>
        </p:spPr>
        <p:txBody>
          <a:bodyPr wrap="square">
            <a:spAutoFit/>
          </a:bodyPr>
          <a:lstStyle/>
          <a:p>
            <a:pPr algn="l"/>
            <a:r>
              <a:rPr sz="1800" b="1">
                <a:solidFill>
                  <a:srgbClr val="FFFFFF"/>
                </a:solidFill>
                <a:latin typeface="Bricolage Grotesque"/>
              </a:rPr>
              <a:t>Sans lui, l'échec n'apparaît que dans l'onglet Executions.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Quiz · Question 4 / 4</a:t>
            </a:r>
          </a:p>
        </p:txBody>
      </p:sp>
      <p:sp>
        <p:nvSpPr>
          <p:cNvPr id="5" name="TextBox 4"/>
          <p:cNvSpPr txBox="1"/>
          <p:nvPr/>
        </p:nvSpPr>
        <p:spPr>
          <a:xfrm>
            <a:off x="640080" y="1417320"/>
            <a:ext cx="10881360" cy="731520"/>
          </a:xfrm>
          <a:prstGeom prst="rect">
            <a:avLst/>
          </a:prstGeom>
          <a:noFill/>
        </p:spPr>
        <p:txBody>
          <a:bodyPr wrap="square">
            <a:spAutoFit/>
          </a:bodyPr>
          <a:lstStyle/>
          <a:p>
            <a:pPr algn="l"/>
            <a:r>
              <a:rPr sz="2400" b="1">
                <a:solidFill>
                  <a:srgbClr val="1A1A1A"/>
                </a:solidFill>
                <a:latin typeface="Bricolage Grotesque"/>
              </a:rPr>
              <a:t>Claude doit créer des tables dans ton Airtable. Tu passes par...</a:t>
            </a:r>
          </a:p>
        </p:txBody>
      </p:sp>
      <p:sp>
        <p:nvSpPr>
          <p:cNvPr id="6" name="Rounded Rectangle 5"/>
          <p:cNvSpPr/>
          <p:nvPr/>
        </p:nvSpPr>
        <p:spPr>
          <a:xfrm>
            <a:off x="640080" y="2286000"/>
            <a:ext cx="10881360" cy="530352"/>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359152"/>
            <a:ext cx="10515600" cy="384048"/>
          </a:xfrm>
          <a:prstGeom prst="rect">
            <a:avLst/>
          </a:prstGeom>
          <a:noFill/>
        </p:spPr>
        <p:txBody>
          <a:bodyPr wrap="square">
            <a:spAutoFit/>
          </a:bodyPr>
          <a:lstStyle/>
          <a:p>
            <a:pPr algn="l"/>
            <a:r>
              <a:rPr sz="1900" b="0">
                <a:solidFill>
                  <a:srgbClr val="333333"/>
                </a:solidFill>
                <a:latin typeface="Bricolage Grotesque"/>
              </a:rPr>
              <a:t>A.  L'extension Chrome de Claude, qui clique pour toi</a:t>
            </a:r>
          </a:p>
        </p:txBody>
      </p:sp>
      <p:sp>
        <p:nvSpPr>
          <p:cNvPr id="8" name="Rounded Rectangle 7"/>
          <p:cNvSpPr/>
          <p:nvPr/>
        </p:nvSpPr>
        <p:spPr>
          <a:xfrm>
            <a:off x="640080" y="2926080"/>
            <a:ext cx="10881360" cy="530352"/>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999232"/>
            <a:ext cx="10515600" cy="384048"/>
          </a:xfrm>
          <a:prstGeom prst="rect">
            <a:avLst/>
          </a:prstGeom>
          <a:noFill/>
        </p:spPr>
        <p:txBody>
          <a:bodyPr wrap="square">
            <a:spAutoFit/>
          </a:bodyPr>
          <a:lstStyle/>
          <a:p>
            <a:pPr algn="l"/>
            <a:r>
              <a:rPr sz="1900" b="0">
                <a:solidFill>
                  <a:srgbClr val="333333"/>
                </a:solidFill>
                <a:latin typeface="Bricolage Grotesque"/>
              </a:rPr>
              <a:t>B.  Le connecteur Airtable de Claude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Quiz · Question 4 / 4</a:t>
            </a:r>
          </a:p>
        </p:txBody>
      </p:sp>
      <p:sp>
        <p:nvSpPr>
          <p:cNvPr id="5" name="TextBox 4"/>
          <p:cNvSpPr txBox="1"/>
          <p:nvPr/>
        </p:nvSpPr>
        <p:spPr>
          <a:xfrm>
            <a:off x="640080" y="1417320"/>
            <a:ext cx="10881360" cy="731520"/>
          </a:xfrm>
          <a:prstGeom prst="rect">
            <a:avLst/>
          </a:prstGeom>
          <a:noFill/>
        </p:spPr>
        <p:txBody>
          <a:bodyPr wrap="square">
            <a:spAutoFit/>
          </a:bodyPr>
          <a:lstStyle/>
          <a:p>
            <a:pPr algn="l"/>
            <a:r>
              <a:rPr sz="2400" b="1">
                <a:solidFill>
                  <a:srgbClr val="1A1A1A"/>
                </a:solidFill>
                <a:latin typeface="Bricolage Grotesque"/>
              </a:rPr>
              <a:t>Claude doit créer des tables dans ton Airtable. Tu passes par...</a:t>
            </a:r>
          </a:p>
        </p:txBody>
      </p:sp>
      <p:sp>
        <p:nvSpPr>
          <p:cNvPr id="6" name="Rounded Rectangle 5"/>
          <p:cNvSpPr/>
          <p:nvPr/>
        </p:nvSpPr>
        <p:spPr>
          <a:xfrm>
            <a:off x="640080" y="2286000"/>
            <a:ext cx="10881360" cy="530352"/>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359152"/>
            <a:ext cx="10515600" cy="384048"/>
          </a:xfrm>
          <a:prstGeom prst="rect">
            <a:avLst/>
          </a:prstGeom>
          <a:noFill/>
        </p:spPr>
        <p:txBody>
          <a:bodyPr wrap="square">
            <a:spAutoFit/>
          </a:bodyPr>
          <a:lstStyle/>
          <a:p>
            <a:pPr algn="l"/>
            <a:r>
              <a:rPr sz="1900" b="0">
                <a:solidFill>
                  <a:srgbClr val="333333"/>
                </a:solidFill>
                <a:latin typeface="Bricolage Grotesque"/>
              </a:rPr>
              <a:t>A.  L'extension Chrome de Claude, qui clique pour toi</a:t>
            </a:r>
          </a:p>
        </p:txBody>
      </p:sp>
      <p:sp>
        <p:nvSpPr>
          <p:cNvPr id="8" name="Rounded Rectangle 7"/>
          <p:cNvSpPr/>
          <p:nvPr/>
        </p:nvSpPr>
        <p:spPr>
          <a:xfrm>
            <a:off x="640080" y="2926080"/>
            <a:ext cx="10881360" cy="530352"/>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999232"/>
            <a:ext cx="10515600" cy="384048"/>
          </a:xfrm>
          <a:prstGeom prst="rect">
            <a:avLst/>
          </a:prstGeom>
          <a:noFill/>
        </p:spPr>
        <p:txBody>
          <a:bodyPr wrap="square">
            <a:spAutoFit/>
          </a:bodyPr>
          <a:lstStyle/>
          <a:p>
            <a:pPr algn="l"/>
            <a:r>
              <a:rPr sz="1900" b="0">
                <a:solidFill>
                  <a:srgbClr val="333333"/>
                </a:solidFill>
                <a:latin typeface="Bricolage Grotesque"/>
              </a:rPr>
              <a:t>B.  Le connecteur Airtable de Claude</a:t>
            </a:r>
          </a:p>
        </p:txBody>
      </p:sp>
      <p:sp>
        <p:nvSpPr>
          <p:cNvPr id="10" name="Rounded Rectangle 9"/>
          <p:cNvSpPr/>
          <p:nvPr/>
        </p:nvSpPr>
        <p:spPr>
          <a:xfrm>
            <a:off x="640080" y="4343400"/>
            <a:ext cx="10881360" cy="1051560"/>
          </a:xfrm>
          <a:prstGeom prst="roundRect">
            <a:avLst/>
          </a:prstGeom>
          <a:solidFill>
            <a:srgbClr val="1B5E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4434840"/>
            <a:ext cx="10515600" cy="384048"/>
          </a:xfrm>
          <a:prstGeom prst="rect">
            <a:avLst/>
          </a:prstGeom>
          <a:noFill/>
        </p:spPr>
        <p:txBody>
          <a:bodyPr wrap="square">
            <a:spAutoFit/>
          </a:bodyPr>
          <a:lstStyle/>
          <a:p>
            <a:pPr algn="l"/>
            <a:r>
              <a:rPr sz="1800" b="1">
                <a:solidFill>
                  <a:srgbClr val="FFFFFF"/>
                </a:solidFill>
                <a:latin typeface="Bricolage Grotesque"/>
              </a:rPr>
              <a:t>Réponse B : il appelle l'API directement.</a:t>
            </a:r>
          </a:p>
        </p:txBody>
      </p:sp>
      <p:sp>
        <p:nvSpPr>
          <p:cNvPr id="12" name="TextBox 11"/>
          <p:cNvSpPr txBox="1"/>
          <p:nvPr/>
        </p:nvSpPr>
        <p:spPr>
          <a:xfrm>
            <a:off x="868680" y="4864607"/>
            <a:ext cx="10515600" cy="384048"/>
          </a:xfrm>
          <a:prstGeom prst="rect">
            <a:avLst/>
          </a:prstGeom>
          <a:noFill/>
        </p:spPr>
        <p:txBody>
          <a:bodyPr wrap="square">
            <a:spAutoFit/>
          </a:bodyPr>
          <a:lstStyle/>
          <a:p>
            <a:pPr algn="l"/>
            <a:r>
              <a:rPr sz="1800" b="1">
                <a:solidFill>
                  <a:srgbClr val="FFFFFF"/>
                </a:solidFill>
                <a:latin typeface="Bricolage Grotesque"/>
              </a:rPr>
              <a:t>C'est plus rapide, et ça consomme beaucoup moins de tokens.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1965960"/>
            <a:ext cx="2743200" cy="36576"/>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515600" cy="731520"/>
          </a:xfrm>
          <a:prstGeom prst="rect">
            <a:avLst/>
          </a:prstGeom>
          <a:noFill/>
        </p:spPr>
        <p:txBody>
          <a:bodyPr wrap="square">
            <a:spAutoFit/>
          </a:bodyPr>
          <a:lstStyle/>
          <a:p>
            <a:pPr algn="l"/>
            <a:r>
              <a:rPr sz="2200" b="1">
                <a:solidFill>
                  <a:srgbClr val="E8A000"/>
                </a:solidFill>
                <a:latin typeface="Bricolage Grotesque"/>
              </a:rPr>
              <a:t>Séquence 2</a:t>
            </a:r>
          </a:p>
        </p:txBody>
      </p:sp>
      <p:sp>
        <p:nvSpPr>
          <p:cNvPr id="5" name="TextBox 4"/>
          <p:cNvSpPr txBox="1"/>
          <p:nvPr/>
        </p:nvSpPr>
        <p:spPr>
          <a:xfrm>
            <a:off x="640080" y="2286000"/>
            <a:ext cx="10698480" cy="1645920"/>
          </a:xfrm>
          <a:prstGeom prst="rect">
            <a:avLst/>
          </a:prstGeom>
          <a:noFill/>
        </p:spPr>
        <p:txBody>
          <a:bodyPr wrap="square">
            <a:spAutoFit/>
          </a:bodyPr>
          <a:lstStyle/>
          <a:p>
            <a:pPr algn="l"/>
            <a:r>
              <a:rPr sz="4200" b="1">
                <a:solidFill>
                  <a:srgbClr val="FFFFFF"/>
                </a:solidFill>
                <a:latin typeface="Bricolage Grotesque"/>
              </a:rPr>
              <a:t>Ce que tu as construit</a:t>
            </a:r>
          </a:p>
        </p:txBody>
      </p:sp>
      <p:sp>
        <p:nvSpPr>
          <p:cNvPr id="6" name="TextBox 5"/>
          <p:cNvSpPr txBox="1"/>
          <p:nvPr/>
        </p:nvSpPr>
        <p:spPr>
          <a:xfrm>
            <a:off x="640080" y="4023360"/>
            <a:ext cx="10515600" cy="731520"/>
          </a:xfrm>
          <a:prstGeom prst="rect">
            <a:avLst/>
          </a:prstGeom>
          <a:noFill/>
        </p:spPr>
        <p:txBody>
          <a:bodyPr wrap="square">
            <a:spAutoFit/>
          </a:bodyPr>
          <a:lstStyle/>
          <a:p>
            <a:pPr algn="l"/>
            <a:r>
              <a:rPr sz="2000" b="0">
                <a:solidFill>
                  <a:srgbClr val="5A8A8F"/>
                </a:solidFill>
                <a:latin typeface="Bricolage Grotesque"/>
              </a:rPr>
              <a:t>Tu montres, on améliore et on continue ensemble</a:t>
            </a:r>
          </a:p>
        </p:txBody>
      </p:sp>
      <p:pic>
        <p:nvPicPr>
          <p:cNvPr id="7" name="Picture 6" descr="ia-round.png"/>
          <p:cNvPicPr>
            <a:picLocks noChangeAspect="1"/>
          </p:cNvPicPr>
          <p:nvPr/>
        </p:nvPicPr>
        <p:blipFill>
          <a:blip r:embed="rId2"/>
          <a:stretch>
            <a:fillRect/>
          </a:stretch>
        </p:blipFill>
        <p:spPr>
          <a:xfrm>
            <a:off x="457200" y="6217920"/>
            <a:ext cx="320040" cy="320040"/>
          </a:xfrm>
          <a:prstGeom prst="rect">
            <a:avLst/>
          </a:prstGeom>
        </p:spPr>
      </p:pic>
      <p:sp>
        <p:nvSpPr>
          <p:cNvPr id="8" name="TextBox 7"/>
          <p:cNvSpPr txBox="1"/>
          <p:nvPr/>
        </p:nvSpPr>
        <p:spPr>
          <a:xfrm>
            <a:off x="868680" y="6199632"/>
            <a:ext cx="3657600" cy="365760"/>
          </a:xfrm>
          <a:prstGeom prst="rect">
            <a:avLst/>
          </a:prstGeom>
          <a:noFill/>
        </p:spPr>
        <p:txBody>
          <a:bodyPr wrap="square">
            <a:spAutoFit/>
          </a:bodyPr>
          <a:lstStyle/>
          <a:p>
            <a:pPr algn="l"/>
            <a:r>
              <a:rPr sz="1400" b="0">
                <a:solidFill>
                  <a:srgbClr val="FFFFFF"/>
                </a:solidFill>
                <a:latin typeface="Bricolage Grotesque"/>
              </a:rPr>
              <a:t>intelligence academy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Ce que tu apportes</a:t>
            </a:r>
          </a:p>
        </p:txBody>
      </p:sp>
      <p:sp>
        <p:nvSpPr>
          <p:cNvPr id="5" name="TextBox 4"/>
          <p:cNvSpPr txBox="1"/>
          <p:nvPr/>
        </p:nvSpPr>
        <p:spPr>
          <a:xfrm>
            <a:off x="640080" y="1463040"/>
            <a:ext cx="10515600" cy="640080"/>
          </a:xfrm>
          <a:prstGeom prst="rect">
            <a:avLst/>
          </a:prstGeom>
          <a:noFill/>
        </p:spPr>
        <p:txBody>
          <a:bodyPr wrap="square">
            <a:spAutoFit/>
          </a:bodyPr>
          <a:lstStyle/>
          <a:p>
            <a:pPr algn="l"/>
            <a:r>
              <a:rPr sz="2600" b="1">
                <a:solidFill>
                  <a:srgbClr val="1A1A1A"/>
                </a:solidFill>
                <a:latin typeface="Bricolage Grotesque"/>
              </a:rPr>
              <a:t>Partage d'écran : fais-les tourner</a:t>
            </a:r>
          </a:p>
        </p:txBody>
      </p:sp>
      <p:sp>
        <p:nvSpPr>
          <p:cNvPr id="6" name="TextBox 5"/>
          <p:cNvSpPr txBox="1"/>
          <p:nvPr/>
        </p:nvSpPr>
        <p:spPr>
          <a:xfrm>
            <a:off x="640080" y="2331720"/>
            <a:ext cx="10881360" cy="411480"/>
          </a:xfrm>
          <a:prstGeom prst="rect">
            <a:avLst/>
          </a:prstGeom>
          <a:noFill/>
        </p:spPr>
        <p:txBody>
          <a:bodyPr wrap="square">
            <a:spAutoFit/>
          </a:bodyPr>
          <a:lstStyle/>
          <a:p>
            <a:r>
              <a:rPr sz="2000" b="1">
                <a:solidFill>
                  <a:srgbClr val="1B5E6B"/>
                </a:solidFill>
                <a:latin typeface="Bricolage Grotesque"/>
              </a:rPr>
              <a:t>1.  Le workflow « Erreurs » et ton bot Telegram.</a:t>
            </a:r>
          </a:p>
        </p:txBody>
      </p:sp>
      <p:sp>
        <p:nvSpPr>
          <p:cNvPr id="7" name="TextBox 6"/>
          <p:cNvSpPr txBox="1"/>
          <p:nvPr/>
        </p:nvSpPr>
        <p:spPr>
          <a:xfrm>
            <a:off x="640080" y="2852928"/>
            <a:ext cx="10881360" cy="411480"/>
          </a:xfrm>
          <a:prstGeom prst="rect">
            <a:avLst/>
          </a:prstGeom>
          <a:noFill/>
        </p:spPr>
        <p:txBody>
          <a:bodyPr wrap="square">
            <a:spAutoFit/>
          </a:bodyPr>
          <a:lstStyle/>
          <a:p>
            <a:r>
              <a:rPr sz="2000" b="1">
                <a:solidFill>
                  <a:srgbClr val="1B5E6B"/>
                </a:solidFill>
                <a:latin typeface="Bricolage Grotesque"/>
              </a:rPr>
              <a:t>2.  Les relances J+3 et J+7, branchées sur « Erreurs ».</a:t>
            </a:r>
          </a:p>
        </p:txBody>
      </p:sp>
      <p:sp>
        <p:nvSpPr>
          <p:cNvPr id="8" name="TextBox 7"/>
          <p:cNvSpPr txBox="1"/>
          <p:nvPr/>
        </p:nvSpPr>
        <p:spPr>
          <a:xfrm>
            <a:off x="640080" y="3374136"/>
            <a:ext cx="10881360" cy="411480"/>
          </a:xfrm>
          <a:prstGeom prst="rect">
            <a:avLst/>
          </a:prstGeom>
          <a:noFill/>
        </p:spPr>
        <p:txBody>
          <a:bodyPr wrap="square">
            <a:spAutoFit/>
          </a:bodyPr>
          <a:lstStyle/>
          <a:p>
            <a:r>
              <a:rPr sz="2000" b="1">
                <a:solidFill>
                  <a:srgbClr val="1B5E6B"/>
                </a:solidFill>
                <a:latin typeface="Bricolage Grotesque"/>
              </a:rPr>
              <a:t>3.  La base que tu prépares pour le plombier.</a:t>
            </a:r>
          </a:p>
        </p:txBody>
      </p:sp>
      <p:sp>
        <p:nvSpPr>
          <p:cNvPr id="9" name="TextBox 8"/>
          <p:cNvSpPr txBox="1"/>
          <p:nvPr/>
        </p:nvSpPr>
        <p:spPr>
          <a:xfrm>
            <a:off x="640080" y="3895344"/>
            <a:ext cx="10881360" cy="411480"/>
          </a:xfrm>
          <a:prstGeom prst="rect">
            <a:avLst/>
          </a:prstGeom>
          <a:noFill/>
        </p:spPr>
        <p:txBody>
          <a:bodyPr wrap="square">
            <a:spAutoFit/>
          </a:bodyPr>
          <a:lstStyle/>
          <a:p>
            <a:r>
              <a:rPr sz="2000" b="1">
                <a:solidFill>
                  <a:srgbClr val="1B5E6B"/>
                </a:solidFill>
                <a:latin typeface="Bricolage Grotesque"/>
              </a:rPr>
              <a:t>4.  Ce que tu as essayé avec Claude Code.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Ce que tu apportes</a:t>
            </a:r>
          </a:p>
        </p:txBody>
      </p:sp>
      <p:sp>
        <p:nvSpPr>
          <p:cNvPr id="5" name="TextBox 4"/>
          <p:cNvSpPr txBox="1"/>
          <p:nvPr/>
        </p:nvSpPr>
        <p:spPr>
          <a:xfrm>
            <a:off x="640080" y="1463040"/>
            <a:ext cx="10515600" cy="640080"/>
          </a:xfrm>
          <a:prstGeom prst="rect">
            <a:avLst/>
          </a:prstGeom>
          <a:noFill/>
        </p:spPr>
        <p:txBody>
          <a:bodyPr wrap="square">
            <a:spAutoFit/>
          </a:bodyPr>
          <a:lstStyle/>
          <a:p>
            <a:pPr algn="l"/>
            <a:r>
              <a:rPr sz="2600" b="1">
                <a:solidFill>
                  <a:srgbClr val="1A1A1A"/>
                </a:solidFill>
                <a:latin typeface="Bricolage Grotesque"/>
              </a:rPr>
              <a:t>Partage d'écran : fais-les tourner</a:t>
            </a:r>
          </a:p>
        </p:txBody>
      </p:sp>
      <p:sp>
        <p:nvSpPr>
          <p:cNvPr id="6" name="TextBox 5"/>
          <p:cNvSpPr txBox="1"/>
          <p:nvPr/>
        </p:nvSpPr>
        <p:spPr>
          <a:xfrm>
            <a:off x="640080" y="2331720"/>
            <a:ext cx="10881360" cy="411480"/>
          </a:xfrm>
          <a:prstGeom prst="rect">
            <a:avLst/>
          </a:prstGeom>
          <a:noFill/>
        </p:spPr>
        <p:txBody>
          <a:bodyPr wrap="square">
            <a:spAutoFit/>
          </a:bodyPr>
          <a:lstStyle/>
          <a:p>
            <a:r>
              <a:rPr sz="2000" b="1">
                <a:solidFill>
                  <a:srgbClr val="1B5E6B"/>
                </a:solidFill>
                <a:latin typeface="Bricolage Grotesque"/>
              </a:rPr>
              <a:t>1.  Le workflow « Erreurs » et ton bot Telegram.</a:t>
            </a:r>
          </a:p>
        </p:txBody>
      </p:sp>
      <p:sp>
        <p:nvSpPr>
          <p:cNvPr id="7" name="TextBox 6"/>
          <p:cNvSpPr txBox="1"/>
          <p:nvPr/>
        </p:nvSpPr>
        <p:spPr>
          <a:xfrm>
            <a:off x="640080" y="2852928"/>
            <a:ext cx="10881360" cy="411480"/>
          </a:xfrm>
          <a:prstGeom prst="rect">
            <a:avLst/>
          </a:prstGeom>
          <a:noFill/>
        </p:spPr>
        <p:txBody>
          <a:bodyPr wrap="square">
            <a:spAutoFit/>
          </a:bodyPr>
          <a:lstStyle/>
          <a:p>
            <a:r>
              <a:rPr sz="2000" b="1">
                <a:solidFill>
                  <a:srgbClr val="1B5E6B"/>
                </a:solidFill>
                <a:latin typeface="Bricolage Grotesque"/>
              </a:rPr>
              <a:t>2.  Les relances J+3 et J+7, branchées sur « Erreurs ».</a:t>
            </a:r>
          </a:p>
        </p:txBody>
      </p:sp>
      <p:sp>
        <p:nvSpPr>
          <p:cNvPr id="8" name="TextBox 7"/>
          <p:cNvSpPr txBox="1"/>
          <p:nvPr/>
        </p:nvSpPr>
        <p:spPr>
          <a:xfrm>
            <a:off x="640080" y="3374136"/>
            <a:ext cx="10881360" cy="411480"/>
          </a:xfrm>
          <a:prstGeom prst="rect">
            <a:avLst/>
          </a:prstGeom>
          <a:noFill/>
        </p:spPr>
        <p:txBody>
          <a:bodyPr wrap="square">
            <a:spAutoFit/>
          </a:bodyPr>
          <a:lstStyle/>
          <a:p>
            <a:r>
              <a:rPr sz="2000" b="1">
                <a:solidFill>
                  <a:srgbClr val="1B5E6B"/>
                </a:solidFill>
                <a:latin typeface="Bricolage Grotesque"/>
              </a:rPr>
              <a:t>3.  La base que tu prépares pour le plombier.</a:t>
            </a:r>
          </a:p>
        </p:txBody>
      </p:sp>
      <p:sp>
        <p:nvSpPr>
          <p:cNvPr id="9" name="TextBox 8"/>
          <p:cNvSpPr txBox="1"/>
          <p:nvPr/>
        </p:nvSpPr>
        <p:spPr>
          <a:xfrm>
            <a:off x="640080" y="3895344"/>
            <a:ext cx="10881360" cy="411480"/>
          </a:xfrm>
          <a:prstGeom prst="rect">
            <a:avLst/>
          </a:prstGeom>
          <a:noFill/>
        </p:spPr>
        <p:txBody>
          <a:bodyPr wrap="square">
            <a:spAutoFit/>
          </a:bodyPr>
          <a:lstStyle/>
          <a:p>
            <a:r>
              <a:rPr sz="2000" b="1">
                <a:solidFill>
                  <a:srgbClr val="1B5E6B"/>
                </a:solidFill>
                <a:latin typeface="Bricolage Grotesque"/>
              </a:rPr>
              <a:t>4.  Ce que tu as essayé avec Claude Code.</a:t>
            </a:r>
          </a:p>
        </p:txBody>
      </p:sp>
      <p:sp>
        <p:nvSpPr>
          <p:cNvPr id="10" name="TextBox 9"/>
          <p:cNvSpPr txBox="1"/>
          <p:nvPr/>
        </p:nvSpPr>
        <p:spPr>
          <a:xfrm>
            <a:off x="640080" y="4654296"/>
            <a:ext cx="10881360" cy="411480"/>
          </a:xfrm>
          <a:prstGeom prst="rect">
            <a:avLst/>
          </a:prstGeom>
          <a:noFill/>
        </p:spPr>
        <p:txBody>
          <a:bodyPr wrap="square">
            <a:spAutoFit/>
          </a:bodyPr>
          <a:lstStyle/>
          <a:p>
            <a:r>
              <a:rPr sz="2000" b="0">
                <a:solidFill>
                  <a:srgbClr val="333333"/>
                </a:solidFill>
                <a:latin typeface="Bricolage Grotesque"/>
              </a:rPr>
              <a:t>Pour chaque pièce : tu la lances, on la passe à la grille, on l'améliore.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La grille de revue</a:t>
            </a:r>
          </a:p>
        </p:txBody>
      </p:sp>
      <p:sp>
        <p:nvSpPr>
          <p:cNvPr id="5" name="TextBox 4"/>
          <p:cNvSpPr txBox="1"/>
          <p:nvPr/>
        </p:nvSpPr>
        <p:spPr>
          <a:xfrm>
            <a:off x="777240" y="1463040"/>
            <a:ext cx="4389120" cy="365760"/>
          </a:xfrm>
          <a:prstGeom prst="rect">
            <a:avLst/>
          </a:prstGeom>
          <a:noFill/>
        </p:spPr>
        <p:txBody>
          <a:bodyPr wrap="square">
            <a:spAutoFit/>
          </a:bodyPr>
          <a:lstStyle/>
          <a:p>
            <a:pPr algn="l"/>
            <a:r>
              <a:rPr sz="1800" b="1">
                <a:solidFill>
                  <a:srgbClr val="1B5E6B"/>
                </a:solidFill>
                <a:latin typeface="Bricolage Grotesque"/>
              </a:rPr>
              <a:t>La question</a:t>
            </a:r>
          </a:p>
        </p:txBody>
      </p:sp>
      <p:sp>
        <p:nvSpPr>
          <p:cNvPr id="6" name="TextBox 5"/>
          <p:cNvSpPr txBox="1"/>
          <p:nvPr/>
        </p:nvSpPr>
        <p:spPr>
          <a:xfrm>
            <a:off x="5349240" y="1463040"/>
            <a:ext cx="6126480" cy="365760"/>
          </a:xfrm>
          <a:prstGeom prst="rect">
            <a:avLst/>
          </a:prstGeom>
          <a:noFill/>
        </p:spPr>
        <p:txBody>
          <a:bodyPr wrap="square">
            <a:spAutoFit/>
          </a:bodyPr>
          <a:lstStyle/>
          <a:p>
            <a:pPr algn="l"/>
            <a:r>
              <a:rPr sz="1800" b="1">
                <a:solidFill>
                  <a:srgbClr val="1B5E6B"/>
                </a:solidFill>
                <a:latin typeface="Bricolage Grotesque"/>
              </a:rPr>
              <a:t>Ce qu'on vérifie</a:t>
            </a:r>
          </a:p>
        </p:txBody>
      </p:sp>
      <p:sp>
        <p:nvSpPr>
          <p:cNvPr id="7" name="Rectangle 6"/>
          <p:cNvSpPr/>
          <p:nvPr/>
        </p:nvSpPr>
        <p:spPr>
          <a:xfrm>
            <a:off x="640080" y="1874520"/>
            <a:ext cx="10881360" cy="27432"/>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1965960"/>
            <a:ext cx="10881360" cy="457200"/>
          </a:xfrm>
          <a:prstGeom prst="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020824"/>
            <a:ext cx="4389120" cy="347472"/>
          </a:xfrm>
          <a:prstGeom prst="rect">
            <a:avLst/>
          </a:prstGeom>
          <a:noFill/>
        </p:spPr>
        <p:txBody>
          <a:bodyPr wrap="square">
            <a:spAutoFit/>
          </a:bodyPr>
          <a:lstStyle/>
          <a:p>
            <a:pPr algn="l"/>
            <a:r>
              <a:rPr sz="1600" b="1">
                <a:solidFill>
                  <a:srgbClr val="1A1A1A"/>
                </a:solidFill>
                <a:latin typeface="Bricolage Grotesque"/>
              </a:rPr>
              <a:t>Il tourne seul ?</a:t>
            </a:r>
          </a:p>
        </p:txBody>
      </p:sp>
      <p:sp>
        <p:nvSpPr>
          <p:cNvPr id="10" name="TextBox 9"/>
          <p:cNvSpPr txBox="1"/>
          <p:nvPr/>
        </p:nvSpPr>
        <p:spPr>
          <a:xfrm>
            <a:off x="5349240" y="2020824"/>
            <a:ext cx="6126480" cy="347472"/>
          </a:xfrm>
          <a:prstGeom prst="rect">
            <a:avLst/>
          </a:prstGeom>
          <a:noFill/>
        </p:spPr>
        <p:txBody>
          <a:bodyPr wrap="square">
            <a:spAutoFit/>
          </a:bodyPr>
          <a:lstStyle/>
          <a:p>
            <a:pPr algn="l"/>
            <a:r>
              <a:rPr sz="1600" b="0">
                <a:solidFill>
                  <a:srgbClr val="333333"/>
                </a:solidFill>
                <a:latin typeface="Bricolage Grotesque"/>
              </a:rPr>
              <a:t>Activé, en production, pas en mode test</a:t>
            </a:r>
          </a:p>
        </p:txBody>
      </p:sp>
      <p:sp>
        <p:nvSpPr>
          <p:cNvPr id="11" name="TextBox 10"/>
          <p:cNvSpPr txBox="1"/>
          <p:nvPr/>
        </p:nvSpPr>
        <p:spPr>
          <a:xfrm>
            <a:off x="777240" y="2478024"/>
            <a:ext cx="4389120" cy="347472"/>
          </a:xfrm>
          <a:prstGeom prst="rect">
            <a:avLst/>
          </a:prstGeom>
          <a:noFill/>
        </p:spPr>
        <p:txBody>
          <a:bodyPr wrap="square">
            <a:spAutoFit/>
          </a:bodyPr>
          <a:lstStyle/>
          <a:p>
            <a:pPr algn="l"/>
            <a:r>
              <a:rPr sz="1600" b="1">
                <a:solidFill>
                  <a:srgbClr val="1A1A1A"/>
                </a:solidFill>
                <a:latin typeface="Bricolage Grotesque"/>
              </a:rPr>
              <a:t>Que se passe-t-il si ça casse ?</a:t>
            </a:r>
          </a:p>
        </p:txBody>
      </p:sp>
      <p:sp>
        <p:nvSpPr>
          <p:cNvPr id="12" name="TextBox 11"/>
          <p:cNvSpPr txBox="1"/>
          <p:nvPr/>
        </p:nvSpPr>
        <p:spPr>
          <a:xfrm>
            <a:off x="5349240" y="2478024"/>
            <a:ext cx="6126480" cy="347472"/>
          </a:xfrm>
          <a:prstGeom prst="rect">
            <a:avLst/>
          </a:prstGeom>
          <a:noFill/>
        </p:spPr>
        <p:txBody>
          <a:bodyPr wrap="square">
            <a:spAutoFit/>
          </a:bodyPr>
          <a:lstStyle/>
          <a:p>
            <a:pPr algn="l"/>
            <a:r>
              <a:rPr sz="1600" b="0">
                <a:solidFill>
                  <a:srgbClr val="333333"/>
                </a:solidFill>
                <a:latin typeface="Bricolage Grotesque"/>
              </a:rPr>
              <a:t>« Erreurs » choisi dans les Settings</a:t>
            </a:r>
          </a:p>
        </p:txBody>
      </p:sp>
      <p:sp>
        <p:nvSpPr>
          <p:cNvPr id="13" name="Rectangle 12"/>
          <p:cNvSpPr/>
          <p:nvPr/>
        </p:nvSpPr>
        <p:spPr>
          <a:xfrm>
            <a:off x="640080" y="2880360"/>
            <a:ext cx="10881360" cy="457200"/>
          </a:xfrm>
          <a:prstGeom prst="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935224"/>
            <a:ext cx="4389120" cy="347472"/>
          </a:xfrm>
          <a:prstGeom prst="rect">
            <a:avLst/>
          </a:prstGeom>
          <a:noFill/>
        </p:spPr>
        <p:txBody>
          <a:bodyPr wrap="square">
            <a:spAutoFit/>
          </a:bodyPr>
          <a:lstStyle/>
          <a:p>
            <a:pPr algn="l"/>
            <a:r>
              <a:rPr sz="1600" b="1">
                <a:solidFill>
                  <a:srgbClr val="1A1A1A"/>
                </a:solidFill>
                <a:latin typeface="Bricolage Grotesque"/>
              </a:rPr>
              <a:t>Et si aucune règle ne correspond ?</a:t>
            </a:r>
          </a:p>
        </p:txBody>
      </p:sp>
      <p:sp>
        <p:nvSpPr>
          <p:cNvPr id="15" name="TextBox 14"/>
          <p:cNvSpPr txBox="1"/>
          <p:nvPr/>
        </p:nvSpPr>
        <p:spPr>
          <a:xfrm>
            <a:off x="5349240" y="2935224"/>
            <a:ext cx="6126480" cy="347472"/>
          </a:xfrm>
          <a:prstGeom prst="rect">
            <a:avLst/>
          </a:prstGeom>
          <a:noFill/>
        </p:spPr>
        <p:txBody>
          <a:bodyPr wrap="square">
            <a:spAutoFit/>
          </a:bodyPr>
          <a:lstStyle/>
          <a:p>
            <a:pPr algn="l"/>
            <a:r>
              <a:rPr sz="1600" b="0">
                <a:solidFill>
                  <a:srgbClr val="333333"/>
                </a:solidFill>
                <a:latin typeface="Bricolage Grotesque"/>
              </a:rPr>
              <a:t>Un Fallback Output sur chaque Switch</a:t>
            </a:r>
          </a:p>
        </p:txBody>
      </p:sp>
      <p:sp>
        <p:nvSpPr>
          <p:cNvPr id="16" name="TextBox 15"/>
          <p:cNvSpPr txBox="1"/>
          <p:nvPr/>
        </p:nvSpPr>
        <p:spPr>
          <a:xfrm>
            <a:off x="777240" y="3392424"/>
            <a:ext cx="4389120" cy="347472"/>
          </a:xfrm>
          <a:prstGeom prst="rect">
            <a:avLst/>
          </a:prstGeom>
          <a:noFill/>
        </p:spPr>
        <p:txBody>
          <a:bodyPr wrap="square">
            <a:spAutoFit/>
          </a:bodyPr>
          <a:lstStyle/>
          <a:p>
            <a:pPr algn="l"/>
            <a:r>
              <a:rPr sz="1600" b="1">
                <a:solidFill>
                  <a:srgbClr val="1A1A1A"/>
                </a:solidFill>
                <a:latin typeface="Bricolage Grotesque"/>
              </a:rPr>
              <a:t>Tu le lis sans l'ouvrir ?</a:t>
            </a:r>
          </a:p>
        </p:txBody>
      </p:sp>
      <p:sp>
        <p:nvSpPr>
          <p:cNvPr id="17" name="TextBox 16"/>
          <p:cNvSpPr txBox="1"/>
          <p:nvPr/>
        </p:nvSpPr>
        <p:spPr>
          <a:xfrm>
            <a:off x="5349240" y="3392424"/>
            <a:ext cx="6126480" cy="347472"/>
          </a:xfrm>
          <a:prstGeom prst="rect">
            <a:avLst/>
          </a:prstGeom>
          <a:noFill/>
        </p:spPr>
        <p:txBody>
          <a:bodyPr wrap="square">
            <a:spAutoFit/>
          </a:bodyPr>
          <a:lstStyle/>
          <a:p>
            <a:pPr algn="l"/>
            <a:r>
              <a:rPr sz="1600" b="0">
                <a:solidFill>
                  <a:srgbClr val="333333"/>
                </a:solidFill>
                <a:latin typeface="Bricolage Grotesque"/>
              </a:rPr>
              <a:t>Nœuds renommés, une note par bloc</a:t>
            </a:r>
          </a:p>
        </p:txBody>
      </p:sp>
      <p:sp>
        <p:nvSpPr>
          <p:cNvPr id="18" name="Rectangle 17"/>
          <p:cNvSpPr/>
          <p:nvPr/>
        </p:nvSpPr>
        <p:spPr>
          <a:xfrm>
            <a:off x="640080" y="3794760"/>
            <a:ext cx="10881360" cy="457200"/>
          </a:xfrm>
          <a:prstGeom prst="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3849624"/>
            <a:ext cx="4389120" cy="347472"/>
          </a:xfrm>
          <a:prstGeom prst="rect">
            <a:avLst/>
          </a:prstGeom>
          <a:noFill/>
        </p:spPr>
        <p:txBody>
          <a:bodyPr wrap="square">
            <a:spAutoFit/>
          </a:bodyPr>
          <a:lstStyle/>
          <a:p>
            <a:pPr algn="l"/>
            <a:r>
              <a:rPr sz="1600" b="1">
                <a:solidFill>
                  <a:srgbClr val="1A1A1A"/>
                </a:solidFill>
                <a:latin typeface="Bricolage Grotesque"/>
              </a:rPr>
              <a:t>Testé avec une vraie donnée ?</a:t>
            </a:r>
          </a:p>
        </p:txBody>
      </p:sp>
      <p:sp>
        <p:nvSpPr>
          <p:cNvPr id="20" name="TextBox 19"/>
          <p:cNvSpPr txBox="1"/>
          <p:nvPr/>
        </p:nvSpPr>
        <p:spPr>
          <a:xfrm>
            <a:off x="5349240" y="3849624"/>
            <a:ext cx="6126480" cy="347472"/>
          </a:xfrm>
          <a:prstGeom prst="rect">
            <a:avLst/>
          </a:prstGeom>
          <a:noFill/>
        </p:spPr>
        <p:txBody>
          <a:bodyPr wrap="square">
            <a:spAutoFit/>
          </a:bodyPr>
          <a:lstStyle/>
          <a:p>
            <a:pPr algn="l"/>
            <a:r>
              <a:rPr sz="1600" b="0">
                <a:solidFill>
                  <a:srgbClr val="333333"/>
                </a:solidFill>
                <a:latin typeface="Bricolage Grotesque"/>
              </a:rPr>
              <a:t>Pas seulement des données épinglées</a:t>
            </a:r>
          </a:p>
        </p:txBody>
      </p:sp>
      <p:sp>
        <p:nvSpPr>
          <p:cNvPr id="21" name="TextBox 20"/>
          <p:cNvSpPr txBox="1"/>
          <p:nvPr/>
        </p:nvSpPr>
        <p:spPr>
          <a:xfrm>
            <a:off x="777240" y="4306824"/>
            <a:ext cx="4389120" cy="347472"/>
          </a:xfrm>
          <a:prstGeom prst="rect">
            <a:avLst/>
          </a:prstGeom>
          <a:noFill/>
        </p:spPr>
        <p:txBody>
          <a:bodyPr wrap="square">
            <a:spAutoFit/>
          </a:bodyPr>
          <a:lstStyle/>
          <a:p>
            <a:pPr algn="l"/>
            <a:r>
              <a:rPr sz="1600" b="1">
                <a:solidFill>
                  <a:srgbClr val="1A1A1A"/>
                </a:solidFill>
                <a:latin typeface="Bricolage Grotesque"/>
              </a:rPr>
              <a:t>Les accès sont propres ?</a:t>
            </a:r>
          </a:p>
        </p:txBody>
      </p:sp>
      <p:sp>
        <p:nvSpPr>
          <p:cNvPr id="22" name="TextBox 21"/>
          <p:cNvSpPr txBox="1"/>
          <p:nvPr/>
        </p:nvSpPr>
        <p:spPr>
          <a:xfrm>
            <a:off x="5349240" y="4306824"/>
            <a:ext cx="6126480" cy="347472"/>
          </a:xfrm>
          <a:prstGeom prst="rect">
            <a:avLst/>
          </a:prstGeom>
          <a:noFill/>
        </p:spPr>
        <p:txBody>
          <a:bodyPr wrap="square">
            <a:spAutoFit/>
          </a:bodyPr>
          <a:lstStyle/>
          <a:p>
            <a:pPr algn="l"/>
            <a:r>
              <a:rPr sz="1600" b="0">
                <a:solidFill>
                  <a:srgbClr val="333333"/>
                </a:solidFill>
                <a:latin typeface="Bricolage Grotesque"/>
              </a:rPr>
              <a:t>Credentials n8n, aucune clé en clair</a:t>
            </a:r>
          </a:p>
        </p:txBody>
      </p:sp>
      <p:sp>
        <p:nvSpPr>
          <p:cNvPr id="23" name="TextBox 22"/>
          <p:cNvSpPr txBox="1"/>
          <p:nvPr/>
        </p:nvSpPr>
        <p:spPr>
          <a:xfrm>
            <a:off x="640080" y="4937760"/>
            <a:ext cx="10881360" cy="457200"/>
          </a:xfrm>
          <a:prstGeom prst="rect">
            <a:avLst/>
          </a:prstGeom>
          <a:noFill/>
        </p:spPr>
        <p:txBody>
          <a:bodyPr wrap="square">
            <a:spAutoFit/>
          </a:bodyPr>
          <a:lstStyle/>
          <a:p>
            <a:pPr algn="l"/>
            <a:r>
              <a:rPr sz="1700" b="1">
                <a:solidFill>
                  <a:srgbClr val="1B5E6B"/>
                </a:solidFill>
                <a:latin typeface="Bricolage Grotesque"/>
              </a:rPr>
              <a:t>La même grille servira pour chaque workflow que tu livreras à un client.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1965960"/>
            <a:ext cx="2743200" cy="36576"/>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515600" cy="731520"/>
          </a:xfrm>
          <a:prstGeom prst="rect">
            <a:avLst/>
          </a:prstGeom>
          <a:noFill/>
        </p:spPr>
        <p:txBody>
          <a:bodyPr wrap="square">
            <a:spAutoFit/>
          </a:bodyPr>
          <a:lstStyle/>
          <a:p>
            <a:pPr algn="l"/>
            <a:r>
              <a:rPr sz="2200" b="1">
                <a:solidFill>
                  <a:srgbClr val="E8A000"/>
                </a:solidFill>
                <a:latin typeface="Bricolage Grotesque"/>
              </a:rPr>
              <a:t>Séquence 3</a:t>
            </a:r>
          </a:p>
        </p:txBody>
      </p:sp>
      <p:sp>
        <p:nvSpPr>
          <p:cNvPr id="5" name="TextBox 4"/>
          <p:cNvSpPr txBox="1"/>
          <p:nvPr/>
        </p:nvSpPr>
        <p:spPr>
          <a:xfrm>
            <a:off x="640080" y="2286000"/>
            <a:ext cx="10698480" cy="1645920"/>
          </a:xfrm>
          <a:prstGeom prst="rect">
            <a:avLst/>
          </a:prstGeom>
          <a:noFill/>
        </p:spPr>
        <p:txBody>
          <a:bodyPr wrap="square">
            <a:spAutoFit/>
          </a:bodyPr>
          <a:lstStyle/>
          <a:p>
            <a:pPr algn="l"/>
            <a:r>
              <a:rPr sz="4200" b="1">
                <a:solidFill>
                  <a:srgbClr val="FFFFFF"/>
                </a:solidFill>
                <a:latin typeface="Bricolage Grotesque"/>
              </a:rPr>
              <a:t>Le prospect plombier</a:t>
            </a:r>
          </a:p>
        </p:txBody>
      </p:sp>
      <p:sp>
        <p:nvSpPr>
          <p:cNvPr id="6" name="TextBox 5"/>
          <p:cNvSpPr txBox="1"/>
          <p:nvPr/>
        </p:nvSpPr>
        <p:spPr>
          <a:xfrm>
            <a:off x="640080" y="4023360"/>
            <a:ext cx="10515600" cy="731520"/>
          </a:xfrm>
          <a:prstGeom prst="rect">
            <a:avLst/>
          </a:prstGeom>
          <a:noFill/>
        </p:spPr>
        <p:txBody>
          <a:bodyPr wrap="square">
            <a:spAutoFit/>
          </a:bodyPr>
          <a:lstStyle/>
          <a:p>
            <a:pPr algn="l"/>
            <a:r>
              <a:rPr sz="2000" b="0">
                <a:solidFill>
                  <a:srgbClr val="5A8A8F"/>
                </a:solidFill>
                <a:latin typeface="Bricolage Grotesque"/>
              </a:rPr>
              <a:t>Préparer un appel de 10 minutes</a:t>
            </a:r>
          </a:p>
        </p:txBody>
      </p:sp>
      <p:pic>
        <p:nvPicPr>
          <p:cNvPr id="7" name="Picture 6" descr="ia-round.png"/>
          <p:cNvPicPr>
            <a:picLocks noChangeAspect="1"/>
          </p:cNvPicPr>
          <p:nvPr/>
        </p:nvPicPr>
        <p:blipFill>
          <a:blip r:embed="rId2"/>
          <a:stretch>
            <a:fillRect/>
          </a:stretch>
        </p:blipFill>
        <p:spPr>
          <a:xfrm>
            <a:off x="457200" y="6217920"/>
            <a:ext cx="320040" cy="320040"/>
          </a:xfrm>
          <a:prstGeom prst="rect">
            <a:avLst/>
          </a:prstGeom>
        </p:spPr>
      </p:pic>
      <p:sp>
        <p:nvSpPr>
          <p:cNvPr id="8" name="TextBox 7"/>
          <p:cNvSpPr txBox="1"/>
          <p:nvPr/>
        </p:nvSpPr>
        <p:spPr>
          <a:xfrm>
            <a:off x="868680" y="6199632"/>
            <a:ext cx="3657600" cy="365760"/>
          </a:xfrm>
          <a:prstGeom prst="rect">
            <a:avLst/>
          </a:prstGeom>
          <a:noFill/>
        </p:spPr>
        <p:txBody>
          <a:bodyPr wrap="square">
            <a:spAutoFit/>
          </a:bodyPr>
          <a:lstStyle/>
          <a:p>
            <a:pPr algn="l"/>
            <a:r>
              <a:rPr sz="1400" b="0">
                <a:solidFill>
                  <a:srgbClr val="FFFFFF"/>
                </a:solidFill>
                <a:latin typeface="Bricolage Grotesque"/>
              </a:rPr>
              <a:t>intelligence academy</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Ce qu'il t'a dit</a:t>
            </a:r>
          </a:p>
        </p:txBody>
      </p:sp>
      <p:sp>
        <p:nvSpPr>
          <p:cNvPr id="5" name="TextBox 4"/>
          <p:cNvSpPr txBox="1"/>
          <p:nvPr/>
        </p:nvSpPr>
        <p:spPr>
          <a:xfrm>
            <a:off x="640080" y="1463040"/>
            <a:ext cx="10515600" cy="640080"/>
          </a:xfrm>
          <a:prstGeom prst="rect">
            <a:avLst/>
          </a:prstGeom>
          <a:noFill/>
        </p:spPr>
        <p:txBody>
          <a:bodyPr wrap="square">
            <a:spAutoFit/>
          </a:bodyPr>
          <a:lstStyle/>
          <a:p>
            <a:pPr algn="l"/>
            <a:r>
              <a:rPr sz="2600" b="1">
                <a:solidFill>
                  <a:srgbClr val="1A1A1A"/>
                </a:solidFill>
                <a:latin typeface="Bricolage Grotesque"/>
              </a:rPr>
              <a:t>Plombier-chauffagiste, il travaille seul</a:t>
            </a:r>
          </a:p>
        </p:txBody>
      </p:sp>
      <p:sp>
        <p:nvSpPr>
          <p:cNvPr id="6" name="TextBox 5"/>
          <p:cNvSpPr txBox="1"/>
          <p:nvPr/>
        </p:nvSpPr>
        <p:spPr>
          <a:xfrm>
            <a:off x="640080" y="2331720"/>
            <a:ext cx="10881360" cy="411480"/>
          </a:xfrm>
          <a:prstGeom prst="rect">
            <a:avLst/>
          </a:prstGeom>
          <a:noFill/>
        </p:spPr>
        <p:txBody>
          <a:bodyPr wrap="square">
            <a:spAutoFit/>
          </a:bodyPr>
          <a:lstStyle/>
          <a:p>
            <a:r>
              <a:rPr sz="2000" b="1">
                <a:solidFill>
                  <a:srgbClr val="1B5E6B"/>
                </a:solidFill>
                <a:latin typeface="Bricolage Grotesque"/>
              </a:rPr>
              <a:t>4 à 7 h d'administratif par semaine, gêne de 8/10 le soir et le week-end.</a:t>
            </a:r>
          </a:p>
        </p:txBody>
      </p:sp>
      <p:sp>
        <p:nvSpPr>
          <p:cNvPr id="7" name="TextBox 6"/>
          <p:cNvSpPr txBox="1"/>
          <p:nvPr/>
        </p:nvSpPr>
        <p:spPr>
          <a:xfrm>
            <a:off x="640080" y="2852928"/>
            <a:ext cx="10881360" cy="411480"/>
          </a:xfrm>
          <a:prstGeom prst="rect">
            <a:avLst/>
          </a:prstGeom>
          <a:noFill/>
        </p:spPr>
        <p:txBody>
          <a:bodyPr wrap="square">
            <a:spAutoFit/>
          </a:bodyPr>
          <a:lstStyle/>
          <a:p>
            <a:r>
              <a:rPr sz="2000" b="1">
                <a:solidFill>
                  <a:srgbClr val="1B5E6B"/>
                </a:solidFill>
                <a:latin typeface="Bricolage Grotesque"/>
              </a:rPr>
              <a:t>Ses clients l'appellent, ou viennent par le bouche-à-oreille.</a:t>
            </a:r>
          </a:p>
        </p:txBody>
      </p:sp>
      <p:sp>
        <p:nvSpPr>
          <p:cNvPr id="8" name="TextBox 7"/>
          <p:cNvSpPr txBox="1"/>
          <p:nvPr/>
        </p:nvSpPr>
        <p:spPr>
          <a:xfrm>
            <a:off x="640080" y="3374136"/>
            <a:ext cx="10881360" cy="411480"/>
          </a:xfrm>
          <a:prstGeom prst="rect">
            <a:avLst/>
          </a:prstGeom>
          <a:noFill/>
        </p:spPr>
        <p:txBody>
          <a:bodyPr wrap="square">
            <a:spAutoFit/>
          </a:bodyPr>
          <a:lstStyle/>
          <a:p>
            <a:r>
              <a:rPr sz="2000" b="1">
                <a:solidFill>
                  <a:srgbClr val="1B5E6B"/>
                </a:solidFill>
                <a:latin typeface="Bricolage Grotesque"/>
              </a:rPr>
              <a:t>Il fait ses devis sur Interfast, en 2 à 3 jours.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Ce qu'il t'a dit</a:t>
            </a:r>
          </a:p>
        </p:txBody>
      </p:sp>
      <p:sp>
        <p:nvSpPr>
          <p:cNvPr id="5" name="TextBox 4"/>
          <p:cNvSpPr txBox="1"/>
          <p:nvPr/>
        </p:nvSpPr>
        <p:spPr>
          <a:xfrm>
            <a:off x="640080" y="1463040"/>
            <a:ext cx="10515600" cy="640080"/>
          </a:xfrm>
          <a:prstGeom prst="rect">
            <a:avLst/>
          </a:prstGeom>
          <a:noFill/>
        </p:spPr>
        <p:txBody>
          <a:bodyPr wrap="square">
            <a:spAutoFit/>
          </a:bodyPr>
          <a:lstStyle/>
          <a:p>
            <a:pPr algn="l"/>
            <a:r>
              <a:rPr sz="2600" b="1">
                <a:solidFill>
                  <a:srgbClr val="1A1A1A"/>
                </a:solidFill>
                <a:latin typeface="Bricolage Grotesque"/>
              </a:rPr>
              <a:t>Plombier-chauffagiste, il travaille seul</a:t>
            </a:r>
          </a:p>
        </p:txBody>
      </p:sp>
      <p:sp>
        <p:nvSpPr>
          <p:cNvPr id="6" name="TextBox 5"/>
          <p:cNvSpPr txBox="1"/>
          <p:nvPr/>
        </p:nvSpPr>
        <p:spPr>
          <a:xfrm>
            <a:off x="640080" y="2331720"/>
            <a:ext cx="10881360" cy="411480"/>
          </a:xfrm>
          <a:prstGeom prst="rect">
            <a:avLst/>
          </a:prstGeom>
          <a:noFill/>
        </p:spPr>
        <p:txBody>
          <a:bodyPr wrap="square">
            <a:spAutoFit/>
          </a:bodyPr>
          <a:lstStyle/>
          <a:p>
            <a:r>
              <a:rPr sz="2000" b="1">
                <a:solidFill>
                  <a:srgbClr val="1B5E6B"/>
                </a:solidFill>
                <a:latin typeface="Bricolage Grotesque"/>
              </a:rPr>
              <a:t>4 à 7 h d'administratif par semaine, gêne de 8/10 le soir et le week-end.</a:t>
            </a:r>
          </a:p>
        </p:txBody>
      </p:sp>
      <p:sp>
        <p:nvSpPr>
          <p:cNvPr id="7" name="TextBox 6"/>
          <p:cNvSpPr txBox="1"/>
          <p:nvPr/>
        </p:nvSpPr>
        <p:spPr>
          <a:xfrm>
            <a:off x="640080" y="2852928"/>
            <a:ext cx="10881360" cy="411480"/>
          </a:xfrm>
          <a:prstGeom prst="rect">
            <a:avLst/>
          </a:prstGeom>
          <a:noFill/>
        </p:spPr>
        <p:txBody>
          <a:bodyPr wrap="square">
            <a:spAutoFit/>
          </a:bodyPr>
          <a:lstStyle/>
          <a:p>
            <a:r>
              <a:rPr sz="2000" b="1">
                <a:solidFill>
                  <a:srgbClr val="1B5E6B"/>
                </a:solidFill>
                <a:latin typeface="Bricolage Grotesque"/>
              </a:rPr>
              <a:t>Ses clients l'appellent, ou viennent par le bouche-à-oreille.</a:t>
            </a:r>
          </a:p>
        </p:txBody>
      </p:sp>
      <p:sp>
        <p:nvSpPr>
          <p:cNvPr id="8" name="TextBox 7"/>
          <p:cNvSpPr txBox="1"/>
          <p:nvPr/>
        </p:nvSpPr>
        <p:spPr>
          <a:xfrm>
            <a:off x="640080" y="3374136"/>
            <a:ext cx="10881360" cy="411480"/>
          </a:xfrm>
          <a:prstGeom prst="rect">
            <a:avLst/>
          </a:prstGeom>
          <a:noFill/>
        </p:spPr>
        <p:txBody>
          <a:bodyPr wrap="square">
            <a:spAutoFit/>
          </a:bodyPr>
          <a:lstStyle/>
          <a:p>
            <a:r>
              <a:rPr sz="2000" b="1">
                <a:solidFill>
                  <a:srgbClr val="1B5E6B"/>
                </a:solidFill>
                <a:latin typeface="Bricolage Grotesque"/>
              </a:rPr>
              <a:t>Il fait ses devis sur Interfast, en 2 à 3 jours.</a:t>
            </a:r>
          </a:p>
        </p:txBody>
      </p:sp>
      <p:sp>
        <p:nvSpPr>
          <p:cNvPr id="9" name="TextBox 8"/>
          <p:cNvSpPr txBox="1"/>
          <p:nvPr/>
        </p:nvSpPr>
        <p:spPr>
          <a:xfrm>
            <a:off x="640080" y="4133088"/>
            <a:ext cx="10881360" cy="411480"/>
          </a:xfrm>
          <a:prstGeom prst="rect">
            <a:avLst/>
          </a:prstGeom>
          <a:noFill/>
        </p:spPr>
        <p:txBody>
          <a:bodyPr wrap="square">
            <a:spAutoFit/>
          </a:bodyPr>
          <a:lstStyle/>
          <a:p>
            <a:r>
              <a:rPr sz="2000" b="1">
                <a:solidFill>
                  <a:srgbClr val="1B5E6B"/>
                </a:solidFill>
                <a:latin typeface="Bricolage Grotesque"/>
              </a:rPr>
              <a:t>Il a déjà une secrétaire indépendante.</a:t>
            </a:r>
          </a:p>
        </p:txBody>
      </p:sp>
      <p:sp>
        <p:nvSpPr>
          <p:cNvPr id="10" name="TextBox 9"/>
          <p:cNvSpPr txBox="1"/>
          <p:nvPr/>
        </p:nvSpPr>
        <p:spPr>
          <a:xfrm>
            <a:off x="640080" y="4654296"/>
            <a:ext cx="10881360" cy="411480"/>
          </a:xfrm>
          <a:prstGeom prst="rect">
            <a:avLst/>
          </a:prstGeom>
          <a:noFill/>
        </p:spPr>
        <p:txBody>
          <a:bodyPr wrap="square">
            <a:spAutoFit/>
          </a:bodyPr>
          <a:lstStyle/>
          <a:p>
            <a:r>
              <a:rPr sz="2000" b="1">
                <a:solidFill>
                  <a:srgbClr val="1B5E6B"/>
                </a:solidFill>
                <a:latin typeface="Bricolage Grotesque"/>
              </a:rPr>
              <a:t>Son budget : 100 à 150 € par mois.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Ses 6 demandes, ce que tu as déjà</a:t>
            </a:r>
          </a:p>
        </p:txBody>
      </p:sp>
      <p:sp>
        <p:nvSpPr>
          <p:cNvPr id="5" name="TextBox 4"/>
          <p:cNvSpPr txBox="1"/>
          <p:nvPr/>
        </p:nvSpPr>
        <p:spPr>
          <a:xfrm>
            <a:off x="777240" y="1463040"/>
            <a:ext cx="4023359" cy="365760"/>
          </a:xfrm>
          <a:prstGeom prst="rect">
            <a:avLst/>
          </a:prstGeom>
          <a:noFill/>
        </p:spPr>
        <p:txBody>
          <a:bodyPr wrap="square">
            <a:spAutoFit/>
          </a:bodyPr>
          <a:lstStyle/>
          <a:p>
            <a:pPr algn="l"/>
            <a:r>
              <a:rPr sz="1800" b="1">
                <a:solidFill>
                  <a:srgbClr val="1B5E6B"/>
                </a:solidFill>
                <a:latin typeface="Bricolage Grotesque"/>
              </a:rPr>
              <a:t>Sa demande</a:t>
            </a:r>
          </a:p>
        </p:txBody>
      </p:sp>
      <p:sp>
        <p:nvSpPr>
          <p:cNvPr id="6" name="TextBox 5"/>
          <p:cNvSpPr txBox="1"/>
          <p:nvPr/>
        </p:nvSpPr>
        <p:spPr>
          <a:xfrm>
            <a:off x="4983480" y="1463040"/>
            <a:ext cx="3931920" cy="365760"/>
          </a:xfrm>
          <a:prstGeom prst="rect">
            <a:avLst/>
          </a:prstGeom>
          <a:noFill/>
        </p:spPr>
        <p:txBody>
          <a:bodyPr wrap="square">
            <a:spAutoFit/>
          </a:bodyPr>
          <a:lstStyle/>
          <a:p>
            <a:pPr algn="l"/>
            <a:r>
              <a:rPr sz="1800" b="1">
                <a:solidFill>
                  <a:srgbClr val="1B5E6B"/>
                </a:solidFill>
                <a:latin typeface="Bricolage Grotesque"/>
              </a:rPr>
              <a:t>Tu as déjà</a:t>
            </a:r>
          </a:p>
        </p:txBody>
      </p:sp>
      <p:sp>
        <p:nvSpPr>
          <p:cNvPr id="7" name="TextBox 6"/>
          <p:cNvSpPr txBox="1"/>
          <p:nvPr/>
        </p:nvSpPr>
        <p:spPr>
          <a:xfrm>
            <a:off x="9098280" y="1463040"/>
            <a:ext cx="2377439" cy="365760"/>
          </a:xfrm>
          <a:prstGeom prst="rect">
            <a:avLst/>
          </a:prstGeom>
          <a:noFill/>
        </p:spPr>
        <p:txBody>
          <a:bodyPr wrap="square">
            <a:spAutoFit/>
          </a:bodyPr>
          <a:lstStyle/>
          <a:p>
            <a:pPr algn="l"/>
            <a:r>
              <a:rPr sz="1800" b="1">
                <a:solidFill>
                  <a:srgbClr val="1B5E6B"/>
                </a:solidFill>
                <a:latin typeface="Bricolage Grotesque"/>
              </a:rPr>
              <a:t>Difficulté</a:t>
            </a:r>
          </a:p>
        </p:txBody>
      </p:sp>
      <p:sp>
        <p:nvSpPr>
          <p:cNvPr id="8" name="Rectangle 7"/>
          <p:cNvSpPr/>
          <p:nvPr/>
        </p:nvSpPr>
        <p:spPr>
          <a:xfrm>
            <a:off x="640080" y="1874520"/>
            <a:ext cx="10881360" cy="27432"/>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1965960"/>
            <a:ext cx="10881360" cy="457200"/>
          </a:xfrm>
          <a:prstGeom prst="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2020824"/>
            <a:ext cx="4023359" cy="347472"/>
          </a:xfrm>
          <a:prstGeom prst="rect">
            <a:avLst/>
          </a:prstGeom>
          <a:noFill/>
        </p:spPr>
        <p:txBody>
          <a:bodyPr wrap="square">
            <a:spAutoFit/>
          </a:bodyPr>
          <a:lstStyle/>
          <a:p>
            <a:pPr algn="l"/>
            <a:r>
              <a:rPr sz="1600" b="1">
                <a:solidFill>
                  <a:srgbClr val="1A1A1A"/>
                </a:solidFill>
                <a:latin typeface="Bricolage Grotesque"/>
              </a:rPr>
              <a:t>1. SMS sur appel manqué</a:t>
            </a:r>
          </a:p>
        </p:txBody>
      </p:sp>
      <p:sp>
        <p:nvSpPr>
          <p:cNvPr id="11" name="TextBox 10"/>
          <p:cNvSpPr txBox="1"/>
          <p:nvPr/>
        </p:nvSpPr>
        <p:spPr>
          <a:xfrm>
            <a:off x="4983480" y="2020824"/>
            <a:ext cx="3931920" cy="347472"/>
          </a:xfrm>
          <a:prstGeom prst="rect">
            <a:avLst/>
          </a:prstGeom>
          <a:noFill/>
        </p:spPr>
        <p:txBody>
          <a:bodyPr wrap="square">
            <a:spAutoFit/>
          </a:bodyPr>
          <a:lstStyle/>
          <a:p>
            <a:pPr algn="l"/>
            <a:r>
              <a:rPr sz="1600" b="0">
                <a:solidFill>
                  <a:srgbClr val="333333"/>
                </a:solidFill>
                <a:latin typeface="Bricolage Grotesque"/>
              </a:rPr>
              <a:t>Rien : dépend de sa ligne</a:t>
            </a:r>
          </a:p>
        </p:txBody>
      </p:sp>
      <p:sp>
        <p:nvSpPr>
          <p:cNvPr id="12" name="TextBox 11"/>
          <p:cNvSpPr txBox="1"/>
          <p:nvPr/>
        </p:nvSpPr>
        <p:spPr>
          <a:xfrm>
            <a:off x="9098280" y="2020824"/>
            <a:ext cx="2377439" cy="347472"/>
          </a:xfrm>
          <a:prstGeom prst="rect">
            <a:avLst/>
          </a:prstGeom>
          <a:noFill/>
        </p:spPr>
        <p:txBody>
          <a:bodyPr wrap="square">
            <a:spAutoFit/>
          </a:bodyPr>
          <a:lstStyle/>
          <a:p>
            <a:pPr algn="l"/>
            <a:r>
              <a:rPr sz="1600" b="0">
                <a:solidFill>
                  <a:srgbClr val="333333"/>
                </a:solidFill>
                <a:latin typeface="Bricolage Grotesque"/>
              </a:rPr>
              <a:t>À vérifier</a:t>
            </a:r>
          </a:p>
        </p:txBody>
      </p:sp>
      <p:sp>
        <p:nvSpPr>
          <p:cNvPr id="13" name="TextBox 12"/>
          <p:cNvSpPr txBox="1"/>
          <p:nvPr/>
        </p:nvSpPr>
        <p:spPr>
          <a:xfrm>
            <a:off x="777240" y="2478024"/>
            <a:ext cx="4023359" cy="347472"/>
          </a:xfrm>
          <a:prstGeom prst="rect">
            <a:avLst/>
          </a:prstGeom>
          <a:noFill/>
        </p:spPr>
        <p:txBody>
          <a:bodyPr wrap="square">
            <a:spAutoFit/>
          </a:bodyPr>
          <a:lstStyle/>
          <a:p>
            <a:pPr algn="l"/>
            <a:r>
              <a:rPr sz="1600" b="1">
                <a:solidFill>
                  <a:srgbClr val="1A1A1A"/>
                </a:solidFill>
                <a:latin typeface="Bricolage Grotesque"/>
              </a:rPr>
              <a:t>2. Un seul tableau</a:t>
            </a:r>
          </a:p>
        </p:txBody>
      </p:sp>
      <p:sp>
        <p:nvSpPr>
          <p:cNvPr id="14" name="TextBox 13"/>
          <p:cNvSpPr txBox="1"/>
          <p:nvPr/>
        </p:nvSpPr>
        <p:spPr>
          <a:xfrm>
            <a:off x="4983480" y="2478024"/>
            <a:ext cx="3931920" cy="347472"/>
          </a:xfrm>
          <a:prstGeom prst="rect">
            <a:avLst/>
          </a:prstGeom>
          <a:noFill/>
        </p:spPr>
        <p:txBody>
          <a:bodyPr wrap="square">
            <a:spAutoFit/>
          </a:bodyPr>
          <a:lstStyle/>
          <a:p>
            <a:pPr algn="l"/>
            <a:r>
              <a:rPr sz="1600" b="0">
                <a:solidFill>
                  <a:srgbClr val="333333"/>
                </a:solidFill>
                <a:latin typeface="Bricolage Grotesque"/>
              </a:rPr>
              <a:t>Tally → Airtable</a:t>
            </a:r>
          </a:p>
        </p:txBody>
      </p:sp>
      <p:sp>
        <p:nvSpPr>
          <p:cNvPr id="15" name="TextBox 14"/>
          <p:cNvSpPr txBox="1"/>
          <p:nvPr/>
        </p:nvSpPr>
        <p:spPr>
          <a:xfrm>
            <a:off x="9098280" y="2478024"/>
            <a:ext cx="2377439" cy="347472"/>
          </a:xfrm>
          <a:prstGeom prst="rect">
            <a:avLst/>
          </a:prstGeom>
          <a:noFill/>
        </p:spPr>
        <p:txBody>
          <a:bodyPr wrap="square">
            <a:spAutoFit/>
          </a:bodyPr>
          <a:lstStyle/>
          <a:p>
            <a:pPr algn="l"/>
            <a:r>
              <a:rPr sz="1600" b="0">
                <a:solidFill>
                  <a:srgbClr val="333333"/>
                </a:solidFill>
                <a:latin typeface="Bricolage Grotesque"/>
              </a:rPr>
              <a:t>Prêt</a:t>
            </a:r>
          </a:p>
        </p:txBody>
      </p:sp>
      <p:sp>
        <p:nvSpPr>
          <p:cNvPr id="16" name="Rectangle 15"/>
          <p:cNvSpPr/>
          <p:nvPr/>
        </p:nvSpPr>
        <p:spPr>
          <a:xfrm>
            <a:off x="640080" y="2880360"/>
            <a:ext cx="10881360" cy="457200"/>
          </a:xfrm>
          <a:prstGeom prst="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935224"/>
            <a:ext cx="4023359" cy="347472"/>
          </a:xfrm>
          <a:prstGeom prst="rect">
            <a:avLst/>
          </a:prstGeom>
          <a:noFill/>
        </p:spPr>
        <p:txBody>
          <a:bodyPr wrap="square">
            <a:spAutoFit/>
          </a:bodyPr>
          <a:lstStyle/>
          <a:p>
            <a:pPr algn="l"/>
            <a:r>
              <a:rPr sz="1600" b="1">
                <a:solidFill>
                  <a:srgbClr val="1A1A1A"/>
                </a:solidFill>
                <a:latin typeface="Bricolage Grotesque"/>
              </a:rPr>
              <a:t>3. Brouillon de devis</a:t>
            </a:r>
          </a:p>
        </p:txBody>
      </p:sp>
      <p:sp>
        <p:nvSpPr>
          <p:cNvPr id="18" name="TextBox 17"/>
          <p:cNvSpPr txBox="1"/>
          <p:nvPr/>
        </p:nvSpPr>
        <p:spPr>
          <a:xfrm>
            <a:off x="4983480" y="2935224"/>
            <a:ext cx="3931920" cy="347472"/>
          </a:xfrm>
          <a:prstGeom prst="rect">
            <a:avLst/>
          </a:prstGeom>
          <a:noFill/>
        </p:spPr>
        <p:txBody>
          <a:bodyPr wrap="square">
            <a:spAutoFit/>
          </a:bodyPr>
          <a:lstStyle/>
          <a:p>
            <a:pPr algn="l"/>
            <a:r>
              <a:rPr sz="1600" b="0">
                <a:solidFill>
                  <a:srgbClr val="333333"/>
                </a:solidFill>
                <a:latin typeface="Bricolage Grotesque"/>
              </a:rPr>
              <a:t>Rien : il devise sur Interfast</a:t>
            </a:r>
          </a:p>
        </p:txBody>
      </p:sp>
      <p:sp>
        <p:nvSpPr>
          <p:cNvPr id="19" name="TextBox 18"/>
          <p:cNvSpPr txBox="1"/>
          <p:nvPr/>
        </p:nvSpPr>
        <p:spPr>
          <a:xfrm>
            <a:off x="9098280" y="2935224"/>
            <a:ext cx="2377439" cy="347472"/>
          </a:xfrm>
          <a:prstGeom prst="rect">
            <a:avLst/>
          </a:prstGeom>
          <a:noFill/>
        </p:spPr>
        <p:txBody>
          <a:bodyPr wrap="square">
            <a:spAutoFit/>
          </a:bodyPr>
          <a:lstStyle/>
          <a:p>
            <a:pPr algn="l"/>
            <a:r>
              <a:rPr sz="1600" b="0">
                <a:solidFill>
                  <a:srgbClr val="333333"/>
                </a:solidFill>
                <a:latin typeface="Bricolage Grotesque"/>
              </a:rPr>
              <a:t>À vérifier</a:t>
            </a:r>
          </a:p>
        </p:txBody>
      </p:sp>
      <p:sp>
        <p:nvSpPr>
          <p:cNvPr id="20" name="TextBox 19"/>
          <p:cNvSpPr txBox="1"/>
          <p:nvPr/>
        </p:nvSpPr>
        <p:spPr>
          <a:xfrm>
            <a:off x="777240" y="3392424"/>
            <a:ext cx="4023359" cy="347472"/>
          </a:xfrm>
          <a:prstGeom prst="rect">
            <a:avLst/>
          </a:prstGeom>
          <a:noFill/>
        </p:spPr>
        <p:txBody>
          <a:bodyPr wrap="square">
            <a:spAutoFit/>
          </a:bodyPr>
          <a:lstStyle/>
          <a:p>
            <a:pPr algn="l"/>
            <a:r>
              <a:rPr sz="1600" b="1">
                <a:solidFill>
                  <a:srgbClr val="1A1A1A"/>
                </a:solidFill>
                <a:latin typeface="Bricolage Grotesque"/>
              </a:rPr>
              <a:t>4. Relance des devis</a:t>
            </a:r>
          </a:p>
        </p:txBody>
      </p:sp>
      <p:sp>
        <p:nvSpPr>
          <p:cNvPr id="21" name="TextBox 20"/>
          <p:cNvSpPr txBox="1"/>
          <p:nvPr/>
        </p:nvSpPr>
        <p:spPr>
          <a:xfrm>
            <a:off x="4983480" y="3392424"/>
            <a:ext cx="3931920" cy="347472"/>
          </a:xfrm>
          <a:prstGeom prst="rect">
            <a:avLst/>
          </a:prstGeom>
          <a:noFill/>
        </p:spPr>
        <p:txBody>
          <a:bodyPr wrap="square">
            <a:spAutoFit/>
          </a:bodyPr>
          <a:lstStyle/>
          <a:p>
            <a:pPr algn="l"/>
            <a:r>
              <a:rPr sz="1600" b="0">
                <a:solidFill>
                  <a:srgbClr val="333333"/>
                </a:solidFill>
                <a:latin typeface="Bricolage Grotesque"/>
              </a:rPr>
              <a:t>Les relances J+3 et J+7</a:t>
            </a:r>
          </a:p>
        </p:txBody>
      </p:sp>
      <p:sp>
        <p:nvSpPr>
          <p:cNvPr id="22" name="TextBox 21"/>
          <p:cNvSpPr txBox="1"/>
          <p:nvPr/>
        </p:nvSpPr>
        <p:spPr>
          <a:xfrm>
            <a:off x="9098280" y="3392424"/>
            <a:ext cx="2377439" cy="347472"/>
          </a:xfrm>
          <a:prstGeom prst="rect">
            <a:avLst/>
          </a:prstGeom>
          <a:noFill/>
        </p:spPr>
        <p:txBody>
          <a:bodyPr wrap="square">
            <a:spAutoFit/>
          </a:bodyPr>
          <a:lstStyle/>
          <a:p>
            <a:pPr algn="l"/>
            <a:r>
              <a:rPr sz="1600" b="0">
                <a:solidFill>
                  <a:srgbClr val="333333"/>
                </a:solidFill>
                <a:latin typeface="Bricolage Grotesque"/>
              </a:rPr>
              <a:t>Prêt</a:t>
            </a:r>
          </a:p>
        </p:txBody>
      </p:sp>
      <p:sp>
        <p:nvSpPr>
          <p:cNvPr id="23" name="Rectangle 22"/>
          <p:cNvSpPr/>
          <p:nvPr/>
        </p:nvSpPr>
        <p:spPr>
          <a:xfrm>
            <a:off x="640080" y="3794760"/>
            <a:ext cx="10881360" cy="457200"/>
          </a:xfrm>
          <a:prstGeom prst="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3849624"/>
            <a:ext cx="4023359" cy="347472"/>
          </a:xfrm>
          <a:prstGeom prst="rect">
            <a:avLst/>
          </a:prstGeom>
          <a:noFill/>
        </p:spPr>
        <p:txBody>
          <a:bodyPr wrap="square">
            <a:spAutoFit/>
          </a:bodyPr>
          <a:lstStyle/>
          <a:p>
            <a:pPr algn="l"/>
            <a:r>
              <a:rPr sz="1600" b="1">
                <a:solidFill>
                  <a:srgbClr val="1A1A1A"/>
                </a:solidFill>
                <a:latin typeface="Bricolage Grotesque"/>
              </a:rPr>
              <a:t>5. Rappel des RDV la veille</a:t>
            </a:r>
          </a:p>
        </p:txBody>
      </p:sp>
      <p:sp>
        <p:nvSpPr>
          <p:cNvPr id="25" name="TextBox 24"/>
          <p:cNvSpPr txBox="1"/>
          <p:nvPr/>
        </p:nvSpPr>
        <p:spPr>
          <a:xfrm>
            <a:off x="4983480" y="3849624"/>
            <a:ext cx="3931920" cy="347472"/>
          </a:xfrm>
          <a:prstGeom prst="rect">
            <a:avLst/>
          </a:prstGeom>
          <a:noFill/>
        </p:spPr>
        <p:txBody>
          <a:bodyPr wrap="square">
            <a:spAutoFit/>
          </a:bodyPr>
          <a:lstStyle/>
          <a:p>
            <a:pPr algn="l"/>
            <a:r>
              <a:rPr sz="1600" b="0">
                <a:solidFill>
                  <a:srgbClr val="333333"/>
                </a:solidFill>
                <a:latin typeface="Bricolage Grotesque"/>
              </a:rPr>
              <a:t>Le modèle des relances</a:t>
            </a:r>
          </a:p>
        </p:txBody>
      </p:sp>
      <p:sp>
        <p:nvSpPr>
          <p:cNvPr id="26" name="TextBox 25"/>
          <p:cNvSpPr txBox="1"/>
          <p:nvPr/>
        </p:nvSpPr>
        <p:spPr>
          <a:xfrm>
            <a:off x="9098280" y="3849624"/>
            <a:ext cx="2377439" cy="347472"/>
          </a:xfrm>
          <a:prstGeom prst="rect">
            <a:avLst/>
          </a:prstGeom>
          <a:noFill/>
        </p:spPr>
        <p:txBody>
          <a:bodyPr wrap="square">
            <a:spAutoFit/>
          </a:bodyPr>
          <a:lstStyle/>
          <a:p>
            <a:pPr algn="l"/>
            <a:r>
              <a:rPr sz="1600" b="0">
                <a:solidFill>
                  <a:srgbClr val="333333"/>
                </a:solidFill>
                <a:latin typeface="Bricolage Grotesque"/>
              </a:rPr>
              <a:t>Moyen</a:t>
            </a:r>
          </a:p>
        </p:txBody>
      </p:sp>
      <p:sp>
        <p:nvSpPr>
          <p:cNvPr id="27" name="TextBox 26"/>
          <p:cNvSpPr txBox="1"/>
          <p:nvPr/>
        </p:nvSpPr>
        <p:spPr>
          <a:xfrm>
            <a:off x="777240" y="4306824"/>
            <a:ext cx="4023359" cy="347472"/>
          </a:xfrm>
          <a:prstGeom prst="rect">
            <a:avLst/>
          </a:prstGeom>
          <a:noFill/>
        </p:spPr>
        <p:txBody>
          <a:bodyPr wrap="square">
            <a:spAutoFit/>
          </a:bodyPr>
          <a:lstStyle/>
          <a:p>
            <a:pPr algn="l"/>
            <a:r>
              <a:rPr sz="1600" b="1">
                <a:solidFill>
                  <a:srgbClr val="1A1A1A"/>
                </a:solidFill>
                <a:latin typeface="Bricolage Grotesque"/>
              </a:rPr>
              <a:t>6. Demande d'avis Google</a:t>
            </a:r>
          </a:p>
        </p:txBody>
      </p:sp>
      <p:sp>
        <p:nvSpPr>
          <p:cNvPr id="28" name="TextBox 27"/>
          <p:cNvSpPr txBox="1"/>
          <p:nvPr/>
        </p:nvSpPr>
        <p:spPr>
          <a:xfrm>
            <a:off x="4983480" y="4306824"/>
            <a:ext cx="3931920" cy="347472"/>
          </a:xfrm>
          <a:prstGeom prst="rect">
            <a:avLst/>
          </a:prstGeom>
          <a:noFill/>
        </p:spPr>
        <p:txBody>
          <a:bodyPr wrap="square">
            <a:spAutoFit/>
          </a:bodyPr>
          <a:lstStyle/>
          <a:p>
            <a:pPr algn="l"/>
            <a:r>
              <a:rPr sz="1600" b="0">
                <a:solidFill>
                  <a:srgbClr val="333333"/>
                </a:solidFill>
                <a:latin typeface="Bricolage Grotesque"/>
              </a:rPr>
              <a:t>Un mail en fin de chantier</a:t>
            </a:r>
          </a:p>
        </p:txBody>
      </p:sp>
      <p:sp>
        <p:nvSpPr>
          <p:cNvPr id="29" name="TextBox 28"/>
          <p:cNvSpPr txBox="1"/>
          <p:nvPr/>
        </p:nvSpPr>
        <p:spPr>
          <a:xfrm>
            <a:off x="9098280" y="4306824"/>
            <a:ext cx="2377439" cy="347472"/>
          </a:xfrm>
          <a:prstGeom prst="rect">
            <a:avLst/>
          </a:prstGeom>
          <a:noFill/>
        </p:spPr>
        <p:txBody>
          <a:bodyPr wrap="square">
            <a:spAutoFit/>
          </a:bodyPr>
          <a:lstStyle/>
          <a:p>
            <a:pPr algn="l"/>
            <a:r>
              <a:rPr sz="1600" b="0">
                <a:solidFill>
                  <a:srgbClr val="333333"/>
                </a:solidFill>
                <a:latin typeface="Bricolage Grotesque"/>
              </a:rPr>
              <a:t>Facile</a:t>
            </a:r>
          </a:p>
        </p:txBody>
      </p:sp>
      <p:sp>
        <p:nvSpPr>
          <p:cNvPr id="30" name="TextBox 29"/>
          <p:cNvSpPr txBox="1"/>
          <p:nvPr/>
        </p:nvSpPr>
        <p:spPr>
          <a:xfrm>
            <a:off x="640080" y="4937760"/>
            <a:ext cx="10881360" cy="457200"/>
          </a:xfrm>
          <a:prstGeom prst="rect">
            <a:avLst/>
          </a:prstGeom>
          <a:noFill/>
        </p:spPr>
        <p:txBody>
          <a:bodyPr wrap="square">
            <a:spAutoFit/>
          </a:bodyPr>
          <a:lstStyle/>
          <a:p>
            <a:pPr algn="l"/>
            <a:r>
              <a:rPr sz="1700" b="1">
                <a:solidFill>
                  <a:srgbClr val="1B5E6B"/>
                </a:solidFill>
                <a:latin typeface="Bricolage Grotesque"/>
              </a:rPr>
              <a:t>Ses clients appellent : le SMS doit les renvoyer vers ton formulaire Tally.</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Le calcul qu'il n'a pas fait</a:t>
            </a:r>
          </a:p>
        </p:txBody>
      </p:sp>
      <p:sp>
        <p:nvSpPr>
          <p:cNvPr id="5" name="TextBox 4"/>
          <p:cNvSpPr txBox="1"/>
          <p:nvPr/>
        </p:nvSpPr>
        <p:spPr>
          <a:xfrm>
            <a:off x="640080" y="1463040"/>
            <a:ext cx="10515600" cy="640080"/>
          </a:xfrm>
          <a:prstGeom prst="rect">
            <a:avLst/>
          </a:prstGeom>
          <a:noFill/>
        </p:spPr>
        <p:txBody>
          <a:bodyPr wrap="square">
            <a:spAutoFit/>
          </a:bodyPr>
          <a:lstStyle/>
          <a:p>
            <a:pPr algn="l"/>
            <a:r>
              <a:rPr sz="2600" b="1">
                <a:solidFill>
                  <a:srgbClr val="1A1A1A"/>
                </a:solidFill>
                <a:latin typeface="Bricolage Grotesque"/>
              </a:rPr>
              <a:t>Avec ses propres chiffres</a:t>
            </a:r>
          </a:p>
        </p:txBody>
      </p:sp>
      <p:sp>
        <p:nvSpPr>
          <p:cNvPr id="6" name="TextBox 5"/>
          <p:cNvSpPr txBox="1"/>
          <p:nvPr/>
        </p:nvSpPr>
        <p:spPr>
          <a:xfrm>
            <a:off x="640080" y="2331720"/>
            <a:ext cx="10881360" cy="411480"/>
          </a:xfrm>
          <a:prstGeom prst="rect">
            <a:avLst/>
          </a:prstGeom>
          <a:noFill/>
        </p:spPr>
        <p:txBody>
          <a:bodyPr wrap="square">
            <a:spAutoFit/>
          </a:bodyPr>
          <a:lstStyle/>
          <a:p>
            <a:r>
              <a:rPr sz="2000" b="1">
                <a:solidFill>
                  <a:srgbClr val="1B5E6B"/>
                </a:solidFill>
                <a:latin typeface="Bricolage Grotesque"/>
              </a:rPr>
              <a:t>2 à 3 clients perdus par mois, selon lui, à 1 000 à 5 000 € le chantier.</a:t>
            </a:r>
          </a:p>
        </p:txBody>
      </p:sp>
      <p:sp>
        <p:nvSpPr>
          <p:cNvPr id="7" name="TextBox 6"/>
          <p:cNvSpPr txBox="1"/>
          <p:nvPr/>
        </p:nvSpPr>
        <p:spPr>
          <a:xfrm>
            <a:off x="640080" y="2852928"/>
            <a:ext cx="10881360" cy="411480"/>
          </a:xfrm>
          <a:prstGeom prst="rect">
            <a:avLst/>
          </a:prstGeom>
          <a:noFill/>
        </p:spPr>
        <p:txBody>
          <a:bodyPr wrap="square">
            <a:spAutoFit/>
          </a:bodyPr>
          <a:lstStyle/>
          <a:p>
            <a:r>
              <a:rPr sz="2000" b="1">
                <a:solidFill>
                  <a:srgbClr val="1B5E6B"/>
                </a:solidFill>
                <a:latin typeface="Bricolage Grotesque"/>
              </a:rPr>
              <a:t>Soit 2 000 à 15 000 € de chiffre d'affaires qui part chaque mois.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Le calcul qu'il n'a pas fait</a:t>
            </a:r>
          </a:p>
        </p:txBody>
      </p:sp>
      <p:sp>
        <p:nvSpPr>
          <p:cNvPr id="5" name="TextBox 4"/>
          <p:cNvSpPr txBox="1"/>
          <p:nvPr/>
        </p:nvSpPr>
        <p:spPr>
          <a:xfrm>
            <a:off x="640080" y="1463040"/>
            <a:ext cx="10515600" cy="640080"/>
          </a:xfrm>
          <a:prstGeom prst="rect">
            <a:avLst/>
          </a:prstGeom>
          <a:noFill/>
        </p:spPr>
        <p:txBody>
          <a:bodyPr wrap="square">
            <a:spAutoFit/>
          </a:bodyPr>
          <a:lstStyle/>
          <a:p>
            <a:pPr algn="l"/>
            <a:r>
              <a:rPr sz="2600" b="1">
                <a:solidFill>
                  <a:srgbClr val="1A1A1A"/>
                </a:solidFill>
                <a:latin typeface="Bricolage Grotesque"/>
              </a:rPr>
              <a:t>Avec ses propres chiffres</a:t>
            </a:r>
          </a:p>
        </p:txBody>
      </p:sp>
      <p:sp>
        <p:nvSpPr>
          <p:cNvPr id="6" name="TextBox 5"/>
          <p:cNvSpPr txBox="1"/>
          <p:nvPr/>
        </p:nvSpPr>
        <p:spPr>
          <a:xfrm>
            <a:off x="640080" y="2331720"/>
            <a:ext cx="10881360" cy="411480"/>
          </a:xfrm>
          <a:prstGeom prst="rect">
            <a:avLst/>
          </a:prstGeom>
          <a:noFill/>
        </p:spPr>
        <p:txBody>
          <a:bodyPr wrap="square">
            <a:spAutoFit/>
          </a:bodyPr>
          <a:lstStyle/>
          <a:p>
            <a:r>
              <a:rPr sz="2000" b="1">
                <a:solidFill>
                  <a:srgbClr val="1B5E6B"/>
                </a:solidFill>
                <a:latin typeface="Bricolage Grotesque"/>
              </a:rPr>
              <a:t>2 à 3 clients perdus par mois, selon lui, à 1 000 à 5 000 € le chantier.</a:t>
            </a:r>
          </a:p>
        </p:txBody>
      </p:sp>
      <p:sp>
        <p:nvSpPr>
          <p:cNvPr id="7" name="TextBox 6"/>
          <p:cNvSpPr txBox="1"/>
          <p:nvPr/>
        </p:nvSpPr>
        <p:spPr>
          <a:xfrm>
            <a:off x="640080" y="2852928"/>
            <a:ext cx="10881360" cy="411480"/>
          </a:xfrm>
          <a:prstGeom prst="rect">
            <a:avLst/>
          </a:prstGeom>
          <a:noFill/>
        </p:spPr>
        <p:txBody>
          <a:bodyPr wrap="square">
            <a:spAutoFit/>
          </a:bodyPr>
          <a:lstStyle/>
          <a:p>
            <a:r>
              <a:rPr sz="2000" b="1">
                <a:solidFill>
                  <a:srgbClr val="1B5E6B"/>
                </a:solidFill>
                <a:latin typeface="Bricolage Grotesque"/>
              </a:rPr>
              <a:t>Soit 2 000 à 15 000 € de chiffre d'affaires qui part chaque mois.</a:t>
            </a:r>
          </a:p>
        </p:txBody>
      </p:sp>
      <p:sp>
        <p:nvSpPr>
          <p:cNvPr id="8" name="TextBox 7"/>
          <p:cNvSpPr txBox="1"/>
          <p:nvPr/>
        </p:nvSpPr>
        <p:spPr>
          <a:xfrm>
            <a:off x="640080" y="3611880"/>
            <a:ext cx="10881360" cy="411480"/>
          </a:xfrm>
          <a:prstGeom prst="rect">
            <a:avLst/>
          </a:prstGeom>
          <a:noFill/>
        </p:spPr>
        <p:txBody>
          <a:bodyPr wrap="square">
            <a:spAutoFit/>
          </a:bodyPr>
          <a:lstStyle/>
          <a:p>
            <a:r>
              <a:rPr sz="2000" b="0">
                <a:solidFill>
                  <a:srgbClr val="333333"/>
                </a:solidFill>
                <a:latin typeface="Bricolage Grotesque"/>
              </a:rPr>
              <a:t>Son budget : 100 à 150 € par mois.</a:t>
            </a:r>
          </a:p>
        </p:txBody>
      </p:sp>
      <p:sp>
        <p:nvSpPr>
          <p:cNvPr id="9" name="TextBox 8"/>
          <p:cNvSpPr txBox="1"/>
          <p:nvPr/>
        </p:nvSpPr>
        <p:spPr>
          <a:xfrm>
            <a:off x="640080" y="4133088"/>
            <a:ext cx="10881360" cy="411480"/>
          </a:xfrm>
          <a:prstGeom prst="rect">
            <a:avLst/>
          </a:prstGeom>
          <a:noFill/>
        </p:spPr>
        <p:txBody>
          <a:bodyPr wrap="square">
            <a:spAutoFit/>
          </a:bodyPr>
          <a:lstStyle/>
          <a:p>
            <a:r>
              <a:rPr sz="2000" b="0">
                <a:solidFill>
                  <a:srgbClr val="333333"/>
                </a:solidFill>
                <a:latin typeface="Bricolage Grotesque"/>
              </a:rPr>
              <a:t>Un seul chantier récupéré par mois paie l'outil plusieurs fois.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Le calcul qu'il n'a pas fait</a:t>
            </a:r>
          </a:p>
        </p:txBody>
      </p:sp>
      <p:sp>
        <p:nvSpPr>
          <p:cNvPr id="5" name="TextBox 4"/>
          <p:cNvSpPr txBox="1"/>
          <p:nvPr/>
        </p:nvSpPr>
        <p:spPr>
          <a:xfrm>
            <a:off x="640080" y="1463040"/>
            <a:ext cx="10515600" cy="640080"/>
          </a:xfrm>
          <a:prstGeom prst="rect">
            <a:avLst/>
          </a:prstGeom>
          <a:noFill/>
        </p:spPr>
        <p:txBody>
          <a:bodyPr wrap="square">
            <a:spAutoFit/>
          </a:bodyPr>
          <a:lstStyle/>
          <a:p>
            <a:pPr algn="l"/>
            <a:r>
              <a:rPr sz="2600" b="1">
                <a:solidFill>
                  <a:srgbClr val="1A1A1A"/>
                </a:solidFill>
                <a:latin typeface="Bricolage Grotesque"/>
              </a:rPr>
              <a:t>Avec ses propres chiffres</a:t>
            </a:r>
          </a:p>
        </p:txBody>
      </p:sp>
      <p:sp>
        <p:nvSpPr>
          <p:cNvPr id="6" name="TextBox 5"/>
          <p:cNvSpPr txBox="1"/>
          <p:nvPr/>
        </p:nvSpPr>
        <p:spPr>
          <a:xfrm>
            <a:off x="640080" y="2331720"/>
            <a:ext cx="10881360" cy="411480"/>
          </a:xfrm>
          <a:prstGeom prst="rect">
            <a:avLst/>
          </a:prstGeom>
          <a:noFill/>
        </p:spPr>
        <p:txBody>
          <a:bodyPr wrap="square">
            <a:spAutoFit/>
          </a:bodyPr>
          <a:lstStyle/>
          <a:p>
            <a:r>
              <a:rPr sz="2000" b="1">
                <a:solidFill>
                  <a:srgbClr val="1B5E6B"/>
                </a:solidFill>
                <a:latin typeface="Bricolage Grotesque"/>
              </a:rPr>
              <a:t>2 à 3 clients perdus par mois, selon lui, à 1 000 à 5 000 € le chantier.</a:t>
            </a:r>
          </a:p>
        </p:txBody>
      </p:sp>
      <p:sp>
        <p:nvSpPr>
          <p:cNvPr id="7" name="TextBox 6"/>
          <p:cNvSpPr txBox="1"/>
          <p:nvPr/>
        </p:nvSpPr>
        <p:spPr>
          <a:xfrm>
            <a:off x="640080" y="2852928"/>
            <a:ext cx="10881360" cy="411480"/>
          </a:xfrm>
          <a:prstGeom prst="rect">
            <a:avLst/>
          </a:prstGeom>
          <a:noFill/>
        </p:spPr>
        <p:txBody>
          <a:bodyPr wrap="square">
            <a:spAutoFit/>
          </a:bodyPr>
          <a:lstStyle/>
          <a:p>
            <a:r>
              <a:rPr sz="2000" b="1">
                <a:solidFill>
                  <a:srgbClr val="1B5E6B"/>
                </a:solidFill>
                <a:latin typeface="Bricolage Grotesque"/>
              </a:rPr>
              <a:t>Soit 2 000 à 15 000 € de chiffre d'affaires qui part chaque mois.</a:t>
            </a:r>
          </a:p>
        </p:txBody>
      </p:sp>
      <p:sp>
        <p:nvSpPr>
          <p:cNvPr id="8" name="TextBox 7"/>
          <p:cNvSpPr txBox="1"/>
          <p:nvPr/>
        </p:nvSpPr>
        <p:spPr>
          <a:xfrm>
            <a:off x="640080" y="3611880"/>
            <a:ext cx="10881360" cy="411480"/>
          </a:xfrm>
          <a:prstGeom prst="rect">
            <a:avLst/>
          </a:prstGeom>
          <a:noFill/>
        </p:spPr>
        <p:txBody>
          <a:bodyPr wrap="square">
            <a:spAutoFit/>
          </a:bodyPr>
          <a:lstStyle/>
          <a:p>
            <a:r>
              <a:rPr sz="2000" b="0">
                <a:solidFill>
                  <a:srgbClr val="333333"/>
                </a:solidFill>
                <a:latin typeface="Bricolage Grotesque"/>
              </a:rPr>
              <a:t>Son budget : 100 à 150 € par mois.</a:t>
            </a:r>
          </a:p>
        </p:txBody>
      </p:sp>
      <p:sp>
        <p:nvSpPr>
          <p:cNvPr id="9" name="TextBox 8"/>
          <p:cNvSpPr txBox="1"/>
          <p:nvPr/>
        </p:nvSpPr>
        <p:spPr>
          <a:xfrm>
            <a:off x="640080" y="4133088"/>
            <a:ext cx="10881360" cy="411480"/>
          </a:xfrm>
          <a:prstGeom prst="rect">
            <a:avLst/>
          </a:prstGeom>
          <a:noFill/>
        </p:spPr>
        <p:txBody>
          <a:bodyPr wrap="square">
            <a:spAutoFit/>
          </a:bodyPr>
          <a:lstStyle/>
          <a:p>
            <a:r>
              <a:rPr sz="2000" b="0">
                <a:solidFill>
                  <a:srgbClr val="333333"/>
                </a:solidFill>
                <a:latin typeface="Bricolage Grotesque"/>
              </a:rPr>
              <a:t>Un seul chantier récupéré par mois paie l'outil plusieurs fois.</a:t>
            </a:r>
          </a:p>
        </p:txBody>
      </p:sp>
      <p:sp>
        <p:nvSpPr>
          <p:cNvPr id="10" name="TextBox 9"/>
          <p:cNvSpPr txBox="1"/>
          <p:nvPr/>
        </p:nvSpPr>
        <p:spPr>
          <a:xfrm>
            <a:off x="640080" y="4892040"/>
            <a:ext cx="10881360" cy="411480"/>
          </a:xfrm>
          <a:prstGeom prst="rect">
            <a:avLst/>
          </a:prstGeom>
          <a:noFill/>
        </p:spPr>
        <p:txBody>
          <a:bodyPr wrap="square">
            <a:spAutoFit/>
          </a:bodyPr>
          <a:lstStyle/>
          <a:p>
            <a:r>
              <a:rPr sz="2000" b="1">
                <a:solidFill>
                  <a:srgbClr val="1B5E6B"/>
                </a:solidFill>
                <a:latin typeface="Bricolage Grotesque"/>
              </a:rPr>
              <a:t>Fais-le-lui calculer au téléphone. Ne lui récite pas.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Le lot 1 à lui proposer</a:t>
            </a:r>
          </a:p>
        </p:txBody>
      </p:sp>
      <p:sp>
        <p:nvSpPr>
          <p:cNvPr id="5" name="TextBox 4"/>
          <p:cNvSpPr txBox="1"/>
          <p:nvPr/>
        </p:nvSpPr>
        <p:spPr>
          <a:xfrm>
            <a:off x="640080" y="1463040"/>
            <a:ext cx="10515600" cy="640080"/>
          </a:xfrm>
          <a:prstGeom prst="rect">
            <a:avLst/>
          </a:prstGeom>
          <a:noFill/>
        </p:spPr>
        <p:txBody>
          <a:bodyPr wrap="square">
            <a:spAutoFit/>
          </a:bodyPr>
          <a:lstStyle/>
          <a:p>
            <a:pPr algn="l"/>
            <a:r>
              <a:rPr sz="2600" b="1">
                <a:solidFill>
                  <a:srgbClr val="1A1A1A"/>
                </a:solidFill>
                <a:latin typeface="Bricolage Grotesque"/>
              </a:rPr>
              <a:t>Ce qui se passe quand il rate un appel</a:t>
            </a:r>
          </a:p>
        </p:txBody>
      </p:sp>
      <p:sp>
        <p:nvSpPr>
          <p:cNvPr id="6" name="Rounded Rectangle 5"/>
          <p:cNvSpPr/>
          <p:nvPr/>
        </p:nvSpPr>
        <p:spPr>
          <a:xfrm>
            <a:off x="640080" y="2743200"/>
            <a:ext cx="2331720" cy="777240"/>
          </a:xfrm>
          <a:prstGeom prst="roundRect">
            <a:avLst/>
          </a:prstGeom>
          <a:solidFill>
            <a:srgbClr val="1B5E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2907792"/>
            <a:ext cx="2148840" cy="502920"/>
          </a:xfrm>
          <a:prstGeom prst="rect">
            <a:avLst/>
          </a:prstGeom>
          <a:noFill/>
        </p:spPr>
        <p:txBody>
          <a:bodyPr wrap="square">
            <a:spAutoFit/>
          </a:bodyPr>
          <a:lstStyle/>
          <a:p>
            <a:pPr algn="ctr"/>
            <a:r>
              <a:rPr sz="1400" b="1">
                <a:solidFill>
                  <a:srgbClr val="FFFFFF"/>
                </a:solidFill>
                <a:latin typeface="Bricolage Grotesque"/>
              </a:rPr>
              <a:t>Appel manqué
sur sa ligne pro</a:t>
            </a:r>
          </a:p>
        </p:txBody>
      </p:sp>
      <p:sp>
        <p:nvSpPr>
          <p:cNvPr id="8" name="TextBox 7"/>
          <p:cNvSpPr txBox="1"/>
          <p:nvPr/>
        </p:nvSpPr>
        <p:spPr>
          <a:xfrm>
            <a:off x="3008376" y="2926080"/>
            <a:ext cx="310896" cy="457200"/>
          </a:xfrm>
          <a:prstGeom prst="rect">
            <a:avLst/>
          </a:prstGeom>
          <a:noFill/>
        </p:spPr>
        <p:txBody>
          <a:bodyPr wrap="square">
            <a:spAutoFit/>
          </a:bodyPr>
          <a:lstStyle/>
          <a:p>
            <a:pPr algn="ctr"/>
            <a:r>
              <a:rPr sz="2200" b="1">
                <a:solidFill>
                  <a:srgbClr val="E8A000"/>
                </a:solidFill>
                <a:latin typeface="Bricolage Grotesque"/>
              </a:rPr>
              <a:t>→</a:t>
            </a:r>
          </a:p>
        </p:txBody>
      </p:sp>
      <p:sp>
        <p:nvSpPr>
          <p:cNvPr id="9" name="Rounded Rectangle 8"/>
          <p:cNvSpPr/>
          <p:nvPr/>
        </p:nvSpPr>
        <p:spPr>
          <a:xfrm>
            <a:off x="3355848" y="2743200"/>
            <a:ext cx="2331720" cy="777240"/>
          </a:xfrm>
          <a:prstGeom prst="roundRect">
            <a:avLst/>
          </a:prstGeom>
          <a:solidFill>
            <a:srgbClr val="1E55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47288" y="2907792"/>
            <a:ext cx="2148840" cy="502920"/>
          </a:xfrm>
          <a:prstGeom prst="rect">
            <a:avLst/>
          </a:prstGeom>
          <a:noFill/>
        </p:spPr>
        <p:txBody>
          <a:bodyPr wrap="square">
            <a:spAutoFit/>
          </a:bodyPr>
          <a:lstStyle/>
          <a:p>
            <a:pPr algn="ctr"/>
            <a:r>
              <a:rPr sz="1400" b="1">
                <a:solidFill>
                  <a:srgbClr val="FFFFFF"/>
                </a:solidFill>
                <a:latin typeface="Bricolage Grotesque"/>
              </a:rPr>
              <a:t>SMS automatique
lien vers Tally</a:t>
            </a:r>
          </a:p>
        </p:txBody>
      </p:sp>
      <p:sp>
        <p:nvSpPr>
          <p:cNvPr id="11" name="TextBox 10"/>
          <p:cNvSpPr txBox="1"/>
          <p:nvPr/>
        </p:nvSpPr>
        <p:spPr>
          <a:xfrm>
            <a:off x="5724144" y="2926080"/>
            <a:ext cx="310896" cy="457200"/>
          </a:xfrm>
          <a:prstGeom prst="rect">
            <a:avLst/>
          </a:prstGeom>
          <a:noFill/>
        </p:spPr>
        <p:txBody>
          <a:bodyPr wrap="square">
            <a:spAutoFit/>
          </a:bodyPr>
          <a:lstStyle/>
          <a:p>
            <a:pPr algn="ctr"/>
            <a:r>
              <a:rPr sz="2200" b="1">
                <a:solidFill>
                  <a:srgbClr val="E8A000"/>
                </a:solidFill>
                <a:latin typeface="Bricolage Grotesque"/>
              </a:rPr>
              <a:t>→</a:t>
            </a:r>
          </a:p>
        </p:txBody>
      </p:sp>
      <p:sp>
        <p:nvSpPr>
          <p:cNvPr id="12" name="Rounded Rectangle 11"/>
          <p:cNvSpPr/>
          <p:nvPr/>
        </p:nvSpPr>
        <p:spPr>
          <a:xfrm>
            <a:off x="6071616" y="2743200"/>
            <a:ext cx="2331720" cy="777240"/>
          </a:xfrm>
          <a:prstGeom prst="roundRect">
            <a:avLst/>
          </a:prstGeom>
          <a:solidFill>
            <a:srgbClr val="1B5E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63056" y="2907792"/>
            <a:ext cx="2148840" cy="502920"/>
          </a:xfrm>
          <a:prstGeom prst="rect">
            <a:avLst/>
          </a:prstGeom>
          <a:noFill/>
        </p:spPr>
        <p:txBody>
          <a:bodyPr wrap="square">
            <a:spAutoFit/>
          </a:bodyPr>
          <a:lstStyle/>
          <a:p>
            <a:pPr algn="ctr"/>
            <a:r>
              <a:rPr sz="1400" b="1">
                <a:solidFill>
                  <a:srgbClr val="FFFFFF"/>
                </a:solidFill>
                <a:latin typeface="Bricolage Grotesque"/>
              </a:rPr>
              <a:t>Airtable
le tableau unique</a:t>
            </a:r>
          </a:p>
        </p:txBody>
      </p:sp>
      <p:sp>
        <p:nvSpPr>
          <p:cNvPr id="14" name="TextBox 13"/>
          <p:cNvSpPr txBox="1"/>
          <p:nvPr/>
        </p:nvSpPr>
        <p:spPr>
          <a:xfrm>
            <a:off x="8439912" y="2926080"/>
            <a:ext cx="310896" cy="457200"/>
          </a:xfrm>
          <a:prstGeom prst="rect">
            <a:avLst/>
          </a:prstGeom>
          <a:noFill/>
        </p:spPr>
        <p:txBody>
          <a:bodyPr wrap="square">
            <a:spAutoFit/>
          </a:bodyPr>
          <a:lstStyle/>
          <a:p>
            <a:pPr algn="ctr"/>
            <a:r>
              <a:rPr sz="2200" b="1">
                <a:solidFill>
                  <a:srgbClr val="E8A000"/>
                </a:solidFill>
                <a:latin typeface="Bricolage Grotesque"/>
              </a:rPr>
              <a:t>→</a:t>
            </a:r>
          </a:p>
        </p:txBody>
      </p:sp>
      <p:sp>
        <p:nvSpPr>
          <p:cNvPr id="15" name="Rounded Rectangle 14"/>
          <p:cNvSpPr/>
          <p:nvPr/>
        </p:nvSpPr>
        <p:spPr>
          <a:xfrm>
            <a:off x="8787384" y="2743200"/>
            <a:ext cx="2331720" cy="777240"/>
          </a:xfrm>
          <a:prstGeom prst="roundRect">
            <a:avLst/>
          </a:prstGeom>
          <a:solidFill>
            <a:srgbClr val="1E55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878824" y="2907792"/>
            <a:ext cx="2148840" cy="502920"/>
          </a:xfrm>
          <a:prstGeom prst="rect">
            <a:avLst/>
          </a:prstGeom>
          <a:noFill/>
        </p:spPr>
        <p:txBody>
          <a:bodyPr wrap="square">
            <a:spAutoFit/>
          </a:bodyPr>
          <a:lstStyle/>
          <a:p>
            <a:pPr algn="ctr"/>
            <a:r>
              <a:rPr sz="1400" b="1">
                <a:solidFill>
                  <a:srgbClr val="FFFFFF"/>
                </a:solidFill>
                <a:latin typeface="Bricolage Grotesque"/>
              </a:rPr>
              <a:t>Relance du devis
J+3 et J+7</a:t>
            </a:r>
          </a:p>
        </p:txBody>
      </p:sp>
      <p:sp>
        <p:nvSpPr>
          <p:cNvPr id="17" name="TextBox 16"/>
          <p:cNvSpPr txBox="1"/>
          <p:nvPr/>
        </p:nvSpPr>
        <p:spPr>
          <a:xfrm>
            <a:off x="640080" y="4114800"/>
            <a:ext cx="10972800" cy="411480"/>
          </a:xfrm>
          <a:prstGeom prst="rect">
            <a:avLst/>
          </a:prstGeom>
          <a:noFill/>
        </p:spPr>
        <p:txBody>
          <a:bodyPr wrap="square">
            <a:spAutoFit/>
          </a:bodyPr>
          <a:lstStyle/>
          <a:p>
            <a:pPr algn="l"/>
            <a:r>
              <a:rPr sz="1800" b="1">
                <a:solidFill>
                  <a:srgbClr val="1B5E6B"/>
                </a:solidFill>
                <a:latin typeface="Bricolage Grotesque"/>
              </a:rPr>
              <a:t>Les boîtes 3 et 4 existent déjà. La 2 dépend de sa ligne : 1re question de l'appel.</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La secrétaire : obstacle ou alliée ?</a:t>
            </a:r>
          </a:p>
        </p:txBody>
      </p:sp>
      <p:sp>
        <p:nvSpPr>
          <p:cNvPr id="5" name="Rectangle 4"/>
          <p:cNvSpPr/>
          <p:nvPr/>
        </p:nvSpPr>
        <p:spPr>
          <a:xfrm>
            <a:off x="5897880" y="1554480"/>
            <a:ext cx="27432" cy="2450592"/>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554480"/>
            <a:ext cx="5029200" cy="411480"/>
          </a:xfrm>
          <a:prstGeom prst="rect">
            <a:avLst/>
          </a:prstGeom>
          <a:noFill/>
        </p:spPr>
        <p:txBody>
          <a:bodyPr wrap="square">
            <a:spAutoFit/>
          </a:bodyPr>
          <a:lstStyle/>
          <a:p>
            <a:pPr algn="l"/>
            <a:r>
              <a:rPr sz="2100" b="1">
                <a:solidFill>
                  <a:srgbClr val="1B5E6B"/>
                </a:solidFill>
                <a:latin typeface="Bricolage Grotesque"/>
              </a:rPr>
              <a:t>Ce que tu dois savoir</a:t>
            </a:r>
          </a:p>
        </p:txBody>
      </p:sp>
      <p:sp>
        <p:nvSpPr>
          <p:cNvPr id="7" name="TextBox 6"/>
          <p:cNvSpPr txBox="1"/>
          <p:nvPr/>
        </p:nvSpPr>
        <p:spPr>
          <a:xfrm>
            <a:off x="640080" y="2148840"/>
            <a:ext cx="5120640" cy="384048"/>
          </a:xfrm>
          <a:prstGeom prst="rect">
            <a:avLst/>
          </a:prstGeom>
          <a:noFill/>
        </p:spPr>
        <p:txBody>
          <a:bodyPr wrap="square">
            <a:spAutoFit/>
          </a:bodyPr>
          <a:lstStyle/>
          <a:p>
            <a:pPr algn="l"/>
            <a:r>
              <a:rPr sz="1800" b="0">
                <a:solidFill>
                  <a:srgbClr val="333333"/>
                </a:solidFill>
                <a:latin typeface="Bricolage Grotesque"/>
              </a:rPr>
              <a:t>Que fait-elle chaque semaine ?</a:t>
            </a:r>
          </a:p>
        </p:txBody>
      </p:sp>
      <p:sp>
        <p:nvSpPr>
          <p:cNvPr id="8" name="TextBox 7"/>
          <p:cNvSpPr txBox="1"/>
          <p:nvPr/>
        </p:nvSpPr>
        <p:spPr>
          <a:xfrm>
            <a:off x="640080" y="2624328"/>
            <a:ext cx="5120640" cy="384048"/>
          </a:xfrm>
          <a:prstGeom prst="rect">
            <a:avLst/>
          </a:prstGeom>
          <a:noFill/>
        </p:spPr>
        <p:txBody>
          <a:bodyPr wrap="square">
            <a:spAutoFit/>
          </a:bodyPr>
          <a:lstStyle/>
          <a:p>
            <a:pPr algn="l"/>
            <a:r>
              <a:rPr sz="1800" b="0">
                <a:solidFill>
                  <a:srgbClr val="333333"/>
                </a:solidFill>
                <a:latin typeface="Bricolage Grotesque"/>
              </a:rPr>
              <a:t>Combien lui coûte-t-elle ?</a:t>
            </a:r>
          </a:p>
        </p:txBody>
      </p:sp>
      <p:sp>
        <p:nvSpPr>
          <p:cNvPr id="9" name="TextBox 8"/>
          <p:cNvSpPr txBox="1"/>
          <p:nvPr/>
        </p:nvSpPr>
        <p:spPr>
          <a:xfrm>
            <a:off x="640080" y="3099816"/>
            <a:ext cx="5120640" cy="384048"/>
          </a:xfrm>
          <a:prstGeom prst="rect">
            <a:avLst/>
          </a:prstGeom>
          <a:noFill/>
        </p:spPr>
        <p:txBody>
          <a:bodyPr wrap="square">
            <a:spAutoFit/>
          </a:bodyPr>
          <a:lstStyle/>
          <a:p>
            <a:pPr algn="l"/>
            <a:r>
              <a:rPr sz="1800" b="0">
                <a:solidFill>
                  <a:srgbClr val="333333"/>
                </a:solidFill>
                <a:latin typeface="Bricolage Grotesque"/>
              </a:rPr>
              <a:t>Pourquoi 2 à 3 jours par devis ?</a:t>
            </a:r>
          </a:p>
        </p:txBody>
      </p:sp>
      <p:sp>
        <p:nvSpPr>
          <p:cNvPr id="10" name="TextBox 9"/>
          <p:cNvSpPr txBox="1"/>
          <p:nvPr/>
        </p:nvSpPr>
        <p:spPr>
          <a:xfrm>
            <a:off x="640080" y="3575304"/>
            <a:ext cx="5120640" cy="384048"/>
          </a:xfrm>
          <a:prstGeom prst="rect">
            <a:avLst/>
          </a:prstGeom>
          <a:noFill/>
        </p:spPr>
        <p:txBody>
          <a:bodyPr wrap="square">
            <a:spAutoFit/>
          </a:bodyPr>
          <a:lstStyle/>
          <a:p>
            <a:pPr algn="l"/>
            <a:r>
              <a:rPr sz="1800" b="0">
                <a:solidFill>
                  <a:srgbClr val="333333"/>
                </a:solidFill>
                <a:latin typeface="Bricolage Grotesque"/>
              </a:rPr>
              <a:t>Qui relance les devis aujourd'hui ?</a:t>
            </a:r>
          </a:p>
        </p:txBody>
      </p:sp>
      <p:sp>
        <p:nvSpPr>
          <p:cNvPr id="11" name="TextBox 10"/>
          <p:cNvSpPr txBox="1"/>
          <p:nvPr/>
        </p:nvSpPr>
        <p:spPr>
          <a:xfrm>
            <a:off x="6172200" y="1554480"/>
            <a:ext cx="5029200" cy="411480"/>
          </a:xfrm>
          <a:prstGeom prst="rect">
            <a:avLst/>
          </a:prstGeom>
          <a:noFill/>
        </p:spPr>
        <p:txBody>
          <a:bodyPr wrap="square">
            <a:spAutoFit/>
          </a:bodyPr>
          <a:lstStyle/>
          <a:p>
            <a:pPr algn="l"/>
            <a:r>
              <a:rPr sz="2100" b="1">
                <a:solidFill>
                  <a:srgbClr val="1B5E6B"/>
                </a:solidFill>
                <a:latin typeface="Bricolage Grotesque"/>
              </a:rPr>
              <a:t>Ce que tu proposes</a:t>
            </a:r>
          </a:p>
        </p:txBody>
      </p:sp>
      <p:sp>
        <p:nvSpPr>
          <p:cNvPr id="12" name="TextBox 11"/>
          <p:cNvSpPr txBox="1"/>
          <p:nvPr/>
        </p:nvSpPr>
        <p:spPr>
          <a:xfrm>
            <a:off x="6172200" y="2148840"/>
            <a:ext cx="5120640" cy="384048"/>
          </a:xfrm>
          <a:prstGeom prst="rect">
            <a:avLst/>
          </a:prstGeom>
          <a:noFill/>
        </p:spPr>
        <p:txBody>
          <a:bodyPr wrap="square">
            <a:spAutoFit/>
          </a:bodyPr>
          <a:lstStyle/>
          <a:p>
            <a:pPr algn="l"/>
            <a:r>
              <a:rPr sz="1800" b="0">
                <a:solidFill>
                  <a:srgbClr val="333333"/>
                </a:solidFill>
                <a:latin typeface="Bricolage Grotesque"/>
              </a:rPr>
              <a:t>Elle saisit moins : tout arrive trié</a:t>
            </a:r>
          </a:p>
        </p:txBody>
      </p:sp>
      <p:sp>
        <p:nvSpPr>
          <p:cNvPr id="13" name="TextBox 12"/>
          <p:cNvSpPr txBox="1"/>
          <p:nvPr/>
        </p:nvSpPr>
        <p:spPr>
          <a:xfrm>
            <a:off x="6172200" y="2624328"/>
            <a:ext cx="5120640" cy="384048"/>
          </a:xfrm>
          <a:prstGeom prst="rect">
            <a:avLst/>
          </a:prstGeom>
          <a:noFill/>
        </p:spPr>
        <p:txBody>
          <a:bodyPr wrap="square">
            <a:spAutoFit/>
          </a:bodyPr>
          <a:lstStyle/>
          <a:p>
            <a:pPr algn="l"/>
            <a:r>
              <a:rPr sz="1800" b="0">
                <a:solidFill>
                  <a:srgbClr val="333333"/>
                </a:solidFill>
                <a:latin typeface="Bricolage Grotesque"/>
              </a:rPr>
              <a:t>Les relances partent sans elle</a:t>
            </a:r>
          </a:p>
        </p:txBody>
      </p:sp>
      <p:sp>
        <p:nvSpPr>
          <p:cNvPr id="14" name="TextBox 13"/>
          <p:cNvSpPr txBox="1"/>
          <p:nvPr/>
        </p:nvSpPr>
        <p:spPr>
          <a:xfrm>
            <a:off x="6172200" y="3099816"/>
            <a:ext cx="5120640" cy="384048"/>
          </a:xfrm>
          <a:prstGeom prst="rect">
            <a:avLst/>
          </a:prstGeom>
          <a:noFill/>
        </p:spPr>
        <p:txBody>
          <a:bodyPr wrap="square">
            <a:spAutoFit/>
          </a:bodyPr>
          <a:lstStyle/>
          <a:p>
            <a:pPr algn="l"/>
            <a:r>
              <a:rPr sz="1800" b="0">
                <a:solidFill>
                  <a:srgbClr val="333333"/>
                </a:solidFill>
                <a:latin typeface="Bricolage Grotesque"/>
              </a:rPr>
              <a:t>Elle garde la relation client</a:t>
            </a:r>
          </a:p>
        </p:txBody>
      </p:sp>
      <p:sp>
        <p:nvSpPr>
          <p:cNvPr id="15" name="TextBox 14"/>
          <p:cNvSpPr txBox="1"/>
          <p:nvPr/>
        </p:nvSpPr>
        <p:spPr>
          <a:xfrm>
            <a:off x="6172200" y="3575304"/>
            <a:ext cx="5120640" cy="384048"/>
          </a:xfrm>
          <a:prstGeom prst="rect">
            <a:avLst/>
          </a:prstGeom>
          <a:noFill/>
        </p:spPr>
        <p:txBody>
          <a:bodyPr wrap="square">
            <a:spAutoFit/>
          </a:bodyPr>
          <a:lstStyle/>
          <a:p>
            <a:pPr algn="l"/>
            <a:r>
              <a:rPr sz="1800" b="0">
                <a:solidFill>
                  <a:srgbClr val="333333"/>
                </a:solidFill>
                <a:latin typeface="Bricolage Grotesque"/>
              </a:rPr>
              <a:t>Tu ne remplaces personne</a:t>
            </a:r>
          </a:p>
        </p:txBody>
      </p:sp>
      <p:sp>
        <p:nvSpPr>
          <p:cNvPr id="16" name="TextBox 15"/>
          <p:cNvSpPr txBox="1"/>
          <p:nvPr/>
        </p:nvSpPr>
        <p:spPr>
          <a:xfrm>
            <a:off x="640080" y="4187952"/>
            <a:ext cx="10881360" cy="411480"/>
          </a:xfrm>
          <a:prstGeom prst="rect">
            <a:avLst/>
          </a:prstGeom>
          <a:noFill/>
        </p:spPr>
        <p:txBody>
          <a:bodyPr wrap="square">
            <a:spAutoFit/>
          </a:bodyPr>
          <a:lstStyle/>
          <a:p>
            <a:pPr algn="l"/>
            <a:r>
              <a:rPr sz="1800" b="1">
                <a:solidFill>
                  <a:srgbClr val="E8A000"/>
                </a:solidFill>
                <a:latin typeface="Bricolage Grotesque"/>
              </a:rPr>
              <a:t>Présente l'outil comme son assistant à elle, pas comme son remplaçant.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Exercice · Ton appel de 10 minutes</a:t>
            </a:r>
          </a:p>
        </p:txBody>
      </p:sp>
      <p:sp>
        <p:nvSpPr>
          <p:cNvPr id="5" name="Rounded Rectangle 4"/>
          <p:cNvSpPr/>
          <p:nvPr/>
        </p:nvSpPr>
        <p:spPr>
          <a:xfrm>
            <a:off x="640080" y="1417320"/>
            <a:ext cx="10881360" cy="1143000"/>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508760"/>
            <a:ext cx="4023359" cy="320040"/>
          </a:xfrm>
          <a:prstGeom prst="rect">
            <a:avLst/>
          </a:prstGeom>
          <a:noFill/>
        </p:spPr>
        <p:txBody>
          <a:bodyPr wrap="square">
            <a:spAutoFit/>
          </a:bodyPr>
          <a:lstStyle/>
          <a:p>
            <a:pPr algn="l"/>
            <a:r>
              <a:rPr sz="1400" b="1">
                <a:solidFill>
                  <a:srgbClr val="E8A000"/>
                </a:solidFill>
                <a:latin typeface="Bricolage Grotesque"/>
              </a:rPr>
              <a:t>OBJECTIF</a:t>
            </a:r>
          </a:p>
        </p:txBody>
      </p:sp>
      <p:sp>
        <p:nvSpPr>
          <p:cNvPr id="7" name="TextBox 6"/>
          <p:cNvSpPr txBox="1"/>
          <p:nvPr/>
        </p:nvSpPr>
        <p:spPr>
          <a:xfrm>
            <a:off x="868680" y="1810512"/>
            <a:ext cx="4023359" cy="685800"/>
          </a:xfrm>
          <a:prstGeom prst="rect">
            <a:avLst/>
          </a:prstGeom>
          <a:noFill/>
        </p:spPr>
        <p:txBody>
          <a:bodyPr wrap="square">
            <a:spAutoFit/>
          </a:bodyPr>
          <a:lstStyle/>
          <a:p>
            <a:pPr algn="l"/>
            <a:r>
              <a:rPr sz="1600" b="0">
                <a:solidFill>
                  <a:srgbClr val="1A1A1A"/>
                </a:solidFill>
                <a:latin typeface="Bricolage Grotesque"/>
              </a:rPr>
              <a:t>Savoir quoi demander, quoi proposer, à quel prix</a:t>
            </a:r>
          </a:p>
        </p:txBody>
      </p:sp>
      <p:sp>
        <p:nvSpPr>
          <p:cNvPr id="8" name="TextBox 7"/>
          <p:cNvSpPr txBox="1"/>
          <p:nvPr/>
        </p:nvSpPr>
        <p:spPr>
          <a:xfrm>
            <a:off x="5074920" y="1508760"/>
            <a:ext cx="4389120" cy="320040"/>
          </a:xfrm>
          <a:prstGeom prst="rect">
            <a:avLst/>
          </a:prstGeom>
          <a:noFill/>
        </p:spPr>
        <p:txBody>
          <a:bodyPr wrap="square">
            <a:spAutoFit/>
          </a:bodyPr>
          <a:lstStyle/>
          <a:p>
            <a:pPr algn="l"/>
            <a:r>
              <a:rPr sz="1400" b="1">
                <a:solidFill>
                  <a:srgbClr val="E8A000"/>
                </a:solidFill>
                <a:latin typeface="Bricolage Grotesque"/>
              </a:rPr>
              <a:t>LIVRABLE</a:t>
            </a:r>
          </a:p>
        </p:txBody>
      </p:sp>
      <p:sp>
        <p:nvSpPr>
          <p:cNvPr id="9" name="TextBox 8"/>
          <p:cNvSpPr txBox="1"/>
          <p:nvPr/>
        </p:nvSpPr>
        <p:spPr>
          <a:xfrm>
            <a:off x="5074920" y="1810512"/>
            <a:ext cx="4389120" cy="685800"/>
          </a:xfrm>
          <a:prstGeom prst="rect">
            <a:avLst/>
          </a:prstGeom>
          <a:noFill/>
        </p:spPr>
        <p:txBody>
          <a:bodyPr wrap="square">
            <a:spAutoFit/>
          </a:bodyPr>
          <a:lstStyle/>
          <a:p>
            <a:pPr algn="l"/>
            <a:r>
              <a:rPr sz="1600" b="0">
                <a:solidFill>
                  <a:srgbClr val="1A1A1A"/>
                </a:solidFill>
                <a:latin typeface="Bricolage Grotesque"/>
              </a:rPr>
              <a:t>Une trame : 5 questions, ton lot 1, ton prix, la suite</a:t>
            </a:r>
          </a:p>
        </p:txBody>
      </p:sp>
      <p:sp>
        <p:nvSpPr>
          <p:cNvPr id="10" name="TextBox 9"/>
          <p:cNvSpPr txBox="1"/>
          <p:nvPr/>
        </p:nvSpPr>
        <p:spPr>
          <a:xfrm>
            <a:off x="9646920" y="1508760"/>
            <a:ext cx="1554480" cy="320040"/>
          </a:xfrm>
          <a:prstGeom prst="rect">
            <a:avLst/>
          </a:prstGeom>
          <a:noFill/>
        </p:spPr>
        <p:txBody>
          <a:bodyPr wrap="square">
            <a:spAutoFit/>
          </a:bodyPr>
          <a:lstStyle/>
          <a:p>
            <a:pPr algn="l"/>
            <a:r>
              <a:rPr sz="1400" b="1">
                <a:solidFill>
                  <a:srgbClr val="E8A000"/>
                </a:solidFill>
                <a:latin typeface="Bricolage Grotesque"/>
              </a:rPr>
              <a:t>DURÉE</a:t>
            </a:r>
          </a:p>
        </p:txBody>
      </p:sp>
      <p:sp>
        <p:nvSpPr>
          <p:cNvPr id="11" name="TextBox 10"/>
          <p:cNvSpPr txBox="1"/>
          <p:nvPr/>
        </p:nvSpPr>
        <p:spPr>
          <a:xfrm>
            <a:off x="9646920" y="1810512"/>
            <a:ext cx="1554480" cy="685800"/>
          </a:xfrm>
          <a:prstGeom prst="rect">
            <a:avLst/>
          </a:prstGeom>
          <a:noFill/>
        </p:spPr>
        <p:txBody>
          <a:bodyPr wrap="square">
            <a:spAutoFit/>
          </a:bodyPr>
          <a:lstStyle/>
          <a:p>
            <a:pPr algn="l"/>
            <a:r>
              <a:rPr sz="1600" b="0">
                <a:solidFill>
                  <a:srgbClr val="1A1A1A"/>
                </a:solidFill>
                <a:latin typeface="Bricolage Grotesque"/>
              </a:rPr>
              <a:t>15 min</a:t>
            </a:r>
          </a:p>
        </p:txBody>
      </p:sp>
      <p:sp>
        <p:nvSpPr>
          <p:cNvPr id="12" name="TextBox 11"/>
          <p:cNvSpPr txBox="1"/>
          <p:nvPr/>
        </p:nvSpPr>
        <p:spPr>
          <a:xfrm>
            <a:off x="640080" y="2834640"/>
            <a:ext cx="10881360" cy="411480"/>
          </a:xfrm>
          <a:prstGeom prst="rect">
            <a:avLst/>
          </a:prstGeom>
          <a:noFill/>
        </p:spPr>
        <p:txBody>
          <a:bodyPr wrap="square">
            <a:spAutoFit/>
          </a:bodyPr>
          <a:lstStyle/>
          <a:p>
            <a:r>
              <a:rPr sz="1900" b="1">
                <a:solidFill>
                  <a:srgbClr val="1B5E6B"/>
                </a:solidFill>
                <a:latin typeface="Bricolage Grotesque"/>
              </a:rPr>
              <a:t>1.  </a:t>
            </a:r>
            <a:r>
              <a:rPr sz="1900">
                <a:solidFill>
                  <a:srgbClr val="333333"/>
                </a:solidFill>
                <a:latin typeface="Bricolage Grotesque"/>
              </a:rPr>
              <a:t>Donne à Claude sa fiche et la liste de ce que tu as déjà construit.</a:t>
            </a:r>
          </a:p>
        </p:txBody>
      </p:sp>
      <p:sp>
        <p:nvSpPr>
          <p:cNvPr id="13" name="TextBox 12"/>
          <p:cNvSpPr txBox="1"/>
          <p:nvPr/>
        </p:nvSpPr>
        <p:spPr>
          <a:xfrm>
            <a:off x="640080" y="3355848"/>
            <a:ext cx="10881360" cy="411480"/>
          </a:xfrm>
          <a:prstGeom prst="rect">
            <a:avLst/>
          </a:prstGeom>
          <a:noFill/>
        </p:spPr>
        <p:txBody>
          <a:bodyPr wrap="square">
            <a:spAutoFit/>
          </a:bodyPr>
          <a:lstStyle/>
          <a:p>
            <a:r>
              <a:rPr sz="1900" b="1">
                <a:solidFill>
                  <a:srgbClr val="1B5E6B"/>
                </a:solidFill>
                <a:latin typeface="Bricolage Grotesque"/>
              </a:rPr>
              <a:t>2.  </a:t>
            </a:r>
            <a:r>
              <a:rPr sz="1900">
                <a:solidFill>
                  <a:srgbClr val="333333"/>
                </a:solidFill>
                <a:latin typeface="Bricolage Grotesque"/>
              </a:rPr>
              <a:t>Fais-lui écrire 5 questions : sa ligne, Interfast, sa secrétaire...</a:t>
            </a:r>
          </a:p>
        </p:txBody>
      </p:sp>
      <p:sp>
        <p:nvSpPr>
          <p:cNvPr id="14" name="TextBox 13"/>
          <p:cNvSpPr txBox="1"/>
          <p:nvPr/>
        </p:nvSpPr>
        <p:spPr>
          <a:xfrm>
            <a:off x="640080" y="3877056"/>
            <a:ext cx="10881360" cy="411480"/>
          </a:xfrm>
          <a:prstGeom prst="rect">
            <a:avLst/>
          </a:prstGeom>
          <a:noFill/>
        </p:spPr>
        <p:txBody>
          <a:bodyPr wrap="square">
            <a:spAutoFit/>
          </a:bodyPr>
          <a:lstStyle/>
          <a:p>
            <a:r>
              <a:rPr sz="1900" b="1">
                <a:solidFill>
                  <a:srgbClr val="1B5E6B"/>
                </a:solidFill>
                <a:latin typeface="Bricolage Grotesque"/>
              </a:rPr>
              <a:t>3.  </a:t>
            </a:r>
            <a:r>
              <a:rPr sz="1900">
                <a:solidFill>
                  <a:srgbClr val="333333"/>
                </a:solidFill>
                <a:latin typeface="Bricolage Grotesque"/>
              </a:rPr>
              <a:t>Choisis ton lot 1 : deux automatisations livrables en deux semaines.</a:t>
            </a:r>
          </a:p>
        </p:txBody>
      </p:sp>
      <p:sp>
        <p:nvSpPr>
          <p:cNvPr id="15" name="TextBox 14"/>
          <p:cNvSpPr txBox="1"/>
          <p:nvPr/>
        </p:nvSpPr>
        <p:spPr>
          <a:xfrm>
            <a:off x="640080" y="4398264"/>
            <a:ext cx="10881360" cy="411480"/>
          </a:xfrm>
          <a:prstGeom prst="rect">
            <a:avLst/>
          </a:prstGeom>
          <a:noFill/>
        </p:spPr>
        <p:txBody>
          <a:bodyPr wrap="square">
            <a:spAutoFit/>
          </a:bodyPr>
          <a:lstStyle/>
          <a:p>
            <a:r>
              <a:rPr sz="1900" b="1">
                <a:solidFill>
                  <a:srgbClr val="1B5E6B"/>
                </a:solidFill>
                <a:latin typeface="Bricolage Grotesque"/>
              </a:rPr>
              <a:t>4.  </a:t>
            </a:r>
            <a:r>
              <a:rPr sz="1900">
                <a:solidFill>
                  <a:srgbClr val="333333"/>
                </a:solidFill>
                <a:latin typeface="Bricolage Grotesque"/>
              </a:rPr>
              <a:t>Fixe ton prix : une mise en place, puis un abonnement dans son budget.</a:t>
            </a:r>
          </a:p>
        </p:txBody>
      </p:sp>
      <p:sp>
        <p:nvSpPr>
          <p:cNvPr id="16" name="TextBox 15"/>
          <p:cNvSpPr txBox="1"/>
          <p:nvPr/>
        </p:nvSpPr>
        <p:spPr>
          <a:xfrm>
            <a:off x="640080" y="4919472"/>
            <a:ext cx="10881360" cy="411480"/>
          </a:xfrm>
          <a:prstGeom prst="rect">
            <a:avLst/>
          </a:prstGeom>
          <a:noFill/>
        </p:spPr>
        <p:txBody>
          <a:bodyPr wrap="square">
            <a:spAutoFit/>
          </a:bodyPr>
          <a:lstStyle/>
          <a:p>
            <a:r>
              <a:rPr sz="1900" b="1">
                <a:solidFill>
                  <a:srgbClr val="1B5E6B"/>
                </a:solidFill>
                <a:latin typeface="Bricolage Grotesque"/>
              </a:rPr>
              <a:t>5.  </a:t>
            </a:r>
            <a:r>
              <a:rPr sz="1900">
                <a:solidFill>
                  <a:srgbClr val="333333"/>
                </a:solidFill>
                <a:latin typeface="Bricolage Grotesque"/>
              </a:rPr>
              <a:t>On joue l'appel : je suis le plombier, tu as 10 minutes.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1965960"/>
            <a:ext cx="2743200" cy="36576"/>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515600" cy="731520"/>
          </a:xfrm>
          <a:prstGeom prst="rect">
            <a:avLst/>
          </a:prstGeom>
          <a:noFill/>
        </p:spPr>
        <p:txBody>
          <a:bodyPr wrap="square">
            <a:spAutoFit/>
          </a:bodyPr>
          <a:lstStyle/>
          <a:p>
            <a:pPr algn="l"/>
            <a:r>
              <a:rPr sz="2200" b="1">
                <a:solidFill>
                  <a:srgbClr val="E8A000"/>
                </a:solidFill>
                <a:latin typeface="Bricolage Grotesque"/>
              </a:rPr>
              <a:t>Séquence 4</a:t>
            </a:r>
          </a:p>
        </p:txBody>
      </p:sp>
      <p:sp>
        <p:nvSpPr>
          <p:cNvPr id="5" name="TextBox 4"/>
          <p:cNvSpPr txBox="1"/>
          <p:nvPr/>
        </p:nvSpPr>
        <p:spPr>
          <a:xfrm>
            <a:off x="640080" y="2286000"/>
            <a:ext cx="10698480" cy="1645920"/>
          </a:xfrm>
          <a:prstGeom prst="rect">
            <a:avLst/>
          </a:prstGeom>
          <a:noFill/>
        </p:spPr>
        <p:txBody>
          <a:bodyPr wrap="square">
            <a:spAutoFit/>
          </a:bodyPr>
          <a:lstStyle/>
          <a:p>
            <a:pPr algn="l"/>
            <a:r>
              <a:rPr sz="4200" b="1">
                <a:solidFill>
                  <a:srgbClr val="FFFFFF"/>
                </a:solidFill>
                <a:latin typeface="Bricolage Grotesque"/>
              </a:rPr>
              <a:t>Ta veille concurrentielle</a:t>
            </a:r>
          </a:p>
        </p:txBody>
      </p:sp>
      <p:sp>
        <p:nvSpPr>
          <p:cNvPr id="6" name="TextBox 5"/>
          <p:cNvSpPr txBox="1"/>
          <p:nvPr/>
        </p:nvSpPr>
        <p:spPr>
          <a:xfrm>
            <a:off x="640080" y="4023360"/>
            <a:ext cx="10515600" cy="731520"/>
          </a:xfrm>
          <a:prstGeom prst="rect">
            <a:avLst/>
          </a:prstGeom>
          <a:noFill/>
        </p:spPr>
        <p:txBody>
          <a:bodyPr wrap="square">
            <a:spAutoFit/>
          </a:bodyPr>
          <a:lstStyle/>
          <a:p>
            <a:pPr algn="l"/>
            <a:r>
              <a:rPr sz="2000" b="0">
                <a:solidFill>
                  <a:srgbClr val="5A8A8F"/>
                </a:solidFill>
                <a:latin typeface="Bricolage Grotesque"/>
              </a:rPr>
              <a:t>Version 1 : un workflow n8n</a:t>
            </a:r>
          </a:p>
        </p:txBody>
      </p:sp>
      <p:pic>
        <p:nvPicPr>
          <p:cNvPr id="7" name="Picture 6" descr="ia-round.png"/>
          <p:cNvPicPr>
            <a:picLocks noChangeAspect="1"/>
          </p:cNvPicPr>
          <p:nvPr/>
        </p:nvPicPr>
        <p:blipFill>
          <a:blip r:embed="rId2"/>
          <a:stretch>
            <a:fillRect/>
          </a:stretch>
        </p:blipFill>
        <p:spPr>
          <a:xfrm>
            <a:off x="457200" y="6217920"/>
            <a:ext cx="320040" cy="320040"/>
          </a:xfrm>
          <a:prstGeom prst="rect">
            <a:avLst/>
          </a:prstGeom>
        </p:spPr>
      </p:pic>
      <p:sp>
        <p:nvSpPr>
          <p:cNvPr id="8" name="TextBox 7"/>
          <p:cNvSpPr txBox="1"/>
          <p:nvPr/>
        </p:nvSpPr>
        <p:spPr>
          <a:xfrm>
            <a:off x="868680" y="6199632"/>
            <a:ext cx="3657600" cy="365760"/>
          </a:xfrm>
          <a:prstGeom prst="rect">
            <a:avLst/>
          </a:prstGeom>
          <a:noFill/>
        </p:spPr>
        <p:txBody>
          <a:bodyPr wrap="square">
            <a:spAutoFit/>
          </a:bodyPr>
          <a:lstStyle/>
          <a:p>
            <a:pPr algn="l"/>
            <a:r>
              <a:rPr sz="1400" b="0">
                <a:solidFill>
                  <a:srgbClr val="FFFFFF"/>
                </a:solidFill>
                <a:latin typeface="Bricolage Grotesque"/>
              </a:rPr>
              <a:t>intelligence academy</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Pourquoi cette veille</a:t>
            </a:r>
          </a:p>
        </p:txBody>
      </p:sp>
      <p:sp>
        <p:nvSpPr>
          <p:cNvPr id="5" name="TextBox 4"/>
          <p:cNvSpPr txBox="1"/>
          <p:nvPr/>
        </p:nvSpPr>
        <p:spPr>
          <a:xfrm>
            <a:off x="640080" y="1463040"/>
            <a:ext cx="10515600" cy="640080"/>
          </a:xfrm>
          <a:prstGeom prst="rect">
            <a:avLst/>
          </a:prstGeom>
          <a:noFill/>
        </p:spPr>
        <p:txBody>
          <a:bodyPr wrap="square">
            <a:spAutoFit/>
          </a:bodyPr>
          <a:lstStyle/>
          <a:p>
            <a:pPr algn="l"/>
            <a:r>
              <a:rPr sz="2600" b="1">
                <a:solidFill>
                  <a:srgbClr val="1A1A1A"/>
                </a:solidFill>
                <a:latin typeface="Bricolage Grotesque"/>
              </a:rPr>
              <a:t>Ta fiche de poste, mission par mission</a:t>
            </a:r>
          </a:p>
        </p:txBody>
      </p:sp>
      <p:sp>
        <p:nvSpPr>
          <p:cNvPr id="6" name="TextBox 5"/>
          <p:cNvSpPr txBox="1"/>
          <p:nvPr/>
        </p:nvSpPr>
        <p:spPr>
          <a:xfrm>
            <a:off x="640080" y="2331720"/>
            <a:ext cx="10881360" cy="411480"/>
          </a:xfrm>
          <a:prstGeom prst="rect">
            <a:avLst/>
          </a:prstGeom>
          <a:noFill/>
        </p:spPr>
        <p:txBody>
          <a:bodyPr wrap="square">
            <a:spAutoFit/>
          </a:bodyPr>
          <a:lstStyle/>
          <a:p>
            <a:r>
              <a:rPr sz="2000" b="1">
                <a:solidFill>
                  <a:srgbClr val="E8A000"/>
                </a:solidFill>
                <a:latin typeface="Bricolage Grotesque"/>
              </a:rPr>
              <a:t>« Mise en place de flux de veille sur les autres acteurs du secteur »</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Pourquoi cette veille</a:t>
            </a:r>
          </a:p>
        </p:txBody>
      </p:sp>
      <p:sp>
        <p:nvSpPr>
          <p:cNvPr id="5" name="TextBox 4"/>
          <p:cNvSpPr txBox="1"/>
          <p:nvPr/>
        </p:nvSpPr>
        <p:spPr>
          <a:xfrm>
            <a:off x="640080" y="1463040"/>
            <a:ext cx="10515600" cy="640080"/>
          </a:xfrm>
          <a:prstGeom prst="rect">
            <a:avLst/>
          </a:prstGeom>
          <a:noFill/>
        </p:spPr>
        <p:txBody>
          <a:bodyPr wrap="square">
            <a:spAutoFit/>
          </a:bodyPr>
          <a:lstStyle/>
          <a:p>
            <a:pPr algn="l"/>
            <a:r>
              <a:rPr sz="2600" b="1">
                <a:solidFill>
                  <a:srgbClr val="1A1A1A"/>
                </a:solidFill>
                <a:latin typeface="Bricolage Grotesque"/>
              </a:rPr>
              <a:t>Ta fiche de poste, mission par mission</a:t>
            </a:r>
          </a:p>
        </p:txBody>
      </p:sp>
      <p:sp>
        <p:nvSpPr>
          <p:cNvPr id="6" name="TextBox 5"/>
          <p:cNvSpPr txBox="1"/>
          <p:nvPr/>
        </p:nvSpPr>
        <p:spPr>
          <a:xfrm>
            <a:off x="640080" y="2331720"/>
            <a:ext cx="10881360" cy="411480"/>
          </a:xfrm>
          <a:prstGeom prst="rect">
            <a:avLst/>
          </a:prstGeom>
          <a:noFill/>
        </p:spPr>
        <p:txBody>
          <a:bodyPr wrap="square">
            <a:spAutoFit/>
          </a:bodyPr>
          <a:lstStyle/>
          <a:p>
            <a:r>
              <a:rPr sz="2000" b="1">
                <a:solidFill>
                  <a:srgbClr val="E8A000"/>
                </a:solidFill>
                <a:latin typeface="Bricolage Grotesque"/>
              </a:rPr>
              <a:t>« Mise en place de flux de veille sur les autres acteurs du secteur »</a:t>
            </a:r>
          </a:p>
        </p:txBody>
      </p:sp>
      <p:sp>
        <p:nvSpPr>
          <p:cNvPr id="7" name="TextBox 6"/>
          <p:cNvSpPr txBox="1"/>
          <p:nvPr/>
        </p:nvSpPr>
        <p:spPr>
          <a:xfrm>
            <a:off x="640080" y="3090672"/>
            <a:ext cx="10881360" cy="411480"/>
          </a:xfrm>
          <a:prstGeom prst="rect">
            <a:avLst/>
          </a:prstGeom>
          <a:noFill/>
        </p:spPr>
        <p:txBody>
          <a:bodyPr wrap="square">
            <a:spAutoFit/>
          </a:bodyPr>
          <a:lstStyle/>
          <a:p>
            <a:r>
              <a:rPr sz="2000" b="1">
                <a:solidFill>
                  <a:srgbClr val="1B5E6B"/>
                </a:solidFill>
                <a:latin typeface="Bricolage Grotesque"/>
              </a:rPr>
              <a:t>40 % du poste porte sur l'automatisation, dont cette veille.</a:t>
            </a:r>
          </a:p>
        </p:txBody>
      </p:sp>
      <p:sp>
        <p:nvSpPr>
          <p:cNvPr id="8" name="TextBox 7"/>
          <p:cNvSpPr txBox="1"/>
          <p:nvPr/>
        </p:nvSpPr>
        <p:spPr>
          <a:xfrm>
            <a:off x="640080" y="3611880"/>
            <a:ext cx="10881360" cy="411480"/>
          </a:xfrm>
          <a:prstGeom prst="rect">
            <a:avLst/>
          </a:prstGeom>
          <a:noFill/>
        </p:spPr>
        <p:txBody>
          <a:bodyPr wrap="square">
            <a:spAutoFit/>
          </a:bodyPr>
          <a:lstStyle/>
          <a:p>
            <a:r>
              <a:rPr sz="2000" b="1">
                <a:solidFill>
                  <a:srgbClr val="1B5E6B"/>
                </a:solidFill>
                <a:latin typeface="Bricolage Grotesque"/>
              </a:rPr>
              <a:t>5 acteurs cités : Harmattan, Anduril, Helsing, DroneShield, Dedrone.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Pourquoi cette veille</a:t>
            </a:r>
          </a:p>
        </p:txBody>
      </p:sp>
      <p:sp>
        <p:nvSpPr>
          <p:cNvPr id="5" name="TextBox 4"/>
          <p:cNvSpPr txBox="1"/>
          <p:nvPr/>
        </p:nvSpPr>
        <p:spPr>
          <a:xfrm>
            <a:off x="640080" y="1463040"/>
            <a:ext cx="10515600" cy="640080"/>
          </a:xfrm>
          <a:prstGeom prst="rect">
            <a:avLst/>
          </a:prstGeom>
          <a:noFill/>
        </p:spPr>
        <p:txBody>
          <a:bodyPr wrap="square">
            <a:spAutoFit/>
          </a:bodyPr>
          <a:lstStyle/>
          <a:p>
            <a:pPr algn="l"/>
            <a:r>
              <a:rPr sz="2600" b="1">
                <a:solidFill>
                  <a:srgbClr val="1A1A1A"/>
                </a:solidFill>
                <a:latin typeface="Bricolage Grotesque"/>
              </a:rPr>
              <a:t>Ta fiche de poste, mission par mission</a:t>
            </a:r>
          </a:p>
        </p:txBody>
      </p:sp>
      <p:sp>
        <p:nvSpPr>
          <p:cNvPr id="6" name="TextBox 5"/>
          <p:cNvSpPr txBox="1"/>
          <p:nvPr/>
        </p:nvSpPr>
        <p:spPr>
          <a:xfrm>
            <a:off x="640080" y="2331720"/>
            <a:ext cx="10881360" cy="411480"/>
          </a:xfrm>
          <a:prstGeom prst="rect">
            <a:avLst/>
          </a:prstGeom>
          <a:noFill/>
        </p:spPr>
        <p:txBody>
          <a:bodyPr wrap="square">
            <a:spAutoFit/>
          </a:bodyPr>
          <a:lstStyle/>
          <a:p>
            <a:r>
              <a:rPr sz="2000" b="1">
                <a:solidFill>
                  <a:srgbClr val="E8A000"/>
                </a:solidFill>
                <a:latin typeface="Bricolage Grotesque"/>
              </a:rPr>
              <a:t>« Mise en place de flux de veille sur les autres acteurs du secteur »</a:t>
            </a:r>
          </a:p>
        </p:txBody>
      </p:sp>
      <p:sp>
        <p:nvSpPr>
          <p:cNvPr id="7" name="TextBox 6"/>
          <p:cNvSpPr txBox="1"/>
          <p:nvPr/>
        </p:nvSpPr>
        <p:spPr>
          <a:xfrm>
            <a:off x="640080" y="3090672"/>
            <a:ext cx="10881360" cy="411480"/>
          </a:xfrm>
          <a:prstGeom prst="rect">
            <a:avLst/>
          </a:prstGeom>
          <a:noFill/>
        </p:spPr>
        <p:txBody>
          <a:bodyPr wrap="square">
            <a:spAutoFit/>
          </a:bodyPr>
          <a:lstStyle/>
          <a:p>
            <a:r>
              <a:rPr sz="2000" b="1">
                <a:solidFill>
                  <a:srgbClr val="1B5E6B"/>
                </a:solidFill>
                <a:latin typeface="Bricolage Grotesque"/>
              </a:rPr>
              <a:t>40 % du poste porte sur l'automatisation, dont cette veille.</a:t>
            </a:r>
          </a:p>
        </p:txBody>
      </p:sp>
      <p:sp>
        <p:nvSpPr>
          <p:cNvPr id="8" name="TextBox 7"/>
          <p:cNvSpPr txBox="1"/>
          <p:nvPr/>
        </p:nvSpPr>
        <p:spPr>
          <a:xfrm>
            <a:off x="640080" y="3611880"/>
            <a:ext cx="10881360" cy="411480"/>
          </a:xfrm>
          <a:prstGeom prst="rect">
            <a:avLst/>
          </a:prstGeom>
          <a:noFill/>
        </p:spPr>
        <p:txBody>
          <a:bodyPr wrap="square">
            <a:spAutoFit/>
          </a:bodyPr>
          <a:lstStyle/>
          <a:p>
            <a:r>
              <a:rPr sz="2000" b="1">
                <a:solidFill>
                  <a:srgbClr val="1B5E6B"/>
                </a:solidFill>
                <a:latin typeface="Bricolage Grotesque"/>
              </a:rPr>
              <a:t>5 acteurs cités : Harmattan, Anduril, Helsing, DroneShield, Dedrone.</a:t>
            </a:r>
          </a:p>
        </p:txBody>
      </p:sp>
      <p:sp>
        <p:nvSpPr>
          <p:cNvPr id="9" name="TextBox 8"/>
          <p:cNvSpPr txBox="1"/>
          <p:nvPr/>
        </p:nvSpPr>
        <p:spPr>
          <a:xfrm>
            <a:off x="640080" y="4370832"/>
            <a:ext cx="10881360" cy="411480"/>
          </a:xfrm>
          <a:prstGeom prst="rect">
            <a:avLst/>
          </a:prstGeom>
          <a:noFill/>
        </p:spPr>
        <p:txBody>
          <a:bodyPr wrap="square">
            <a:spAutoFit/>
          </a:bodyPr>
          <a:lstStyle/>
          <a:p>
            <a:r>
              <a:rPr sz="2000" b="0">
                <a:solidFill>
                  <a:srgbClr val="333333"/>
                </a:solidFill>
                <a:latin typeface="Bricolage Grotesque"/>
              </a:rPr>
              <a:t>Tu arrives en entretien avec l'outil qui tourne, pas avec une intention.</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Le workflow « Veille »</a:t>
            </a:r>
          </a:p>
        </p:txBody>
      </p:sp>
      <p:sp>
        <p:nvSpPr>
          <p:cNvPr id="5" name="TextBox 4"/>
          <p:cNvSpPr txBox="1"/>
          <p:nvPr/>
        </p:nvSpPr>
        <p:spPr>
          <a:xfrm>
            <a:off x="640080" y="1463040"/>
            <a:ext cx="10515600" cy="640080"/>
          </a:xfrm>
          <a:prstGeom prst="rect">
            <a:avLst/>
          </a:prstGeom>
          <a:noFill/>
        </p:spPr>
        <p:txBody>
          <a:bodyPr wrap="square">
            <a:spAutoFit/>
          </a:bodyPr>
          <a:lstStyle/>
          <a:p>
            <a:pPr algn="l"/>
            <a:r>
              <a:rPr sz="2600" b="1">
                <a:solidFill>
                  <a:srgbClr val="1A1A1A"/>
                </a:solidFill>
                <a:latin typeface="Bricolage Grotesque"/>
              </a:rPr>
              <a:t>Chaque lundi matin, sans toi</a:t>
            </a:r>
          </a:p>
        </p:txBody>
      </p:sp>
      <p:sp>
        <p:nvSpPr>
          <p:cNvPr id="6" name="Rounded Rectangle 5"/>
          <p:cNvSpPr/>
          <p:nvPr/>
        </p:nvSpPr>
        <p:spPr>
          <a:xfrm>
            <a:off x="640080" y="2743200"/>
            <a:ext cx="2331720" cy="777240"/>
          </a:xfrm>
          <a:prstGeom prst="roundRect">
            <a:avLst/>
          </a:prstGeom>
          <a:solidFill>
            <a:srgbClr val="1B5E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2907792"/>
            <a:ext cx="2148840" cy="502920"/>
          </a:xfrm>
          <a:prstGeom prst="rect">
            <a:avLst/>
          </a:prstGeom>
          <a:noFill/>
        </p:spPr>
        <p:txBody>
          <a:bodyPr wrap="square">
            <a:spAutoFit/>
          </a:bodyPr>
          <a:lstStyle/>
          <a:p>
            <a:pPr algn="ctr"/>
            <a:r>
              <a:rPr sz="1400" b="1">
                <a:solidFill>
                  <a:srgbClr val="FFFFFF"/>
                </a:solidFill>
                <a:latin typeface="Bricolage Grotesque"/>
              </a:rPr>
              <a:t>Schedule
lundi 8h</a:t>
            </a:r>
          </a:p>
        </p:txBody>
      </p:sp>
      <p:sp>
        <p:nvSpPr>
          <p:cNvPr id="8" name="TextBox 7"/>
          <p:cNvSpPr txBox="1"/>
          <p:nvPr/>
        </p:nvSpPr>
        <p:spPr>
          <a:xfrm>
            <a:off x="3008376" y="2926080"/>
            <a:ext cx="310896" cy="457200"/>
          </a:xfrm>
          <a:prstGeom prst="rect">
            <a:avLst/>
          </a:prstGeom>
          <a:noFill/>
        </p:spPr>
        <p:txBody>
          <a:bodyPr wrap="square">
            <a:spAutoFit/>
          </a:bodyPr>
          <a:lstStyle/>
          <a:p>
            <a:pPr algn="ctr"/>
            <a:r>
              <a:rPr sz="2200" b="1">
                <a:solidFill>
                  <a:srgbClr val="E8A000"/>
                </a:solidFill>
                <a:latin typeface="Bricolage Grotesque"/>
              </a:rPr>
              <a:t>→</a:t>
            </a:r>
          </a:p>
        </p:txBody>
      </p:sp>
      <p:sp>
        <p:nvSpPr>
          <p:cNvPr id="9" name="Rounded Rectangle 8"/>
          <p:cNvSpPr/>
          <p:nvPr/>
        </p:nvSpPr>
        <p:spPr>
          <a:xfrm>
            <a:off x="3355848" y="2743200"/>
            <a:ext cx="2331720" cy="777240"/>
          </a:xfrm>
          <a:prstGeom prst="roundRect">
            <a:avLst/>
          </a:prstGeom>
          <a:solidFill>
            <a:srgbClr val="1E55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47288" y="2907792"/>
            <a:ext cx="2148840" cy="502920"/>
          </a:xfrm>
          <a:prstGeom prst="rect">
            <a:avLst/>
          </a:prstGeom>
          <a:noFill/>
        </p:spPr>
        <p:txBody>
          <a:bodyPr wrap="square">
            <a:spAutoFit/>
          </a:bodyPr>
          <a:lstStyle/>
          <a:p>
            <a:pPr algn="ctr"/>
            <a:r>
              <a:rPr sz="1400" b="1">
                <a:solidFill>
                  <a:srgbClr val="FFFFFF"/>
                </a:solidFill>
                <a:latin typeface="Bricolage Grotesque"/>
              </a:rPr>
              <a:t>5 RSS Read
un par acteur</a:t>
            </a:r>
          </a:p>
        </p:txBody>
      </p:sp>
      <p:sp>
        <p:nvSpPr>
          <p:cNvPr id="11" name="TextBox 10"/>
          <p:cNvSpPr txBox="1"/>
          <p:nvPr/>
        </p:nvSpPr>
        <p:spPr>
          <a:xfrm>
            <a:off x="5724144" y="2926080"/>
            <a:ext cx="310896" cy="457200"/>
          </a:xfrm>
          <a:prstGeom prst="rect">
            <a:avLst/>
          </a:prstGeom>
          <a:noFill/>
        </p:spPr>
        <p:txBody>
          <a:bodyPr wrap="square">
            <a:spAutoFit/>
          </a:bodyPr>
          <a:lstStyle/>
          <a:p>
            <a:pPr algn="ctr"/>
            <a:r>
              <a:rPr sz="2200" b="1">
                <a:solidFill>
                  <a:srgbClr val="E8A000"/>
                </a:solidFill>
                <a:latin typeface="Bricolage Grotesque"/>
              </a:rPr>
              <a:t>→</a:t>
            </a:r>
          </a:p>
        </p:txBody>
      </p:sp>
      <p:sp>
        <p:nvSpPr>
          <p:cNvPr id="12" name="Rounded Rectangle 11"/>
          <p:cNvSpPr/>
          <p:nvPr/>
        </p:nvSpPr>
        <p:spPr>
          <a:xfrm>
            <a:off x="6071616" y="2743200"/>
            <a:ext cx="2331720" cy="777240"/>
          </a:xfrm>
          <a:prstGeom prst="roundRect">
            <a:avLst/>
          </a:prstGeom>
          <a:solidFill>
            <a:srgbClr val="1B5E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63056" y="2907792"/>
            <a:ext cx="2148840" cy="502920"/>
          </a:xfrm>
          <a:prstGeom prst="rect">
            <a:avLst/>
          </a:prstGeom>
          <a:noFill/>
        </p:spPr>
        <p:txBody>
          <a:bodyPr wrap="square">
            <a:spAutoFit/>
          </a:bodyPr>
          <a:lstStyle/>
          <a:p>
            <a:pPr algn="ctr"/>
            <a:r>
              <a:rPr sz="1400" b="1">
                <a:solidFill>
                  <a:srgbClr val="FFFFFF"/>
                </a:solidFill>
                <a:latin typeface="Bricolage Grotesque"/>
              </a:rPr>
              <a:t>Merge
les 5 listes</a:t>
            </a:r>
          </a:p>
        </p:txBody>
      </p:sp>
      <p:sp>
        <p:nvSpPr>
          <p:cNvPr id="14" name="TextBox 13"/>
          <p:cNvSpPr txBox="1"/>
          <p:nvPr/>
        </p:nvSpPr>
        <p:spPr>
          <a:xfrm>
            <a:off x="8439912" y="2926080"/>
            <a:ext cx="310896" cy="457200"/>
          </a:xfrm>
          <a:prstGeom prst="rect">
            <a:avLst/>
          </a:prstGeom>
          <a:noFill/>
        </p:spPr>
        <p:txBody>
          <a:bodyPr wrap="square">
            <a:spAutoFit/>
          </a:bodyPr>
          <a:lstStyle/>
          <a:p>
            <a:pPr algn="ctr"/>
            <a:r>
              <a:rPr sz="2200" b="1">
                <a:solidFill>
                  <a:srgbClr val="E8A000"/>
                </a:solidFill>
                <a:latin typeface="Bricolage Grotesque"/>
              </a:rPr>
              <a:t>→</a:t>
            </a:r>
          </a:p>
        </p:txBody>
      </p:sp>
      <p:sp>
        <p:nvSpPr>
          <p:cNvPr id="15" name="Rounded Rectangle 14"/>
          <p:cNvSpPr/>
          <p:nvPr/>
        </p:nvSpPr>
        <p:spPr>
          <a:xfrm>
            <a:off x="8787384" y="2743200"/>
            <a:ext cx="2331720" cy="777240"/>
          </a:xfrm>
          <a:prstGeom prst="roundRect">
            <a:avLst/>
          </a:prstGeom>
          <a:solidFill>
            <a:srgbClr val="1E55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878824" y="2907792"/>
            <a:ext cx="2148840" cy="502920"/>
          </a:xfrm>
          <a:prstGeom prst="rect">
            <a:avLst/>
          </a:prstGeom>
          <a:noFill/>
        </p:spPr>
        <p:txBody>
          <a:bodyPr wrap="square">
            <a:spAutoFit/>
          </a:bodyPr>
          <a:lstStyle/>
          <a:p>
            <a:pPr algn="ctr"/>
            <a:r>
              <a:rPr sz="1400" b="1">
                <a:solidFill>
                  <a:srgbClr val="FFFFFF"/>
                </a:solidFill>
                <a:latin typeface="Bricolage Grotesque"/>
              </a:rPr>
              <a:t>Filter
7 derniers jours</a:t>
            </a:r>
          </a:p>
        </p:txBody>
      </p:sp>
      <p:sp>
        <p:nvSpPr>
          <p:cNvPr id="17" name="Rounded Rectangle 16"/>
          <p:cNvSpPr/>
          <p:nvPr/>
        </p:nvSpPr>
        <p:spPr>
          <a:xfrm>
            <a:off x="640080" y="4160520"/>
            <a:ext cx="2331720" cy="777240"/>
          </a:xfrm>
          <a:prstGeom prst="roundRect">
            <a:avLst/>
          </a:prstGeom>
          <a:solidFill>
            <a:srgbClr val="1B5E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4325112"/>
            <a:ext cx="2148840" cy="502920"/>
          </a:xfrm>
          <a:prstGeom prst="rect">
            <a:avLst/>
          </a:prstGeom>
          <a:noFill/>
        </p:spPr>
        <p:txBody>
          <a:bodyPr wrap="square">
            <a:spAutoFit/>
          </a:bodyPr>
          <a:lstStyle/>
          <a:p>
            <a:pPr algn="ctr"/>
            <a:r>
              <a:rPr sz="1400" b="1">
                <a:solidFill>
                  <a:srgbClr val="FFFFFF"/>
                </a:solidFill>
                <a:latin typeface="Bricolage Grotesque"/>
              </a:rPr>
              <a:t>Remove Duplicates
par lien</a:t>
            </a:r>
          </a:p>
        </p:txBody>
      </p:sp>
      <p:sp>
        <p:nvSpPr>
          <p:cNvPr id="19" name="TextBox 18"/>
          <p:cNvSpPr txBox="1"/>
          <p:nvPr/>
        </p:nvSpPr>
        <p:spPr>
          <a:xfrm>
            <a:off x="3008376" y="4343400"/>
            <a:ext cx="310896" cy="457200"/>
          </a:xfrm>
          <a:prstGeom prst="rect">
            <a:avLst/>
          </a:prstGeom>
          <a:noFill/>
        </p:spPr>
        <p:txBody>
          <a:bodyPr wrap="square">
            <a:spAutoFit/>
          </a:bodyPr>
          <a:lstStyle/>
          <a:p>
            <a:pPr algn="ctr"/>
            <a:r>
              <a:rPr sz="2200" b="1">
                <a:solidFill>
                  <a:srgbClr val="E8A000"/>
                </a:solidFill>
                <a:latin typeface="Bricolage Grotesque"/>
              </a:rPr>
              <a:t>→</a:t>
            </a:r>
          </a:p>
        </p:txBody>
      </p:sp>
      <p:sp>
        <p:nvSpPr>
          <p:cNvPr id="20" name="Rounded Rectangle 19"/>
          <p:cNvSpPr/>
          <p:nvPr/>
        </p:nvSpPr>
        <p:spPr>
          <a:xfrm>
            <a:off x="3355848" y="4160520"/>
            <a:ext cx="2331720" cy="777240"/>
          </a:xfrm>
          <a:prstGeom prst="roundRect">
            <a:avLst/>
          </a:prstGeom>
          <a:solidFill>
            <a:srgbClr val="1E55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447288" y="4325112"/>
            <a:ext cx="2148840" cy="502920"/>
          </a:xfrm>
          <a:prstGeom prst="rect">
            <a:avLst/>
          </a:prstGeom>
          <a:noFill/>
        </p:spPr>
        <p:txBody>
          <a:bodyPr wrap="square">
            <a:spAutoFit/>
          </a:bodyPr>
          <a:lstStyle/>
          <a:p>
            <a:pPr algn="ctr"/>
            <a:r>
              <a:rPr sz="1400" b="1">
                <a:solidFill>
                  <a:srgbClr val="FFFFFF"/>
                </a:solidFill>
                <a:latin typeface="Bricolage Grotesque"/>
              </a:rPr>
              <a:t>Aggregate
un seul paquet</a:t>
            </a:r>
          </a:p>
        </p:txBody>
      </p:sp>
      <p:sp>
        <p:nvSpPr>
          <p:cNvPr id="22" name="TextBox 21"/>
          <p:cNvSpPr txBox="1"/>
          <p:nvPr/>
        </p:nvSpPr>
        <p:spPr>
          <a:xfrm>
            <a:off x="5724144" y="4343400"/>
            <a:ext cx="310896" cy="457200"/>
          </a:xfrm>
          <a:prstGeom prst="rect">
            <a:avLst/>
          </a:prstGeom>
          <a:noFill/>
        </p:spPr>
        <p:txBody>
          <a:bodyPr wrap="square">
            <a:spAutoFit/>
          </a:bodyPr>
          <a:lstStyle/>
          <a:p>
            <a:pPr algn="ctr"/>
            <a:r>
              <a:rPr sz="2200" b="1">
                <a:solidFill>
                  <a:srgbClr val="E8A000"/>
                </a:solidFill>
                <a:latin typeface="Bricolage Grotesque"/>
              </a:rPr>
              <a:t>→</a:t>
            </a:r>
          </a:p>
        </p:txBody>
      </p:sp>
      <p:sp>
        <p:nvSpPr>
          <p:cNvPr id="23" name="Rounded Rectangle 22"/>
          <p:cNvSpPr/>
          <p:nvPr/>
        </p:nvSpPr>
        <p:spPr>
          <a:xfrm>
            <a:off x="6071616" y="4160520"/>
            <a:ext cx="2331720" cy="777240"/>
          </a:xfrm>
          <a:prstGeom prst="roundRect">
            <a:avLst/>
          </a:prstGeom>
          <a:solidFill>
            <a:srgbClr val="1B5E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63056" y="4325112"/>
            <a:ext cx="2148840" cy="502920"/>
          </a:xfrm>
          <a:prstGeom prst="rect">
            <a:avLst/>
          </a:prstGeom>
          <a:noFill/>
        </p:spPr>
        <p:txBody>
          <a:bodyPr wrap="square">
            <a:spAutoFit/>
          </a:bodyPr>
          <a:lstStyle/>
          <a:p>
            <a:pPr algn="ctr"/>
            <a:r>
              <a:rPr sz="1400" b="1">
                <a:solidFill>
                  <a:srgbClr val="FFFFFF"/>
                </a:solidFill>
                <a:latin typeface="Bricolage Grotesque"/>
              </a:rPr>
              <a:t>Claude
la synthèse</a:t>
            </a:r>
          </a:p>
        </p:txBody>
      </p:sp>
      <p:sp>
        <p:nvSpPr>
          <p:cNvPr id="25" name="TextBox 24"/>
          <p:cNvSpPr txBox="1"/>
          <p:nvPr/>
        </p:nvSpPr>
        <p:spPr>
          <a:xfrm>
            <a:off x="8439912" y="4343400"/>
            <a:ext cx="310896" cy="457200"/>
          </a:xfrm>
          <a:prstGeom prst="rect">
            <a:avLst/>
          </a:prstGeom>
          <a:noFill/>
        </p:spPr>
        <p:txBody>
          <a:bodyPr wrap="square">
            <a:spAutoFit/>
          </a:bodyPr>
          <a:lstStyle/>
          <a:p>
            <a:pPr algn="ctr"/>
            <a:r>
              <a:rPr sz="2200" b="1">
                <a:solidFill>
                  <a:srgbClr val="E8A000"/>
                </a:solidFill>
                <a:latin typeface="Bricolage Grotesque"/>
              </a:rPr>
              <a:t>→</a:t>
            </a:r>
          </a:p>
        </p:txBody>
      </p:sp>
      <p:sp>
        <p:nvSpPr>
          <p:cNvPr id="26" name="Rounded Rectangle 25"/>
          <p:cNvSpPr/>
          <p:nvPr/>
        </p:nvSpPr>
        <p:spPr>
          <a:xfrm>
            <a:off x="8787384" y="4160520"/>
            <a:ext cx="2331720" cy="777240"/>
          </a:xfrm>
          <a:prstGeom prst="roundRect">
            <a:avLst/>
          </a:prstGeom>
          <a:solidFill>
            <a:srgbClr val="1E55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878824" y="4325112"/>
            <a:ext cx="2148840" cy="502920"/>
          </a:xfrm>
          <a:prstGeom prst="rect">
            <a:avLst/>
          </a:prstGeom>
          <a:noFill/>
        </p:spPr>
        <p:txBody>
          <a:bodyPr wrap="square">
            <a:spAutoFit/>
          </a:bodyPr>
          <a:lstStyle/>
          <a:p>
            <a:pPr algn="ctr"/>
            <a:r>
              <a:rPr sz="1400" b="1">
                <a:solidFill>
                  <a:srgbClr val="FFFFFF"/>
                </a:solidFill>
                <a:latin typeface="Bricolage Grotesque"/>
              </a:rPr>
              <a:t>Telegram
ton bot</a:t>
            </a:r>
          </a:p>
        </p:txBody>
      </p:sp>
      <p:sp>
        <p:nvSpPr>
          <p:cNvPr id="28" name="TextBox 27"/>
          <p:cNvSpPr txBox="1"/>
          <p:nvPr/>
        </p:nvSpPr>
        <p:spPr>
          <a:xfrm>
            <a:off x="640080" y="5029200"/>
            <a:ext cx="10972800" cy="411480"/>
          </a:xfrm>
          <a:prstGeom prst="rect">
            <a:avLst/>
          </a:prstGeom>
          <a:noFill/>
        </p:spPr>
        <p:txBody>
          <a:bodyPr wrap="square">
            <a:spAutoFit/>
          </a:bodyPr>
          <a:lstStyle/>
          <a:p>
            <a:pPr algn="l"/>
            <a:r>
              <a:rPr sz="1800" b="1">
                <a:solidFill>
                  <a:srgbClr val="1B5E6B"/>
                </a:solidFill>
                <a:latin typeface="Bricolage Grotesque"/>
              </a:rPr>
              <a:t>Le bot Telegram de tes devoirs sert deux fois : erreurs et veille.</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Théorie · Les sources</a:t>
            </a:r>
          </a:p>
        </p:txBody>
      </p:sp>
      <p:sp>
        <p:nvSpPr>
          <p:cNvPr id="5" name="TextBox 4"/>
          <p:cNvSpPr txBox="1"/>
          <p:nvPr/>
        </p:nvSpPr>
        <p:spPr>
          <a:xfrm>
            <a:off x="640080" y="1463040"/>
            <a:ext cx="10515600" cy="640080"/>
          </a:xfrm>
          <a:prstGeom prst="rect">
            <a:avLst/>
          </a:prstGeom>
          <a:noFill/>
        </p:spPr>
        <p:txBody>
          <a:bodyPr wrap="square">
            <a:spAutoFit/>
          </a:bodyPr>
          <a:lstStyle/>
          <a:p>
            <a:pPr algn="l"/>
            <a:r>
              <a:rPr sz="2600" b="1">
                <a:solidFill>
                  <a:srgbClr val="1A1A1A"/>
                </a:solidFill>
                <a:latin typeface="Bricolage Grotesque"/>
              </a:rPr>
              <a:t>Google News : un flux RSS par acteur</a:t>
            </a:r>
          </a:p>
        </p:txBody>
      </p:sp>
      <p:sp>
        <p:nvSpPr>
          <p:cNvPr id="6" name="TextBox 5"/>
          <p:cNvSpPr txBox="1"/>
          <p:nvPr/>
        </p:nvSpPr>
        <p:spPr>
          <a:xfrm>
            <a:off x="640080" y="2331720"/>
            <a:ext cx="10881360" cy="411480"/>
          </a:xfrm>
          <a:prstGeom prst="rect">
            <a:avLst/>
          </a:prstGeom>
          <a:noFill/>
        </p:spPr>
        <p:txBody>
          <a:bodyPr wrap="square">
            <a:spAutoFit/>
          </a:bodyPr>
          <a:lstStyle/>
          <a:p>
            <a:r>
              <a:rPr sz="2000" b="0">
                <a:solidFill>
                  <a:srgbClr val="0F2B3A"/>
                </a:solidFill>
                <a:latin typeface="Consolas"/>
              </a:rPr>
              <a:t>news.google.com/rss/search?q=Helsing&amp;hl=en-US&amp;gl=US&amp;ceid=US:en</a:t>
            </a:r>
          </a:p>
        </p:txBody>
      </p:sp>
      <p:sp>
        <p:nvSpPr>
          <p:cNvPr id="7" name="TextBox 6"/>
          <p:cNvSpPr txBox="1"/>
          <p:nvPr/>
        </p:nvSpPr>
        <p:spPr>
          <a:xfrm>
            <a:off x="640080" y="2852928"/>
            <a:ext cx="10881360" cy="411480"/>
          </a:xfrm>
          <a:prstGeom prst="rect">
            <a:avLst/>
          </a:prstGeom>
          <a:noFill/>
        </p:spPr>
        <p:txBody>
          <a:bodyPr wrap="square">
            <a:spAutoFit/>
          </a:bodyPr>
          <a:lstStyle/>
          <a:p>
            <a:r>
              <a:rPr sz="2000" b="1">
                <a:solidFill>
                  <a:srgbClr val="1B5E6B"/>
                </a:solidFill>
                <a:latin typeface="Bricolage Grotesque"/>
              </a:rPr>
              <a:t>Un nœud RSS Read par acteur : seul q= change dans l'URL.</a:t>
            </a:r>
          </a:p>
        </p:txBody>
      </p:sp>
      <p:sp>
        <p:nvSpPr>
          <p:cNvPr id="8" name="TextBox 7"/>
          <p:cNvSpPr txBox="1"/>
          <p:nvPr/>
        </p:nvSpPr>
        <p:spPr>
          <a:xfrm>
            <a:off x="640080" y="3374136"/>
            <a:ext cx="10881360" cy="411480"/>
          </a:xfrm>
          <a:prstGeom prst="rect">
            <a:avLst/>
          </a:prstGeom>
          <a:noFill/>
        </p:spPr>
        <p:txBody>
          <a:bodyPr wrap="square">
            <a:spAutoFit/>
          </a:bodyPr>
          <a:lstStyle/>
          <a:p>
            <a:r>
              <a:rPr sz="2000" b="0">
                <a:solidFill>
                  <a:srgbClr val="0F2B3A"/>
                </a:solidFill>
                <a:latin typeface="Consolas"/>
              </a:rPr>
              <a:t>q=%22Harmattan+AI%22  q=Anduril  q=Helsing  q=DroneShield  q=Dedrone</a:t>
            </a:r>
          </a:p>
        </p:txBody>
      </p:sp>
      <p:sp>
        <p:nvSpPr>
          <p:cNvPr id="9" name="TextBox 8"/>
          <p:cNvSpPr txBox="1"/>
          <p:nvPr/>
        </p:nvSpPr>
        <p:spPr>
          <a:xfrm>
            <a:off x="640080" y="3895344"/>
            <a:ext cx="10881360" cy="411480"/>
          </a:xfrm>
          <a:prstGeom prst="rect">
            <a:avLst/>
          </a:prstGeom>
          <a:noFill/>
        </p:spPr>
        <p:txBody>
          <a:bodyPr wrap="square">
            <a:spAutoFit/>
          </a:bodyPr>
          <a:lstStyle/>
          <a:p>
            <a:r>
              <a:rPr sz="2000" b="1">
                <a:solidFill>
                  <a:srgbClr val="1B5E6B"/>
                </a:solidFill>
                <a:latin typeface="Bricolage Grotesque"/>
              </a:rPr>
              <a:t>%22 = guillemets. Sans eux, « Harmattan » remonte aussi un éditeur.</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Théorie · Les sources</a:t>
            </a:r>
          </a:p>
        </p:txBody>
      </p:sp>
      <p:sp>
        <p:nvSpPr>
          <p:cNvPr id="5" name="TextBox 4"/>
          <p:cNvSpPr txBox="1"/>
          <p:nvPr/>
        </p:nvSpPr>
        <p:spPr>
          <a:xfrm>
            <a:off x="640080" y="1463040"/>
            <a:ext cx="10515600" cy="640080"/>
          </a:xfrm>
          <a:prstGeom prst="rect">
            <a:avLst/>
          </a:prstGeom>
          <a:noFill/>
        </p:spPr>
        <p:txBody>
          <a:bodyPr wrap="square">
            <a:spAutoFit/>
          </a:bodyPr>
          <a:lstStyle/>
          <a:p>
            <a:pPr algn="l"/>
            <a:r>
              <a:rPr sz="2600" b="1">
                <a:solidFill>
                  <a:srgbClr val="1A1A1A"/>
                </a:solidFill>
                <a:latin typeface="Bricolage Grotesque"/>
              </a:rPr>
              <a:t>Google News : un flux RSS par acteur</a:t>
            </a:r>
          </a:p>
        </p:txBody>
      </p:sp>
      <p:sp>
        <p:nvSpPr>
          <p:cNvPr id="6" name="TextBox 5"/>
          <p:cNvSpPr txBox="1"/>
          <p:nvPr/>
        </p:nvSpPr>
        <p:spPr>
          <a:xfrm>
            <a:off x="640080" y="2331720"/>
            <a:ext cx="10881360" cy="411480"/>
          </a:xfrm>
          <a:prstGeom prst="rect">
            <a:avLst/>
          </a:prstGeom>
          <a:noFill/>
        </p:spPr>
        <p:txBody>
          <a:bodyPr wrap="square">
            <a:spAutoFit/>
          </a:bodyPr>
          <a:lstStyle/>
          <a:p>
            <a:r>
              <a:rPr sz="2000" b="0">
                <a:solidFill>
                  <a:srgbClr val="0F2B3A"/>
                </a:solidFill>
                <a:latin typeface="Consolas"/>
              </a:rPr>
              <a:t>news.google.com/rss/search?q=Helsing&amp;hl=en-US&amp;gl=US&amp;ceid=US:en</a:t>
            </a:r>
          </a:p>
        </p:txBody>
      </p:sp>
      <p:sp>
        <p:nvSpPr>
          <p:cNvPr id="7" name="TextBox 6"/>
          <p:cNvSpPr txBox="1"/>
          <p:nvPr/>
        </p:nvSpPr>
        <p:spPr>
          <a:xfrm>
            <a:off x="640080" y="2852928"/>
            <a:ext cx="10881360" cy="411480"/>
          </a:xfrm>
          <a:prstGeom prst="rect">
            <a:avLst/>
          </a:prstGeom>
          <a:noFill/>
        </p:spPr>
        <p:txBody>
          <a:bodyPr wrap="square">
            <a:spAutoFit/>
          </a:bodyPr>
          <a:lstStyle/>
          <a:p>
            <a:r>
              <a:rPr sz="2000" b="1">
                <a:solidFill>
                  <a:srgbClr val="1B5E6B"/>
                </a:solidFill>
                <a:latin typeface="Bricolage Grotesque"/>
              </a:rPr>
              <a:t>Un nœud RSS Read par acteur : seul q= change dans l'URL.</a:t>
            </a:r>
          </a:p>
        </p:txBody>
      </p:sp>
      <p:sp>
        <p:nvSpPr>
          <p:cNvPr id="8" name="TextBox 7"/>
          <p:cNvSpPr txBox="1"/>
          <p:nvPr/>
        </p:nvSpPr>
        <p:spPr>
          <a:xfrm>
            <a:off x="640080" y="3374136"/>
            <a:ext cx="10881360" cy="411480"/>
          </a:xfrm>
          <a:prstGeom prst="rect">
            <a:avLst/>
          </a:prstGeom>
          <a:noFill/>
        </p:spPr>
        <p:txBody>
          <a:bodyPr wrap="square">
            <a:spAutoFit/>
          </a:bodyPr>
          <a:lstStyle/>
          <a:p>
            <a:r>
              <a:rPr sz="2000" b="0">
                <a:solidFill>
                  <a:srgbClr val="0F2B3A"/>
                </a:solidFill>
                <a:latin typeface="Consolas"/>
              </a:rPr>
              <a:t>q=%22Harmattan+AI%22  q=Anduril  q=Helsing  q=DroneShield  q=Dedrone</a:t>
            </a:r>
          </a:p>
        </p:txBody>
      </p:sp>
      <p:sp>
        <p:nvSpPr>
          <p:cNvPr id="9" name="TextBox 8"/>
          <p:cNvSpPr txBox="1"/>
          <p:nvPr/>
        </p:nvSpPr>
        <p:spPr>
          <a:xfrm>
            <a:off x="640080" y="3895344"/>
            <a:ext cx="10881360" cy="411480"/>
          </a:xfrm>
          <a:prstGeom prst="rect">
            <a:avLst/>
          </a:prstGeom>
          <a:noFill/>
        </p:spPr>
        <p:txBody>
          <a:bodyPr wrap="square">
            <a:spAutoFit/>
          </a:bodyPr>
          <a:lstStyle/>
          <a:p>
            <a:r>
              <a:rPr sz="2000" b="1">
                <a:solidFill>
                  <a:srgbClr val="1B5E6B"/>
                </a:solidFill>
                <a:latin typeface="Bricolage Grotesque"/>
              </a:rPr>
              <a:t>%22 = guillemets. Sans eux, « Harmattan » remonte aussi un éditeur.</a:t>
            </a:r>
          </a:p>
        </p:txBody>
      </p:sp>
      <p:sp>
        <p:nvSpPr>
          <p:cNvPr id="10" name="TextBox 9"/>
          <p:cNvSpPr txBox="1"/>
          <p:nvPr/>
        </p:nvSpPr>
        <p:spPr>
          <a:xfrm>
            <a:off x="640080" y="4654296"/>
            <a:ext cx="10881360" cy="411480"/>
          </a:xfrm>
          <a:prstGeom prst="rect">
            <a:avLst/>
          </a:prstGeom>
          <a:noFill/>
        </p:spPr>
        <p:txBody>
          <a:bodyPr wrap="square">
            <a:spAutoFit/>
          </a:bodyPr>
          <a:lstStyle/>
          <a:p>
            <a:r>
              <a:rPr sz="2000" b="1">
                <a:solidFill>
                  <a:srgbClr val="1B5E6B"/>
                </a:solidFill>
                <a:latin typeface="Bricolage Grotesque"/>
              </a:rPr>
              <a:t>Claude résume des titres, pas les articles : il cite le lien, rien de plus.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Théorie · Claude dans n8n</a:t>
            </a:r>
          </a:p>
        </p:txBody>
      </p:sp>
      <p:sp>
        <p:nvSpPr>
          <p:cNvPr id="5" name="TextBox 4"/>
          <p:cNvSpPr txBox="1"/>
          <p:nvPr/>
        </p:nvSpPr>
        <p:spPr>
          <a:xfrm>
            <a:off x="640080" y="1463040"/>
            <a:ext cx="10515600" cy="640080"/>
          </a:xfrm>
          <a:prstGeom prst="rect">
            <a:avLst/>
          </a:prstGeom>
          <a:noFill/>
        </p:spPr>
        <p:txBody>
          <a:bodyPr wrap="square">
            <a:spAutoFit/>
          </a:bodyPr>
          <a:lstStyle/>
          <a:p>
            <a:pPr algn="l"/>
            <a:r>
              <a:rPr sz="2600" b="1">
                <a:solidFill>
                  <a:srgbClr val="1A1A1A"/>
                </a:solidFill>
                <a:latin typeface="Bricolage Grotesque"/>
              </a:rPr>
              <a:t>Le prompt de la synthèse</a:t>
            </a:r>
          </a:p>
        </p:txBody>
      </p:sp>
      <p:sp>
        <p:nvSpPr>
          <p:cNvPr id="6" name="TextBox 5"/>
          <p:cNvSpPr txBox="1"/>
          <p:nvPr/>
        </p:nvSpPr>
        <p:spPr>
          <a:xfrm>
            <a:off x="640080" y="2331720"/>
            <a:ext cx="10881360" cy="411480"/>
          </a:xfrm>
          <a:prstGeom prst="rect">
            <a:avLst/>
          </a:prstGeom>
          <a:noFill/>
        </p:spPr>
        <p:txBody>
          <a:bodyPr wrap="square">
            <a:spAutoFit/>
          </a:bodyPr>
          <a:lstStyle/>
          <a:p>
            <a:r>
              <a:rPr sz="2000" b="0">
                <a:solidFill>
                  <a:srgbClr val="0F2B3A"/>
                </a:solidFill>
                <a:latin typeface="Consolas"/>
              </a:rPr>
              <a:t>Tu es analyste veille pour une startup de la défense.</a:t>
            </a:r>
          </a:p>
        </p:txBody>
      </p:sp>
      <p:sp>
        <p:nvSpPr>
          <p:cNvPr id="7" name="TextBox 6"/>
          <p:cNvSpPr txBox="1"/>
          <p:nvPr/>
        </p:nvSpPr>
        <p:spPr>
          <a:xfrm>
            <a:off x="640080" y="2852928"/>
            <a:ext cx="10881360" cy="411480"/>
          </a:xfrm>
          <a:prstGeom prst="rect">
            <a:avLst/>
          </a:prstGeom>
          <a:noFill/>
        </p:spPr>
        <p:txBody>
          <a:bodyPr wrap="square">
            <a:spAutoFit/>
          </a:bodyPr>
          <a:lstStyle/>
          <a:p>
            <a:r>
              <a:rPr sz="2000" b="0">
                <a:solidFill>
                  <a:srgbClr val="0F2B3A"/>
                </a:solidFill>
                <a:latin typeface="Consolas"/>
              </a:rPr>
              <a:t>Voici les articles de la semaine : titre, source, date, lien.</a:t>
            </a:r>
          </a:p>
        </p:txBody>
      </p:sp>
      <p:sp>
        <p:nvSpPr>
          <p:cNvPr id="8" name="TextBox 7"/>
          <p:cNvSpPr txBox="1"/>
          <p:nvPr/>
        </p:nvSpPr>
        <p:spPr>
          <a:xfrm>
            <a:off x="640080" y="3374136"/>
            <a:ext cx="10881360" cy="411480"/>
          </a:xfrm>
          <a:prstGeom prst="rect">
            <a:avLst/>
          </a:prstGeom>
          <a:noFill/>
        </p:spPr>
        <p:txBody>
          <a:bodyPr wrap="square">
            <a:spAutoFit/>
          </a:bodyPr>
          <a:lstStyle/>
          <a:p>
            <a:r>
              <a:rPr sz="2000" b="0">
                <a:solidFill>
                  <a:srgbClr val="0F2B3A"/>
                </a:solidFill>
                <a:latin typeface="Consolas"/>
              </a:rPr>
              <a:t>Classe-les par concurrent, puis par type : levée, contrat,</a:t>
            </a:r>
          </a:p>
        </p:txBody>
      </p:sp>
      <p:sp>
        <p:nvSpPr>
          <p:cNvPr id="9" name="TextBox 8"/>
          <p:cNvSpPr txBox="1"/>
          <p:nvPr/>
        </p:nvSpPr>
        <p:spPr>
          <a:xfrm>
            <a:off x="640080" y="3895344"/>
            <a:ext cx="10881360" cy="411480"/>
          </a:xfrm>
          <a:prstGeom prst="rect">
            <a:avLst/>
          </a:prstGeom>
          <a:noFill/>
        </p:spPr>
        <p:txBody>
          <a:bodyPr wrap="square">
            <a:spAutoFit/>
          </a:bodyPr>
          <a:lstStyle/>
          <a:p>
            <a:r>
              <a:rPr sz="2000" b="0">
                <a:solidFill>
                  <a:srgbClr val="0F2B3A"/>
                </a:solidFill>
                <a:latin typeface="Consolas"/>
              </a:rPr>
              <a:t>produit, publication. Une phrase par fait, avec son lien.</a:t>
            </a:r>
          </a:p>
        </p:txBody>
      </p:sp>
      <p:sp>
        <p:nvSpPr>
          <p:cNvPr id="10" name="TextBox 9"/>
          <p:cNvSpPr txBox="1"/>
          <p:nvPr/>
        </p:nvSpPr>
        <p:spPr>
          <a:xfrm>
            <a:off x="640080" y="4416552"/>
            <a:ext cx="10881360" cy="411480"/>
          </a:xfrm>
          <a:prstGeom prst="rect">
            <a:avLst/>
          </a:prstGeom>
          <a:noFill/>
        </p:spPr>
        <p:txBody>
          <a:bodyPr wrap="square">
            <a:spAutoFit/>
          </a:bodyPr>
          <a:lstStyle/>
          <a:p>
            <a:r>
              <a:rPr sz="2000" b="0">
                <a:solidFill>
                  <a:srgbClr val="0F2B3A"/>
                </a:solidFill>
                <a:latin typeface="Consolas"/>
              </a:rPr>
              <a:t>Un fait sans lien est supprimé. Termine par 3 signaux à suivre.</a:t>
            </a:r>
          </a:p>
        </p:txBody>
      </p:sp>
      <p:sp>
        <p:nvSpPr>
          <p:cNvPr id="11" name="TextBox 10"/>
          <p:cNvSpPr txBox="1"/>
          <p:nvPr/>
        </p:nvSpPr>
        <p:spPr>
          <a:xfrm>
            <a:off x="640080" y="4937760"/>
            <a:ext cx="10881360" cy="411480"/>
          </a:xfrm>
          <a:prstGeom prst="rect">
            <a:avLst/>
          </a:prstGeom>
          <a:noFill/>
        </p:spPr>
        <p:txBody>
          <a:bodyPr wrap="square">
            <a:spAutoFit/>
          </a:bodyPr>
          <a:lstStyle/>
          <a:p>
            <a:r>
              <a:rPr sz="2000" b="1">
                <a:solidFill>
                  <a:srgbClr val="1B5E6B"/>
                </a:solidFill>
                <a:latin typeface="Bricolage Grotesque"/>
              </a:rPr>
              <a:t>Il faut une clé API Anthropic, payée à l'usage, distincte de ton abonnement.</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Exercice · Construire la veille n8n</a:t>
            </a:r>
          </a:p>
        </p:txBody>
      </p:sp>
      <p:sp>
        <p:nvSpPr>
          <p:cNvPr id="5" name="Rounded Rectangle 4"/>
          <p:cNvSpPr/>
          <p:nvPr/>
        </p:nvSpPr>
        <p:spPr>
          <a:xfrm>
            <a:off x="640080" y="1417320"/>
            <a:ext cx="10881360" cy="1143000"/>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508760"/>
            <a:ext cx="4023359" cy="320040"/>
          </a:xfrm>
          <a:prstGeom prst="rect">
            <a:avLst/>
          </a:prstGeom>
          <a:noFill/>
        </p:spPr>
        <p:txBody>
          <a:bodyPr wrap="square">
            <a:spAutoFit/>
          </a:bodyPr>
          <a:lstStyle/>
          <a:p>
            <a:pPr algn="l"/>
            <a:r>
              <a:rPr sz="1400" b="1">
                <a:solidFill>
                  <a:srgbClr val="E8A000"/>
                </a:solidFill>
                <a:latin typeface="Bricolage Grotesque"/>
              </a:rPr>
              <a:t>OBJECTIF</a:t>
            </a:r>
          </a:p>
        </p:txBody>
      </p:sp>
      <p:sp>
        <p:nvSpPr>
          <p:cNvPr id="7" name="TextBox 6"/>
          <p:cNvSpPr txBox="1"/>
          <p:nvPr/>
        </p:nvSpPr>
        <p:spPr>
          <a:xfrm>
            <a:off x="868680" y="1810512"/>
            <a:ext cx="4023359" cy="685800"/>
          </a:xfrm>
          <a:prstGeom prst="rect">
            <a:avLst/>
          </a:prstGeom>
          <a:noFill/>
        </p:spPr>
        <p:txBody>
          <a:bodyPr wrap="square">
            <a:spAutoFit/>
          </a:bodyPr>
          <a:lstStyle/>
          <a:p>
            <a:pPr algn="l"/>
            <a:r>
              <a:rPr sz="1600" b="0">
                <a:solidFill>
                  <a:srgbClr val="1A1A1A"/>
                </a:solidFill>
                <a:latin typeface="Bricolage Grotesque"/>
              </a:rPr>
              <a:t>Une synthèse de la semaine reçue sur Telegram</a:t>
            </a:r>
          </a:p>
        </p:txBody>
      </p:sp>
      <p:sp>
        <p:nvSpPr>
          <p:cNvPr id="8" name="TextBox 7"/>
          <p:cNvSpPr txBox="1"/>
          <p:nvPr/>
        </p:nvSpPr>
        <p:spPr>
          <a:xfrm>
            <a:off x="5074920" y="1508760"/>
            <a:ext cx="4389120" cy="320040"/>
          </a:xfrm>
          <a:prstGeom prst="rect">
            <a:avLst/>
          </a:prstGeom>
          <a:noFill/>
        </p:spPr>
        <p:txBody>
          <a:bodyPr wrap="square">
            <a:spAutoFit/>
          </a:bodyPr>
          <a:lstStyle/>
          <a:p>
            <a:pPr algn="l"/>
            <a:r>
              <a:rPr sz="1400" b="1">
                <a:solidFill>
                  <a:srgbClr val="E8A000"/>
                </a:solidFill>
                <a:latin typeface="Bricolage Grotesque"/>
              </a:rPr>
              <a:t>LIVRABLE</a:t>
            </a:r>
          </a:p>
        </p:txBody>
      </p:sp>
      <p:sp>
        <p:nvSpPr>
          <p:cNvPr id="9" name="TextBox 8"/>
          <p:cNvSpPr txBox="1"/>
          <p:nvPr/>
        </p:nvSpPr>
        <p:spPr>
          <a:xfrm>
            <a:off x="5074920" y="1810512"/>
            <a:ext cx="4389120" cy="685800"/>
          </a:xfrm>
          <a:prstGeom prst="rect">
            <a:avLst/>
          </a:prstGeom>
          <a:noFill/>
        </p:spPr>
        <p:txBody>
          <a:bodyPr wrap="square">
            <a:spAutoFit/>
          </a:bodyPr>
          <a:lstStyle/>
          <a:p>
            <a:pPr algn="l"/>
            <a:r>
              <a:rPr sz="1600" b="0">
                <a:solidFill>
                  <a:srgbClr val="1A1A1A"/>
                </a:solidFill>
                <a:latin typeface="Bricolage Grotesque"/>
              </a:rPr>
              <a:t>Le workflow « Veille », testé sur les 5 concurrents</a:t>
            </a:r>
          </a:p>
        </p:txBody>
      </p:sp>
      <p:sp>
        <p:nvSpPr>
          <p:cNvPr id="10" name="TextBox 9"/>
          <p:cNvSpPr txBox="1"/>
          <p:nvPr/>
        </p:nvSpPr>
        <p:spPr>
          <a:xfrm>
            <a:off x="9646920" y="1508760"/>
            <a:ext cx="1554480" cy="320040"/>
          </a:xfrm>
          <a:prstGeom prst="rect">
            <a:avLst/>
          </a:prstGeom>
          <a:noFill/>
        </p:spPr>
        <p:txBody>
          <a:bodyPr wrap="square">
            <a:spAutoFit/>
          </a:bodyPr>
          <a:lstStyle/>
          <a:p>
            <a:pPr algn="l"/>
            <a:r>
              <a:rPr sz="1400" b="1">
                <a:solidFill>
                  <a:srgbClr val="E8A000"/>
                </a:solidFill>
                <a:latin typeface="Bricolage Grotesque"/>
              </a:rPr>
              <a:t>DURÉE</a:t>
            </a:r>
          </a:p>
        </p:txBody>
      </p:sp>
      <p:sp>
        <p:nvSpPr>
          <p:cNvPr id="11" name="TextBox 10"/>
          <p:cNvSpPr txBox="1"/>
          <p:nvPr/>
        </p:nvSpPr>
        <p:spPr>
          <a:xfrm>
            <a:off x="9646920" y="1810512"/>
            <a:ext cx="1554480" cy="685800"/>
          </a:xfrm>
          <a:prstGeom prst="rect">
            <a:avLst/>
          </a:prstGeom>
          <a:noFill/>
        </p:spPr>
        <p:txBody>
          <a:bodyPr wrap="square">
            <a:spAutoFit/>
          </a:bodyPr>
          <a:lstStyle/>
          <a:p>
            <a:pPr algn="l"/>
            <a:r>
              <a:rPr sz="1600" b="0">
                <a:solidFill>
                  <a:srgbClr val="1A1A1A"/>
                </a:solidFill>
                <a:latin typeface="Bricolage Grotesque"/>
              </a:rPr>
              <a:t>20 min</a:t>
            </a:r>
          </a:p>
        </p:txBody>
      </p:sp>
      <p:sp>
        <p:nvSpPr>
          <p:cNvPr id="12" name="TextBox 11"/>
          <p:cNvSpPr txBox="1"/>
          <p:nvPr/>
        </p:nvSpPr>
        <p:spPr>
          <a:xfrm>
            <a:off x="640080" y="2834640"/>
            <a:ext cx="10881360" cy="411480"/>
          </a:xfrm>
          <a:prstGeom prst="rect">
            <a:avLst/>
          </a:prstGeom>
          <a:noFill/>
        </p:spPr>
        <p:txBody>
          <a:bodyPr wrap="square">
            <a:spAutoFit/>
          </a:bodyPr>
          <a:lstStyle/>
          <a:p>
            <a:r>
              <a:rPr sz="1900" b="1">
                <a:solidFill>
                  <a:srgbClr val="1B5E6B"/>
                </a:solidFill>
                <a:latin typeface="Bricolage Grotesque"/>
              </a:rPr>
              <a:t>1.  </a:t>
            </a:r>
            <a:r>
              <a:rPr sz="1900">
                <a:solidFill>
                  <a:srgbClr val="333333"/>
                </a:solidFill>
                <a:latin typeface="Bricolage Grotesque"/>
              </a:rPr>
              <a:t>5 nœuds RSS Read, un par acteur : seul q= change dans l'URL.</a:t>
            </a:r>
          </a:p>
        </p:txBody>
      </p:sp>
      <p:sp>
        <p:nvSpPr>
          <p:cNvPr id="13" name="TextBox 12"/>
          <p:cNvSpPr txBox="1"/>
          <p:nvPr/>
        </p:nvSpPr>
        <p:spPr>
          <a:xfrm>
            <a:off x="640080" y="3355848"/>
            <a:ext cx="10881360" cy="411480"/>
          </a:xfrm>
          <a:prstGeom prst="rect">
            <a:avLst/>
          </a:prstGeom>
          <a:noFill/>
        </p:spPr>
        <p:txBody>
          <a:bodyPr wrap="square">
            <a:spAutoFit/>
          </a:bodyPr>
          <a:lstStyle/>
          <a:p>
            <a:r>
              <a:rPr sz="1900" b="1">
                <a:solidFill>
                  <a:srgbClr val="1B5E6B"/>
                </a:solidFill>
                <a:latin typeface="Bricolage Grotesque"/>
              </a:rPr>
              <a:t>2.  </a:t>
            </a:r>
            <a:r>
              <a:rPr sz="1900">
                <a:solidFill>
                  <a:srgbClr val="333333"/>
                </a:solidFill>
                <a:latin typeface="Bricolage Grotesque"/>
              </a:rPr>
              <a:t>Merge : 5 entrées, mode Append. Puis Filter sur 7 jours (isoDate).</a:t>
            </a:r>
          </a:p>
        </p:txBody>
      </p:sp>
      <p:sp>
        <p:nvSpPr>
          <p:cNvPr id="14" name="TextBox 13"/>
          <p:cNvSpPr txBox="1"/>
          <p:nvPr/>
        </p:nvSpPr>
        <p:spPr>
          <a:xfrm>
            <a:off x="640080" y="3877056"/>
            <a:ext cx="10881360" cy="411480"/>
          </a:xfrm>
          <a:prstGeom prst="rect">
            <a:avLst/>
          </a:prstGeom>
          <a:noFill/>
        </p:spPr>
        <p:txBody>
          <a:bodyPr wrap="square">
            <a:spAutoFit/>
          </a:bodyPr>
          <a:lstStyle/>
          <a:p>
            <a:r>
              <a:rPr sz="1900" b="1">
                <a:solidFill>
                  <a:srgbClr val="1B5E6B"/>
                </a:solidFill>
                <a:latin typeface="Bricolage Grotesque"/>
              </a:rPr>
              <a:t>3.  </a:t>
            </a:r>
            <a:r>
              <a:rPr sz="1900">
                <a:solidFill>
                  <a:srgbClr val="333333"/>
                </a:solidFill>
                <a:latin typeface="Bricolage Grotesque"/>
              </a:rPr>
              <a:t>Remove Duplicates par lien, puis Aggregate en un seul paquet.</a:t>
            </a:r>
          </a:p>
        </p:txBody>
      </p:sp>
      <p:sp>
        <p:nvSpPr>
          <p:cNvPr id="15" name="TextBox 14"/>
          <p:cNvSpPr txBox="1"/>
          <p:nvPr/>
        </p:nvSpPr>
        <p:spPr>
          <a:xfrm>
            <a:off x="640080" y="4398264"/>
            <a:ext cx="10881360" cy="411480"/>
          </a:xfrm>
          <a:prstGeom prst="rect">
            <a:avLst/>
          </a:prstGeom>
          <a:noFill/>
        </p:spPr>
        <p:txBody>
          <a:bodyPr wrap="square">
            <a:spAutoFit/>
          </a:bodyPr>
          <a:lstStyle/>
          <a:p>
            <a:r>
              <a:rPr sz="1900" b="1">
                <a:solidFill>
                  <a:srgbClr val="1B5E6B"/>
                </a:solidFill>
                <a:latin typeface="Bricolage Grotesque"/>
              </a:rPr>
              <a:t>4.  </a:t>
            </a:r>
            <a:r>
              <a:rPr sz="1900">
                <a:solidFill>
                  <a:srgbClr val="333333"/>
                </a:solidFill>
                <a:latin typeface="Bricolage Grotesque"/>
              </a:rPr>
              <a:t>Basic LLM Chain avec le modèle Claude et le prompt de la synthèse.</a:t>
            </a:r>
          </a:p>
        </p:txBody>
      </p:sp>
      <p:sp>
        <p:nvSpPr>
          <p:cNvPr id="16" name="TextBox 15"/>
          <p:cNvSpPr txBox="1"/>
          <p:nvPr/>
        </p:nvSpPr>
        <p:spPr>
          <a:xfrm>
            <a:off x="640080" y="4919472"/>
            <a:ext cx="10881360" cy="411480"/>
          </a:xfrm>
          <a:prstGeom prst="rect">
            <a:avLst/>
          </a:prstGeom>
          <a:noFill/>
        </p:spPr>
        <p:txBody>
          <a:bodyPr wrap="square">
            <a:spAutoFit/>
          </a:bodyPr>
          <a:lstStyle/>
          <a:p>
            <a:r>
              <a:rPr sz="1900" b="1">
                <a:solidFill>
                  <a:srgbClr val="1B5E6B"/>
                </a:solidFill>
                <a:latin typeface="Bricolage Grotesque"/>
              </a:rPr>
              <a:t>5.  </a:t>
            </a:r>
            <a:r>
              <a:rPr sz="1900">
                <a:solidFill>
                  <a:srgbClr val="333333"/>
                </a:solidFill>
                <a:latin typeface="Bricolage Grotesque"/>
              </a:rPr>
              <a:t>Telegram : envoie le résultat à ton bot. Puis le Schedule du lundi.</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1965960"/>
            <a:ext cx="2743200" cy="36576"/>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515600" cy="731520"/>
          </a:xfrm>
          <a:prstGeom prst="rect">
            <a:avLst/>
          </a:prstGeom>
          <a:noFill/>
        </p:spPr>
        <p:txBody>
          <a:bodyPr wrap="square">
            <a:spAutoFit/>
          </a:bodyPr>
          <a:lstStyle/>
          <a:p>
            <a:pPr algn="l"/>
            <a:r>
              <a:rPr sz="2200" b="1">
                <a:solidFill>
                  <a:srgbClr val="E8A000"/>
                </a:solidFill>
                <a:latin typeface="Bricolage Grotesque"/>
              </a:rPr>
              <a:t>Séquence 5</a:t>
            </a:r>
          </a:p>
        </p:txBody>
      </p:sp>
      <p:sp>
        <p:nvSpPr>
          <p:cNvPr id="5" name="TextBox 4"/>
          <p:cNvSpPr txBox="1"/>
          <p:nvPr/>
        </p:nvSpPr>
        <p:spPr>
          <a:xfrm>
            <a:off x="640080" y="2286000"/>
            <a:ext cx="10698480" cy="1645920"/>
          </a:xfrm>
          <a:prstGeom prst="rect">
            <a:avLst/>
          </a:prstGeom>
          <a:noFill/>
        </p:spPr>
        <p:txBody>
          <a:bodyPr wrap="square">
            <a:spAutoFit/>
          </a:bodyPr>
          <a:lstStyle/>
          <a:p>
            <a:pPr algn="l"/>
            <a:r>
              <a:rPr sz="4200" b="1">
                <a:solidFill>
                  <a:srgbClr val="FFFFFF"/>
                </a:solidFill>
                <a:latin typeface="Bricolage Grotesque"/>
              </a:rPr>
              <a:t>La même veille avec Claude</a:t>
            </a:r>
          </a:p>
        </p:txBody>
      </p:sp>
      <p:sp>
        <p:nvSpPr>
          <p:cNvPr id="6" name="TextBox 5"/>
          <p:cNvSpPr txBox="1"/>
          <p:nvPr/>
        </p:nvSpPr>
        <p:spPr>
          <a:xfrm>
            <a:off x="640080" y="4023360"/>
            <a:ext cx="10515600" cy="731520"/>
          </a:xfrm>
          <a:prstGeom prst="rect">
            <a:avLst/>
          </a:prstGeom>
          <a:noFill/>
        </p:spPr>
        <p:txBody>
          <a:bodyPr wrap="square">
            <a:spAutoFit/>
          </a:bodyPr>
          <a:lstStyle/>
          <a:p>
            <a:pPr algn="l"/>
            <a:r>
              <a:rPr sz="2000" b="0">
                <a:solidFill>
                  <a:srgbClr val="5A8A8F"/>
                </a:solidFill>
                <a:latin typeface="Bricolage Grotesque"/>
              </a:rPr>
              <a:t>Version 2 : un skill qui cherche sur le web</a:t>
            </a:r>
          </a:p>
        </p:txBody>
      </p:sp>
      <p:pic>
        <p:nvPicPr>
          <p:cNvPr id="7" name="Picture 6" descr="ia-round.png"/>
          <p:cNvPicPr>
            <a:picLocks noChangeAspect="1"/>
          </p:cNvPicPr>
          <p:nvPr/>
        </p:nvPicPr>
        <p:blipFill>
          <a:blip r:embed="rId2"/>
          <a:stretch>
            <a:fillRect/>
          </a:stretch>
        </p:blipFill>
        <p:spPr>
          <a:xfrm>
            <a:off x="457200" y="6217920"/>
            <a:ext cx="320040" cy="320040"/>
          </a:xfrm>
          <a:prstGeom prst="rect">
            <a:avLst/>
          </a:prstGeom>
        </p:spPr>
      </p:pic>
      <p:sp>
        <p:nvSpPr>
          <p:cNvPr id="8" name="TextBox 7"/>
          <p:cNvSpPr txBox="1"/>
          <p:nvPr/>
        </p:nvSpPr>
        <p:spPr>
          <a:xfrm>
            <a:off x="868680" y="6199632"/>
            <a:ext cx="3657600" cy="365760"/>
          </a:xfrm>
          <a:prstGeom prst="rect">
            <a:avLst/>
          </a:prstGeom>
          <a:noFill/>
        </p:spPr>
        <p:txBody>
          <a:bodyPr wrap="square">
            <a:spAutoFit/>
          </a:bodyPr>
          <a:lstStyle/>
          <a:p>
            <a:pPr algn="l"/>
            <a:r>
              <a:rPr sz="1400" b="0">
                <a:solidFill>
                  <a:srgbClr val="FFFFFF"/>
                </a:solidFill>
                <a:latin typeface="Bricolage Grotesque"/>
              </a:rPr>
              <a:t>intelligence academy</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n8n ou Claude ?</a:t>
            </a:r>
          </a:p>
        </p:txBody>
      </p:sp>
      <p:sp>
        <p:nvSpPr>
          <p:cNvPr id="5" name="TextBox 4"/>
          <p:cNvSpPr txBox="1"/>
          <p:nvPr/>
        </p:nvSpPr>
        <p:spPr>
          <a:xfrm>
            <a:off x="640080" y="1463040"/>
            <a:ext cx="10515600" cy="640080"/>
          </a:xfrm>
          <a:prstGeom prst="rect">
            <a:avLst/>
          </a:prstGeom>
          <a:noFill/>
        </p:spPr>
        <p:txBody>
          <a:bodyPr wrap="square">
            <a:spAutoFit/>
          </a:bodyPr>
          <a:lstStyle/>
          <a:p>
            <a:pPr algn="l"/>
            <a:r>
              <a:rPr sz="2600" b="1">
                <a:solidFill>
                  <a:srgbClr val="1A1A1A"/>
                </a:solidFill>
                <a:latin typeface="Bricolage Grotesque"/>
              </a:rPr>
              <a:t>Deux outils de ton parcours, deux logiques</a:t>
            </a:r>
          </a:p>
        </p:txBody>
      </p:sp>
      <p:sp>
        <p:nvSpPr>
          <p:cNvPr id="6" name="Rectangle 5"/>
          <p:cNvSpPr/>
          <p:nvPr/>
        </p:nvSpPr>
        <p:spPr>
          <a:xfrm>
            <a:off x="5897880" y="2286000"/>
            <a:ext cx="27432" cy="2450592"/>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2286000"/>
            <a:ext cx="5029200" cy="411480"/>
          </a:xfrm>
          <a:prstGeom prst="rect">
            <a:avLst/>
          </a:prstGeom>
          <a:noFill/>
        </p:spPr>
        <p:txBody>
          <a:bodyPr wrap="square">
            <a:spAutoFit/>
          </a:bodyPr>
          <a:lstStyle/>
          <a:p>
            <a:pPr algn="l"/>
            <a:r>
              <a:rPr sz="2100" b="1">
                <a:solidFill>
                  <a:srgbClr val="1B5E6B"/>
                </a:solidFill>
                <a:latin typeface="Bricolage Grotesque"/>
              </a:rPr>
              <a:t>Le workflow n8n</a:t>
            </a:r>
          </a:p>
        </p:txBody>
      </p:sp>
      <p:sp>
        <p:nvSpPr>
          <p:cNvPr id="8" name="TextBox 7"/>
          <p:cNvSpPr txBox="1"/>
          <p:nvPr/>
        </p:nvSpPr>
        <p:spPr>
          <a:xfrm>
            <a:off x="640080" y="2880360"/>
            <a:ext cx="5120640" cy="384048"/>
          </a:xfrm>
          <a:prstGeom prst="rect">
            <a:avLst/>
          </a:prstGeom>
          <a:noFill/>
        </p:spPr>
        <p:txBody>
          <a:bodyPr wrap="square">
            <a:spAutoFit/>
          </a:bodyPr>
          <a:lstStyle/>
          <a:p>
            <a:pPr algn="l"/>
            <a:r>
              <a:rPr sz="1800" b="0">
                <a:solidFill>
                  <a:srgbClr val="333333"/>
                </a:solidFill>
                <a:latin typeface="Bricolage Grotesque"/>
              </a:rPr>
              <a:t>Sources fixes : tes 5 flux RSS</a:t>
            </a:r>
          </a:p>
        </p:txBody>
      </p:sp>
      <p:sp>
        <p:nvSpPr>
          <p:cNvPr id="9" name="TextBox 8"/>
          <p:cNvSpPr txBox="1"/>
          <p:nvPr/>
        </p:nvSpPr>
        <p:spPr>
          <a:xfrm>
            <a:off x="640080" y="3355848"/>
            <a:ext cx="5120640" cy="384048"/>
          </a:xfrm>
          <a:prstGeom prst="rect">
            <a:avLst/>
          </a:prstGeom>
          <a:noFill/>
        </p:spPr>
        <p:txBody>
          <a:bodyPr wrap="square">
            <a:spAutoFit/>
          </a:bodyPr>
          <a:lstStyle/>
          <a:p>
            <a:pPr algn="l"/>
            <a:r>
              <a:rPr sz="1800" b="0">
                <a:solidFill>
                  <a:srgbClr val="333333"/>
                </a:solidFill>
                <a:latin typeface="Bricolage Grotesque"/>
              </a:rPr>
              <a:t>Tourne seul sur ton serveur</a:t>
            </a:r>
          </a:p>
        </p:txBody>
      </p:sp>
      <p:sp>
        <p:nvSpPr>
          <p:cNvPr id="10" name="TextBox 9"/>
          <p:cNvSpPr txBox="1"/>
          <p:nvPr/>
        </p:nvSpPr>
        <p:spPr>
          <a:xfrm>
            <a:off x="640080" y="3831335"/>
            <a:ext cx="5120640" cy="384048"/>
          </a:xfrm>
          <a:prstGeom prst="rect">
            <a:avLst/>
          </a:prstGeom>
          <a:noFill/>
        </p:spPr>
        <p:txBody>
          <a:bodyPr wrap="square">
            <a:spAutoFit/>
          </a:bodyPr>
          <a:lstStyle/>
          <a:p>
            <a:pPr algn="l"/>
            <a:r>
              <a:rPr sz="1800" b="0">
                <a:solidFill>
                  <a:srgbClr val="333333"/>
                </a:solidFill>
                <a:latin typeface="Bricolage Grotesque"/>
              </a:rPr>
              <a:t>Même format chaque lundi</a:t>
            </a:r>
          </a:p>
        </p:txBody>
      </p:sp>
      <p:sp>
        <p:nvSpPr>
          <p:cNvPr id="11" name="TextBox 10"/>
          <p:cNvSpPr txBox="1"/>
          <p:nvPr/>
        </p:nvSpPr>
        <p:spPr>
          <a:xfrm>
            <a:off x="640080" y="4306823"/>
            <a:ext cx="5120640" cy="384048"/>
          </a:xfrm>
          <a:prstGeom prst="rect">
            <a:avLst/>
          </a:prstGeom>
          <a:noFill/>
        </p:spPr>
        <p:txBody>
          <a:bodyPr wrap="square">
            <a:spAutoFit/>
          </a:bodyPr>
          <a:lstStyle/>
          <a:p>
            <a:pPr algn="l"/>
            <a:r>
              <a:rPr sz="1800" b="0">
                <a:solidFill>
                  <a:srgbClr val="333333"/>
                </a:solidFill>
                <a:latin typeface="Bricolage Grotesque"/>
              </a:rPr>
              <a:t>Ne voit que ce que les flux donnent</a:t>
            </a:r>
          </a:p>
        </p:txBody>
      </p:sp>
      <p:sp>
        <p:nvSpPr>
          <p:cNvPr id="12" name="TextBox 11"/>
          <p:cNvSpPr txBox="1"/>
          <p:nvPr/>
        </p:nvSpPr>
        <p:spPr>
          <a:xfrm>
            <a:off x="6172200" y="2286000"/>
            <a:ext cx="5029200" cy="411480"/>
          </a:xfrm>
          <a:prstGeom prst="rect">
            <a:avLst/>
          </a:prstGeom>
          <a:noFill/>
        </p:spPr>
        <p:txBody>
          <a:bodyPr wrap="square">
            <a:spAutoFit/>
          </a:bodyPr>
          <a:lstStyle/>
          <a:p>
            <a:pPr algn="l"/>
            <a:r>
              <a:rPr sz="2100" b="1">
                <a:solidFill>
                  <a:srgbClr val="1B5E6B"/>
                </a:solidFill>
                <a:latin typeface="Bricolage Grotesque"/>
              </a:rPr>
              <a:t>Le skill Claude</a:t>
            </a:r>
          </a:p>
        </p:txBody>
      </p:sp>
      <p:sp>
        <p:nvSpPr>
          <p:cNvPr id="13" name="TextBox 12"/>
          <p:cNvSpPr txBox="1"/>
          <p:nvPr/>
        </p:nvSpPr>
        <p:spPr>
          <a:xfrm>
            <a:off x="6172200" y="2880360"/>
            <a:ext cx="5120640" cy="384048"/>
          </a:xfrm>
          <a:prstGeom prst="rect">
            <a:avLst/>
          </a:prstGeom>
          <a:noFill/>
        </p:spPr>
        <p:txBody>
          <a:bodyPr wrap="square">
            <a:spAutoFit/>
          </a:bodyPr>
          <a:lstStyle/>
          <a:p>
            <a:pPr algn="l"/>
            <a:r>
              <a:rPr sz="1800" b="0">
                <a:solidFill>
                  <a:srgbClr val="333333"/>
                </a:solidFill>
                <a:latin typeface="Bricolage Grotesque"/>
              </a:rPr>
              <a:t>Cherche sur tout le web</a:t>
            </a:r>
          </a:p>
        </p:txBody>
      </p:sp>
      <p:sp>
        <p:nvSpPr>
          <p:cNvPr id="14" name="TextBox 13"/>
          <p:cNvSpPr txBox="1"/>
          <p:nvPr/>
        </p:nvSpPr>
        <p:spPr>
          <a:xfrm>
            <a:off x="6172200" y="3355848"/>
            <a:ext cx="5120640" cy="384048"/>
          </a:xfrm>
          <a:prstGeom prst="rect">
            <a:avLst/>
          </a:prstGeom>
          <a:noFill/>
        </p:spPr>
        <p:txBody>
          <a:bodyPr wrap="square">
            <a:spAutoFit/>
          </a:bodyPr>
          <a:lstStyle/>
          <a:p>
            <a:pPr algn="l"/>
            <a:r>
              <a:rPr sz="1800" b="0">
                <a:solidFill>
                  <a:srgbClr val="333333"/>
                </a:solidFill>
                <a:latin typeface="Bricolage Grotesque"/>
              </a:rPr>
              <a:t>Relie les faits entre eux</a:t>
            </a:r>
          </a:p>
        </p:txBody>
      </p:sp>
      <p:sp>
        <p:nvSpPr>
          <p:cNvPr id="15" name="TextBox 14"/>
          <p:cNvSpPr txBox="1"/>
          <p:nvPr/>
        </p:nvSpPr>
        <p:spPr>
          <a:xfrm>
            <a:off x="6172200" y="3831335"/>
            <a:ext cx="5120640" cy="384048"/>
          </a:xfrm>
          <a:prstGeom prst="rect">
            <a:avLst/>
          </a:prstGeom>
          <a:noFill/>
        </p:spPr>
        <p:txBody>
          <a:bodyPr wrap="square">
            <a:spAutoFit/>
          </a:bodyPr>
          <a:lstStyle/>
          <a:p>
            <a:pPr algn="l"/>
            <a:r>
              <a:rPr sz="1800" b="0">
                <a:solidFill>
                  <a:srgbClr val="333333"/>
                </a:solidFill>
                <a:latin typeface="Bricolage Grotesque"/>
              </a:rPr>
              <a:t>Format qui peut varier</a:t>
            </a:r>
          </a:p>
        </p:txBody>
      </p:sp>
      <p:sp>
        <p:nvSpPr>
          <p:cNvPr id="16" name="TextBox 15"/>
          <p:cNvSpPr txBox="1"/>
          <p:nvPr/>
        </p:nvSpPr>
        <p:spPr>
          <a:xfrm>
            <a:off x="6172200" y="4306823"/>
            <a:ext cx="5120640" cy="384048"/>
          </a:xfrm>
          <a:prstGeom prst="rect">
            <a:avLst/>
          </a:prstGeom>
          <a:noFill/>
        </p:spPr>
        <p:txBody>
          <a:bodyPr wrap="square">
            <a:spAutoFit/>
          </a:bodyPr>
          <a:lstStyle/>
          <a:p>
            <a:pPr algn="l"/>
            <a:r>
              <a:rPr sz="1800" b="0">
                <a:solidFill>
                  <a:srgbClr val="333333"/>
                </a:solidFill>
                <a:latin typeface="Bricolage Grotesque"/>
              </a:rPr>
              <a:t>Sources à vérifier une par une</a:t>
            </a:r>
          </a:p>
        </p:txBody>
      </p:sp>
      <p:sp>
        <p:nvSpPr>
          <p:cNvPr id="17" name="TextBox 16"/>
          <p:cNvSpPr txBox="1"/>
          <p:nvPr/>
        </p:nvSpPr>
        <p:spPr>
          <a:xfrm>
            <a:off x="640080" y="4919472"/>
            <a:ext cx="10881360" cy="411480"/>
          </a:xfrm>
          <a:prstGeom prst="rect">
            <a:avLst/>
          </a:prstGeom>
          <a:noFill/>
        </p:spPr>
        <p:txBody>
          <a:bodyPr wrap="square">
            <a:spAutoFit/>
          </a:bodyPr>
          <a:lstStyle/>
          <a:p>
            <a:pPr algn="l"/>
            <a:r>
              <a:rPr sz="1800" b="1">
                <a:solidFill>
                  <a:srgbClr val="E8A000"/>
                </a:solidFill>
                <a:latin typeface="Bricolage Grotesque"/>
              </a:rPr>
              <a:t>Le meilleur des deux : n8n collecte, Claude synthétise. C'est ton workflow.</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Exercice · Le skill « veille-concurrents »</a:t>
            </a:r>
          </a:p>
        </p:txBody>
      </p:sp>
      <p:sp>
        <p:nvSpPr>
          <p:cNvPr id="5" name="Rounded Rectangle 4"/>
          <p:cNvSpPr/>
          <p:nvPr/>
        </p:nvSpPr>
        <p:spPr>
          <a:xfrm>
            <a:off x="640080" y="1417320"/>
            <a:ext cx="10881360" cy="1143000"/>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508760"/>
            <a:ext cx="4023359" cy="320040"/>
          </a:xfrm>
          <a:prstGeom prst="rect">
            <a:avLst/>
          </a:prstGeom>
          <a:noFill/>
        </p:spPr>
        <p:txBody>
          <a:bodyPr wrap="square">
            <a:spAutoFit/>
          </a:bodyPr>
          <a:lstStyle/>
          <a:p>
            <a:pPr algn="l"/>
            <a:r>
              <a:rPr sz="1400" b="1">
                <a:solidFill>
                  <a:srgbClr val="E8A000"/>
                </a:solidFill>
                <a:latin typeface="Bricolage Grotesque"/>
              </a:rPr>
              <a:t>OBJECTIF</a:t>
            </a:r>
          </a:p>
        </p:txBody>
      </p:sp>
      <p:sp>
        <p:nvSpPr>
          <p:cNvPr id="7" name="TextBox 6"/>
          <p:cNvSpPr txBox="1"/>
          <p:nvPr/>
        </p:nvSpPr>
        <p:spPr>
          <a:xfrm>
            <a:off x="868680" y="1810512"/>
            <a:ext cx="4023359" cy="685800"/>
          </a:xfrm>
          <a:prstGeom prst="rect">
            <a:avLst/>
          </a:prstGeom>
          <a:noFill/>
        </p:spPr>
        <p:txBody>
          <a:bodyPr wrap="square">
            <a:spAutoFit/>
          </a:bodyPr>
          <a:lstStyle/>
          <a:p>
            <a:pPr algn="l"/>
            <a:r>
              <a:rPr sz="1600" b="0">
                <a:solidFill>
                  <a:srgbClr val="1A1A1A"/>
                </a:solidFill>
                <a:latin typeface="Bricolage Grotesque"/>
              </a:rPr>
              <a:t>La même synthèse, produite par Claude seul</a:t>
            </a:r>
          </a:p>
        </p:txBody>
      </p:sp>
      <p:sp>
        <p:nvSpPr>
          <p:cNvPr id="8" name="TextBox 7"/>
          <p:cNvSpPr txBox="1"/>
          <p:nvPr/>
        </p:nvSpPr>
        <p:spPr>
          <a:xfrm>
            <a:off x="5074920" y="1508760"/>
            <a:ext cx="4389120" cy="320040"/>
          </a:xfrm>
          <a:prstGeom prst="rect">
            <a:avLst/>
          </a:prstGeom>
          <a:noFill/>
        </p:spPr>
        <p:txBody>
          <a:bodyPr wrap="square">
            <a:spAutoFit/>
          </a:bodyPr>
          <a:lstStyle/>
          <a:p>
            <a:pPr algn="l"/>
            <a:r>
              <a:rPr sz="1400" b="1">
                <a:solidFill>
                  <a:srgbClr val="E8A000"/>
                </a:solidFill>
                <a:latin typeface="Bricolage Grotesque"/>
              </a:rPr>
              <a:t>LIVRABLE</a:t>
            </a:r>
          </a:p>
        </p:txBody>
      </p:sp>
      <p:sp>
        <p:nvSpPr>
          <p:cNvPr id="9" name="TextBox 8"/>
          <p:cNvSpPr txBox="1"/>
          <p:nvPr/>
        </p:nvSpPr>
        <p:spPr>
          <a:xfrm>
            <a:off x="5074920" y="1810512"/>
            <a:ext cx="4389120" cy="685800"/>
          </a:xfrm>
          <a:prstGeom prst="rect">
            <a:avLst/>
          </a:prstGeom>
          <a:noFill/>
        </p:spPr>
        <p:txBody>
          <a:bodyPr wrap="square">
            <a:spAutoFit/>
          </a:bodyPr>
          <a:lstStyle/>
          <a:p>
            <a:pPr algn="l"/>
            <a:r>
              <a:rPr sz="1600" b="0">
                <a:solidFill>
                  <a:srgbClr val="1A1A1A"/>
                </a:solidFill>
                <a:latin typeface="Bricolage Grotesque"/>
              </a:rPr>
              <a:t>Un skill dans Claude Code et son premier rapport</a:t>
            </a:r>
          </a:p>
        </p:txBody>
      </p:sp>
      <p:sp>
        <p:nvSpPr>
          <p:cNvPr id="10" name="TextBox 9"/>
          <p:cNvSpPr txBox="1"/>
          <p:nvPr/>
        </p:nvSpPr>
        <p:spPr>
          <a:xfrm>
            <a:off x="9646920" y="1508760"/>
            <a:ext cx="1554480" cy="320040"/>
          </a:xfrm>
          <a:prstGeom prst="rect">
            <a:avLst/>
          </a:prstGeom>
          <a:noFill/>
        </p:spPr>
        <p:txBody>
          <a:bodyPr wrap="square">
            <a:spAutoFit/>
          </a:bodyPr>
          <a:lstStyle/>
          <a:p>
            <a:pPr algn="l"/>
            <a:r>
              <a:rPr sz="1400" b="1">
                <a:solidFill>
                  <a:srgbClr val="E8A000"/>
                </a:solidFill>
                <a:latin typeface="Bricolage Grotesque"/>
              </a:rPr>
              <a:t>DURÉE</a:t>
            </a:r>
          </a:p>
        </p:txBody>
      </p:sp>
      <p:sp>
        <p:nvSpPr>
          <p:cNvPr id="11" name="TextBox 10"/>
          <p:cNvSpPr txBox="1"/>
          <p:nvPr/>
        </p:nvSpPr>
        <p:spPr>
          <a:xfrm>
            <a:off x="9646920" y="1810512"/>
            <a:ext cx="1554480" cy="685800"/>
          </a:xfrm>
          <a:prstGeom prst="rect">
            <a:avLst/>
          </a:prstGeom>
          <a:noFill/>
        </p:spPr>
        <p:txBody>
          <a:bodyPr wrap="square">
            <a:spAutoFit/>
          </a:bodyPr>
          <a:lstStyle/>
          <a:p>
            <a:pPr algn="l"/>
            <a:r>
              <a:rPr sz="1600" b="0">
                <a:solidFill>
                  <a:srgbClr val="1A1A1A"/>
                </a:solidFill>
                <a:latin typeface="Bricolage Grotesque"/>
              </a:rPr>
              <a:t>15 min</a:t>
            </a:r>
          </a:p>
        </p:txBody>
      </p:sp>
      <p:sp>
        <p:nvSpPr>
          <p:cNvPr id="12" name="TextBox 11"/>
          <p:cNvSpPr txBox="1"/>
          <p:nvPr/>
        </p:nvSpPr>
        <p:spPr>
          <a:xfrm>
            <a:off x="640080" y="2834640"/>
            <a:ext cx="10881360" cy="411480"/>
          </a:xfrm>
          <a:prstGeom prst="rect">
            <a:avLst/>
          </a:prstGeom>
          <a:noFill/>
        </p:spPr>
        <p:txBody>
          <a:bodyPr wrap="square">
            <a:spAutoFit/>
          </a:bodyPr>
          <a:lstStyle/>
          <a:p>
            <a:r>
              <a:rPr sz="1900" b="1">
                <a:solidFill>
                  <a:srgbClr val="1B5E6B"/>
                </a:solidFill>
                <a:latin typeface="Bricolage Grotesque"/>
              </a:rPr>
              <a:t>1.  </a:t>
            </a:r>
            <a:r>
              <a:rPr sz="1900">
                <a:solidFill>
                  <a:srgbClr val="333333"/>
                </a:solidFill>
                <a:latin typeface="Bricolage Grotesque"/>
              </a:rPr>
              <a:t>Dans Claude Code, demande-lui de créer le skill « veille-concurrents ».</a:t>
            </a:r>
          </a:p>
        </p:txBody>
      </p:sp>
      <p:sp>
        <p:nvSpPr>
          <p:cNvPr id="13" name="TextBox 12"/>
          <p:cNvSpPr txBox="1"/>
          <p:nvPr/>
        </p:nvSpPr>
        <p:spPr>
          <a:xfrm>
            <a:off x="640080" y="3355848"/>
            <a:ext cx="10881360" cy="411480"/>
          </a:xfrm>
          <a:prstGeom prst="rect">
            <a:avLst/>
          </a:prstGeom>
          <a:noFill/>
        </p:spPr>
        <p:txBody>
          <a:bodyPr wrap="square">
            <a:spAutoFit/>
          </a:bodyPr>
          <a:lstStyle/>
          <a:p>
            <a:r>
              <a:rPr sz="1900" b="1">
                <a:solidFill>
                  <a:srgbClr val="1B5E6B"/>
                </a:solidFill>
                <a:latin typeface="Bricolage Grotesque"/>
              </a:rPr>
              <a:t>2.  </a:t>
            </a:r>
            <a:r>
              <a:rPr sz="1900">
                <a:solidFill>
                  <a:srgbClr val="333333"/>
                </a:solidFill>
                <a:latin typeface="Bricolage Grotesque"/>
              </a:rPr>
              <a:t>Donne les 5 concurrents, les 4 types de faits et le format du rapport.</a:t>
            </a:r>
          </a:p>
        </p:txBody>
      </p:sp>
      <p:sp>
        <p:nvSpPr>
          <p:cNvPr id="14" name="TextBox 13"/>
          <p:cNvSpPr txBox="1"/>
          <p:nvPr/>
        </p:nvSpPr>
        <p:spPr>
          <a:xfrm>
            <a:off x="640080" y="3877056"/>
            <a:ext cx="10881360" cy="411480"/>
          </a:xfrm>
          <a:prstGeom prst="rect">
            <a:avLst/>
          </a:prstGeom>
          <a:noFill/>
        </p:spPr>
        <p:txBody>
          <a:bodyPr wrap="square">
            <a:spAutoFit/>
          </a:bodyPr>
          <a:lstStyle/>
          <a:p>
            <a:r>
              <a:rPr sz="1900" b="1">
                <a:solidFill>
                  <a:srgbClr val="1B5E6B"/>
                </a:solidFill>
                <a:latin typeface="Bricolage Grotesque"/>
              </a:rPr>
              <a:t>3.  </a:t>
            </a:r>
            <a:r>
              <a:rPr sz="1900">
                <a:solidFill>
                  <a:srgbClr val="333333"/>
                </a:solidFill>
                <a:latin typeface="Bricolage Grotesque"/>
              </a:rPr>
              <a:t>Exige un lien et une date par fait, sur les 7 derniers jours.</a:t>
            </a:r>
          </a:p>
        </p:txBody>
      </p:sp>
      <p:sp>
        <p:nvSpPr>
          <p:cNvPr id="15" name="TextBox 14"/>
          <p:cNvSpPr txBox="1"/>
          <p:nvPr/>
        </p:nvSpPr>
        <p:spPr>
          <a:xfrm>
            <a:off x="640080" y="4398264"/>
            <a:ext cx="10881360" cy="411480"/>
          </a:xfrm>
          <a:prstGeom prst="rect">
            <a:avLst/>
          </a:prstGeom>
          <a:noFill/>
        </p:spPr>
        <p:txBody>
          <a:bodyPr wrap="square">
            <a:spAutoFit/>
          </a:bodyPr>
          <a:lstStyle/>
          <a:p>
            <a:r>
              <a:rPr sz="1900" b="1">
                <a:solidFill>
                  <a:srgbClr val="1B5E6B"/>
                </a:solidFill>
                <a:latin typeface="Bricolage Grotesque"/>
              </a:rPr>
              <a:t>4.  </a:t>
            </a:r>
            <a:r>
              <a:rPr sz="1900">
                <a:solidFill>
                  <a:srgbClr val="333333"/>
                </a:solidFill>
                <a:latin typeface="Bricolage Grotesque"/>
              </a:rPr>
              <a:t>Lance-le et compare avec n8n : ce qu'il trouve en plus, ce qui est faux.</a:t>
            </a:r>
          </a:p>
        </p:txBody>
      </p:sp>
      <p:sp>
        <p:nvSpPr>
          <p:cNvPr id="16" name="TextBox 15"/>
          <p:cNvSpPr txBox="1"/>
          <p:nvPr/>
        </p:nvSpPr>
        <p:spPr>
          <a:xfrm>
            <a:off x="640080" y="4919472"/>
            <a:ext cx="10881360" cy="411480"/>
          </a:xfrm>
          <a:prstGeom prst="rect">
            <a:avLst/>
          </a:prstGeom>
          <a:noFill/>
        </p:spPr>
        <p:txBody>
          <a:bodyPr wrap="square">
            <a:spAutoFit/>
          </a:bodyPr>
          <a:lstStyle/>
          <a:p>
            <a:r>
              <a:rPr sz="1900" b="1">
                <a:solidFill>
                  <a:srgbClr val="1B5E6B"/>
                </a:solidFill>
                <a:latin typeface="Bricolage Grotesque"/>
              </a:rPr>
              <a:t>5.  </a:t>
            </a:r>
            <a:r>
              <a:rPr sz="1900">
                <a:solidFill>
                  <a:srgbClr val="333333"/>
                </a:solidFill>
                <a:latin typeface="Bricolage Grotesque"/>
              </a:rPr>
              <a:t>Planifie-le chaque lundi, si ton abonnement Claude le permet.</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914400"/>
            <a:ext cx="10515600" cy="731520"/>
          </a:xfrm>
          <a:prstGeom prst="rect">
            <a:avLst/>
          </a:prstGeom>
          <a:noFill/>
        </p:spPr>
        <p:txBody>
          <a:bodyPr wrap="square">
            <a:spAutoFit/>
          </a:bodyPr>
          <a:lstStyle/>
          <a:p>
            <a:pPr algn="l"/>
            <a:r>
              <a:rPr sz="3600" b="1">
                <a:solidFill>
                  <a:srgbClr val="E8A000"/>
                </a:solidFill>
                <a:latin typeface="Bricolage Grotesque"/>
              </a:rPr>
              <a:t>À retenir</a:t>
            </a:r>
          </a:p>
        </p:txBody>
      </p:sp>
      <p:sp>
        <p:nvSpPr>
          <p:cNvPr id="4" name="TextBox 3"/>
          <p:cNvSpPr txBox="1"/>
          <p:nvPr/>
        </p:nvSpPr>
        <p:spPr>
          <a:xfrm>
            <a:off x="640080" y="1645920"/>
            <a:ext cx="10515600" cy="548640"/>
          </a:xfrm>
          <a:prstGeom prst="rect">
            <a:avLst/>
          </a:prstGeom>
          <a:noFill/>
        </p:spPr>
        <p:txBody>
          <a:bodyPr wrap="square">
            <a:spAutoFit/>
          </a:bodyPr>
          <a:lstStyle/>
          <a:p>
            <a:pPr algn="l"/>
            <a:r>
              <a:rPr sz="1800" b="0">
                <a:solidFill>
                  <a:srgbClr val="5A8A8F"/>
                </a:solidFill>
                <a:latin typeface="Bricolage Grotesque"/>
              </a:rPr>
              <a:t>Séance 2 : un prospect, une veille</a:t>
            </a:r>
          </a:p>
        </p:txBody>
      </p:sp>
      <p:sp>
        <p:nvSpPr>
          <p:cNvPr id="5" name="Rectangle 4"/>
          <p:cNvSpPr/>
          <p:nvPr/>
        </p:nvSpPr>
        <p:spPr>
          <a:xfrm>
            <a:off x="640080" y="2286000"/>
            <a:ext cx="2743200" cy="27432"/>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2651760"/>
            <a:ext cx="10881360" cy="3383280"/>
          </a:xfrm>
          <a:prstGeom prst="rect">
            <a:avLst/>
          </a:prstGeom>
          <a:noFill/>
        </p:spPr>
        <p:txBody>
          <a:bodyPr wrap="square">
            <a:spAutoFit/>
          </a:bodyPr>
          <a:lstStyle/>
          <a:p>
            <a:pPr>
              <a:spcBef>
                <a:spcPts val="1200"/>
              </a:spcBef>
            </a:pPr>
            <a:r>
              <a:rPr sz="2000">
                <a:solidFill>
                  <a:srgbClr val="FFFFFF"/>
                </a:solidFill>
                <a:latin typeface="Bricolage Grotesque"/>
              </a:rPr>
              <a:t>1.  Plombier : ses chiffres font le calcul, sa secrétaire reste dans le jeu.</a:t>
            </a:r>
          </a:p>
          <a:p>
            <a:pPr>
              <a:spcBef>
                <a:spcPts val="1200"/>
              </a:spcBef>
            </a:pPr>
            <a:r>
              <a:rPr sz="2000">
                <a:solidFill>
                  <a:srgbClr val="FFFFFF"/>
                </a:solidFill>
                <a:latin typeface="Bricolage Grotesque"/>
              </a:rPr>
              <a:t>2.  Ses clients appellent : le SMS les renvoie vers ton Tally.</a:t>
            </a:r>
          </a:p>
          <a:p>
            <a:pPr>
              <a:spcBef>
                <a:spcPts val="1200"/>
              </a:spcBef>
            </a:pPr>
            <a:r>
              <a:rPr sz="2000">
                <a:solidFill>
                  <a:srgbClr val="FFFFFF"/>
                </a:solidFill>
                <a:latin typeface="Bricolage Grotesque"/>
              </a:rPr>
              <a:t>3.  Veille n8n : sources fixes, même format, tourne seul.</a:t>
            </a:r>
          </a:p>
          <a:p>
            <a:pPr>
              <a:spcBef>
                <a:spcPts val="1200"/>
              </a:spcBef>
            </a:pPr>
            <a:r>
              <a:rPr sz="2000">
                <a:solidFill>
                  <a:srgbClr val="FFFFFF"/>
                </a:solidFill>
                <a:latin typeface="Bricolage Grotesque"/>
              </a:rPr>
              <a:t>4.  Veille Claude : cherche partout, à vérifier lien par lien.</a:t>
            </a:r>
          </a:p>
          <a:p>
            <a:pPr>
              <a:spcBef>
                <a:spcPts val="1200"/>
              </a:spcBef>
            </a:pPr>
            <a:r>
              <a:rPr sz="2000">
                <a:solidFill>
                  <a:srgbClr val="FFFFFF"/>
                </a:solidFill>
                <a:latin typeface="Bricolage Grotesque"/>
              </a:rPr>
              <a:t>5.  Le meilleur des deux : n8n collecte, Claude synthétise.</a:t>
            </a:r>
          </a:p>
        </p:txBody>
      </p:sp>
      <p:pic>
        <p:nvPicPr>
          <p:cNvPr id="7" name="Picture 6" descr="ia-round.png"/>
          <p:cNvPicPr>
            <a:picLocks noChangeAspect="1"/>
          </p:cNvPicPr>
          <p:nvPr/>
        </p:nvPicPr>
        <p:blipFill>
          <a:blip r:embed="rId2"/>
          <a:stretch>
            <a:fillRect/>
          </a:stretch>
        </p:blipFill>
        <p:spPr>
          <a:xfrm>
            <a:off x="457200" y="6355080"/>
            <a:ext cx="320040" cy="320040"/>
          </a:xfrm>
          <a:prstGeom prst="rect">
            <a:avLst/>
          </a:prstGeom>
        </p:spPr>
      </p:pic>
      <p:sp>
        <p:nvSpPr>
          <p:cNvPr id="8" name="TextBox 7"/>
          <p:cNvSpPr txBox="1"/>
          <p:nvPr/>
        </p:nvSpPr>
        <p:spPr>
          <a:xfrm>
            <a:off x="868680" y="6336792"/>
            <a:ext cx="3657600" cy="365760"/>
          </a:xfrm>
          <a:prstGeom prst="rect">
            <a:avLst/>
          </a:prstGeom>
          <a:noFill/>
        </p:spPr>
        <p:txBody>
          <a:bodyPr wrap="square">
            <a:spAutoFit/>
          </a:bodyPr>
          <a:lstStyle/>
          <a:p>
            <a:pPr algn="l"/>
            <a:r>
              <a:rPr sz="1400" b="0">
                <a:solidFill>
                  <a:srgbClr val="FFFFFF"/>
                </a:solidFill>
                <a:latin typeface="Bricolage Grotesque"/>
              </a:rPr>
              <a:t>intelligence academy</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Devoirs · avant la séance 3</a:t>
            </a:r>
          </a:p>
        </p:txBody>
      </p:sp>
      <p:sp>
        <p:nvSpPr>
          <p:cNvPr id="5" name="TextBox 4"/>
          <p:cNvSpPr txBox="1"/>
          <p:nvPr/>
        </p:nvSpPr>
        <p:spPr>
          <a:xfrm>
            <a:off x="640080" y="1554480"/>
            <a:ext cx="10881360" cy="411480"/>
          </a:xfrm>
          <a:prstGeom prst="rect">
            <a:avLst/>
          </a:prstGeom>
          <a:noFill/>
        </p:spPr>
        <p:txBody>
          <a:bodyPr wrap="square">
            <a:spAutoFit/>
          </a:bodyPr>
          <a:lstStyle/>
          <a:p>
            <a:r>
              <a:rPr sz="2000" b="1">
                <a:solidFill>
                  <a:srgbClr val="1B5E6B"/>
                </a:solidFill>
                <a:latin typeface="Bricolage Grotesque"/>
              </a:rPr>
              <a:t>1.  Appeler le plombier avec ta trame, et m'envoyer ses réponses.</a:t>
            </a:r>
          </a:p>
        </p:txBody>
      </p:sp>
      <p:sp>
        <p:nvSpPr>
          <p:cNvPr id="6" name="TextBox 5"/>
          <p:cNvSpPr txBox="1"/>
          <p:nvPr/>
        </p:nvSpPr>
        <p:spPr>
          <a:xfrm>
            <a:off x="640080" y="2075688"/>
            <a:ext cx="10881360" cy="411480"/>
          </a:xfrm>
          <a:prstGeom prst="rect">
            <a:avLst/>
          </a:prstGeom>
          <a:noFill/>
        </p:spPr>
        <p:txBody>
          <a:bodyPr wrap="square">
            <a:spAutoFit/>
          </a:bodyPr>
          <a:lstStyle/>
          <a:p>
            <a:r>
              <a:rPr sz="2000" b="1">
                <a:solidFill>
                  <a:srgbClr val="1B5E6B"/>
                </a:solidFill>
                <a:latin typeface="Bricolage Grotesque"/>
              </a:rPr>
              <a:t>2.  Lundi, comparer la synthèse n8n et le rapport du skill Claude.</a:t>
            </a:r>
          </a:p>
        </p:txBody>
      </p:sp>
      <p:sp>
        <p:nvSpPr>
          <p:cNvPr id="7" name="TextBox 6"/>
          <p:cNvSpPr txBox="1"/>
          <p:nvPr/>
        </p:nvSpPr>
        <p:spPr>
          <a:xfrm>
            <a:off x="640080" y="2596896"/>
            <a:ext cx="10881360" cy="411480"/>
          </a:xfrm>
          <a:prstGeom prst="rect">
            <a:avLst/>
          </a:prstGeom>
          <a:noFill/>
        </p:spPr>
        <p:txBody>
          <a:bodyPr wrap="square">
            <a:spAutoFit/>
          </a:bodyPr>
          <a:lstStyle/>
          <a:p>
            <a:r>
              <a:rPr sz="2000" b="1">
                <a:solidFill>
                  <a:srgbClr val="1B5E6B"/>
                </a:solidFill>
                <a:latin typeface="Bricolage Grotesque"/>
              </a:rPr>
              <a:t>3.  Archiver chaque synthèse dans Airtable : une ligne par semaine.</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Devoirs · avant la séance 3</a:t>
            </a:r>
          </a:p>
        </p:txBody>
      </p:sp>
      <p:sp>
        <p:nvSpPr>
          <p:cNvPr id="5" name="TextBox 4"/>
          <p:cNvSpPr txBox="1"/>
          <p:nvPr/>
        </p:nvSpPr>
        <p:spPr>
          <a:xfrm>
            <a:off x="640080" y="1554480"/>
            <a:ext cx="10881360" cy="411480"/>
          </a:xfrm>
          <a:prstGeom prst="rect">
            <a:avLst/>
          </a:prstGeom>
          <a:noFill/>
        </p:spPr>
        <p:txBody>
          <a:bodyPr wrap="square">
            <a:spAutoFit/>
          </a:bodyPr>
          <a:lstStyle/>
          <a:p>
            <a:r>
              <a:rPr sz="2000" b="1">
                <a:solidFill>
                  <a:srgbClr val="1B5E6B"/>
                </a:solidFill>
                <a:latin typeface="Bricolage Grotesque"/>
              </a:rPr>
              <a:t>1.  Appeler le plombier avec ta trame, et m'envoyer ses réponses.</a:t>
            </a:r>
          </a:p>
        </p:txBody>
      </p:sp>
      <p:sp>
        <p:nvSpPr>
          <p:cNvPr id="6" name="TextBox 5"/>
          <p:cNvSpPr txBox="1"/>
          <p:nvPr/>
        </p:nvSpPr>
        <p:spPr>
          <a:xfrm>
            <a:off x="640080" y="2075688"/>
            <a:ext cx="10881360" cy="411480"/>
          </a:xfrm>
          <a:prstGeom prst="rect">
            <a:avLst/>
          </a:prstGeom>
          <a:noFill/>
        </p:spPr>
        <p:txBody>
          <a:bodyPr wrap="square">
            <a:spAutoFit/>
          </a:bodyPr>
          <a:lstStyle/>
          <a:p>
            <a:r>
              <a:rPr sz="2000" b="1">
                <a:solidFill>
                  <a:srgbClr val="1B5E6B"/>
                </a:solidFill>
                <a:latin typeface="Bricolage Grotesque"/>
              </a:rPr>
              <a:t>2.  Lundi, comparer la synthèse n8n et le rapport du skill Claude.</a:t>
            </a:r>
          </a:p>
        </p:txBody>
      </p:sp>
      <p:sp>
        <p:nvSpPr>
          <p:cNvPr id="7" name="TextBox 6"/>
          <p:cNvSpPr txBox="1"/>
          <p:nvPr/>
        </p:nvSpPr>
        <p:spPr>
          <a:xfrm>
            <a:off x="640080" y="2596896"/>
            <a:ext cx="10881360" cy="411480"/>
          </a:xfrm>
          <a:prstGeom prst="rect">
            <a:avLst/>
          </a:prstGeom>
          <a:noFill/>
        </p:spPr>
        <p:txBody>
          <a:bodyPr wrap="square">
            <a:spAutoFit/>
          </a:bodyPr>
          <a:lstStyle/>
          <a:p>
            <a:r>
              <a:rPr sz="2000" b="1">
                <a:solidFill>
                  <a:srgbClr val="1B5E6B"/>
                </a:solidFill>
                <a:latin typeface="Bricolage Grotesque"/>
              </a:rPr>
              <a:t>3.  Archiver chaque synthèse dans Airtable : une ligne par semaine.</a:t>
            </a:r>
          </a:p>
        </p:txBody>
      </p:sp>
      <p:sp>
        <p:nvSpPr>
          <p:cNvPr id="8" name="TextBox 7"/>
          <p:cNvSpPr txBox="1"/>
          <p:nvPr/>
        </p:nvSpPr>
        <p:spPr>
          <a:xfrm>
            <a:off x="640080" y="3355848"/>
            <a:ext cx="10881360" cy="411480"/>
          </a:xfrm>
          <a:prstGeom prst="rect">
            <a:avLst/>
          </a:prstGeom>
          <a:noFill/>
        </p:spPr>
        <p:txBody>
          <a:bodyPr wrap="square">
            <a:spAutoFit/>
          </a:bodyPr>
          <a:lstStyle/>
          <a:p>
            <a:r>
              <a:rPr sz="2000" b="1">
                <a:solidFill>
                  <a:srgbClr val="1B5E6B"/>
                </a:solidFill>
                <a:latin typeface="Bricolage Grotesque"/>
              </a:rPr>
              <a:t>4.  Finir le workflow « Erreurs » s'il n'est pas branché sur J+3 et J+7.</a:t>
            </a:r>
          </a:p>
        </p:txBody>
      </p:sp>
      <p:sp>
        <p:nvSpPr>
          <p:cNvPr id="9" name="TextBox 8"/>
          <p:cNvSpPr txBox="1"/>
          <p:nvPr/>
        </p:nvSpPr>
        <p:spPr>
          <a:xfrm>
            <a:off x="640080" y="3877056"/>
            <a:ext cx="10881360" cy="411480"/>
          </a:xfrm>
          <a:prstGeom prst="rect">
            <a:avLst/>
          </a:prstGeom>
          <a:noFill/>
        </p:spPr>
        <p:txBody>
          <a:bodyPr wrap="square">
            <a:spAutoFit/>
          </a:bodyPr>
          <a:lstStyle/>
          <a:p>
            <a:r>
              <a:rPr sz="2000" b="1">
                <a:solidFill>
                  <a:srgbClr val="1B5E6B"/>
                </a:solidFill>
                <a:latin typeface="Bricolage Grotesque"/>
              </a:rPr>
              <a:t>5.  E-learning : les 3 vidéos n8n, puis les Fondamentaux Claude Code.</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0" y="2560320"/>
            <a:ext cx="12191695" cy="1828800"/>
          </a:xfrm>
          <a:prstGeom prst="rect">
            <a:avLst/>
          </a:prstGeom>
          <a:noFill/>
        </p:spPr>
        <p:txBody>
          <a:bodyPr wrap="square">
            <a:spAutoFit/>
          </a:bodyPr>
          <a:lstStyle/>
          <a:p>
            <a:pPr algn="ctr"/>
            <a:r>
              <a:rPr sz="6400" b="1">
                <a:solidFill>
                  <a:srgbClr val="FFFFFF"/>
                </a:solidFill>
                <a:latin typeface="Bricolage Grotesque"/>
              </a:rPr>
              <a:t>Des questions ?</a:t>
            </a:r>
          </a:p>
        </p:txBody>
      </p:sp>
      <p:pic>
        <p:nvPicPr>
          <p:cNvPr id="4" name="Picture 3" descr="ia-round.png"/>
          <p:cNvPicPr>
            <a:picLocks noChangeAspect="1"/>
          </p:cNvPicPr>
          <p:nvPr/>
        </p:nvPicPr>
        <p:blipFill>
          <a:blip r:embed="rId2"/>
          <a:stretch>
            <a:fillRect/>
          </a:stretch>
        </p:blipFill>
        <p:spPr>
          <a:xfrm>
            <a:off x="4846320" y="4754880"/>
            <a:ext cx="320040" cy="320040"/>
          </a:xfrm>
          <a:prstGeom prst="rect">
            <a:avLst/>
          </a:prstGeom>
        </p:spPr>
      </p:pic>
      <p:sp>
        <p:nvSpPr>
          <p:cNvPr id="5" name="TextBox 4"/>
          <p:cNvSpPr txBox="1"/>
          <p:nvPr/>
        </p:nvSpPr>
        <p:spPr>
          <a:xfrm>
            <a:off x="5257800" y="4736592"/>
            <a:ext cx="3657600" cy="365760"/>
          </a:xfrm>
          <a:prstGeom prst="rect">
            <a:avLst/>
          </a:prstGeom>
          <a:noFill/>
        </p:spPr>
        <p:txBody>
          <a:bodyPr wrap="square">
            <a:spAutoFit/>
          </a:bodyPr>
          <a:lstStyle/>
          <a:p>
            <a:pPr algn="l"/>
            <a:r>
              <a:rPr sz="1400" b="0">
                <a:solidFill>
                  <a:srgbClr val="FFFFFF"/>
                </a:solidFill>
                <a:latin typeface="Bricolage Grotesque"/>
              </a:rPr>
              <a:t>intelligence academy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