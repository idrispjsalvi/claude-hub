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19456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000"/>
                </a:solidFill>
                <a:latin typeface="Bricolage Grotesque"/>
              </a:rPr>
              <a:t>SÉANCE 1 / 4 · TIMOTHÉ BERNARD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Bricolage Grotesque"/>
              </a:rPr>
              <a:t>n8n et les webhooks, compris pour de bon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8A000"/>
                </a:solidFill>
                <a:latin typeface="Bricolage Grotesque"/>
              </a:rPr>
              <a:t>Ta première demande d'artisan, reçue et triée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Vendredi 2 octobre 2026 · 13h-15h · Idris Salvi</a:t>
            </a:r>
          </a:p>
        </p:txBody>
      </p:sp>
      <p:pic>
        <p:nvPicPr>
          <p:cNvPr id="9" name="Picture 8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qu'on a fixé le 25 septembre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fil rouge : une offre d'automatisation pour artisans, puis TPE/PME.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cas d'usage : demande reçue → formulaire → devis IA → l'artisan valide.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qu'on a fixé le 25 septembre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fil rouge : une offre d'automatisation pour artisans, puis TPE/PME.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cas d'usage : demande reçue → formulaire → devis IA → l'artisan valide.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projet médical (ECN) reste de côté pendant la 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Objectif de commercialisation : 1er décembre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que tu m'as demandé hier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8A000"/>
                </a:solidFill>
                <a:latin typeface="Bricolage Grotesque"/>
              </a:rPr>
              <a:t>« je veux vraiment poncer n8n un max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8A000"/>
                </a:solidFill>
                <a:latin typeface="Bricolage Grotesque"/>
              </a:rPr>
              <a:t>« ce que j'aimerai c'est vraiment comprendre moi meme sans IA à coté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que tu m'as demandé hier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8A000"/>
                </a:solidFill>
                <a:latin typeface="Bricolage Grotesque"/>
              </a:rPr>
              <a:t>« je veux vraiment poncer n8n un max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8A000"/>
                </a:solidFill>
                <a:latin typeface="Bricolage Grotesque"/>
              </a:rPr>
              <a:t>« ce que j'aimerai c'est vraiment comprendre moi meme sans IA à coté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Donc aujourd'hui : n8n uniquement, et c'est toi qui tiens la souris.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Pas de Claude pour construire. Tu comprends chaque nœud avant le suivant.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déroulé de cet après-midi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Quiz (10 min) sur la vidéo et les fiches que tu as vues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Ton workflow d'hier soir, relu ensemble (10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Webhook, Edit Fields, Switch : les 3 nœuds qui t'ont perdu (15 min)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déroulé de cet après-midi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Quiz (10 min) sur la vidéo et les fiches que tu as vues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Ton workflow d'hier soir, relu ensemble (10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Webhook, Edit Fields, Switch : les 3 nœuds qui t'ont perdu (15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La pratique (60 min) : ton premier workflow « demande artisan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5.  Les devoirs et la date de la séance 2 (15 min)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Quiz d'ouverture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Cinq questions sur la découverte de n8n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Par quoi commence toujours un workflow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Une action (envoyer un mail, écrire dans une base)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B.  Un trigger, le déclencheur, repéré par le petit éclair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C.  Une condition IF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Par quoi commence toujours un workflow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Une action (envoyer un mail, écrire dans une base)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B.  Un trigger, le déclencheur, repéré par le petit éclair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C.  Une condition 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Réponse B : manuel, planifié, webhook, formulaire... il en faut 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Filter, IF ou Switch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Une demande peut concerner la plomberie, l'électricité ou autre chose.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Quel nœud pour envoyer chaque cas sur son propre chemin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Filter, IF ou Switch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Une demande peut concerner la plomberie, l'électricité ou autre chose.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Quel nœud pour envoyer chaque cas sur son propre chemin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Switch : un IF à plusieurs branches.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IF : deux branches (vrai / faux). Filter : on continue ou on s'arrête.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Deux façons d'aller chercher une donnée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{{ $json.prenom 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{{ $('Params').item.json.prenom }}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Deux façons d'aller chercher une donnée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{{ $json.prenom 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{{ $('Params').item.json.prenom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La 1re lit le nœud juste avant, quel qu'il soit.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La 2e lit un nœud précis, par son nom : plus sûr quand le workflow grandit.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 « item », c'est quoi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Un nœud du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B.  Un objet JSON, entre accolades : une personne, une demande, une ligne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C.  Une exécution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 « item », c'est quoi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Un nœud du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B.  Un objet JSON, entre accolades : une personne, une demande, une ligne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C.  Une exécution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Réponse B : 3 demandes reçues = 3 items, chaque nœud traite chacun.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Ton workflow a planté cette nuit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Où vas-tu voir ce qui s'est passé 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Ton workflow a planté cette nuit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Où vas-tu voir ce qui s'est passé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L'onglet Executions : les exécutions en erreur sont en rouge.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Tu cliques dessus et tu vois, nœud par nœud, les données entrées et sorties.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Ton workflow d'hier soir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Tu as bien fait de t'arrêter là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que montre ta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Webhook POST → Edit Fields → Switch → deux Edit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Webhook
POST, 1 item reçu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Edit Fields
1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Switch
mode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Edit Fields1 et 2
tous deux sur « 0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Les deux branches partent de la même sortie : l'item va dans les deux.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Pourquoi ça t'a perdu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 Switch n'aiguille rien s'il n'a qu'une sortie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Chaque règle du Switch crée une sortie : 0, 1, 2...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Brancher deux nœuds sur la sortie 0 = les deux reçoivent la même donnée.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Pourquoi ça t'a perdu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 Switch n'aiguille rien s'il n'a qu'une sortie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Chaque règle du Switch crée une sortie : 0, 1, 2...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Brancher deux nœuds sur la sortie 0 = les deux reçoivent la même donnée.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Pour trier, il faut une règle par cas, et un nœud par sortie.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On le reconstruit proprement tout à l'heure, toi aux commandes.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Les trois nœuds clés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Webhook, Edit Fields, Switch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chemin d'une demande d'artisan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qu'on construit aujourd'hui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Le client
remplit un formulaire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Webhook
n8n reçoit la demande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Edit Fields
on garde l'utile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Switch
on trie par métier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2511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Respond
« demande reçue 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Plus tard : un nœud IA rédige le brouillon de devis, l'artisan valide.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Webhook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L'inverse du HTTP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HTTP Request : n8n appelle un autre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Webhook : un autre service (site, formulaire) appelle n8n.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Webhook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L'inverse du HTTP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HTTP Request : n8n appelle un autre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Webhook : un autre service (site, formulaire) appelle n8n.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URL de test : elle n'écoute que pendant que tu cliques sur « écouter 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URL de production : elle tourne seule, une fois le workflow activé.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Webhook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Où arrive la donnée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En POST, la demande arrive dans le « body » de l'item.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{{ $json.body.type_travaux }}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Webhook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Où arrive la donnée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En POST, la demande arrive dans le « body » de l'item.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{{ $json.body.type_travaux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À côté : headers, query, params. Tu peux les ignorer pour l'instant.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Réflexe : regarde toujours l'onglet OUTPUT avant de mapper.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Edit Fields (Set)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 nœud qui fait le ménage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Il ne garde que les champs utiles et leur donne un nom clair.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Exemple : body.type_travaux devient simplement « metier ».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Edit Fields (Set)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 nœud qui fait le ménage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Il ne garde que les champs utiles et leur donne un nom clair.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Exemple : body.type_travaux devient simplement « metier 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Les nœuds suivants lisent des champs propres, pas tout le webhook.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Tu peux aussi y écrire des valeurs fixes : un tarif, un message.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Une règle = une sortie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Règle 0 : metier = plomberie → sortie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Règle 1 : metier = électricité → sortie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Fallback output : aucune règle vraie → une sortie « à qualifier »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Une règle = une sortie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Règle 0 : metier = plomberie → sortie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Règle 1 : metier = électricité → sortie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Fallback output : aucune règle vraie → une sortie « à qualifier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Par défaut, l'item sort par la première règle vraie.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54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Renomme les sorties : tu liras ton workflow sans l'ouvrir.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A000"/>
                </a:solidFill>
                <a:latin typeface="Bricolage Grotesque"/>
              </a:rPr>
              <a:t>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8A8F"/>
                </a:solidFill>
                <a:latin typeface="Bricolage Grotesque"/>
              </a:rPr>
              <a:t>Les trois nœuds clés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274320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881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1.  Webhook : un service extérieur appelle n8n. Test d'abord, production ensuite.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2.  En POST, la donnée est dans $json.body.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3.  Edit Fields : on garde l'utile, on renomme clairement.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4.  Switch : une règle par cas, un nœud par sortie, un fallback.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5.  Avant de mapper, on lit l'OUTPUT du nœud précédent.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336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La 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Partage d'écran : tu fais, je reprends la main si besoin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· La demande de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qu'envoie le formulaire d'un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  "nom": "Mme Durand",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  "type_travaux": "plomberie",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9534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  "description": "Fuite sous l'évier de la cuisine",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1655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  "code_postal": "69007"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· Étapes 1 à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Recevoir la demande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Nouveau workflow « Demande artisan v1 », trigger Webhook en POST.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Clique sur écouter, puis envoie la demande de test depuis 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second workflow : HTTP Request, POST, URL de test, body JSON.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· Étapes 1 à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Recevoir la demande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Nouveau workflow « Demande artisan v1 », trigger Webhook en POST.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Clique sur écouter, puis envoie la demande de test depuis 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second workflow : HTTP Request, POST, URL de test, body JSON.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Lis l'OUTPUT du Webhook : où se trouve « type_travaux » 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· Étapes 4 à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Nettoyer et trier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Edit Fields : nom, metier, description, code_postal. Rien d'autre.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5.  Switch : plomberie (0), électricité (1), fallback « à qualifier 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6.  Un Edit Fields par sortie : le message à renvoyer au client.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· Étapes 4 à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Nettoyer et trier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Edit Fields : nom, metier, description, code_postal. Rien d'autre.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5.  Switch : plomberie (0), électricité (1), fallback « à qualifier 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6.  Un Edit Fields par sortie : le message à renvoyer au client.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Teste les 3 cas en changeant « type_travaux » dans ta demande de test.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· Étapes 7 et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Répondre et passer en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7.  Respond to Webhook : « Merci, votre demande est bien reçue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(dans le Webhook : réponse via le nœud Respond to Webhook)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· Étapes 7 et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Répondre et passer en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7.  Respond to Webhook : « Merci, votre demande est bien reçue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(dans le Webhook : réponse via le nœud Respond to Webhook)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8.  Active le workflow, remplace l'URL de test par celle de 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Regarde le résultat dans l'onglet Executions, comme dans le quiz.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Si on a le temps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 aperçu de la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Ajouter un nœud IA sur la branche plomberie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« Rédige un brouillon de devis à partir de cette description. »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Si on a le temps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 aperçu de la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Ajouter un nœud IA sur la branche plomberie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« Rédige un brouillon de devis à partir de cette description.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C'est la brique « devis IA » de ton offre. On la creuse ensuite.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Les devoirs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Pour la séance 2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Devoirs · avant la séance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Vidéos n8n, dans cet ordre : Variables, JSON et mapping,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puis Conditions (IF, Switch, Filter), puis HTTP Request et Webhooks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Refaire « Demande artisan v1 » de zéro, seul, sans IA ni notes,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1810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avec un 3e métier en plus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Devoirs · avant la séance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Vidéos n8n, dans cet ordre : Variables, JSON et mapping,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puis Conditions (IF, Switch, Filter), puis HTTP Request et Webhooks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Refaire « Demande artisan v1 » de zéro, seul, sans IA ni notes,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1810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avec un 3e métier en 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M'envoyer ton brief artisans sur idris@the-intelligence-academy.com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Écrire à Antoine pour débloquer les modules Cursor et Claude Code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brief artisans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Une page, pour construire le devis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 métier d'artisan cible pour commencer (plombier, électricien...).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Les champs d'une demande : ce que le client doit remplir.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brief artisans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Une page, pour construire le devis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 métier d'artisan cible pour commencer (plombier, électricien...).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Les champs d'une demande : ce que le client doit remplir.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Ce que contient un devis : postes, unités, prix, TVA, mentions.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Un exemple de devis, réel ou fictif.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Bricolage Grotesque"/>
              </a:rPr>
              <a:t>Des questions ?</a:t>
            </a:r>
          </a:p>
        </p:txBody>
      </p:sp>
      <p:pic>
        <p:nvPicPr>
          <p:cNvPr id="4" name="Picture 3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754880"/>
            <a:ext cx="320040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4736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