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 proposé à partir de l'intro du 16/10 et de ses mails du 16/10 et du 23/10. Les mails commerciaux (23/10) et le contrôle des factures n'ont pas de séance dédiée : le projet factures est fait aujourd'hui, l'envoi régulier des mails commerciaux est à placer avec elle. Le programme TIA prévoyait bilan par chantier et veille AO : elle ne les a pas cités à l'intro.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lancer : son par le téléphone, partage d'écran, application Claude ouverte, forfait vérifié. Lui dire que son e-learning est sans doute verrouillé jusqu'au début officiel de la formation (02/11 dans le dossier TIA), à confirmer par TIA ; elle pense qu'on l'a oubliée.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lancer : son par le téléphone, partage d'écran, application Claude ouverte, forfait vérifié. Lui dire que son e-learning est sans doute verrouillé jusqu'au début officiel de la formation (02/11 dans le dossier TIA), à confirmer par TIA ; elle pense qu'on l'a oubliée.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(vérifié pour Céline le 19/10) : les instructions de projet sont réservées aux forfaits payants ; les skills exigent l'exécution de code (Paramètres › Capacités). Si elle est en gratuit : lui montrer sur ton écran, et lui conseiller Pro avant la S2. Ne pas citer de prix de mémoire : Léo lui a parlé d'« autour de 20 euros », à vérifier sur la page de tarifs.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(vérifié pour Céline le 19/10) : les instructions de projet sont réservées aux forfaits payants ; les skills exigent l'exécution de code (Paramètres › Capacités). Si elle est en gratuit : lui montrer sur ton écran, et lui conseiller Pro avant la S2. Ne pas citer de prix de mémoire : Léo lui a parlé d'« autour de 20 euros », à vérifier sur la page de tarifs.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 IA sans jargon », leçon « Comment fonctionne ChatGPT (les LLM) » : l'image de l'autocomplete très avancé, plus le mécanisme d'attention qui garde le contexte. Elle verra cette vidéo après le 02/11.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 IA sans jargon », leçon « Comment fonctionne ChatGPT (les LLM) » : l'image de l'autocomplete très avancé, plus le mécanisme d'attention qui garde le contexte. Elle verra cette vidéo après le 02/11.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Leçon « Les hallucinations des LLM » : le modèle ne ment pas, il propose toujours une suite, même fausse ; vérifier les faits importants, demander ses sources. Ne pas reprendre le chiffre de la vidéo (« moins de 5 % ») : il n'est pas sourcé.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Leçon « Les hallucinations des LLM » : le modèle ne ment pas, il propose toujours une suite, même fausse ; vérifier les faits importants, demander ses sources. Ne pas reprendre le chiffre de la vidéo (« moins de 5 % ») : il n'est pas sourcé.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Leçon « La fenêtre de contexte » : prompts, historique, pièces jointes et réponses du modèle comptent tous. Une image pèse environ 1 000 tokens selon la vidéo. Ne pas donner de tailles par forfait : la vidéo cite des chiffres qui ont pu changer.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Leçon « La fenêtre de contexte » : prompts, historique, pièces jointes et réponses du modèle comptent tous. Une image pèse environ 1 000 tokens selon la vidéo. Ne pas donner de tailles par forfait : la vidéo cite des chiffres qui ont pu changer.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Leçon « La fenêtre de contexte » : quand la conversation déborde, le modèle oublie le début (souvent les pièces jointes et la consigne principale) sans le signaler. Conseil de la vidéo : rouvrir une conversation. C'est l'argument du projet : une conversation par facture, la grille toujours chargée.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Leçon « La fenêtre de contexte » : quand la conversation déborde, le modèle oublie le début (souvent les pièces jointes et la consigne principale) sans le signaler. Conseil de la vidéo : rouvrir une conversation. C'est l'argument du projet : une conversation par facture, la grille toujours chargée.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Leçon « La notion de system prompt » : l'éditeur place ses instructions avant celles de l'utilisateur. Transition directe vers la partie suivante.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Leçon « La notion de system prompt » : l'éditeur place ses instructions avant celles de l'utilisateur. Transition directe vers la partie suivante.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fil rouge, à répéter : le projet donne le contexte (QUOI), le skill donne la façon de faire (COMMENT). Les instructions valent partout, le connecteur apporte ce qui bouge.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(16/09/2026, vérifié le 19/10) : les instructions du compte et du projet s'additionnent ; les skills ne se chargent que quand ils servent ; les connecteurs donnent accès aux outils. Le tout occupe la fenêtre de contexte vue au quiz.</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Reprise de l'intro (16/10) et de ses mails des 16/10 et 23/10. Le relevé d'heures des intérimaires (chaque lundi) et les commandes de fioul et d'AdBlue n'ont pas encore de séance : les échéances fournisseurs et les commandes rejoignent naturellement le registre de la S3. L'envoi régulier des mails commerciaux est aussi à placer.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Understanding Claude's personalization features » (16/09/2026) : Instructions pour Claude = réglage du compte ; instructions du projet = contexte et règles d'un projet. La mémoire (Paramètres › Mémoire) existe aussi : Claude y retient seul des sujets, qu'on peut relire et corriger. On n'y touche pas aujourd'hui.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Exemples tirés de l'intro (entreprise familiale, 40 ans, avec son frère ; Veolia, Lyonnaise des Eaux, mairies ; relance des particuliers). Le vouvoiement des clients est une supposition : la laisser trancher.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Exemples tirés de l'intro (entreprise familiale, 40 ans, avec son frère ; Veolia, Lyonnaise des Eaux, mairies ; relance des particuliers). Le vouvoiement des clients est une supposition : la laisser trancher.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complet dans s1-a-coller.md. Test rapide après enregistrement : nouvelle conversation, « Présente-moi en deux lignes » ; Claude doit citer Pomarès TP sans qu'on le lui dise.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Upload files to Claude » (23/07/2026, vérifié le 19/10) : PDF de 100 pages ou moins lus avec texte et visuels ; au-delà, texte seul ; 30 Mo maximum par fichier de projet. Un scan passe par la vision, moins fiable. Un Google Doc ajouté depuis Drive reste synchronisé (projets privés) : seulement si elle est sous Google.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Upload files to Claude » (23/07/2026, vérifié le 19/10) : PDF de 100 pages ou moins lus avec texte et visuels ; au-delà, texte seul ; 30 Mo maximum par fichier de projet. Un scan passe par la vision, moins fiable. Un Google Doc ajouté depuis Drive reste synchronisé (projets privés) : seulement si elle est sous Google.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l'usage que la secrétaire fait à la main chaque mois sur des factures de 10 pages, avec des avoirs tous les mois (intro du 16/10). La grille est négociée par chantier et vaut environ 3 mois.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Même méthode que la Pratique 1 : elle rédige ses instructions en se faisant interviewer. Si elle n'a pas sa grille et sa facture : données fictives de s1-a-coller.md, au format tableur (Google Sheet, puis Fichier › Télécharger › CSV pour l'ajouter au projet). Trois écarts cachés, 433,50 € HT à réclamer. Étape 5 essentielle : c'est le réflexe du quiz 2. Si l'interview traîne : consigne de secours dans la fiche.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Texte complet dans s1-a-coller.md. Les trois règles sont imposées dans le prompt : la dernière reprend la parade du quiz 2. L'interview se fait DANS le projet (Claude voit la grille), puis le texte validé va dans les instructions du projet, et la facture se joint dans une nouvelle conversation. Si elle veut aussi les quantités contre les bons de livraison : les joindre dans la conversation, pas dans le projet (ils changent à chaque facture).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Texte complet dans s1-a-coller.md. Les trois règles sont imposées dans le prompt : la dernière reprend la parade du quiz 2. L'interview se fait DANS le projet (Claude voit la grille), puis le texte validé va dans les instructions du projet, et la facture se joint dans une nouvelle conversation. Si elle veut aussi les quantités contre les bons de livraison : les joindre dans la conversation, pas dans le projet (ils changent à chaque facture).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Chiffres inventés pour l'exercice, cohérents avec la facture fictive de s1-a-coller.md. Ce sont des ordres de grandeur plausibles, pas des prix de marché.</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 What are skills? » : skills et projets, skills et instructions. Bonne pratique officielle : un skill par workflow. Claude choisit ses skills en lisant leur description (200 caractères maximum).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 Academy, « How to create a skill with Claude through conversation » (vérifié le 19/10) : on décrit, on joint des exemples, on répond aux questions, Claude s'appuie sur son skill « skill-creator ». Prérequis : exécution de code et création de fichiers activées dans Paramètres › Capacités.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skill écrit, il n'envoie rien : l'envoi régulier relève d'un outil d'envoi ou de Make / n8n, plus tard. Tester sur un client existant (pro). Prospection de particuliers : règles CNIL à sourcer avant d'en parler, ne pas improviser.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Texte complet dans s1-a-coller.md. Les règles reprennent celles de ses instructions : dans le skill, elles s'appliquent même si elle l'utilise hors de son compte habituel.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Texte complet dans s1-a-coller.md. Les règles reprennent celles de ses instructions : dans le skill, elles s'appliquent même si elle l'utilise hors de son compte habituel.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(vérifié pour Céline le 19/10) : le connecteur Microsoft 365 existe sur tous les forfaits mais exige un compte pro ou école et l'accord d'un administrateur Entra ; outlook.com et hotmail refusés. Gmail passe par les connecteurs Google Workspace. Si pomarestp.fr n'est ni chez Microsoft 365 ni chez Google : pas de connecteur direct, montrer sur ton écran. Emplacement exact (Paramètres › Connecteurs ou « + » dans la conversation) : à repérer en direct dans son interface.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Centre d'aide (vérifié pour Céline le 19/10) : le connecteur Microsoft 365 existe sur tous les forfaits mais exige un compte pro ou école et l'accord d'un administrateur Entra ; outlook.com et hotmail refusés. Gmail passe par les connecteurs Google Workspace. Si pomarestp.fr n'est ni chez Microsoft 365 ni chez Google : pas de connecteur direct, montrer sur ton écran. Emplacement exact (Paramètres › Connecteurs ou « + » dans la conversation) : à repérer en direct dans son interface.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partage d'écran, ses mails clients sont visibles : lui proposer de filtrer avant d'afficher. Si le connecteur ne passe pas : client fictif de s1-a-coller.md, collé dans la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3 : a priori à partir du 02/11, à confirmer par TIA, comme le remplacement de Claude for Chrome par un module Make / n8n (toujours sans réponse de Léo). Devoir 4 : demander aussi quelle messagerie et qui l'administre, si ce n'est pas réglé en séance. Valider l'ordre des séances 2 à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206240"/>
            <a:ext cx="12191695" cy="2651760"/>
          </a:xfrm>
          <a:prstGeom prst="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960120"/>
            <a:ext cx="219456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10515600" cy="731520"/>
          </a:xfrm>
          <a:prstGeom prst="rect">
            <a:avLst/>
          </a:prstGeom>
          <a:noFill/>
        </p:spPr>
        <p:txBody>
          <a:bodyPr wrap="square">
            <a:spAutoFit/>
          </a:bodyPr>
          <a:lstStyle/>
          <a:p>
            <a:pPr algn="l"/>
            <a:r>
              <a:rPr sz="1800" b="1">
                <a:solidFill>
                  <a:srgbClr val="E8A000"/>
                </a:solidFill>
                <a:latin typeface="Bricolage Grotesque"/>
              </a:rPr>
              <a:t>SÉANCE 1 / 4 · JENNY POMARÈS</a:t>
            </a:r>
          </a:p>
        </p:txBody>
      </p:sp>
      <p:sp>
        <p:nvSpPr>
          <p:cNvPr id="6" name="TextBox 5"/>
          <p:cNvSpPr txBox="1"/>
          <p:nvPr/>
        </p:nvSpPr>
        <p:spPr>
          <a:xfrm>
            <a:off x="640080" y="1920240"/>
            <a:ext cx="10881360" cy="1371600"/>
          </a:xfrm>
          <a:prstGeom prst="rect">
            <a:avLst/>
          </a:prstGeom>
          <a:noFill/>
        </p:spPr>
        <p:txBody>
          <a:bodyPr wrap="square">
            <a:spAutoFit/>
          </a:bodyPr>
          <a:lstStyle/>
          <a:p>
            <a:pPr algn="l"/>
            <a:r>
              <a:rPr sz="5000" b="1">
                <a:solidFill>
                  <a:srgbClr val="FFFFFF"/>
                </a:solidFill>
                <a:latin typeface="Bricolage Grotesque"/>
              </a:rPr>
              <a:t>Ton Claude, en 4 briques</a:t>
            </a:r>
          </a:p>
        </p:txBody>
      </p:sp>
      <p:sp>
        <p:nvSpPr>
          <p:cNvPr id="7" name="TextBox 6"/>
          <p:cNvSpPr txBox="1"/>
          <p:nvPr/>
        </p:nvSpPr>
        <p:spPr>
          <a:xfrm>
            <a:off x="640080" y="3383280"/>
            <a:ext cx="10515600" cy="731520"/>
          </a:xfrm>
          <a:prstGeom prst="rect">
            <a:avLst/>
          </a:prstGeom>
          <a:noFill/>
        </p:spPr>
        <p:txBody>
          <a:bodyPr wrap="square">
            <a:spAutoFit/>
          </a:bodyPr>
          <a:lstStyle/>
          <a:p>
            <a:pPr algn="l"/>
            <a:r>
              <a:rPr sz="2600" b="0">
                <a:solidFill>
                  <a:srgbClr val="E8A000"/>
                </a:solidFill>
                <a:latin typeface="Bricolage Grotesque"/>
              </a:rPr>
              <a:t>Instructions, projet, skill, connecteur : sur tes vrais dossiers</a:t>
            </a:r>
          </a:p>
        </p:txBody>
      </p:sp>
      <p:sp>
        <p:nvSpPr>
          <p:cNvPr id="8" name="TextBox 7"/>
          <p:cNvSpPr txBox="1"/>
          <p:nvPr/>
        </p:nvSpPr>
        <p:spPr>
          <a:xfrm>
            <a:off x="640080" y="4480560"/>
            <a:ext cx="10515600" cy="731520"/>
          </a:xfrm>
          <a:prstGeom prst="rect">
            <a:avLst/>
          </a:prstGeom>
          <a:noFill/>
        </p:spPr>
        <p:txBody>
          <a:bodyPr wrap="square">
            <a:spAutoFit/>
          </a:bodyPr>
          <a:lstStyle/>
          <a:p>
            <a:pPr algn="l"/>
            <a:r>
              <a:rPr sz="2000" b="0">
                <a:solidFill>
                  <a:srgbClr val="5A8A8F"/>
                </a:solidFill>
                <a:latin typeface="Bricolage Grotesque"/>
              </a:rPr>
              <a:t>Lundi 26 octobre 2026 · 14h30-16h30 · Idris Salvi</a:t>
            </a:r>
          </a:p>
        </p:txBody>
      </p:sp>
      <p:pic>
        <p:nvPicPr>
          <p:cNvPr id="9" name="Picture 8" descr="ia-round.png"/>
          <p:cNvPicPr>
            <a:picLocks noChangeAspect="1"/>
          </p:cNvPicPr>
          <p:nvPr/>
        </p:nvPicPr>
        <p:blipFill>
          <a:blip r:embed="rId2"/>
          <a:stretch>
            <a:fillRect/>
          </a:stretch>
        </p:blipFill>
        <p:spPr>
          <a:xfrm>
            <a:off x="457200" y="6217920"/>
            <a:ext cx="320040" cy="320040"/>
          </a:xfrm>
          <a:prstGeom prst="rect">
            <a:avLst/>
          </a:prstGeom>
        </p:spPr>
      </p:pic>
      <p:sp>
        <p:nvSpPr>
          <p:cNvPr id="10" name="TextBox 9"/>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Ton parcours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4 séances, à valider ensemble en fin de séance</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S1 · 26 oct.
Claude, 4 briques</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S2
Tri des mails</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S3
Registre échéances</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S4
Devis et suivi</a:t>
            </a:r>
          </a:p>
        </p:txBody>
      </p:sp>
      <p:sp>
        <p:nvSpPr>
          <p:cNvPr id="17" name="TextBox 16"/>
          <p:cNvSpPr txBox="1"/>
          <p:nvPr/>
        </p:nvSpPr>
        <p:spPr>
          <a:xfrm>
            <a:off x="640080" y="4114800"/>
            <a:ext cx="10972800" cy="411480"/>
          </a:xfrm>
          <a:prstGeom prst="rect">
            <a:avLst/>
          </a:prstGeom>
          <a:noFill/>
        </p:spPr>
        <p:txBody>
          <a:bodyPr wrap="square">
            <a:spAutoFit/>
          </a:bodyPr>
          <a:lstStyle/>
          <a:p>
            <a:pPr algn="l"/>
            <a:r>
              <a:rPr sz="1800" b="1">
                <a:solidFill>
                  <a:srgbClr val="1B5E6B"/>
                </a:solidFill>
                <a:latin typeface="Bricolage Grotesque"/>
              </a:rPr>
              <a:t>Aujourd'hui : un Claude qui connaît Pomarès TP, et 4 outils en place.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déroulé de cet après-midi</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Quiz : les bases de l'IA (15 min)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Les 4 briques de Claude, et où vont tes sujets (10 min)</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Brique 1 · Instructions : théorie, puis pratique (15 min)</a:t>
            </a:r>
          </a:p>
        </p:txBody>
      </p:sp>
      <p:sp>
        <p:nvSpPr>
          <p:cNvPr id="8" name="TextBox 7"/>
          <p:cNvSpPr txBox="1"/>
          <p:nvPr/>
        </p:nvSpPr>
        <p:spPr>
          <a:xfrm>
            <a:off x="640080" y="3118104"/>
            <a:ext cx="10881360" cy="411480"/>
          </a:xfrm>
          <a:prstGeom prst="rect">
            <a:avLst/>
          </a:prstGeom>
          <a:noFill/>
        </p:spPr>
        <p:txBody>
          <a:bodyPr wrap="square">
            <a:spAutoFit/>
          </a:bodyPr>
          <a:lstStyle/>
          <a:p>
            <a:r>
              <a:rPr sz="2000" b="1">
                <a:solidFill>
                  <a:srgbClr val="1B5E6B"/>
                </a:solidFill>
                <a:latin typeface="Bricolage Grotesque"/>
              </a:rPr>
              <a:t>4.  Brique 2 · Projet : théorie, puis pratique (30 min)</a:t>
            </a:r>
          </a:p>
        </p:txBody>
      </p:sp>
      <p:sp>
        <p:nvSpPr>
          <p:cNvPr id="9" name="TextBox 8"/>
          <p:cNvSpPr txBox="1"/>
          <p:nvPr/>
        </p:nvSpPr>
        <p:spPr>
          <a:xfrm>
            <a:off x="640080" y="3639312"/>
            <a:ext cx="10881360" cy="411480"/>
          </a:xfrm>
          <a:prstGeom prst="rect">
            <a:avLst/>
          </a:prstGeom>
          <a:noFill/>
        </p:spPr>
        <p:txBody>
          <a:bodyPr wrap="square">
            <a:spAutoFit/>
          </a:bodyPr>
          <a:lstStyle/>
          <a:p>
            <a:r>
              <a:rPr sz="2000" b="1">
                <a:solidFill>
                  <a:srgbClr val="1B5E6B"/>
                </a:solidFill>
                <a:latin typeface="Bricolage Grotesque"/>
              </a:rPr>
              <a:t>5.  Brique 3 · Skill : théorie, puis pratique (20 min)</a:t>
            </a:r>
          </a:p>
        </p:txBody>
      </p:sp>
      <p:sp>
        <p:nvSpPr>
          <p:cNvPr id="10" name="TextBox 9"/>
          <p:cNvSpPr txBox="1"/>
          <p:nvPr/>
        </p:nvSpPr>
        <p:spPr>
          <a:xfrm>
            <a:off x="640080" y="4160520"/>
            <a:ext cx="10881360" cy="411480"/>
          </a:xfrm>
          <a:prstGeom prst="rect">
            <a:avLst/>
          </a:prstGeom>
          <a:noFill/>
        </p:spPr>
        <p:txBody>
          <a:bodyPr wrap="square">
            <a:spAutoFit/>
          </a:bodyPr>
          <a:lstStyle/>
          <a:p>
            <a:r>
              <a:rPr sz="2000" b="1">
                <a:solidFill>
                  <a:srgbClr val="1B5E6B"/>
                </a:solidFill>
                <a:latin typeface="Bricolage Grotesque"/>
              </a:rPr>
              <a:t>6.  Brique 4 · Connecteur : théorie, puis pratique (15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déroulé de cet après-midi</a:t>
            </a:r>
          </a:p>
        </p:txBody>
      </p:sp>
      <p:sp>
        <p:nvSpPr>
          <p:cNvPr id="5" name="TextBox 4"/>
          <p:cNvSpPr txBox="1"/>
          <p:nvPr/>
        </p:nvSpPr>
        <p:spPr>
          <a:xfrm>
            <a:off x="640080" y="1554480"/>
            <a:ext cx="10881360" cy="411480"/>
          </a:xfrm>
          <a:prstGeom prst="rect">
            <a:avLst/>
          </a:prstGeom>
          <a:noFill/>
        </p:spPr>
        <p:txBody>
          <a:bodyPr wrap="square">
            <a:spAutoFit/>
          </a:bodyPr>
          <a:lstStyle/>
          <a:p>
            <a:r>
              <a:rPr sz="2000" b="1">
                <a:solidFill>
                  <a:srgbClr val="1B5E6B"/>
                </a:solidFill>
                <a:latin typeface="Bricolage Grotesque"/>
              </a:rPr>
              <a:t>1.  Quiz : les bases de l'IA (15 min)</a:t>
            </a:r>
          </a:p>
        </p:txBody>
      </p:sp>
      <p:sp>
        <p:nvSpPr>
          <p:cNvPr id="6" name="TextBox 5"/>
          <p:cNvSpPr txBox="1"/>
          <p:nvPr/>
        </p:nvSpPr>
        <p:spPr>
          <a:xfrm>
            <a:off x="640080" y="2075688"/>
            <a:ext cx="10881360" cy="411480"/>
          </a:xfrm>
          <a:prstGeom prst="rect">
            <a:avLst/>
          </a:prstGeom>
          <a:noFill/>
        </p:spPr>
        <p:txBody>
          <a:bodyPr wrap="square">
            <a:spAutoFit/>
          </a:bodyPr>
          <a:lstStyle/>
          <a:p>
            <a:r>
              <a:rPr sz="2000" b="1">
                <a:solidFill>
                  <a:srgbClr val="1B5E6B"/>
                </a:solidFill>
                <a:latin typeface="Bricolage Grotesque"/>
              </a:rPr>
              <a:t>2.  Les 4 briques de Claude, et où vont tes sujets (10 min)</a:t>
            </a:r>
          </a:p>
        </p:txBody>
      </p:sp>
      <p:sp>
        <p:nvSpPr>
          <p:cNvPr id="7" name="TextBox 6"/>
          <p:cNvSpPr txBox="1"/>
          <p:nvPr/>
        </p:nvSpPr>
        <p:spPr>
          <a:xfrm>
            <a:off x="640080" y="2596896"/>
            <a:ext cx="10881360" cy="411480"/>
          </a:xfrm>
          <a:prstGeom prst="rect">
            <a:avLst/>
          </a:prstGeom>
          <a:noFill/>
        </p:spPr>
        <p:txBody>
          <a:bodyPr wrap="square">
            <a:spAutoFit/>
          </a:bodyPr>
          <a:lstStyle/>
          <a:p>
            <a:r>
              <a:rPr sz="2000" b="1">
                <a:solidFill>
                  <a:srgbClr val="1B5E6B"/>
                </a:solidFill>
                <a:latin typeface="Bricolage Grotesque"/>
              </a:rPr>
              <a:t>3.  Brique 1 · Instructions : théorie, puis pratique (15 min)</a:t>
            </a:r>
          </a:p>
        </p:txBody>
      </p:sp>
      <p:sp>
        <p:nvSpPr>
          <p:cNvPr id="8" name="TextBox 7"/>
          <p:cNvSpPr txBox="1"/>
          <p:nvPr/>
        </p:nvSpPr>
        <p:spPr>
          <a:xfrm>
            <a:off x="640080" y="3118104"/>
            <a:ext cx="10881360" cy="411480"/>
          </a:xfrm>
          <a:prstGeom prst="rect">
            <a:avLst/>
          </a:prstGeom>
          <a:noFill/>
        </p:spPr>
        <p:txBody>
          <a:bodyPr wrap="square">
            <a:spAutoFit/>
          </a:bodyPr>
          <a:lstStyle/>
          <a:p>
            <a:r>
              <a:rPr sz="2000" b="1">
                <a:solidFill>
                  <a:srgbClr val="1B5E6B"/>
                </a:solidFill>
                <a:latin typeface="Bricolage Grotesque"/>
              </a:rPr>
              <a:t>4.  Brique 2 · Projet : théorie, puis pratique (30 min)</a:t>
            </a:r>
          </a:p>
        </p:txBody>
      </p:sp>
      <p:sp>
        <p:nvSpPr>
          <p:cNvPr id="9" name="TextBox 8"/>
          <p:cNvSpPr txBox="1"/>
          <p:nvPr/>
        </p:nvSpPr>
        <p:spPr>
          <a:xfrm>
            <a:off x="640080" y="3639312"/>
            <a:ext cx="10881360" cy="411480"/>
          </a:xfrm>
          <a:prstGeom prst="rect">
            <a:avLst/>
          </a:prstGeom>
          <a:noFill/>
        </p:spPr>
        <p:txBody>
          <a:bodyPr wrap="square">
            <a:spAutoFit/>
          </a:bodyPr>
          <a:lstStyle/>
          <a:p>
            <a:r>
              <a:rPr sz="2000" b="1">
                <a:solidFill>
                  <a:srgbClr val="1B5E6B"/>
                </a:solidFill>
                <a:latin typeface="Bricolage Grotesque"/>
              </a:rPr>
              <a:t>5.  Brique 3 · Skill : théorie, puis pratique (20 min)</a:t>
            </a:r>
          </a:p>
        </p:txBody>
      </p:sp>
      <p:sp>
        <p:nvSpPr>
          <p:cNvPr id="10" name="TextBox 9"/>
          <p:cNvSpPr txBox="1"/>
          <p:nvPr/>
        </p:nvSpPr>
        <p:spPr>
          <a:xfrm>
            <a:off x="640080" y="4160520"/>
            <a:ext cx="10881360" cy="411480"/>
          </a:xfrm>
          <a:prstGeom prst="rect">
            <a:avLst/>
          </a:prstGeom>
          <a:noFill/>
        </p:spPr>
        <p:txBody>
          <a:bodyPr wrap="square">
            <a:spAutoFit/>
          </a:bodyPr>
          <a:lstStyle/>
          <a:p>
            <a:r>
              <a:rPr sz="2000" b="1">
                <a:solidFill>
                  <a:srgbClr val="1B5E6B"/>
                </a:solidFill>
                <a:latin typeface="Bricolage Grotesque"/>
              </a:rPr>
              <a:t>6.  Brique 4 · Connecteur : théorie, puis pratique (15 min)</a:t>
            </a:r>
          </a:p>
        </p:txBody>
      </p:sp>
      <p:sp>
        <p:nvSpPr>
          <p:cNvPr id="11" name="TextBox 10"/>
          <p:cNvSpPr txBox="1"/>
          <p:nvPr/>
        </p:nvSpPr>
        <p:spPr>
          <a:xfrm>
            <a:off x="640080" y="4919472"/>
            <a:ext cx="10881360" cy="411480"/>
          </a:xfrm>
          <a:prstGeom prst="rect">
            <a:avLst/>
          </a:prstGeom>
          <a:noFill/>
        </p:spPr>
        <p:txBody>
          <a:bodyPr wrap="square">
            <a:spAutoFit/>
          </a:bodyPr>
          <a:lstStyle/>
          <a:p>
            <a:r>
              <a:rPr sz="2000" b="1">
                <a:solidFill>
                  <a:srgbClr val="1B5E6B"/>
                </a:solidFill>
                <a:latin typeface="Bricolage Grotesque"/>
              </a:rPr>
              <a:t>7.  Devoirs et suite du parcours (5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Avant de commencer</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Trois vérifications, deux minutes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Le son passe par ton téléphone, l'écran par ton ordinateur.</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2.  L'application Claude est ouverte et connectée.</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3.  Ton forfait : Paramètres › Facturation. Gratuit ou Pro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Avant de commencer</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Trois vérifications, deux minutes</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Le son passe par ton téléphone, l'écran par ton ordinateur.</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2.  L'application Claude est ouverte et connectée.</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3.  Ton forfait : Paramètres › Facturation. Gratuit ou Pro ?</a:t>
            </a:r>
          </a:p>
        </p:txBody>
      </p:sp>
      <p:sp>
        <p:nvSpPr>
          <p:cNvPr id="9" name="TextBox 8"/>
          <p:cNvSpPr txBox="1"/>
          <p:nvPr/>
        </p:nvSpPr>
        <p:spPr>
          <a:xfrm>
            <a:off x="640080" y="4133088"/>
            <a:ext cx="10881360" cy="411480"/>
          </a:xfrm>
          <a:prstGeom prst="rect">
            <a:avLst/>
          </a:prstGeom>
          <a:noFill/>
        </p:spPr>
        <p:txBody>
          <a:bodyPr wrap="square">
            <a:spAutoFit/>
          </a:bodyPr>
          <a:lstStyle/>
          <a:p>
            <a:r>
              <a:rPr sz="2000" b="0">
                <a:solidFill>
                  <a:srgbClr val="333333"/>
                </a:solidFill>
                <a:latin typeface="Bricolage Grotesque"/>
              </a:rPr>
              <a:t>Pro est nécessaire pour les instructions de projet et les skills.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1</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Quiz : les bases de l'IA</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Cinq questions, avant même l'e-learning</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1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Un modèle comme Claude ou ChatGPT, c'est…</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Une base de données qui retrouve la bonne réponse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Un modèle qui prédit le mot suivant le plus probable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Un moteur de recherche, comme Google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1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Un modèle comme Claude ou ChatGPT, c'est…</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Une base de données qui retrouve la bonne réponse</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Un modèle qui prédit le mot suivant le plus probable</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Un moteur de recherche, comme Google</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Il écrit mot après mot ce qui est le plus probable, selon le contexte.</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Il ne « sait » rien : il peut donc se tromper avec beaucoup d'aplomb.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2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Claude t'annonce un prix de tuyau absent de ta grille. Que s'est-il passé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Il a trouvé un tarif plus récent que le tien</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Il a écrit un chiffre plausible : une hallucination</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Ta grille de prix est forcément fausse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2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Claude t'annonce un prix de tuyau absent de ta grille. Que s'est-il passé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Il a trouvé un tarif plus récent que le tien</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Il a écrit un chiffre plausible : une hallucination</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Ta grille de prix est forcément fausse</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La parade : lui faire citer la ligne exacte de la grille, puis vérifier.</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C'est la règle qu'on mettra dans ton projet factures tout à l'heure.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3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La fenêtre de contexte de Claude contient…</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Seulement ta dernière question</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Toute la conversation : tes messages, ses réponses, tes fichiers</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Tout ce que tu lui as écrit depuis ton inscription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3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La fenêtre de contexte de Claude contient…</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Seulement ta dernière question</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Toute la conversation : tes messages, ses réponses, tes fichiers</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Tout ce que tu lui as écrit depuis ton inscription</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À chaque message, Claude relit toute la conversation.</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Plus elle s'allonge, plus elle se remplit : elle a une limite.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4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Dix factures plus tard, les réponses se dégradent. Tu fais quoi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Tu insistes dans la même conversation</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Tu repars d'une nouvelle conversation, dans un projet</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Tu changes de forfait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4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Dix factures plus tard, les réponses se dégradent. Tu fais quoi ?</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Tu insistes dans la même conversation</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Tu repars d'une nouvelle conversation, dans un projet</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Tu changes de forfait</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La conversation trop longue fait oublier le début à Claude.</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Dans un projet, ta grille et tes consignes restent là à chaque fois.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5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Avant même ta question, Claude a déjà reçu…</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Rien du tout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Les consignes d'Anthropic, puis les tiennes si tu en as écrit</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Ton historique ChatGPT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Quiz · Question 5 / 5</a:t>
            </a:r>
          </a:p>
        </p:txBody>
      </p:sp>
      <p:sp>
        <p:nvSpPr>
          <p:cNvPr id="5" name="TextBox 4"/>
          <p:cNvSpPr txBox="1"/>
          <p:nvPr/>
        </p:nvSpPr>
        <p:spPr>
          <a:xfrm>
            <a:off x="640080" y="1417320"/>
            <a:ext cx="10881360" cy="731520"/>
          </a:xfrm>
          <a:prstGeom prst="rect">
            <a:avLst/>
          </a:prstGeom>
          <a:noFill/>
        </p:spPr>
        <p:txBody>
          <a:bodyPr wrap="square">
            <a:spAutoFit/>
          </a:bodyPr>
          <a:lstStyle/>
          <a:p>
            <a:pPr algn="l"/>
            <a:r>
              <a:rPr sz="2400" b="1">
                <a:solidFill>
                  <a:srgbClr val="1A1A1A"/>
                </a:solidFill>
                <a:latin typeface="Bricolage Grotesque"/>
              </a:rPr>
              <a:t>Avant même ta question, Claude a déjà reçu…</a:t>
            </a:r>
          </a:p>
        </p:txBody>
      </p:sp>
      <p:sp>
        <p:nvSpPr>
          <p:cNvPr id="6" name="Rounded Rectangle 5"/>
          <p:cNvSpPr/>
          <p:nvPr/>
        </p:nvSpPr>
        <p:spPr>
          <a:xfrm>
            <a:off x="640080" y="228600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59152"/>
            <a:ext cx="10515600" cy="384048"/>
          </a:xfrm>
          <a:prstGeom prst="rect">
            <a:avLst/>
          </a:prstGeom>
          <a:noFill/>
        </p:spPr>
        <p:txBody>
          <a:bodyPr wrap="square">
            <a:spAutoFit/>
          </a:bodyPr>
          <a:lstStyle/>
          <a:p>
            <a:pPr algn="l"/>
            <a:r>
              <a:rPr sz="1900" b="0">
                <a:solidFill>
                  <a:srgbClr val="333333"/>
                </a:solidFill>
                <a:latin typeface="Bricolage Grotesque"/>
              </a:rPr>
              <a:t>A.  Rien du tout</a:t>
            </a:r>
          </a:p>
        </p:txBody>
      </p:sp>
      <p:sp>
        <p:nvSpPr>
          <p:cNvPr id="8" name="Rounded Rectangle 7"/>
          <p:cNvSpPr/>
          <p:nvPr/>
        </p:nvSpPr>
        <p:spPr>
          <a:xfrm>
            <a:off x="640080" y="292608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99232"/>
            <a:ext cx="10515600" cy="384048"/>
          </a:xfrm>
          <a:prstGeom prst="rect">
            <a:avLst/>
          </a:prstGeom>
          <a:noFill/>
        </p:spPr>
        <p:txBody>
          <a:bodyPr wrap="square">
            <a:spAutoFit/>
          </a:bodyPr>
          <a:lstStyle/>
          <a:p>
            <a:pPr algn="l"/>
            <a:r>
              <a:rPr sz="1900" b="0">
                <a:solidFill>
                  <a:srgbClr val="333333"/>
                </a:solidFill>
                <a:latin typeface="Bricolage Grotesque"/>
              </a:rPr>
              <a:t>B.  Les consignes d'Anthropic, puis les tiennes si tu en as écrit</a:t>
            </a:r>
          </a:p>
        </p:txBody>
      </p:sp>
      <p:sp>
        <p:nvSpPr>
          <p:cNvPr id="10" name="Rounded Rectangle 9"/>
          <p:cNvSpPr/>
          <p:nvPr/>
        </p:nvSpPr>
        <p:spPr>
          <a:xfrm>
            <a:off x="640080" y="3566160"/>
            <a:ext cx="10881360" cy="530352"/>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39312"/>
            <a:ext cx="10515600" cy="384048"/>
          </a:xfrm>
          <a:prstGeom prst="rect">
            <a:avLst/>
          </a:prstGeom>
          <a:noFill/>
        </p:spPr>
        <p:txBody>
          <a:bodyPr wrap="square">
            <a:spAutoFit/>
          </a:bodyPr>
          <a:lstStyle/>
          <a:p>
            <a:pPr algn="l"/>
            <a:r>
              <a:rPr sz="1900" b="0">
                <a:solidFill>
                  <a:srgbClr val="333333"/>
                </a:solidFill>
                <a:latin typeface="Bricolage Grotesque"/>
              </a:rPr>
              <a:t>C.  Ton historique ChatGPT</a:t>
            </a:r>
          </a:p>
        </p:txBody>
      </p:sp>
      <p:sp>
        <p:nvSpPr>
          <p:cNvPr id="12" name="Rounded Rectangle 11"/>
          <p:cNvSpPr/>
          <p:nvPr/>
        </p:nvSpPr>
        <p:spPr>
          <a:xfrm>
            <a:off x="640080" y="4343400"/>
            <a:ext cx="10881360" cy="105156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434840"/>
            <a:ext cx="10515600" cy="384048"/>
          </a:xfrm>
          <a:prstGeom prst="rect">
            <a:avLst/>
          </a:prstGeom>
          <a:noFill/>
        </p:spPr>
        <p:txBody>
          <a:bodyPr wrap="square">
            <a:spAutoFit/>
          </a:bodyPr>
          <a:lstStyle/>
          <a:p>
            <a:pPr algn="l"/>
            <a:r>
              <a:rPr sz="1800" b="1">
                <a:solidFill>
                  <a:srgbClr val="FFFFFF"/>
                </a:solidFill>
                <a:latin typeface="Bricolage Grotesque"/>
              </a:rPr>
              <a:t>B. C'est le « system prompt ». Tes Instructions pour Claude s'y ajoutent.</a:t>
            </a:r>
          </a:p>
        </p:txBody>
      </p:sp>
      <p:sp>
        <p:nvSpPr>
          <p:cNvPr id="14" name="TextBox 13"/>
          <p:cNvSpPr txBox="1"/>
          <p:nvPr/>
        </p:nvSpPr>
        <p:spPr>
          <a:xfrm>
            <a:off x="868680" y="4864607"/>
            <a:ext cx="10515600" cy="384048"/>
          </a:xfrm>
          <a:prstGeom prst="rect">
            <a:avLst/>
          </a:prstGeom>
          <a:noFill/>
        </p:spPr>
        <p:txBody>
          <a:bodyPr wrap="square">
            <a:spAutoFit/>
          </a:bodyPr>
          <a:lstStyle/>
          <a:p>
            <a:pPr algn="l"/>
            <a:r>
              <a:rPr sz="1800" b="1">
                <a:solidFill>
                  <a:srgbClr val="FFFFFF"/>
                </a:solidFill>
                <a:latin typeface="Bricolage Grotesque"/>
              </a:rPr>
              <a:t>D'où la brique 1 : écrire une fois qui tu es, pour toutes tes conversations.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2</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Ton Claude en 4 briques</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Ce qu'on construit aujourd'hui, sur Pomarès TP</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Les 4 briques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Du plus large au plus précis</a:t>
            </a:r>
          </a:p>
        </p:txBody>
      </p:sp>
      <p:sp>
        <p:nvSpPr>
          <p:cNvPr id="6" name="Rounded Rectangle 5"/>
          <p:cNvSpPr/>
          <p:nvPr/>
        </p:nvSpPr>
        <p:spPr>
          <a:xfrm>
            <a:off x="640080" y="2286000"/>
            <a:ext cx="2560320" cy="292608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286000"/>
            <a:ext cx="2560320" cy="7315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468880"/>
            <a:ext cx="2194560" cy="411480"/>
          </a:xfrm>
          <a:prstGeom prst="rect">
            <a:avLst/>
          </a:prstGeom>
          <a:noFill/>
        </p:spPr>
        <p:txBody>
          <a:bodyPr wrap="square">
            <a:spAutoFit/>
          </a:bodyPr>
          <a:lstStyle/>
          <a:p>
            <a:pPr algn="l"/>
            <a:r>
              <a:rPr sz="2600" b="1">
                <a:solidFill>
                  <a:srgbClr val="E8A000"/>
                </a:solidFill>
                <a:latin typeface="Bricolage Grotesque"/>
              </a:rPr>
              <a:t>1</a:t>
            </a:r>
          </a:p>
        </p:txBody>
      </p:sp>
      <p:sp>
        <p:nvSpPr>
          <p:cNvPr id="9" name="TextBox 8"/>
          <p:cNvSpPr txBox="1"/>
          <p:nvPr/>
        </p:nvSpPr>
        <p:spPr>
          <a:xfrm>
            <a:off x="822959" y="2971800"/>
            <a:ext cx="2194560" cy="411480"/>
          </a:xfrm>
          <a:prstGeom prst="rect">
            <a:avLst/>
          </a:prstGeom>
          <a:noFill/>
        </p:spPr>
        <p:txBody>
          <a:bodyPr wrap="square">
            <a:spAutoFit/>
          </a:bodyPr>
          <a:lstStyle/>
          <a:p>
            <a:pPr algn="l"/>
            <a:r>
              <a:rPr sz="2000" b="1">
                <a:solidFill>
                  <a:srgbClr val="1B5E6B"/>
                </a:solidFill>
                <a:latin typeface="Bricolage Grotesque"/>
              </a:rPr>
              <a:t>Instructions</a:t>
            </a:r>
          </a:p>
        </p:txBody>
      </p:sp>
      <p:sp>
        <p:nvSpPr>
          <p:cNvPr id="10" name="TextBox 9"/>
          <p:cNvSpPr txBox="1"/>
          <p:nvPr/>
        </p:nvSpPr>
        <p:spPr>
          <a:xfrm>
            <a:off x="822959" y="3429000"/>
            <a:ext cx="2194560" cy="1005840"/>
          </a:xfrm>
          <a:prstGeom prst="rect">
            <a:avLst/>
          </a:prstGeom>
          <a:noFill/>
        </p:spPr>
        <p:txBody>
          <a:bodyPr wrap="square">
            <a:spAutoFit/>
          </a:bodyPr>
          <a:lstStyle/>
          <a:p>
            <a:pPr algn="l"/>
            <a:r>
              <a:rPr sz="1600" b="0">
                <a:solidFill>
                  <a:srgbClr val="1A1A1A"/>
                </a:solidFill>
                <a:latin typeface="Bricolage Grotesque"/>
              </a:rPr>
              <a:t>Qui tu es et tes règles. Lues dans TOUTES tes conversations.</a:t>
            </a:r>
          </a:p>
        </p:txBody>
      </p:sp>
      <p:sp>
        <p:nvSpPr>
          <p:cNvPr id="11" name="TextBox 10"/>
          <p:cNvSpPr txBox="1"/>
          <p:nvPr/>
        </p:nvSpPr>
        <p:spPr>
          <a:xfrm>
            <a:off x="822959" y="4480560"/>
            <a:ext cx="2194560" cy="640080"/>
          </a:xfrm>
          <a:prstGeom prst="rect">
            <a:avLst/>
          </a:prstGeom>
          <a:noFill/>
        </p:spPr>
        <p:txBody>
          <a:bodyPr wrap="square">
            <a:spAutoFit/>
          </a:bodyPr>
          <a:lstStyle/>
          <a:p>
            <a:pPr algn="l"/>
            <a:r>
              <a:rPr sz="1500" b="0">
                <a:solidFill>
                  <a:srgbClr val="5A8A8F"/>
                </a:solidFill>
                <a:latin typeface="Bricolage Grotesque"/>
              </a:rPr>
              <a:t>Pomarès TP, tes clients, ton ton</a:t>
            </a:r>
          </a:p>
        </p:txBody>
      </p:sp>
      <p:sp>
        <p:nvSpPr>
          <p:cNvPr id="12" name="Rounded Rectangle 11"/>
          <p:cNvSpPr/>
          <p:nvPr/>
        </p:nvSpPr>
        <p:spPr>
          <a:xfrm>
            <a:off x="3413455" y="2286000"/>
            <a:ext cx="2560320" cy="292608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13455" y="2286000"/>
            <a:ext cx="2560320" cy="7315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96335" y="2468880"/>
            <a:ext cx="2194560" cy="411480"/>
          </a:xfrm>
          <a:prstGeom prst="rect">
            <a:avLst/>
          </a:prstGeom>
          <a:noFill/>
        </p:spPr>
        <p:txBody>
          <a:bodyPr wrap="square">
            <a:spAutoFit/>
          </a:bodyPr>
          <a:lstStyle/>
          <a:p>
            <a:pPr algn="l"/>
            <a:r>
              <a:rPr sz="2600" b="1">
                <a:solidFill>
                  <a:srgbClr val="E8A000"/>
                </a:solidFill>
                <a:latin typeface="Bricolage Grotesque"/>
              </a:rPr>
              <a:t>2</a:t>
            </a:r>
          </a:p>
        </p:txBody>
      </p:sp>
      <p:sp>
        <p:nvSpPr>
          <p:cNvPr id="15" name="TextBox 14"/>
          <p:cNvSpPr txBox="1"/>
          <p:nvPr/>
        </p:nvSpPr>
        <p:spPr>
          <a:xfrm>
            <a:off x="3596335" y="2971800"/>
            <a:ext cx="2194560" cy="411480"/>
          </a:xfrm>
          <a:prstGeom prst="rect">
            <a:avLst/>
          </a:prstGeom>
          <a:noFill/>
        </p:spPr>
        <p:txBody>
          <a:bodyPr wrap="square">
            <a:spAutoFit/>
          </a:bodyPr>
          <a:lstStyle/>
          <a:p>
            <a:pPr algn="l"/>
            <a:r>
              <a:rPr sz="2000" b="1">
                <a:solidFill>
                  <a:srgbClr val="1B5E6B"/>
                </a:solidFill>
                <a:latin typeface="Bricolage Grotesque"/>
              </a:rPr>
              <a:t>Projet</a:t>
            </a:r>
          </a:p>
        </p:txBody>
      </p:sp>
      <p:sp>
        <p:nvSpPr>
          <p:cNvPr id="16" name="TextBox 15"/>
          <p:cNvSpPr txBox="1"/>
          <p:nvPr/>
        </p:nvSpPr>
        <p:spPr>
          <a:xfrm>
            <a:off x="3596335" y="3429000"/>
            <a:ext cx="2194560" cy="1005840"/>
          </a:xfrm>
          <a:prstGeom prst="rect">
            <a:avLst/>
          </a:prstGeom>
          <a:noFill/>
        </p:spPr>
        <p:txBody>
          <a:bodyPr wrap="square">
            <a:spAutoFit/>
          </a:bodyPr>
          <a:lstStyle/>
          <a:p>
            <a:pPr algn="l"/>
            <a:r>
              <a:rPr sz="1600" b="0">
                <a:solidFill>
                  <a:srgbClr val="1A1A1A"/>
                </a:solidFill>
                <a:latin typeface="Bricolage Grotesque"/>
              </a:rPr>
              <a:t>Un dossier de travail : ses consignes et ses fichiers.</a:t>
            </a:r>
          </a:p>
        </p:txBody>
      </p:sp>
      <p:sp>
        <p:nvSpPr>
          <p:cNvPr id="17" name="TextBox 16"/>
          <p:cNvSpPr txBox="1"/>
          <p:nvPr/>
        </p:nvSpPr>
        <p:spPr>
          <a:xfrm>
            <a:off x="3596335" y="4480560"/>
            <a:ext cx="2194560" cy="640080"/>
          </a:xfrm>
          <a:prstGeom prst="rect">
            <a:avLst/>
          </a:prstGeom>
          <a:noFill/>
        </p:spPr>
        <p:txBody>
          <a:bodyPr wrap="square">
            <a:spAutoFit/>
          </a:bodyPr>
          <a:lstStyle/>
          <a:p>
            <a:pPr algn="l"/>
            <a:r>
              <a:rPr sz="1500" b="0">
                <a:solidFill>
                  <a:srgbClr val="5A8A8F"/>
                </a:solidFill>
                <a:latin typeface="Bricolage Grotesque"/>
              </a:rPr>
              <a:t>Contrôle des factures fournisseurs</a:t>
            </a:r>
          </a:p>
        </p:txBody>
      </p:sp>
      <p:sp>
        <p:nvSpPr>
          <p:cNvPr id="18" name="Rounded Rectangle 17"/>
          <p:cNvSpPr/>
          <p:nvPr/>
        </p:nvSpPr>
        <p:spPr>
          <a:xfrm>
            <a:off x="6186830" y="2286000"/>
            <a:ext cx="2560320" cy="292608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6830" y="2286000"/>
            <a:ext cx="2560320" cy="7315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9710" y="2468880"/>
            <a:ext cx="2194560" cy="411480"/>
          </a:xfrm>
          <a:prstGeom prst="rect">
            <a:avLst/>
          </a:prstGeom>
          <a:noFill/>
        </p:spPr>
        <p:txBody>
          <a:bodyPr wrap="square">
            <a:spAutoFit/>
          </a:bodyPr>
          <a:lstStyle/>
          <a:p>
            <a:pPr algn="l"/>
            <a:r>
              <a:rPr sz="2600" b="1">
                <a:solidFill>
                  <a:srgbClr val="E8A000"/>
                </a:solidFill>
                <a:latin typeface="Bricolage Grotesque"/>
              </a:rPr>
              <a:t>3</a:t>
            </a:r>
          </a:p>
        </p:txBody>
      </p:sp>
      <p:sp>
        <p:nvSpPr>
          <p:cNvPr id="21" name="TextBox 20"/>
          <p:cNvSpPr txBox="1"/>
          <p:nvPr/>
        </p:nvSpPr>
        <p:spPr>
          <a:xfrm>
            <a:off x="6369710" y="2971800"/>
            <a:ext cx="2194560" cy="411480"/>
          </a:xfrm>
          <a:prstGeom prst="rect">
            <a:avLst/>
          </a:prstGeom>
          <a:noFill/>
        </p:spPr>
        <p:txBody>
          <a:bodyPr wrap="square">
            <a:spAutoFit/>
          </a:bodyPr>
          <a:lstStyle/>
          <a:p>
            <a:pPr algn="l"/>
            <a:r>
              <a:rPr sz="2000" b="1">
                <a:solidFill>
                  <a:srgbClr val="1B5E6B"/>
                </a:solidFill>
                <a:latin typeface="Bricolage Grotesque"/>
              </a:rPr>
              <a:t>Skill</a:t>
            </a:r>
          </a:p>
        </p:txBody>
      </p:sp>
      <p:sp>
        <p:nvSpPr>
          <p:cNvPr id="22" name="TextBox 21"/>
          <p:cNvSpPr txBox="1"/>
          <p:nvPr/>
        </p:nvSpPr>
        <p:spPr>
          <a:xfrm>
            <a:off x="6369710" y="3429000"/>
            <a:ext cx="2194560" cy="1005840"/>
          </a:xfrm>
          <a:prstGeom prst="rect">
            <a:avLst/>
          </a:prstGeom>
          <a:noFill/>
        </p:spPr>
        <p:txBody>
          <a:bodyPr wrap="square">
            <a:spAutoFit/>
          </a:bodyPr>
          <a:lstStyle/>
          <a:p>
            <a:pPr algn="l"/>
            <a:r>
              <a:rPr sz="1600" b="0">
                <a:solidFill>
                  <a:srgbClr val="1A1A1A"/>
                </a:solidFill>
                <a:latin typeface="Bricolage Grotesque"/>
              </a:rPr>
              <a:t>Une façon de faire réutilisable, qui produit un livrable.</a:t>
            </a:r>
          </a:p>
        </p:txBody>
      </p:sp>
      <p:sp>
        <p:nvSpPr>
          <p:cNvPr id="23" name="TextBox 22"/>
          <p:cNvSpPr txBox="1"/>
          <p:nvPr/>
        </p:nvSpPr>
        <p:spPr>
          <a:xfrm>
            <a:off x="6369710" y="4480560"/>
            <a:ext cx="2194560" cy="640080"/>
          </a:xfrm>
          <a:prstGeom prst="rect">
            <a:avLst/>
          </a:prstGeom>
          <a:noFill/>
        </p:spPr>
        <p:txBody>
          <a:bodyPr wrap="square">
            <a:spAutoFit/>
          </a:bodyPr>
          <a:lstStyle/>
          <a:p>
            <a:pPr algn="l"/>
            <a:r>
              <a:rPr sz="1500" b="0">
                <a:solidFill>
                  <a:srgbClr val="5A8A8F"/>
                </a:solidFill>
                <a:latin typeface="Bricolage Grotesque"/>
              </a:rPr>
              <a:t>Tes mails commerciaux</a:t>
            </a:r>
          </a:p>
        </p:txBody>
      </p:sp>
      <p:sp>
        <p:nvSpPr>
          <p:cNvPr id="24" name="Rounded Rectangle 23"/>
          <p:cNvSpPr/>
          <p:nvPr/>
        </p:nvSpPr>
        <p:spPr>
          <a:xfrm>
            <a:off x="8960205" y="2286000"/>
            <a:ext cx="2560320" cy="292608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60205" y="2286000"/>
            <a:ext cx="2560320" cy="7315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3085" y="2468880"/>
            <a:ext cx="2194560" cy="411480"/>
          </a:xfrm>
          <a:prstGeom prst="rect">
            <a:avLst/>
          </a:prstGeom>
          <a:noFill/>
        </p:spPr>
        <p:txBody>
          <a:bodyPr wrap="square">
            <a:spAutoFit/>
          </a:bodyPr>
          <a:lstStyle/>
          <a:p>
            <a:pPr algn="l"/>
            <a:r>
              <a:rPr sz="2600" b="1">
                <a:solidFill>
                  <a:srgbClr val="E8A000"/>
                </a:solidFill>
                <a:latin typeface="Bricolage Grotesque"/>
              </a:rPr>
              <a:t>4</a:t>
            </a:r>
          </a:p>
        </p:txBody>
      </p:sp>
      <p:sp>
        <p:nvSpPr>
          <p:cNvPr id="27" name="TextBox 26"/>
          <p:cNvSpPr txBox="1"/>
          <p:nvPr/>
        </p:nvSpPr>
        <p:spPr>
          <a:xfrm>
            <a:off x="9143085" y="2971800"/>
            <a:ext cx="2194560" cy="411480"/>
          </a:xfrm>
          <a:prstGeom prst="rect">
            <a:avLst/>
          </a:prstGeom>
          <a:noFill/>
        </p:spPr>
        <p:txBody>
          <a:bodyPr wrap="square">
            <a:spAutoFit/>
          </a:bodyPr>
          <a:lstStyle/>
          <a:p>
            <a:pPr algn="l"/>
            <a:r>
              <a:rPr sz="2000" b="1">
                <a:solidFill>
                  <a:srgbClr val="1B5E6B"/>
                </a:solidFill>
                <a:latin typeface="Bricolage Grotesque"/>
              </a:rPr>
              <a:t>Connecteur</a:t>
            </a:r>
          </a:p>
        </p:txBody>
      </p:sp>
      <p:sp>
        <p:nvSpPr>
          <p:cNvPr id="28" name="TextBox 27"/>
          <p:cNvSpPr txBox="1"/>
          <p:nvPr/>
        </p:nvSpPr>
        <p:spPr>
          <a:xfrm>
            <a:off x="9143085" y="3429000"/>
            <a:ext cx="2194560" cy="1005840"/>
          </a:xfrm>
          <a:prstGeom prst="rect">
            <a:avLst/>
          </a:prstGeom>
          <a:noFill/>
        </p:spPr>
        <p:txBody>
          <a:bodyPr wrap="square">
            <a:spAutoFit/>
          </a:bodyPr>
          <a:lstStyle/>
          <a:p>
            <a:pPr algn="l"/>
            <a:r>
              <a:rPr sz="1600" b="0">
                <a:solidFill>
                  <a:srgbClr val="1A1A1A"/>
                </a:solidFill>
                <a:latin typeface="Bricolage Grotesque"/>
              </a:rPr>
              <a:t>Claude lit tes outils à la source : mails, fichiers, agenda.</a:t>
            </a:r>
          </a:p>
        </p:txBody>
      </p:sp>
      <p:sp>
        <p:nvSpPr>
          <p:cNvPr id="29" name="TextBox 28"/>
          <p:cNvSpPr txBox="1"/>
          <p:nvPr/>
        </p:nvSpPr>
        <p:spPr>
          <a:xfrm>
            <a:off x="9143085" y="4480560"/>
            <a:ext cx="2194560" cy="640080"/>
          </a:xfrm>
          <a:prstGeom prst="rect">
            <a:avLst/>
          </a:prstGeom>
          <a:noFill/>
        </p:spPr>
        <p:txBody>
          <a:bodyPr wrap="square">
            <a:spAutoFit/>
          </a:bodyPr>
          <a:lstStyle/>
          <a:p>
            <a:pPr algn="l"/>
            <a:r>
              <a:rPr sz="1500" b="0">
                <a:solidFill>
                  <a:srgbClr val="5A8A8F"/>
                </a:solidFill>
                <a:latin typeface="Bricolage Grotesque"/>
              </a:rPr>
              <a:t>Ta messagerie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Ce que Claude a sous les yeux</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Quand tu écris dans un projet, tout s'additionne</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Instructions
pour Claude</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Instructions
du projet</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Fichiers
du projet</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Tes skills,
s'ils servent</a:t>
            </a:r>
          </a:p>
        </p:txBody>
      </p:sp>
      <p:sp>
        <p:nvSpPr>
          <p:cNvPr id="17" name="Rounded Rectangle 16"/>
          <p:cNvSpPr/>
          <p:nvPr/>
        </p:nvSpPr>
        <p:spPr>
          <a:xfrm>
            <a:off x="640080" y="416052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25112"/>
            <a:ext cx="2148840" cy="502920"/>
          </a:xfrm>
          <a:prstGeom prst="rect">
            <a:avLst/>
          </a:prstGeom>
          <a:noFill/>
        </p:spPr>
        <p:txBody>
          <a:bodyPr wrap="square">
            <a:spAutoFit/>
          </a:bodyPr>
          <a:lstStyle/>
          <a:p>
            <a:pPr algn="ctr"/>
            <a:r>
              <a:rPr sz="1400" b="1">
                <a:solidFill>
                  <a:srgbClr val="FFFFFF"/>
                </a:solidFill>
                <a:latin typeface="Bricolage Grotesque"/>
              </a:rPr>
              <a:t>Ta demande</a:t>
            </a:r>
          </a:p>
        </p:txBody>
      </p:sp>
      <p:sp>
        <p:nvSpPr>
          <p:cNvPr id="19" name="TextBox 18"/>
          <p:cNvSpPr txBox="1"/>
          <p:nvPr/>
        </p:nvSpPr>
        <p:spPr>
          <a:xfrm>
            <a:off x="3008376" y="434340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20" name="Rounded Rectangle 19"/>
          <p:cNvSpPr/>
          <p:nvPr/>
        </p:nvSpPr>
        <p:spPr>
          <a:xfrm>
            <a:off x="3355848" y="416052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47288" y="4325112"/>
            <a:ext cx="2148840" cy="502920"/>
          </a:xfrm>
          <a:prstGeom prst="rect">
            <a:avLst/>
          </a:prstGeom>
          <a:noFill/>
        </p:spPr>
        <p:txBody>
          <a:bodyPr wrap="square">
            <a:spAutoFit/>
          </a:bodyPr>
          <a:lstStyle/>
          <a:p>
            <a:pPr algn="ctr"/>
            <a:r>
              <a:rPr sz="1400" b="1">
                <a:solidFill>
                  <a:srgbClr val="FFFFFF"/>
                </a:solidFill>
                <a:latin typeface="Bricolage Grotesque"/>
              </a:rPr>
              <a:t>Tes
connecteurs</a:t>
            </a:r>
          </a:p>
        </p:txBody>
      </p:sp>
      <p:sp>
        <p:nvSpPr>
          <p:cNvPr id="22" name="TextBox 21"/>
          <p:cNvSpPr txBox="1"/>
          <p:nvPr/>
        </p:nvSpPr>
        <p:spPr>
          <a:xfrm>
            <a:off x="640080" y="5029200"/>
            <a:ext cx="10972800" cy="411480"/>
          </a:xfrm>
          <a:prstGeom prst="rect">
            <a:avLst/>
          </a:prstGeom>
          <a:noFill/>
        </p:spPr>
        <p:txBody>
          <a:bodyPr wrap="square">
            <a:spAutoFit/>
          </a:bodyPr>
          <a:lstStyle/>
          <a:p>
            <a:pPr algn="l"/>
            <a:r>
              <a:rPr sz="1800" b="1">
                <a:solidFill>
                  <a:srgbClr val="1B5E6B"/>
                </a:solidFill>
                <a:latin typeface="Bricolage Grotesque"/>
              </a:rPr>
              <a:t>Une règle à un seul endroit : écrite deux fois, elle finit par se contredire.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Tes sujets : où ils vont</a:t>
            </a:r>
          </a:p>
        </p:txBody>
      </p:sp>
      <p:sp>
        <p:nvSpPr>
          <p:cNvPr id="5" name="TextBox 4"/>
          <p:cNvSpPr txBox="1"/>
          <p:nvPr/>
        </p:nvSpPr>
        <p:spPr>
          <a:xfrm>
            <a:off x="777240" y="1463040"/>
            <a:ext cx="4754880" cy="365760"/>
          </a:xfrm>
          <a:prstGeom prst="rect">
            <a:avLst/>
          </a:prstGeom>
          <a:noFill/>
        </p:spPr>
        <p:txBody>
          <a:bodyPr wrap="square">
            <a:spAutoFit/>
          </a:bodyPr>
          <a:lstStyle/>
          <a:p>
            <a:pPr algn="l"/>
            <a:r>
              <a:rPr sz="1800" b="1">
                <a:solidFill>
                  <a:srgbClr val="1B5E6B"/>
                </a:solidFill>
                <a:latin typeface="Bricolage Grotesque"/>
              </a:rPr>
              <a:t>Ton sujet</a:t>
            </a:r>
          </a:p>
        </p:txBody>
      </p:sp>
      <p:sp>
        <p:nvSpPr>
          <p:cNvPr id="6" name="TextBox 5"/>
          <p:cNvSpPr txBox="1"/>
          <p:nvPr/>
        </p:nvSpPr>
        <p:spPr>
          <a:xfrm>
            <a:off x="5715000" y="1463040"/>
            <a:ext cx="3383279" cy="365760"/>
          </a:xfrm>
          <a:prstGeom prst="rect">
            <a:avLst/>
          </a:prstGeom>
          <a:noFill/>
        </p:spPr>
        <p:txBody>
          <a:bodyPr wrap="square">
            <a:spAutoFit/>
          </a:bodyPr>
          <a:lstStyle/>
          <a:p>
            <a:pPr algn="l"/>
            <a:r>
              <a:rPr sz="1800" b="1">
                <a:solidFill>
                  <a:srgbClr val="1B5E6B"/>
                </a:solidFill>
                <a:latin typeface="Bricolage Grotesque"/>
              </a:rPr>
              <a:t>Avec quoi</a:t>
            </a:r>
          </a:p>
        </p:txBody>
      </p:sp>
      <p:sp>
        <p:nvSpPr>
          <p:cNvPr id="7" name="TextBox 6"/>
          <p:cNvSpPr txBox="1"/>
          <p:nvPr/>
        </p:nvSpPr>
        <p:spPr>
          <a:xfrm>
            <a:off x="9281160" y="1463040"/>
            <a:ext cx="2194560" cy="365760"/>
          </a:xfrm>
          <a:prstGeom prst="rect">
            <a:avLst/>
          </a:prstGeom>
          <a:noFill/>
        </p:spPr>
        <p:txBody>
          <a:bodyPr wrap="square">
            <a:spAutoFit/>
          </a:bodyPr>
          <a:lstStyle/>
          <a:p>
            <a:pPr algn="l"/>
            <a:r>
              <a:rPr sz="1800" b="1">
                <a:solidFill>
                  <a:srgbClr val="1B5E6B"/>
                </a:solidFill>
                <a:latin typeface="Bricolage Grotesque"/>
              </a:rPr>
              <a:t>Quand</a:t>
            </a:r>
          </a:p>
        </p:txBody>
      </p:sp>
      <p:sp>
        <p:nvSpPr>
          <p:cNvPr id="8" name="Rectangle 7"/>
          <p:cNvSpPr/>
          <p:nvPr/>
        </p:nvSpPr>
        <p:spPr>
          <a:xfrm>
            <a:off x="640080" y="1874520"/>
            <a:ext cx="1088136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9659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20824"/>
            <a:ext cx="4754880" cy="347472"/>
          </a:xfrm>
          <a:prstGeom prst="rect">
            <a:avLst/>
          </a:prstGeom>
          <a:noFill/>
        </p:spPr>
        <p:txBody>
          <a:bodyPr wrap="square">
            <a:spAutoFit/>
          </a:bodyPr>
          <a:lstStyle/>
          <a:p>
            <a:pPr algn="l"/>
            <a:r>
              <a:rPr sz="1600" b="1">
                <a:solidFill>
                  <a:srgbClr val="1A1A1A"/>
                </a:solidFill>
                <a:latin typeface="Bricolage Grotesque"/>
              </a:rPr>
              <a:t>Factures contre grille du chantier</a:t>
            </a:r>
          </a:p>
        </p:txBody>
      </p:sp>
      <p:sp>
        <p:nvSpPr>
          <p:cNvPr id="11" name="TextBox 10"/>
          <p:cNvSpPr txBox="1"/>
          <p:nvPr/>
        </p:nvSpPr>
        <p:spPr>
          <a:xfrm>
            <a:off x="5715000" y="2020824"/>
            <a:ext cx="3383279" cy="347472"/>
          </a:xfrm>
          <a:prstGeom prst="rect">
            <a:avLst/>
          </a:prstGeom>
          <a:noFill/>
        </p:spPr>
        <p:txBody>
          <a:bodyPr wrap="square">
            <a:spAutoFit/>
          </a:bodyPr>
          <a:lstStyle/>
          <a:p>
            <a:pPr algn="l"/>
            <a:r>
              <a:rPr sz="1600" b="0">
                <a:solidFill>
                  <a:srgbClr val="333333"/>
                </a:solidFill>
                <a:latin typeface="Bricolage Grotesque"/>
              </a:rPr>
              <a:t>Projet Claude</a:t>
            </a:r>
          </a:p>
        </p:txBody>
      </p:sp>
      <p:sp>
        <p:nvSpPr>
          <p:cNvPr id="12" name="TextBox 11"/>
          <p:cNvSpPr txBox="1"/>
          <p:nvPr/>
        </p:nvSpPr>
        <p:spPr>
          <a:xfrm>
            <a:off x="9281160" y="2020824"/>
            <a:ext cx="2194560" cy="347472"/>
          </a:xfrm>
          <a:prstGeom prst="rect">
            <a:avLst/>
          </a:prstGeom>
          <a:noFill/>
        </p:spPr>
        <p:txBody>
          <a:bodyPr wrap="square">
            <a:spAutoFit/>
          </a:bodyPr>
          <a:lstStyle/>
          <a:p>
            <a:pPr algn="l"/>
            <a:r>
              <a:rPr sz="1600" b="0">
                <a:solidFill>
                  <a:srgbClr val="333333"/>
                </a:solidFill>
                <a:latin typeface="Bricolage Grotesque"/>
              </a:rPr>
              <a:t>Aujourd'hui</a:t>
            </a:r>
          </a:p>
        </p:txBody>
      </p:sp>
      <p:sp>
        <p:nvSpPr>
          <p:cNvPr id="13" name="TextBox 12"/>
          <p:cNvSpPr txBox="1"/>
          <p:nvPr/>
        </p:nvSpPr>
        <p:spPr>
          <a:xfrm>
            <a:off x="777240" y="2478024"/>
            <a:ext cx="4754880" cy="347472"/>
          </a:xfrm>
          <a:prstGeom prst="rect">
            <a:avLst/>
          </a:prstGeom>
          <a:noFill/>
        </p:spPr>
        <p:txBody>
          <a:bodyPr wrap="square">
            <a:spAutoFit/>
          </a:bodyPr>
          <a:lstStyle/>
          <a:p>
            <a:pPr algn="l"/>
            <a:r>
              <a:rPr sz="1600" b="1">
                <a:solidFill>
                  <a:srgbClr val="1A1A1A"/>
                </a:solidFill>
                <a:latin typeface="Bricolage Grotesque"/>
              </a:rPr>
              <a:t>Mails commerciaux clients, prospects</a:t>
            </a:r>
          </a:p>
        </p:txBody>
      </p:sp>
      <p:sp>
        <p:nvSpPr>
          <p:cNvPr id="14" name="TextBox 13"/>
          <p:cNvSpPr txBox="1"/>
          <p:nvPr/>
        </p:nvSpPr>
        <p:spPr>
          <a:xfrm>
            <a:off x="5715000" y="2478024"/>
            <a:ext cx="3383279" cy="347472"/>
          </a:xfrm>
          <a:prstGeom prst="rect">
            <a:avLst/>
          </a:prstGeom>
          <a:noFill/>
        </p:spPr>
        <p:txBody>
          <a:bodyPr wrap="square">
            <a:spAutoFit/>
          </a:bodyPr>
          <a:lstStyle/>
          <a:p>
            <a:pPr algn="l"/>
            <a:r>
              <a:rPr sz="1600" b="0">
                <a:solidFill>
                  <a:srgbClr val="333333"/>
                </a:solidFill>
                <a:latin typeface="Bricolage Grotesque"/>
              </a:rPr>
              <a:t>Skill + connecteur</a:t>
            </a:r>
          </a:p>
        </p:txBody>
      </p:sp>
      <p:sp>
        <p:nvSpPr>
          <p:cNvPr id="15" name="TextBox 14"/>
          <p:cNvSpPr txBox="1"/>
          <p:nvPr/>
        </p:nvSpPr>
        <p:spPr>
          <a:xfrm>
            <a:off x="9281160" y="2478024"/>
            <a:ext cx="2194560" cy="347472"/>
          </a:xfrm>
          <a:prstGeom prst="rect">
            <a:avLst/>
          </a:prstGeom>
          <a:noFill/>
        </p:spPr>
        <p:txBody>
          <a:bodyPr wrap="square">
            <a:spAutoFit/>
          </a:bodyPr>
          <a:lstStyle/>
          <a:p>
            <a:pPr algn="l"/>
            <a:r>
              <a:rPr sz="1600" b="0">
                <a:solidFill>
                  <a:srgbClr val="333333"/>
                </a:solidFill>
                <a:latin typeface="Bricolage Grotesque"/>
              </a:rPr>
              <a:t>Aujourd'hui</a:t>
            </a:r>
          </a:p>
        </p:txBody>
      </p:sp>
      <p:sp>
        <p:nvSpPr>
          <p:cNvPr id="16" name="Rectangle 15"/>
          <p:cNvSpPr/>
          <p:nvPr/>
        </p:nvSpPr>
        <p:spPr>
          <a:xfrm>
            <a:off x="640080" y="28803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935224"/>
            <a:ext cx="4754880" cy="347472"/>
          </a:xfrm>
          <a:prstGeom prst="rect">
            <a:avLst/>
          </a:prstGeom>
          <a:noFill/>
        </p:spPr>
        <p:txBody>
          <a:bodyPr wrap="square">
            <a:spAutoFit/>
          </a:bodyPr>
          <a:lstStyle/>
          <a:p>
            <a:pPr algn="l"/>
            <a:r>
              <a:rPr sz="1600" b="1">
                <a:solidFill>
                  <a:srgbClr val="1A1A1A"/>
                </a:solidFill>
                <a:latin typeface="Bricolage Grotesque"/>
              </a:rPr>
              <a:t>Tri des mails : devis, AO, CV</a:t>
            </a:r>
          </a:p>
        </p:txBody>
      </p:sp>
      <p:sp>
        <p:nvSpPr>
          <p:cNvPr id="18" name="TextBox 17"/>
          <p:cNvSpPr txBox="1"/>
          <p:nvPr/>
        </p:nvSpPr>
        <p:spPr>
          <a:xfrm>
            <a:off x="5715000" y="2935224"/>
            <a:ext cx="3383279" cy="347472"/>
          </a:xfrm>
          <a:prstGeom prst="rect">
            <a:avLst/>
          </a:prstGeom>
          <a:noFill/>
        </p:spPr>
        <p:txBody>
          <a:bodyPr wrap="square">
            <a:spAutoFit/>
          </a:bodyPr>
          <a:lstStyle/>
          <a:p>
            <a:pPr algn="l"/>
            <a:r>
              <a:rPr sz="1600" b="0">
                <a:solidFill>
                  <a:srgbClr val="333333"/>
                </a:solidFill>
                <a:latin typeface="Bricolage Grotesque"/>
              </a:rPr>
              <a:t>Make ou n8n</a:t>
            </a:r>
          </a:p>
        </p:txBody>
      </p:sp>
      <p:sp>
        <p:nvSpPr>
          <p:cNvPr id="19" name="TextBox 18"/>
          <p:cNvSpPr txBox="1"/>
          <p:nvPr/>
        </p:nvSpPr>
        <p:spPr>
          <a:xfrm>
            <a:off x="9281160" y="2935224"/>
            <a:ext cx="2194560" cy="347472"/>
          </a:xfrm>
          <a:prstGeom prst="rect">
            <a:avLst/>
          </a:prstGeom>
          <a:noFill/>
        </p:spPr>
        <p:txBody>
          <a:bodyPr wrap="square">
            <a:spAutoFit/>
          </a:bodyPr>
          <a:lstStyle/>
          <a:p>
            <a:pPr algn="l"/>
            <a:r>
              <a:rPr sz="1600" b="0">
                <a:solidFill>
                  <a:srgbClr val="333333"/>
                </a:solidFill>
                <a:latin typeface="Bricolage Grotesque"/>
              </a:rPr>
              <a:t>Séance 2</a:t>
            </a:r>
          </a:p>
        </p:txBody>
      </p:sp>
      <p:sp>
        <p:nvSpPr>
          <p:cNvPr id="20" name="TextBox 19"/>
          <p:cNvSpPr txBox="1"/>
          <p:nvPr/>
        </p:nvSpPr>
        <p:spPr>
          <a:xfrm>
            <a:off x="777240" y="3392424"/>
            <a:ext cx="4754880" cy="347472"/>
          </a:xfrm>
          <a:prstGeom prst="rect">
            <a:avLst/>
          </a:prstGeom>
          <a:noFill/>
        </p:spPr>
        <p:txBody>
          <a:bodyPr wrap="square">
            <a:spAutoFit/>
          </a:bodyPr>
          <a:lstStyle/>
          <a:p>
            <a:pPr algn="l"/>
            <a:r>
              <a:rPr sz="1600" b="1">
                <a:solidFill>
                  <a:srgbClr val="1A1A1A"/>
                </a:solidFill>
                <a:latin typeface="Bricolage Grotesque"/>
              </a:rPr>
              <a:t>Échéances : CT, Veritas, visites, EPI</a:t>
            </a:r>
          </a:p>
        </p:txBody>
      </p:sp>
      <p:sp>
        <p:nvSpPr>
          <p:cNvPr id="21" name="TextBox 20"/>
          <p:cNvSpPr txBox="1"/>
          <p:nvPr/>
        </p:nvSpPr>
        <p:spPr>
          <a:xfrm>
            <a:off x="5715000" y="3392424"/>
            <a:ext cx="3383279" cy="347472"/>
          </a:xfrm>
          <a:prstGeom prst="rect">
            <a:avLst/>
          </a:prstGeom>
          <a:noFill/>
        </p:spPr>
        <p:txBody>
          <a:bodyPr wrap="square">
            <a:spAutoFit/>
          </a:bodyPr>
          <a:lstStyle/>
          <a:p>
            <a:pPr algn="l"/>
            <a:r>
              <a:rPr sz="1600" b="0">
                <a:solidFill>
                  <a:srgbClr val="333333"/>
                </a:solidFill>
                <a:latin typeface="Bricolage Grotesque"/>
              </a:rPr>
              <a:t>Registre + rappels</a:t>
            </a:r>
          </a:p>
        </p:txBody>
      </p:sp>
      <p:sp>
        <p:nvSpPr>
          <p:cNvPr id="22" name="TextBox 21"/>
          <p:cNvSpPr txBox="1"/>
          <p:nvPr/>
        </p:nvSpPr>
        <p:spPr>
          <a:xfrm>
            <a:off x="9281160" y="3392424"/>
            <a:ext cx="2194560" cy="347472"/>
          </a:xfrm>
          <a:prstGeom prst="rect">
            <a:avLst/>
          </a:prstGeom>
          <a:noFill/>
        </p:spPr>
        <p:txBody>
          <a:bodyPr wrap="square">
            <a:spAutoFit/>
          </a:bodyPr>
          <a:lstStyle/>
          <a:p>
            <a:pPr algn="l"/>
            <a:r>
              <a:rPr sz="1600" b="0">
                <a:solidFill>
                  <a:srgbClr val="333333"/>
                </a:solidFill>
                <a:latin typeface="Bricolage Grotesque"/>
              </a:rPr>
              <a:t>Séance 3</a:t>
            </a:r>
          </a:p>
        </p:txBody>
      </p:sp>
      <p:sp>
        <p:nvSpPr>
          <p:cNvPr id="23" name="Rectangle 22"/>
          <p:cNvSpPr/>
          <p:nvPr/>
        </p:nvSpPr>
        <p:spPr>
          <a:xfrm>
            <a:off x="640080" y="37947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849624"/>
            <a:ext cx="4754880" cy="347472"/>
          </a:xfrm>
          <a:prstGeom prst="rect">
            <a:avLst/>
          </a:prstGeom>
          <a:noFill/>
        </p:spPr>
        <p:txBody>
          <a:bodyPr wrap="square">
            <a:spAutoFit/>
          </a:bodyPr>
          <a:lstStyle/>
          <a:p>
            <a:pPr algn="l"/>
            <a:r>
              <a:rPr sz="1600" b="1">
                <a:solidFill>
                  <a:srgbClr val="1A1A1A"/>
                </a:solidFill>
                <a:latin typeface="Bricolage Grotesque"/>
              </a:rPr>
              <a:t>Devis dictés, TVA, suivi des devis</a:t>
            </a:r>
          </a:p>
        </p:txBody>
      </p:sp>
      <p:sp>
        <p:nvSpPr>
          <p:cNvPr id="25" name="TextBox 24"/>
          <p:cNvSpPr txBox="1"/>
          <p:nvPr/>
        </p:nvSpPr>
        <p:spPr>
          <a:xfrm>
            <a:off x="5715000" y="3849624"/>
            <a:ext cx="3383279" cy="347472"/>
          </a:xfrm>
          <a:prstGeom prst="rect">
            <a:avLst/>
          </a:prstGeom>
          <a:noFill/>
        </p:spPr>
        <p:txBody>
          <a:bodyPr wrap="square">
            <a:spAutoFit/>
          </a:bodyPr>
          <a:lstStyle/>
          <a:p>
            <a:pPr algn="l"/>
            <a:r>
              <a:rPr sz="1600" b="0">
                <a:solidFill>
                  <a:srgbClr val="333333"/>
                </a:solidFill>
                <a:latin typeface="Bricolage Grotesque"/>
              </a:rPr>
              <a:t>Selon Batappli</a:t>
            </a:r>
          </a:p>
        </p:txBody>
      </p:sp>
      <p:sp>
        <p:nvSpPr>
          <p:cNvPr id="26" name="TextBox 25"/>
          <p:cNvSpPr txBox="1"/>
          <p:nvPr/>
        </p:nvSpPr>
        <p:spPr>
          <a:xfrm>
            <a:off x="9281160" y="3849624"/>
            <a:ext cx="2194560" cy="347472"/>
          </a:xfrm>
          <a:prstGeom prst="rect">
            <a:avLst/>
          </a:prstGeom>
          <a:noFill/>
        </p:spPr>
        <p:txBody>
          <a:bodyPr wrap="square">
            <a:spAutoFit/>
          </a:bodyPr>
          <a:lstStyle/>
          <a:p>
            <a:pPr algn="l"/>
            <a:r>
              <a:rPr sz="1600" b="0">
                <a:solidFill>
                  <a:srgbClr val="333333"/>
                </a:solidFill>
                <a:latin typeface="Bricolage Grotesque"/>
              </a:rPr>
              <a:t>Séance 4</a:t>
            </a:r>
          </a:p>
        </p:txBody>
      </p:sp>
      <p:sp>
        <p:nvSpPr>
          <p:cNvPr id="27" name="TextBox 26"/>
          <p:cNvSpPr txBox="1"/>
          <p:nvPr/>
        </p:nvSpPr>
        <p:spPr>
          <a:xfrm>
            <a:off x="777240" y="4306824"/>
            <a:ext cx="4754880" cy="347472"/>
          </a:xfrm>
          <a:prstGeom prst="rect">
            <a:avLst/>
          </a:prstGeom>
          <a:noFill/>
        </p:spPr>
        <p:txBody>
          <a:bodyPr wrap="square">
            <a:spAutoFit/>
          </a:bodyPr>
          <a:lstStyle/>
          <a:p>
            <a:pPr algn="l"/>
            <a:r>
              <a:rPr sz="1600" b="1">
                <a:solidFill>
                  <a:srgbClr val="1A1A1A"/>
                </a:solidFill>
                <a:latin typeface="Bricolage Grotesque"/>
              </a:rPr>
              <a:t>Heures intérimaires, fioul, AdBlue</a:t>
            </a:r>
          </a:p>
        </p:txBody>
      </p:sp>
      <p:sp>
        <p:nvSpPr>
          <p:cNvPr id="28" name="TextBox 27"/>
          <p:cNvSpPr txBox="1"/>
          <p:nvPr/>
        </p:nvSpPr>
        <p:spPr>
          <a:xfrm>
            <a:off x="5715000" y="4306824"/>
            <a:ext cx="3383279" cy="347472"/>
          </a:xfrm>
          <a:prstGeom prst="rect">
            <a:avLst/>
          </a:prstGeom>
          <a:noFill/>
        </p:spPr>
        <p:txBody>
          <a:bodyPr wrap="square">
            <a:spAutoFit/>
          </a:bodyPr>
          <a:lstStyle/>
          <a:p>
            <a:pPr algn="l"/>
            <a:r>
              <a:rPr sz="1600" b="0">
                <a:solidFill>
                  <a:srgbClr val="333333"/>
                </a:solidFill>
                <a:latin typeface="Bricolage Grotesque"/>
              </a:rPr>
              <a:t>À placer</a:t>
            </a:r>
          </a:p>
        </p:txBody>
      </p:sp>
      <p:sp>
        <p:nvSpPr>
          <p:cNvPr id="29" name="TextBox 28"/>
          <p:cNvSpPr txBox="1"/>
          <p:nvPr/>
        </p:nvSpPr>
        <p:spPr>
          <a:xfrm>
            <a:off x="9281160" y="4306824"/>
            <a:ext cx="2194560" cy="347472"/>
          </a:xfrm>
          <a:prstGeom prst="rect">
            <a:avLst/>
          </a:prstGeom>
          <a:noFill/>
        </p:spPr>
        <p:txBody>
          <a:bodyPr wrap="square">
            <a:spAutoFit/>
          </a:bodyPr>
          <a:lstStyle/>
          <a:p>
            <a:pPr algn="l"/>
            <a:r>
              <a:rPr sz="1600" b="0">
                <a:solidFill>
                  <a:srgbClr val="333333"/>
                </a:solidFill>
                <a:latin typeface="Bricolage Grotesque"/>
              </a:rPr>
              <a:t>À décider</a:t>
            </a:r>
          </a:p>
        </p:txBody>
      </p:sp>
      <p:sp>
        <p:nvSpPr>
          <p:cNvPr id="30" name="TextBox 29"/>
          <p:cNvSpPr txBox="1"/>
          <p:nvPr/>
        </p:nvSpPr>
        <p:spPr>
          <a:xfrm>
            <a:off x="640080" y="4937760"/>
            <a:ext cx="10881360" cy="457200"/>
          </a:xfrm>
          <a:prstGeom prst="rect">
            <a:avLst/>
          </a:prstGeom>
          <a:noFill/>
        </p:spPr>
        <p:txBody>
          <a:bodyPr wrap="square">
            <a:spAutoFit/>
          </a:bodyPr>
          <a:lstStyle/>
          <a:p>
            <a:pPr algn="l"/>
            <a:r>
              <a:rPr sz="1700" b="1">
                <a:solidFill>
                  <a:srgbClr val="1B5E6B"/>
                </a:solidFill>
                <a:latin typeface="Bricolage Grotesque"/>
              </a:rPr>
              <a:t>Ta liste du 16 octobre est entièrement rangée : on valide l'ordre en fin de séance.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3</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Brique 1 : tes instructions</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Écrire une fois qui tu es</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Les deux niveaux d'instructions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Elles s'additionnent, elles ne se remplacent pas</a:t>
            </a:r>
          </a:p>
        </p:txBody>
      </p:sp>
      <p:sp>
        <p:nvSpPr>
          <p:cNvPr id="6" name="Rectangle 5"/>
          <p:cNvSpPr/>
          <p:nvPr/>
        </p:nvSpPr>
        <p:spPr>
          <a:xfrm>
            <a:off x="5897880" y="2286000"/>
            <a:ext cx="27432" cy="245059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Instructions pour Claude</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Paramètres › Instructions pour Claude</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Lues dans TOUTES tes conversations</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Qui tu es, l'entreprise, tes règles fixes</a:t>
            </a:r>
          </a:p>
        </p:txBody>
      </p:sp>
      <p:sp>
        <p:nvSpPr>
          <p:cNvPr id="11" name="TextBox 10"/>
          <p:cNvSpPr txBox="1"/>
          <p:nvPr/>
        </p:nvSpPr>
        <p:spPr>
          <a:xfrm>
            <a:off x="640080" y="4306823"/>
            <a:ext cx="5120640" cy="384048"/>
          </a:xfrm>
          <a:prstGeom prst="rect">
            <a:avLst/>
          </a:prstGeom>
          <a:noFill/>
        </p:spPr>
        <p:txBody>
          <a:bodyPr wrap="square">
            <a:spAutoFit/>
          </a:bodyPr>
          <a:lstStyle/>
          <a:p>
            <a:pPr algn="l"/>
            <a:r>
              <a:rPr sz="1800" b="0">
                <a:solidFill>
                  <a:srgbClr val="333333"/>
                </a:solidFill>
                <a:latin typeface="Bricolage Grotesque"/>
              </a:rPr>
              <a:t>Ex. : « Jamais de prix inventé »</a:t>
            </a:r>
          </a:p>
        </p:txBody>
      </p:sp>
      <p:sp>
        <p:nvSpPr>
          <p:cNvPr id="12" name="TextBox 11"/>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Instructions d'un projet</a:t>
            </a:r>
          </a:p>
        </p:txBody>
      </p:sp>
      <p:sp>
        <p:nvSpPr>
          <p:cNvPr id="13" name="TextBox 12"/>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Page du projet › Instructions</a:t>
            </a:r>
          </a:p>
        </p:txBody>
      </p:sp>
      <p:sp>
        <p:nvSpPr>
          <p:cNvPr id="14" name="TextBox 13"/>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Lues seulement dans CE projet</a:t>
            </a:r>
          </a:p>
        </p:txBody>
      </p:sp>
      <p:sp>
        <p:nvSpPr>
          <p:cNvPr id="15" name="TextBox 14"/>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Le rôle et le format pour une activité</a:t>
            </a:r>
          </a:p>
        </p:txBody>
      </p:sp>
      <p:sp>
        <p:nvSpPr>
          <p:cNvPr id="16" name="TextBox 15"/>
          <p:cNvSpPr txBox="1"/>
          <p:nvPr/>
        </p:nvSpPr>
        <p:spPr>
          <a:xfrm>
            <a:off x="6172200" y="4306823"/>
            <a:ext cx="5120640" cy="384048"/>
          </a:xfrm>
          <a:prstGeom prst="rect">
            <a:avLst/>
          </a:prstGeom>
          <a:noFill/>
        </p:spPr>
        <p:txBody>
          <a:bodyPr wrap="square">
            <a:spAutoFit/>
          </a:bodyPr>
          <a:lstStyle/>
          <a:p>
            <a:pPr algn="l"/>
            <a:r>
              <a:rPr sz="1800" b="0">
                <a:solidFill>
                  <a:srgbClr val="333333"/>
                </a:solidFill>
                <a:latin typeface="Bricolage Grotesque"/>
              </a:rPr>
              <a:t>Ex. : « Tableau des écarts en sortie »</a:t>
            </a:r>
          </a:p>
        </p:txBody>
      </p:sp>
      <p:sp>
        <p:nvSpPr>
          <p:cNvPr id="17" name="TextBox 16"/>
          <p:cNvSpPr txBox="1"/>
          <p:nvPr/>
        </p:nvSpPr>
        <p:spPr>
          <a:xfrm>
            <a:off x="640080" y="4919472"/>
            <a:ext cx="10881360" cy="411480"/>
          </a:xfrm>
          <a:prstGeom prst="rect">
            <a:avLst/>
          </a:prstGeom>
          <a:noFill/>
        </p:spPr>
        <p:txBody>
          <a:bodyPr wrap="square">
            <a:spAutoFit/>
          </a:bodyPr>
          <a:lstStyle/>
          <a:p>
            <a:pPr algn="l"/>
            <a:r>
              <a:rPr sz="1800" b="1">
                <a:solidFill>
                  <a:srgbClr val="E8A000"/>
                </a:solidFill>
                <a:latin typeface="Bricolage Grotesque"/>
              </a:rPr>
              <a:t>Ce qui vaut partout va dans ton compte ; le reste, dans le projet.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Ce qu'on met dans tes instructions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Court, stable, vrai partout</a:t>
            </a:r>
          </a:p>
        </p:txBody>
      </p:sp>
      <p:sp>
        <p:nvSpPr>
          <p:cNvPr id="6" name="TextBox 5"/>
          <p:cNvSpPr txBox="1"/>
          <p:nvPr/>
        </p:nvSpPr>
        <p:spPr>
          <a:xfrm>
            <a:off x="640080" y="2331720"/>
            <a:ext cx="10881360" cy="411480"/>
          </a:xfrm>
          <a:prstGeom prst="rect">
            <a:avLst/>
          </a:prstGeom>
          <a:noFill/>
        </p:spPr>
        <p:txBody>
          <a:bodyPr wrap="square">
            <a:spAutoFit/>
          </a:bodyPr>
          <a:lstStyle/>
          <a:p>
            <a:r>
              <a:rPr sz="2000" b="0">
                <a:solidFill>
                  <a:srgbClr val="333333"/>
                </a:solidFill>
                <a:latin typeface="Bricolage Grotesque"/>
              </a:rPr>
              <a:t>✅  Qui tu es : DAF de Pomarès TP (Var), grands comptes et particuliers.</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  Ta façon d'écrire : ton, vouvoiement des clients, signature.</a:t>
            </a:r>
          </a:p>
        </p:txBody>
      </p:sp>
      <p:sp>
        <p:nvSpPr>
          <p:cNvPr id="8" name="TextBox 7"/>
          <p:cNvSpPr txBox="1"/>
          <p:nvPr/>
        </p:nvSpPr>
        <p:spPr>
          <a:xfrm>
            <a:off x="640080" y="3374136"/>
            <a:ext cx="10881360" cy="411480"/>
          </a:xfrm>
          <a:prstGeom prst="rect">
            <a:avLst/>
          </a:prstGeom>
          <a:noFill/>
        </p:spPr>
        <p:txBody>
          <a:bodyPr wrap="square">
            <a:spAutoFit/>
          </a:bodyPr>
          <a:lstStyle/>
          <a:p>
            <a:r>
              <a:rPr sz="2000" b="0">
                <a:solidFill>
                  <a:srgbClr val="333333"/>
                </a:solidFill>
                <a:latin typeface="Bricolage Grotesque"/>
              </a:rPr>
              <a:t>✅  Tes règles : jamais de chiffre inventé, signaler ce qui est déduit.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Ce qu'on met dans tes instructions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Court, stable, vrai partout</a:t>
            </a:r>
          </a:p>
        </p:txBody>
      </p:sp>
      <p:sp>
        <p:nvSpPr>
          <p:cNvPr id="6" name="TextBox 5"/>
          <p:cNvSpPr txBox="1"/>
          <p:nvPr/>
        </p:nvSpPr>
        <p:spPr>
          <a:xfrm>
            <a:off x="640080" y="2331720"/>
            <a:ext cx="10881360" cy="411480"/>
          </a:xfrm>
          <a:prstGeom prst="rect">
            <a:avLst/>
          </a:prstGeom>
          <a:noFill/>
        </p:spPr>
        <p:txBody>
          <a:bodyPr wrap="square">
            <a:spAutoFit/>
          </a:bodyPr>
          <a:lstStyle/>
          <a:p>
            <a:r>
              <a:rPr sz="2000" b="0">
                <a:solidFill>
                  <a:srgbClr val="333333"/>
                </a:solidFill>
                <a:latin typeface="Bricolage Grotesque"/>
              </a:rPr>
              <a:t>✅  Qui tu es : DAF de Pomarès TP (Var), grands comptes et particuliers.</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  Ta façon d'écrire : ton, vouvoiement des clients, signature.</a:t>
            </a:r>
          </a:p>
        </p:txBody>
      </p:sp>
      <p:sp>
        <p:nvSpPr>
          <p:cNvPr id="8" name="TextBox 7"/>
          <p:cNvSpPr txBox="1"/>
          <p:nvPr/>
        </p:nvSpPr>
        <p:spPr>
          <a:xfrm>
            <a:off x="640080" y="3374136"/>
            <a:ext cx="10881360" cy="411480"/>
          </a:xfrm>
          <a:prstGeom prst="rect">
            <a:avLst/>
          </a:prstGeom>
          <a:noFill/>
        </p:spPr>
        <p:txBody>
          <a:bodyPr wrap="square">
            <a:spAutoFit/>
          </a:bodyPr>
          <a:lstStyle/>
          <a:p>
            <a:r>
              <a:rPr sz="2000" b="0">
                <a:solidFill>
                  <a:srgbClr val="333333"/>
                </a:solidFill>
                <a:latin typeface="Bricolage Grotesque"/>
              </a:rPr>
              <a:t>✅  Tes règles : jamais de chiffre inventé, signaler ce qui est déduit.</a:t>
            </a:r>
          </a:p>
        </p:txBody>
      </p:sp>
      <p:sp>
        <p:nvSpPr>
          <p:cNvPr id="9" name="TextBox 8"/>
          <p:cNvSpPr txBox="1"/>
          <p:nvPr/>
        </p:nvSpPr>
        <p:spPr>
          <a:xfrm>
            <a:off x="640080" y="4133088"/>
            <a:ext cx="10881360" cy="411480"/>
          </a:xfrm>
          <a:prstGeom prst="rect">
            <a:avLst/>
          </a:prstGeom>
          <a:noFill/>
        </p:spPr>
        <p:txBody>
          <a:bodyPr wrap="square">
            <a:spAutoFit/>
          </a:bodyPr>
          <a:lstStyle/>
          <a:p>
            <a:r>
              <a:rPr sz="2000" b="0">
                <a:solidFill>
                  <a:srgbClr val="333333"/>
                </a:solidFill>
                <a:latin typeface="Bricolage Grotesque"/>
              </a:rPr>
              <a:t>❌  Une consigne pour une seule tâche : elle ira dans un projet.</a:t>
            </a:r>
          </a:p>
        </p:txBody>
      </p:sp>
      <p:sp>
        <p:nvSpPr>
          <p:cNvPr id="10" name="TextBox 9"/>
          <p:cNvSpPr txBox="1"/>
          <p:nvPr/>
        </p:nvSpPr>
        <p:spPr>
          <a:xfrm>
            <a:off x="640080" y="4654296"/>
            <a:ext cx="10881360" cy="411480"/>
          </a:xfrm>
          <a:prstGeom prst="rect">
            <a:avLst/>
          </a:prstGeom>
          <a:noFill/>
        </p:spPr>
        <p:txBody>
          <a:bodyPr wrap="square">
            <a:spAutoFit/>
          </a:bodyPr>
          <a:lstStyle/>
          <a:p>
            <a:r>
              <a:rPr sz="2000" b="0">
                <a:solidFill>
                  <a:srgbClr val="333333"/>
                </a:solidFill>
                <a:latin typeface="Bricolage Grotesque"/>
              </a:rPr>
              <a:t>❌  Une méthode que tu répètes : elle deviendra un skill.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1 · Tes instructions</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Que Claude sache qui tu es, sans le lui redire.</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Tes Instructions pour Claude enregistrées, 10 à 15 lignes.</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10 minutes</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Ouvrir une nouvelle conversation, hors de tout projet.</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Coller le prompt d'interview (je te l'envoie dans le chat de la visio).</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Répondre aux questions de Claude, une par une.</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Relire le texte proposé : enlever ce qui ne vaut pas partout.</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Le coller dans Paramètres › Instructions pour Claude, puis enregistrer.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4</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Brique 2 : le projet</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Le contrôle des factures fournisseurs</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Un projet, c'est quoi ?</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Un dossier de travail pour une activité</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Des instructions : le rôle de Claude et le format attendu.</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Des fichiers : tes documents de référence, toujours chargés.</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Des conversations : une par facture, la grille déjà là.</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Un projet, c'est quoi ?</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Un dossier de travail pour une activité</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Des instructions : le rôle de Claude et le format attendu.</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Des fichiers : tes documents de référence, toujours chargés.</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Des conversations : une par facture, la grille déjà là.</a:t>
            </a:r>
          </a:p>
        </p:txBody>
      </p:sp>
      <p:sp>
        <p:nvSpPr>
          <p:cNvPr id="9" name="TextBox 8"/>
          <p:cNvSpPr txBox="1"/>
          <p:nvPr/>
        </p:nvSpPr>
        <p:spPr>
          <a:xfrm>
            <a:off x="640080" y="4133088"/>
            <a:ext cx="10881360" cy="411480"/>
          </a:xfrm>
          <a:prstGeom prst="rect">
            <a:avLst/>
          </a:prstGeom>
          <a:noFill/>
        </p:spPr>
        <p:txBody>
          <a:bodyPr wrap="square">
            <a:spAutoFit/>
          </a:bodyPr>
          <a:lstStyle/>
          <a:p>
            <a:r>
              <a:rPr sz="2000" b="0">
                <a:solidFill>
                  <a:srgbClr val="333333"/>
                </a:solidFill>
                <a:latin typeface="Bricolage Grotesque"/>
              </a:rPr>
              <a:t>Un fichier téléversé reste figé ; un PDF exporté se lit mieux qu'un scan.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Le contrôle, étape par étape</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Claude prépare, toi tu décides</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1. La grille
du chantier</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2. La facture
du mois</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3. Claude compare
ligne à ligne</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4. Le tableau
des écarts</a:t>
            </a:r>
          </a:p>
        </p:txBody>
      </p:sp>
      <p:sp>
        <p:nvSpPr>
          <p:cNvPr id="17" name="Rounded Rectangle 16"/>
          <p:cNvSpPr/>
          <p:nvPr/>
        </p:nvSpPr>
        <p:spPr>
          <a:xfrm>
            <a:off x="640080" y="416052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25112"/>
            <a:ext cx="2148840" cy="502920"/>
          </a:xfrm>
          <a:prstGeom prst="rect">
            <a:avLst/>
          </a:prstGeom>
          <a:noFill/>
        </p:spPr>
        <p:txBody>
          <a:bodyPr wrap="square">
            <a:spAutoFit/>
          </a:bodyPr>
          <a:lstStyle/>
          <a:p>
            <a:pPr algn="ctr"/>
            <a:r>
              <a:rPr sz="1400" b="1">
                <a:solidFill>
                  <a:srgbClr val="FFFFFF"/>
                </a:solidFill>
                <a:latin typeface="Bricolage Grotesque"/>
              </a:rPr>
              <a:t>5. Tu vérifies
et tu réclames</a:t>
            </a:r>
          </a:p>
        </p:txBody>
      </p:sp>
      <p:sp>
        <p:nvSpPr>
          <p:cNvPr id="19" name="TextBox 18"/>
          <p:cNvSpPr txBox="1"/>
          <p:nvPr/>
        </p:nvSpPr>
        <p:spPr>
          <a:xfrm>
            <a:off x="640080" y="5029200"/>
            <a:ext cx="10972800" cy="411480"/>
          </a:xfrm>
          <a:prstGeom prst="rect">
            <a:avLst/>
          </a:prstGeom>
          <a:noFill/>
        </p:spPr>
        <p:txBody>
          <a:bodyPr wrap="square">
            <a:spAutoFit/>
          </a:bodyPr>
          <a:lstStyle/>
          <a:p>
            <a:pPr algn="l"/>
            <a:r>
              <a:rPr sz="1800" b="1">
                <a:solidFill>
                  <a:srgbClr val="1B5E6B"/>
                </a:solidFill>
                <a:latin typeface="Bricolage Grotesque"/>
              </a:rPr>
              <a:t>Les lignes conformes ne t'occupent plus : tu ne regardes que les écarts.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2 · Le projet factures</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Repérer en minutes les écarts entre facture et prix négociés.</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Le projet « Contrôle factures fournisseurs » et un 1er tableau juste.</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25 minutes</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Projets › Nouveau projet : « Contrôle factures fournisseurs ».</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Fichiers du projet : ajouter la grille de prix du chantier.</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Dans le projet : coller le prompt d'interview, répondre à Claude.</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Coller le texte validé dans les instructions du projet.</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Nouvelle conversation : joindre la facture, vérifier 3 lignes.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2 · L'interview du projet</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Je veux rédiger les instructions de ce projet. Chaque mois, je</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joindrai une facture à comparer à la grille du projet.</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Pose-moi tes questions une par une : qui contrôle, quoi comparer,</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ce qu'est un écart, le format du résultat, ce que j'en fais.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2 · L'interview du projet</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Je veux rédiger les instructions de ce projet. Chaque mois, je</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joindrai une facture à comparer à la grille du projet.</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Pose-moi tes questions une par une : qui contrôle, quoi comparer,</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ce qu'est un écart, le format du résultat, ce que j'en fais.</a:t>
            </a:r>
          </a:p>
        </p:txBody>
      </p:sp>
      <p:sp>
        <p:nvSpPr>
          <p:cNvPr id="9" name="TextBox 8"/>
          <p:cNvSpPr txBox="1"/>
          <p:nvPr/>
        </p:nvSpPr>
        <p:spPr>
          <a:xfrm>
            <a:off x="640080" y="3877056"/>
            <a:ext cx="10881360" cy="411480"/>
          </a:xfrm>
          <a:prstGeom prst="rect">
            <a:avLst/>
          </a:prstGeom>
          <a:noFill/>
        </p:spPr>
        <p:txBody>
          <a:bodyPr wrap="square">
            <a:spAutoFit/>
          </a:bodyPr>
          <a:lstStyle/>
          <a:p>
            <a:r>
              <a:rPr sz="2000" b="0">
                <a:solidFill>
                  <a:srgbClr val="0F2B3A"/>
                </a:solidFill>
                <a:latin typeface="Consolas"/>
              </a:rPr>
              <a:t>Règles : « hors grille » sans prix, toujours citer la ligne</a:t>
            </a:r>
          </a:p>
        </p:txBody>
      </p:sp>
      <p:sp>
        <p:nvSpPr>
          <p:cNvPr id="10" name="TextBox 9"/>
          <p:cNvSpPr txBox="1"/>
          <p:nvPr/>
        </p:nvSpPr>
        <p:spPr>
          <a:xfrm>
            <a:off x="640080" y="4398264"/>
            <a:ext cx="10881360" cy="411480"/>
          </a:xfrm>
          <a:prstGeom prst="rect">
            <a:avLst/>
          </a:prstGeom>
          <a:noFill/>
        </p:spPr>
        <p:txBody>
          <a:bodyPr wrap="square">
            <a:spAutoFit/>
          </a:bodyPr>
          <a:lstStyle/>
          <a:p>
            <a:r>
              <a:rPr sz="2000" b="0">
                <a:solidFill>
                  <a:srgbClr val="0F2B3A"/>
                </a:solidFill>
                <a:latin typeface="Consolas"/>
              </a:rPr>
              <a:t>de la grille, ne rien inventer, signaler une ligne illisible.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2 · Le résultat attendu</a:t>
            </a:r>
          </a:p>
        </p:txBody>
      </p:sp>
      <p:sp>
        <p:nvSpPr>
          <p:cNvPr id="5" name="TextBox 4"/>
          <p:cNvSpPr txBox="1"/>
          <p:nvPr/>
        </p:nvSpPr>
        <p:spPr>
          <a:xfrm>
            <a:off x="777240" y="1463040"/>
            <a:ext cx="4663440" cy="365760"/>
          </a:xfrm>
          <a:prstGeom prst="rect">
            <a:avLst/>
          </a:prstGeom>
          <a:noFill/>
        </p:spPr>
        <p:txBody>
          <a:bodyPr wrap="square">
            <a:spAutoFit/>
          </a:bodyPr>
          <a:lstStyle/>
          <a:p>
            <a:pPr algn="l"/>
            <a:r>
              <a:rPr sz="1800" b="1">
                <a:solidFill>
                  <a:srgbClr val="1B5E6B"/>
                </a:solidFill>
                <a:latin typeface="Bricolage Grotesque"/>
              </a:rPr>
              <a:t>Article</a:t>
            </a:r>
          </a:p>
        </p:txBody>
      </p:sp>
      <p:sp>
        <p:nvSpPr>
          <p:cNvPr id="6" name="TextBox 5"/>
          <p:cNvSpPr txBox="1"/>
          <p:nvPr/>
        </p:nvSpPr>
        <p:spPr>
          <a:xfrm>
            <a:off x="5623560" y="1463040"/>
            <a:ext cx="1828800" cy="365760"/>
          </a:xfrm>
          <a:prstGeom prst="rect">
            <a:avLst/>
          </a:prstGeom>
          <a:noFill/>
        </p:spPr>
        <p:txBody>
          <a:bodyPr wrap="square">
            <a:spAutoFit/>
          </a:bodyPr>
          <a:lstStyle/>
          <a:p>
            <a:pPr algn="l"/>
            <a:r>
              <a:rPr sz="1800" b="1">
                <a:solidFill>
                  <a:srgbClr val="1B5E6B"/>
                </a:solidFill>
                <a:latin typeface="Bricolage Grotesque"/>
              </a:rPr>
              <a:t>Facturé</a:t>
            </a:r>
          </a:p>
        </p:txBody>
      </p:sp>
      <p:sp>
        <p:nvSpPr>
          <p:cNvPr id="7" name="TextBox 6"/>
          <p:cNvSpPr txBox="1"/>
          <p:nvPr/>
        </p:nvSpPr>
        <p:spPr>
          <a:xfrm>
            <a:off x="7635240" y="1463040"/>
            <a:ext cx="1828800" cy="365760"/>
          </a:xfrm>
          <a:prstGeom prst="rect">
            <a:avLst/>
          </a:prstGeom>
          <a:noFill/>
        </p:spPr>
        <p:txBody>
          <a:bodyPr wrap="square">
            <a:spAutoFit/>
          </a:bodyPr>
          <a:lstStyle/>
          <a:p>
            <a:pPr algn="l"/>
            <a:r>
              <a:rPr sz="1800" b="1">
                <a:solidFill>
                  <a:srgbClr val="1B5E6B"/>
                </a:solidFill>
                <a:latin typeface="Bricolage Grotesque"/>
              </a:rPr>
              <a:t>Grille</a:t>
            </a:r>
          </a:p>
        </p:txBody>
      </p:sp>
      <p:sp>
        <p:nvSpPr>
          <p:cNvPr id="8" name="TextBox 7"/>
          <p:cNvSpPr txBox="1"/>
          <p:nvPr/>
        </p:nvSpPr>
        <p:spPr>
          <a:xfrm>
            <a:off x="9646919" y="1463040"/>
            <a:ext cx="1828800" cy="365760"/>
          </a:xfrm>
          <a:prstGeom prst="rect">
            <a:avLst/>
          </a:prstGeom>
          <a:noFill/>
        </p:spPr>
        <p:txBody>
          <a:bodyPr wrap="square">
            <a:spAutoFit/>
          </a:bodyPr>
          <a:lstStyle/>
          <a:p>
            <a:pPr algn="l"/>
            <a:r>
              <a:rPr sz="1800" b="1">
                <a:solidFill>
                  <a:srgbClr val="1B5E6B"/>
                </a:solidFill>
                <a:latin typeface="Bricolage Grotesque"/>
              </a:rPr>
              <a:t>Écart</a:t>
            </a:r>
          </a:p>
        </p:txBody>
      </p:sp>
      <p:sp>
        <p:nvSpPr>
          <p:cNvPr id="9" name="Rectangle 8"/>
          <p:cNvSpPr/>
          <p:nvPr/>
        </p:nvSpPr>
        <p:spPr>
          <a:xfrm>
            <a:off x="640080" y="1874520"/>
            <a:ext cx="1088136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9659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020824"/>
            <a:ext cx="4663440" cy="347472"/>
          </a:xfrm>
          <a:prstGeom prst="rect">
            <a:avLst/>
          </a:prstGeom>
          <a:noFill/>
        </p:spPr>
        <p:txBody>
          <a:bodyPr wrap="square">
            <a:spAutoFit/>
          </a:bodyPr>
          <a:lstStyle/>
          <a:p>
            <a:pPr algn="l"/>
            <a:r>
              <a:rPr sz="1600" b="1">
                <a:solidFill>
                  <a:srgbClr val="1A1A1A"/>
                </a:solidFill>
                <a:latin typeface="Bricolage Grotesque"/>
              </a:rPr>
              <a:t>Tube PVC CR8 Ø200 (ml)</a:t>
            </a:r>
          </a:p>
        </p:txBody>
      </p:sp>
      <p:sp>
        <p:nvSpPr>
          <p:cNvPr id="12" name="TextBox 11"/>
          <p:cNvSpPr txBox="1"/>
          <p:nvPr/>
        </p:nvSpPr>
        <p:spPr>
          <a:xfrm>
            <a:off x="5623560" y="2020824"/>
            <a:ext cx="1828800" cy="347472"/>
          </a:xfrm>
          <a:prstGeom prst="rect">
            <a:avLst/>
          </a:prstGeom>
          <a:noFill/>
        </p:spPr>
        <p:txBody>
          <a:bodyPr wrap="square">
            <a:spAutoFit/>
          </a:bodyPr>
          <a:lstStyle/>
          <a:p>
            <a:pPr algn="l"/>
            <a:r>
              <a:rPr sz="1600" b="0">
                <a:solidFill>
                  <a:srgbClr val="333333"/>
                </a:solidFill>
                <a:latin typeface="Bricolage Grotesque"/>
              </a:rPr>
              <a:t>14,90 €</a:t>
            </a:r>
          </a:p>
        </p:txBody>
      </p:sp>
      <p:sp>
        <p:nvSpPr>
          <p:cNvPr id="13" name="TextBox 12"/>
          <p:cNvSpPr txBox="1"/>
          <p:nvPr/>
        </p:nvSpPr>
        <p:spPr>
          <a:xfrm>
            <a:off x="7635240" y="2020824"/>
            <a:ext cx="1828800" cy="347472"/>
          </a:xfrm>
          <a:prstGeom prst="rect">
            <a:avLst/>
          </a:prstGeom>
          <a:noFill/>
        </p:spPr>
        <p:txBody>
          <a:bodyPr wrap="square">
            <a:spAutoFit/>
          </a:bodyPr>
          <a:lstStyle/>
          <a:p>
            <a:pPr algn="l"/>
            <a:r>
              <a:rPr sz="1600" b="0">
                <a:solidFill>
                  <a:srgbClr val="333333"/>
                </a:solidFill>
                <a:latin typeface="Bricolage Grotesque"/>
              </a:rPr>
              <a:t>13,20 €</a:t>
            </a:r>
          </a:p>
        </p:txBody>
      </p:sp>
      <p:sp>
        <p:nvSpPr>
          <p:cNvPr id="14" name="TextBox 13"/>
          <p:cNvSpPr txBox="1"/>
          <p:nvPr/>
        </p:nvSpPr>
        <p:spPr>
          <a:xfrm>
            <a:off x="9646919" y="2020824"/>
            <a:ext cx="1828800" cy="347472"/>
          </a:xfrm>
          <a:prstGeom prst="rect">
            <a:avLst/>
          </a:prstGeom>
          <a:noFill/>
        </p:spPr>
        <p:txBody>
          <a:bodyPr wrap="square">
            <a:spAutoFit/>
          </a:bodyPr>
          <a:lstStyle/>
          <a:p>
            <a:pPr algn="l"/>
            <a:r>
              <a:rPr sz="1600" b="0">
                <a:solidFill>
                  <a:srgbClr val="333333"/>
                </a:solidFill>
                <a:latin typeface="Bricolage Grotesque"/>
              </a:rPr>
              <a:t>+ 1,70 €</a:t>
            </a:r>
          </a:p>
        </p:txBody>
      </p:sp>
      <p:sp>
        <p:nvSpPr>
          <p:cNvPr id="15" name="TextBox 14"/>
          <p:cNvSpPr txBox="1"/>
          <p:nvPr/>
        </p:nvSpPr>
        <p:spPr>
          <a:xfrm>
            <a:off x="777240" y="2478024"/>
            <a:ext cx="4663440" cy="347472"/>
          </a:xfrm>
          <a:prstGeom prst="rect">
            <a:avLst/>
          </a:prstGeom>
          <a:noFill/>
        </p:spPr>
        <p:txBody>
          <a:bodyPr wrap="square">
            <a:spAutoFit/>
          </a:bodyPr>
          <a:lstStyle/>
          <a:p>
            <a:pPr algn="l"/>
            <a:r>
              <a:rPr sz="1600" b="1">
                <a:solidFill>
                  <a:srgbClr val="1A1A1A"/>
                </a:solidFill>
                <a:latin typeface="Bricolage Grotesque"/>
              </a:rPr>
              <a:t>Regard béton 1000x1000</a:t>
            </a:r>
          </a:p>
        </p:txBody>
      </p:sp>
      <p:sp>
        <p:nvSpPr>
          <p:cNvPr id="16" name="TextBox 15"/>
          <p:cNvSpPr txBox="1"/>
          <p:nvPr/>
        </p:nvSpPr>
        <p:spPr>
          <a:xfrm>
            <a:off x="5623560" y="2478024"/>
            <a:ext cx="1828800" cy="347472"/>
          </a:xfrm>
          <a:prstGeom prst="rect">
            <a:avLst/>
          </a:prstGeom>
          <a:noFill/>
        </p:spPr>
        <p:txBody>
          <a:bodyPr wrap="square">
            <a:spAutoFit/>
          </a:bodyPr>
          <a:lstStyle/>
          <a:p>
            <a:pPr algn="l"/>
            <a:r>
              <a:rPr sz="1600" b="0">
                <a:solidFill>
                  <a:srgbClr val="333333"/>
                </a:solidFill>
                <a:latin typeface="Bricolage Grotesque"/>
              </a:rPr>
              <a:t>312,00 €</a:t>
            </a:r>
          </a:p>
        </p:txBody>
      </p:sp>
      <p:sp>
        <p:nvSpPr>
          <p:cNvPr id="17" name="TextBox 16"/>
          <p:cNvSpPr txBox="1"/>
          <p:nvPr/>
        </p:nvSpPr>
        <p:spPr>
          <a:xfrm>
            <a:off x="7635240" y="2478024"/>
            <a:ext cx="1828800" cy="347472"/>
          </a:xfrm>
          <a:prstGeom prst="rect">
            <a:avLst/>
          </a:prstGeom>
          <a:noFill/>
        </p:spPr>
        <p:txBody>
          <a:bodyPr wrap="square">
            <a:spAutoFit/>
          </a:bodyPr>
          <a:lstStyle/>
          <a:p>
            <a:pPr algn="l"/>
            <a:r>
              <a:rPr sz="1600" b="0">
                <a:solidFill>
                  <a:srgbClr val="333333"/>
                </a:solidFill>
                <a:latin typeface="Bricolage Grotesque"/>
              </a:rPr>
              <a:t>312,00 €</a:t>
            </a:r>
          </a:p>
        </p:txBody>
      </p:sp>
      <p:sp>
        <p:nvSpPr>
          <p:cNvPr id="18" name="TextBox 17"/>
          <p:cNvSpPr txBox="1"/>
          <p:nvPr/>
        </p:nvSpPr>
        <p:spPr>
          <a:xfrm>
            <a:off x="9646919" y="2478024"/>
            <a:ext cx="1828800" cy="347472"/>
          </a:xfrm>
          <a:prstGeom prst="rect">
            <a:avLst/>
          </a:prstGeom>
          <a:noFill/>
        </p:spPr>
        <p:txBody>
          <a:bodyPr wrap="square">
            <a:spAutoFit/>
          </a:bodyPr>
          <a:lstStyle/>
          <a:p>
            <a:pPr algn="l"/>
            <a:r>
              <a:rPr sz="1600" b="0">
                <a:solidFill>
                  <a:srgbClr val="333333"/>
                </a:solidFill>
                <a:latin typeface="Bricolage Grotesque"/>
              </a:rPr>
              <a:t>conforme</a:t>
            </a:r>
          </a:p>
        </p:txBody>
      </p:sp>
      <p:sp>
        <p:nvSpPr>
          <p:cNvPr id="19" name="Rectangle 18"/>
          <p:cNvSpPr/>
          <p:nvPr/>
        </p:nvSpPr>
        <p:spPr>
          <a:xfrm>
            <a:off x="640080" y="2880360"/>
            <a:ext cx="10881360" cy="457200"/>
          </a:xfrm>
          <a:prstGeom prst="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935224"/>
            <a:ext cx="4663440" cy="347472"/>
          </a:xfrm>
          <a:prstGeom prst="rect">
            <a:avLst/>
          </a:prstGeom>
          <a:noFill/>
        </p:spPr>
        <p:txBody>
          <a:bodyPr wrap="square">
            <a:spAutoFit/>
          </a:bodyPr>
          <a:lstStyle/>
          <a:p>
            <a:pPr algn="l"/>
            <a:r>
              <a:rPr sz="1600" b="1">
                <a:solidFill>
                  <a:srgbClr val="1A1A1A"/>
                </a:solidFill>
                <a:latin typeface="Bricolage Grotesque"/>
              </a:rPr>
              <a:t>Grave 0/31,5 (t)</a:t>
            </a:r>
          </a:p>
        </p:txBody>
      </p:sp>
      <p:sp>
        <p:nvSpPr>
          <p:cNvPr id="21" name="TextBox 20"/>
          <p:cNvSpPr txBox="1"/>
          <p:nvPr/>
        </p:nvSpPr>
        <p:spPr>
          <a:xfrm>
            <a:off x="5623560" y="2935224"/>
            <a:ext cx="1828800" cy="347472"/>
          </a:xfrm>
          <a:prstGeom prst="rect">
            <a:avLst/>
          </a:prstGeom>
          <a:noFill/>
        </p:spPr>
        <p:txBody>
          <a:bodyPr wrap="square">
            <a:spAutoFit/>
          </a:bodyPr>
          <a:lstStyle/>
          <a:p>
            <a:pPr algn="l"/>
            <a:r>
              <a:rPr sz="1600" b="0">
                <a:solidFill>
                  <a:srgbClr val="333333"/>
                </a:solidFill>
                <a:latin typeface="Bricolage Grotesque"/>
              </a:rPr>
              <a:t>24,50 €</a:t>
            </a:r>
          </a:p>
        </p:txBody>
      </p:sp>
      <p:sp>
        <p:nvSpPr>
          <p:cNvPr id="22" name="TextBox 21"/>
          <p:cNvSpPr txBox="1"/>
          <p:nvPr/>
        </p:nvSpPr>
        <p:spPr>
          <a:xfrm>
            <a:off x="7635240" y="2935224"/>
            <a:ext cx="1828800" cy="347472"/>
          </a:xfrm>
          <a:prstGeom prst="rect">
            <a:avLst/>
          </a:prstGeom>
          <a:noFill/>
        </p:spPr>
        <p:txBody>
          <a:bodyPr wrap="square">
            <a:spAutoFit/>
          </a:bodyPr>
          <a:lstStyle/>
          <a:p>
            <a:pPr algn="l"/>
            <a:r>
              <a:rPr sz="1600" b="0">
                <a:solidFill>
                  <a:srgbClr val="333333"/>
                </a:solidFill>
                <a:latin typeface="Bricolage Grotesque"/>
              </a:rPr>
              <a:t>21,80 €</a:t>
            </a:r>
          </a:p>
        </p:txBody>
      </p:sp>
      <p:sp>
        <p:nvSpPr>
          <p:cNvPr id="23" name="TextBox 22"/>
          <p:cNvSpPr txBox="1"/>
          <p:nvPr/>
        </p:nvSpPr>
        <p:spPr>
          <a:xfrm>
            <a:off x="9646919" y="2935224"/>
            <a:ext cx="1828800" cy="347472"/>
          </a:xfrm>
          <a:prstGeom prst="rect">
            <a:avLst/>
          </a:prstGeom>
          <a:noFill/>
        </p:spPr>
        <p:txBody>
          <a:bodyPr wrap="square">
            <a:spAutoFit/>
          </a:bodyPr>
          <a:lstStyle/>
          <a:p>
            <a:pPr algn="l"/>
            <a:r>
              <a:rPr sz="1600" b="0">
                <a:solidFill>
                  <a:srgbClr val="333333"/>
                </a:solidFill>
                <a:latin typeface="Bricolage Grotesque"/>
              </a:rPr>
              <a:t>+ 2,70 €</a:t>
            </a:r>
          </a:p>
        </p:txBody>
      </p:sp>
      <p:sp>
        <p:nvSpPr>
          <p:cNvPr id="24" name="TextBox 23"/>
          <p:cNvSpPr txBox="1"/>
          <p:nvPr/>
        </p:nvSpPr>
        <p:spPr>
          <a:xfrm>
            <a:off x="777240" y="3392424"/>
            <a:ext cx="4663440" cy="347472"/>
          </a:xfrm>
          <a:prstGeom prst="rect">
            <a:avLst/>
          </a:prstGeom>
          <a:noFill/>
        </p:spPr>
        <p:txBody>
          <a:bodyPr wrap="square">
            <a:spAutoFit/>
          </a:bodyPr>
          <a:lstStyle/>
          <a:p>
            <a:pPr algn="l"/>
            <a:r>
              <a:rPr sz="1600" b="1">
                <a:solidFill>
                  <a:srgbClr val="1A1A1A"/>
                </a:solidFill>
                <a:latin typeface="Bricolage Grotesque"/>
              </a:rPr>
              <a:t>Manchon de raccordement</a:t>
            </a:r>
          </a:p>
        </p:txBody>
      </p:sp>
      <p:sp>
        <p:nvSpPr>
          <p:cNvPr id="25" name="TextBox 24"/>
          <p:cNvSpPr txBox="1"/>
          <p:nvPr/>
        </p:nvSpPr>
        <p:spPr>
          <a:xfrm>
            <a:off x="5623560" y="3392424"/>
            <a:ext cx="1828800" cy="347472"/>
          </a:xfrm>
          <a:prstGeom prst="rect">
            <a:avLst/>
          </a:prstGeom>
          <a:noFill/>
        </p:spPr>
        <p:txBody>
          <a:bodyPr wrap="square">
            <a:spAutoFit/>
          </a:bodyPr>
          <a:lstStyle/>
          <a:p>
            <a:pPr algn="l"/>
            <a:r>
              <a:rPr sz="1600" b="0">
                <a:solidFill>
                  <a:srgbClr val="333333"/>
                </a:solidFill>
                <a:latin typeface="Bricolage Grotesque"/>
              </a:rPr>
              <a:t>8,40 €</a:t>
            </a:r>
          </a:p>
        </p:txBody>
      </p:sp>
      <p:sp>
        <p:nvSpPr>
          <p:cNvPr id="26" name="TextBox 25"/>
          <p:cNvSpPr txBox="1"/>
          <p:nvPr/>
        </p:nvSpPr>
        <p:spPr>
          <a:xfrm>
            <a:off x="7635240" y="3392424"/>
            <a:ext cx="1828800" cy="347472"/>
          </a:xfrm>
          <a:prstGeom prst="rect">
            <a:avLst/>
          </a:prstGeom>
          <a:noFill/>
        </p:spPr>
        <p:txBody>
          <a:bodyPr wrap="square">
            <a:spAutoFit/>
          </a:bodyPr>
          <a:lstStyle/>
          <a:p>
            <a:pPr algn="l"/>
            <a:r>
              <a:rPr sz="1600" b="0">
                <a:solidFill>
                  <a:srgbClr val="333333"/>
                </a:solidFill>
                <a:latin typeface="Bricolage Grotesque"/>
              </a:rPr>
              <a:t>hors grille</a:t>
            </a:r>
          </a:p>
        </p:txBody>
      </p:sp>
      <p:sp>
        <p:nvSpPr>
          <p:cNvPr id="27" name="TextBox 26"/>
          <p:cNvSpPr txBox="1"/>
          <p:nvPr/>
        </p:nvSpPr>
        <p:spPr>
          <a:xfrm>
            <a:off x="9646919" y="3392424"/>
            <a:ext cx="1828800" cy="347472"/>
          </a:xfrm>
          <a:prstGeom prst="rect">
            <a:avLst/>
          </a:prstGeom>
          <a:noFill/>
        </p:spPr>
        <p:txBody>
          <a:bodyPr wrap="square">
            <a:spAutoFit/>
          </a:bodyPr>
          <a:lstStyle/>
          <a:p>
            <a:pPr algn="l"/>
            <a:r>
              <a:rPr sz="1600" b="0">
                <a:solidFill>
                  <a:srgbClr val="333333"/>
                </a:solidFill>
                <a:latin typeface="Bricolage Grotesque"/>
              </a:rPr>
              <a:t>à vérifier</a:t>
            </a:r>
          </a:p>
        </p:txBody>
      </p:sp>
      <p:sp>
        <p:nvSpPr>
          <p:cNvPr id="28" name="TextBox 27"/>
          <p:cNvSpPr txBox="1"/>
          <p:nvPr/>
        </p:nvSpPr>
        <p:spPr>
          <a:xfrm>
            <a:off x="640080" y="4023360"/>
            <a:ext cx="10881360" cy="457200"/>
          </a:xfrm>
          <a:prstGeom prst="rect">
            <a:avLst/>
          </a:prstGeom>
          <a:noFill/>
        </p:spPr>
        <p:txBody>
          <a:bodyPr wrap="square">
            <a:spAutoFit/>
          </a:bodyPr>
          <a:lstStyle/>
          <a:p>
            <a:pPr algn="l"/>
            <a:r>
              <a:rPr sz="1700" b="1">
                <a:solidFill>
                  <a:srgbClr val="1B5E6B"/>
                </a:solidFill>
                <a:latin typeface="Bricolage Grotesque"/>
              </a:rPr>
              <a:t>Exemple sur les données fictives. Toi : tu vérifies chaque écart avant de réclamer.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5</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Brique 3 : le skill</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Tes mails commerciaux, à ta façon</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Projet ou skill ?</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Le QUOI d'un côté, le COMMENT de l'autre</a:t>
            </a:r>
          </a:p>
        </p:txBody>
      </p:sp>
      <p:sp>
        <p:nvSpPr>
          <p:cNvPr id="6" name="Rectangle 5"/>
          <p:cNvSpPr/>
          <p:nvPr/>
        </p:nvSpPr>
        <p:spPr>
          <a:xfrm>
            <a:off x="5897880" y="2286000"/>
            <a:ext cx="27432" cy="245059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286000"/>
            <a:ext cx="5029200" cy="411480"/>
          </a:xfrm>
          <a:prstGeom prst="rect">
            <a:avLst/>
          </a:prstGeom>
          <a:noFill/>
        </p:spPr>
        <p:txBody>
          <a:bodyPr wrap="square">
            <a:spAutoFit/>
          </a:bodyPr>
          <a:lstStyle/>
          <a:p>
            <a:pPr algn="l"/>
            <a:r>
              <a:rPr sz="2100" b="1">
                <a:solidFill>
                  <a:srgbClr val="1B5E6B"/>
                </a:solidFill>
                <a:latin typeface="Bricolage Grotesque"/>
              </a:rPr>
              <a:t>Le projet : le contexte</a:t>
            </a:r>
          </a:p>
        </p:txBody>
      </p:sp>
      <p:sp>
        <p:nvSpPr>
          <p:cNvPr id="8" name="TextBox 7"/>
          <p:cNvSpPr txBox="1"/>
          <p:nvPr/>
        </p:nvSpPr>
        <p:spPr>
          <a:xfrm>
            <a:off x="640080" y="2880360"/>
            <a:ext cx="5120640" cy="384048"/>
          </a:xfrm>
          <a:prstGeom prst="rect">
            <a:avLst/>
          </a:prstGeom>
          <a:noFill/>
        </p:spPr>
        <p:txBody>
          <a:bodyPr wrap="square">
            <a:spAutoFit/>
          </a:bodyPr>
          <a:lstStyle/>
          <a:p>
            <a:pPr algn="l"/>
            <a:r>
              <a:rPr sz="1800" b="0">
                <a:solidFill>
                  <a:srgbClr val="333333"/>
                </a:solidFill>
                <a:latin typeface="Bricolage Grotesque"/>
              </a:rPr>
              <a:t>Une activité : tes factures</a:t>
            </a:r>
          </a:p>
        </p:txBody>
      </p:sp>
      <p:sp>
        <p:nvSpPr>
          <p:cNvPr id="9" name="TextBox 8"/>
          <p:cNvSpPr txBox="1"/>
          <p:nvPr/>
        </p:nvSpPr>
        <p:spPr>
          <a:xfrm>
            <a:off x="640080" y="3355848"/>
            <a:ext cx="5120640" cy="384048"/>
          </a:xfrm>
          <a:prstGeom prst="rect">
            <a:avLst/>
          </a:prstGeom>
          <a:noFill/>
        </p:spPr>
        <p:txBody>
          <a:bodyPr wrap="square">
            <a:spAutoFit/>
          </a:bodyPr>
          <a:lstStyle/>
          <a:p>
            <a:pPr algn="l"/>
            <a:r>
              <a:rPr sz="1800" b="0">
                <a:solidFill>
                  <a:srgbClr val="333333"/>
                </a:solidFill>
                <a:latin typeface="Bricolage Grotesque"/>
              </a:rPr>
              <a:t>Toujours chargé dans ses conversations</a:t>
            </a:r>
          </a:p>
        </p:txBody>
      </p:sp>
      <p:sp>
        <p:nvSpPr>
          <p:cNvPr id="10" name="TextBox 9"/>
          <p:cNvSpPr txBox="1"/>
          <p:nvPr/>
        </p:nvSpPr>
        <p:spPr>
          <a:xfrm>
            <a:off x="640080" y="3831335"/>
            <a:ext cx="5120640" cy="384048"/>
          </a:xfrm>
          <a:prstGeom prst="rect">
            <a:avLst/>
          </a:prstGeom>
          <a:noFill/>
        </p:spPr>
        <p:txBody>
          <a:bodyPr wrap="square">
            <a:spAutoFit/>
          </a:bodyPr>
          <a:lstStyle/>
          <a:p>
            <a:pPr algn="l"/>
            <a:r>
              <a:rPr sz="1800" b="0">
                <a:solidFill>
                  <a:srgbClr val="333333"/>
                </a:solidFill>
                <a:latin typeface="Bricolage Grotesque"/>
              </a:rPr>
              <a:t>Ses instructions et ses fichiers</a:t>
            </a:r>
          </a:p>
        </p:txBody>
      </p:sp>
      <p:sp>
        <p:nvSpPr>
          <p:cNvPr id="11" name="TextBox 10"/>
          <p:cNvSpPr txBox="1"/>
          <p:nvPr/>
        </p:nvSpPr>
        <p:spPr>
          <a:xfrm>
            <a:off x="640080" y="4306823"/>
            <a:ext cx="5120640" cy="384048"/>
          </a:xfrm>
          <a:prstGeom prst="rect">
            <a:avLst/>
          </a:prstGeom>
          <a:noFill/>
        </p:spPr>
        <p:txBody>
          <a:bodyPr wrap="square">
            <a:spAutoFit/>
          </a:bodyPr>
          <a:lstStyle/>
          <a:p>
            <a:pPr algn="l"/>
            <a:r>
              <a:rPr sz="1800" b="0">
                <a:solidFill>
                  <a:srgbClr val="333333"/>
                </a:solidFill>
                <a:latin typeface="Bricolage Grotesque"/>
              </a:rPr>
              <a:t>Ex. : « Contrôle factures »</a:t>
            </a:r>
          </a:p>
        </p:txBody>
      </p:sp>
      <p:sp>
        <p:nvSpPr>
          <p:cNvPr id="12" name="TextBox 11"/>
          <p:cNvSpPr txBox="1"/>
          <p:nvPr/>
        </p:nvSpPr>
        <p:spPr>
          <a:xfrm>
            <a:off x="6172200" y="2286000"/>
            <a:ext cx="5029200" cy="411480"/>
          </a:xfrm>
          <a:prstGeom prst="rect">
            <a:avLst/>
          </a:prstGeom>
          <a:noFill/>
        </p:spPr>
        <p:txBody>
          <a:bodyPr wrap="square">
            <a:spAutoFit/>
          </a:bodyPr>
          <a:lstStyle/>
          <a:p>
            <a:pPr algn="l"/>
            <a:r>
              <a:rPr sz="2100" b="1">
                <a:solidFill>
                  <a:srgbClr val="1B5E6B"/>
                </a:solidFill>
                <a:latin typeface="Bricolage Grotesque"/>
              </a:rPr>
              <a:t>Le skill : la façon de faire</a:t>
            </a:r>
          </a:p>
        </p:txBody>
      </p:sp>
      <p:sp>
        <p:nvSpPr>
          <p:cNvPr id="13" name="TextBox 12"/>
          <p:cNvSpPr txBox="1"/>
          <p:nvPr/>
        </p:nvSpPr>
        <p:spPr>
          <a:xfrm>
            <a:off x="6172200" y="2880360"/>
            <a:ext cx="5120640" cy="384048"/>
          </a:xfrm>
          <a:prstGeom prst="rect">
            <a:avLst/>
          </a:prstGeom>
          <a:noFill/>
        </p:spPr>
        <p:txBody>
          <a:bodyPr wrap="square">
            <a:spAutoFit/>
          </a:bodyPr>
          <a:lstStyle/>
          <a:p>
            <a:pPr algn="l"/>
            <a:r>
              <a:rPr sz="1800" b="0">
                <a:solidFill>
                  <a:srgbClr val="333333"/>
                </a:solidFill>
                <a:latin typeface="Bricolage Grotesque"/>
              </a:rPr>
              <a:t>Une méthode qui produit un livrable</a:t>
            </a:r>
          </a:p>
        </p:txBody>
      </p:sp>
      <p:sp>
        <p:nvSpPr>
          <p:cNvPr id="14" name="TextBox 13"/>
          <p:cNvSpPr txBox="1"/>
          <p:nvPr/>
        </p:nvSpPr>
        <p:spPr>
          <a:xfrm>
            <a:off x="6172200" y="3355848"/>
            <a:ext cx="5120640" cy="384048"/>
          </a:xfrm>
          <a:prstGeom prst="rect">
            <a:avLst/>
          </a:prstGeom>
          <a:noFill/>
        </p:spPr>
        <p:txBody>
          <a:bodyPr wrap="square">
            <a:spAutoFit/>
          </a:bodyPr>
          <a:lstStyle/>
          <a:p>
            <a:pPr algn="l"/>
            <a:r>
              <a:rPr sz="1800" b="0">
                <a:solidFill>
                  <a:srgbClr val="333333"/>
                </a:solidFill>
                <a:latin typeface="Bricolage Grotesque"/>
              </a:rPr>
              <a:t>Chargé seulement quand il sert</a:t>
            </a:r>
          </a:p>
        </p:txBody>
      </p:sp>
      <p:sp>
        <p:nvSpPr>
          <p:cNvPr id="15" name="TextBox 14"/>
          <p:cNvSpPr txBox="1"/>
          <p:nvPr/>
        </p:nvSpPr>
        <p:spPr>
          <a:xfrm>
            <a:off x="6172200" y="3831335"/>
            <a:ext cx="5120640" cy="384048"/>
          </a:xfrm>
          <a:prstGeom prst="rect">
            <a:avLst/>
          </a:prstGeom>
          <a:noFill/>
        </p:spPr>
        <p:txBody>
          <a:bodyPr wrap="square">
            <a:spAutoFit/>
          </a:bodyPr>
          <a:lstStyle/>
          <a:p>
            <a:pPr algn="l"/>
            <a:r>
              <a:rPr sz="1800" b="0">
                <a:solidFill>
                  <a:srgbClr val="333333"/>
                </a:solidFill>
                <a:latin typeface="Bricolage Grotesque"/>
              </a:rPr>
              <a:t>Utilisable dans toutes tes conversations</a:t>
            </a:r>
          </a:p>
        </p:txBody>
      </p:sp>
      <p:sp>
        <p:nvSpPr>
          <p:cNvPr id="16" name="TextBox 15"/>
          <p:cNvSpPr txBox="1"/>
          <p:nvPr/>
        </p:nvSpPr>
        <p:spPr>
          <a:xfrm>
            <a:off x="6172200" y="4306823"/>
            <a:ext cx="5120640" cy="384048"/>
          </a:xfrm>
          <a:prstGeom prst="rect">
            <a:avLst/>
          </a:prstGeom>
          <a:noFill/>
        </p:spPr>
        <p:txBody>
          <a:bodyPr wrap="square">
            <a:spAutoFit/>
          </a:bodyPr>
          <a:lstStyle/>
          <a:p>
            <a:pPr algn="l"/>
            <a:r>
              <a:rPr sz="1800" b="0">
                <a:solidFill>
                  <a:srgbClr val="333333"/>
                </a:solidFill>
                <a:latin typeface="Bricolage Grotesque"/>
              </a:rPr>
              <a:t>Ex. : « Mail commercial Pomarès TP »</a:t>
            </a:r>
          </a:p>
        </p:txBody>
      </p:sp>
      <p:sp>
        <p:nvSpPr>
          <p:cNvPr id="17" name="TextBox 16"/>
          <p:cNvSpPr txBox="1"/>
          <p:nvPr/>
        </p:nvSpPr>
        <p:spPr>
          <a:xfrm>
            <a:off x="640080" y="4919472"/>
            <a:ext cx="10881360" cy="411480"/>
          </a:xfrm>
          <a:prstGeom prst="rect">
            <a:avLst/>
          </a:prstGeom>
          <a:noFill/>
        </p:spPr>
        <p:txBody>
          <a:bodyPr wrap="square">
            <a:spAutoFit/>
          </a:bodyPr>
          <a:lstStyle/>
          <a:p>
            <a:pPr algn="l"/>
            <a:r>
              <a:rPr sz="1800" b="1">
                <a:solidFill>
                  <a:srgbClr val="E8A000"/>
                </a:solidFill>
                <a:latin typeface="Bricolage Grotesque"/>
              </a:rPr>
              <a:t>Un skill par livrable : plusieurs petits valent mieux qu'un gros.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Créer un skill en conversation</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Pas une ligne de code à écrire</a:t>
            </a:r>
          </a:p>
        </p:txBody>
      </p:sp>
      <p:sp>
        <p:nvSpPr>
          <p:cNvPr id="6" name="Rounded Rectangle 5"/>
          <p:cNvSpPr/>
          <p:nvPr/>
        </p:nvSpPr>
        <p:spPr>
          <a:xfrm>
            <a:off x="640080"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2148840" cy="502920"/>
          </a:xfrm>
          <a:prstGeom prst="rect">
            <a:avLst/>
          </a:prstGeom>
          <a:noFill/>
        </p:spPr>
        <p:txBody>
          <a:bodyPr wrap="square">
            <a:spAutoFit/>
          </a:bodyPr>
          <a:lstStyle/>
          <a:p>
            <a:pPr algn="ctr"/>
            <a:r>
              <a:rPr sz="1400" b="1">
                <a:solidFill>
                  <a:srgbClr val="FFFFFF"/>
                </a:solidFill>
                <a:latin typeface="Bricolage Grotesque"/>
              </a:rPr>
              <a:t>1. Tu décris
ta méthode</a:t>
            </a:r>
          </a:p>
        </p:txBody>
      </p:sp>
      <p:sp>
        <p:nvSpPr>
          <p:cNvPr id="8" name="TextBox 7"/>
          <p:cNvSpPr txBox="1"/>
          <p:nvPr/>
        </p:nvSpPr>
        <p:spPr>
          <a:xfrm>
            <a:off x="3008376"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9" name="Rounded Rectangle 8"/>
          <p:cNvSpPr/>
          <p:nvPr/>
        </p:nvSpPr>
        <p:spPr>
          <a:xfrm>
            <a:off x="3355848"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8" y="2907792"/>
            <a:ext cx="2148840" cy="502920"/>
          </a:xfrm>
          <a:prstGeom prst="rect">
            <a:avLst/>
          </a:prstGeom>
          <a:noFill/>
        </p:spPr>
        <p:txBody>
          <a:bodyPr wrap="square">
            <a:spAutoFit/>
          </a:bodyPr>
          <a:lstStyle/>
          <a:p>
            <a:pPr algn="ctr"/>
            <a:r>
              <a:rPr sz="1400" b="1">
                <a:solidFill>
                  <a:srgbClr val="FFFFFF"/>
                </a:solidFill>
                <a:latin typeface="Bricolage Grotesque"/>
              </a:rPr>
              <a:t>2. Claude te pose
ses questions</a:t>
            </a:r>
          </a:p>
        </p:txBody>
      </p:sp>
      <p:sp>
        <p:nvSpPr>
          <p:cNvPr id="11" name="TextBox 10"/>
          <p:cNvSpPr txBox="1"/>
          <p:nvPr/>
        </p:nvSpPr>
        <p:spPr>
          <a:xfrm>
            <a:off x="5724144"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2" name="Rounded Rectangle 11"/>
          <p:cNvSpPr/>
          <p:nvPr/>
        </p:nvSpPr>
        <p:spPr>
          <a:xfrm>
            <a:off x="6071616" y="2743200"/>
            <a:ext cx="2331720" cy="777240"/>
          </a:xfrm>
          <a:prstGeom prst="roundRect">
            <a:avLst/>
          </a:prstGeom>
          <a:solidFill>
            <a:srgbClr val="1B5E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2907792"/>
            <a:ext cx="2148840" cy="502920"/>
          </a:xfrm>
          <a:prstGeom prst="rect">
            <a:avLst/>
          </a:prstGeom>
          <a:noFill/>
        </p:spPr>
        <p:txBody>
          <a:bodyPr wrap="square">
            <a:spAutoFit/>
          </a:bodyPr>
          <a:lstStyle/>
          <a:p>
            <a:pPr algn="ctr"/>
            <a:r>
              <a:rPr sz="1400" b="1">
                <a:solidFill>
                  <a:srgbClr val="FFFFFF"/>
                </a:solidFill>
                <a:latin typeface="Bricolage Grotesque"/>
              </a:rPr>
              <a:t>3. Claude construit
le skill</a:t>
            </a:r>
          </a:p>
        </p:txBody>
      </p:sp>
      <p:sp>
        <p:nvSpPr>
          <p:cNvPr id="14" name="TextBox 13"/>
          <p:cNvSpPr txBox="1"/>
          <p:nvPr/>
        </p:nvSpPr>
        <p:spPr>
          <a:xfrm>
            <a:off x="8439912" y="2926080"/>
            <a:ext cx="310896" cy="457200"/>
          </a:xfrm>
          <a:prstGeom prst="rect">
            <a:avLst/>
          </a:prstGeom>
          <a:noFill/>
        </p:spPr>
        <p:txBody>
          <a:bodyPr wrap="square">
            <a:spAutoFit/>
          </a:bodyPr>
          <a:lstStyle/>
          <a:p>
            <a:pPr algn="ctr"/>
            <a:r>
              <a:rPr sz="2200" b="1">
                <a:solidFill>
                  <a:srgbClr val="E8A000"/>
                </a:solidFill>
                <a:latin typeface="Bricolage Grotesque"/>
              </a:rPr>
              <a:t>→</a:t>
            </a:r>
          </a:p>
        </p:txBody>
      </p:sp>
      <p:sp>
        <p:nvSpPr>
          <p:cNvPr id="15" name="Rounded Rectangle 14"/>
          <p:cNvSpPr/>
          <p:nvPr/>
        </p:nvSpPr>
        <p:spPr>
          <a:xfrm>
            <a:off x="8787384" y="2743200"/>
            <a:ext cx="2331720" cy="777240"/>
          </a:xfrm>
          <a:prstGeom prst="roundRect">
            <a:avLst/>
          </a:prstGeom>
          <a:solidFill>
            <a:srgbClr val="1E55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78824" y="2907792"/>
            <a:ext cx="2148840" cy="502920"/>
          </a:xfrm>
          <a:prstGeom prst="rect">
            <a:avLst/>
          </a:prstGeom>
          <a:noFill/>
        </p:spPr>
        <p:txBody>
          <a:bodyPr wrap="square">
            <a:spAutoFit/>
          </a:bodyPr>
          <a:lstStyle/>
          <a:p>
            <a:pPr algn="ctr"/>
            <a:r>
              <a:rPr sz="1400" b="1">
                <a:solidFill>
                  <a:srgbClr val="FFFFFF"/>
                </a:solidFill>
                <a:latin typeface="Bricolage Grotesque"/>
              </a:rPr>
              <a:t>4. Tu testes
et tu corriges</a:t>
            </a:r>
          </a:p>
        </p:txBody>
      </p:sp>
      <p:sp>
        <p:nvSpPr>
          <p:cNvPr id="17" name="TextBox 16"/>
          <p:cNvSpPr txBox="1"/>
          <p:nvPr/>
        </p:nvSpPr>
        <p:spPr>
          <a:xfrm>
            <a:off x="640080" y="4114800"/>
            <a:ext cx="10972800" cy="411480"/>
          </a:xfrm>
          <a:prstGeom prst="rect">
            <a:avLst/>
          </a:prstGeom>
          <a:noFill/>
        </p:spPr>
        <p:txBody>
          <a:bodyPr wrap="square">
            <a:spAutoFit/>
          </a:bodyPr>
          <a:lstStyle/>
          <a:p>
            <a:pPr algn="l"/>
            <a:r>
              <a:rPr sz="1800" b="1">
                <a:solidFill>
                  <a:srgbClr val="1B5E6B"/>
                </a:solidFill>
                <a:latin typeface="Bricolage Grotesque"/>
              </a:rPr>
              <a:t>Ton skill apparaît ensuite dans Personnaliser › Compétences.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3 · Ton skill commercial</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Écrire un mail commercial juste et à ton ton, en 2 minutes.</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Le skill « Mail commercial Pomarès TP », testé sur un client.</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15 minutes</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Vérifier : Paramètres › Capacités › exécution de code activée.</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Nouvelle conversation : coller le prompt de création (slide suivante).</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Joindre un mail commercial déjà envoyé, s'il y en a un.</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Répondre aux questions de Claude, puis enregistrer le skill.</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Tester : « Un mail pour proposer nos services à &lt;client&gt;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3 · Le prompt de création</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Je veux créer un skill : « mail commercial Pomarès TP ».</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Il rédige un mail commercial à un client ou à un prospect.</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Pose-moi tes questions une par une : cibles, métiers à mettre</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en avant, ton, longueur, appel à l'action, pièges à éviter.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3 · Le prompt de création</a:t>
            </a:r>
          </a:p>
        </p:txBody>
      </p:sp>
      <p:sp>
        <p:nvSpPr>
          <p:cNvPr id="5" name="TextBox 4"/>
          <p:cNvSpPr txBox="1"/>
          <p:nvPr/>
        </p:nvSpPr>
        <p:spPr>
          <a:xfrm>
            <a:off x="640080" y="1554480"/>
            <a:ext cx="10881360" cy="411480"/>
          </a:xfrm>
          <a:prstGeom prst="rect">
            <a:avLst/>
          </a:prstGeom>
          <a:noFill/>
        </p:spPr>
        <p:txBody>
          <a:bodyPr wrap="square">
            <a:spAutoFit/>
          </a:bodyPr>
          <a:lstStyle/>
          <a:p>
            <a:r>
              <a:rPr sz="2000" b="0">
                <a:solidFill>
                  <a:srgbClr val="0F2B3A"/>
                </a:solidFill>
                <a:latin typeface="Consolas"/>
              </a:rPr>
              <a:t>Je veux créer un skill : « mail commercial Pomarès TP ».</a:t>
            </a:r>
          </a:p>
        </p:txBody>
      </p:sp>
      <p:sp>
        <p:nvSpPr>
          <p:cNvPr id="6" name="TextBox 5"/>
          <p:cNvSpPr txBox="1"/>
          <p:nvPr/>
        </p:nvSpPr>
        <p:spPr>
          <a:xfrm>
            <a:off x="640080" y="2075688"/>
            <a:ext cx="10881360" cy="411480"/>
          </a:xfrm>
          <a:prstGeom prst="rect">
            <a:avLst/>
          </a:prstGeom>
          <a:noFill/>
        </p:spPr>
        <p:txBody>
          <a:bodyPr wrap="square">
            <a:spAutoFit/>
          </a:bodyPr>
          <a:lstStyle/>
          <a:p>
            <a:r>
              <a:rPr sz="2000" b="0">
                <a:solidFill>
                  <a:srgbClr val="0F2B3A"/>
                </a:solidFill>
                <a:latin typeface="Consolas"/>
              </a:rPr>
              <a:t>Il rédige un mail commercial à un client ou à un prospect.</a:t>
            </a:r>
          </a:p>
        </p:txBody>
      </p:sp>
      <p:sp>
        <p:nvSpPr>
          <p:cNvPr id="7" name="TextBox 6"/>
          <p:cNvSpPr txBox="1"/>
          <p:nvPr/>
        </p:nvSpPr>
        <p:spPr>
          <a:xfrm>
            <a:off x="640080" y="2596896"/>
            <a:ext cx="10881360" cy="411480"/>
          </a:xfrm>
          <a:prstGeom prst="rect">
            <a:avLst/>
          </a:prstGeom>
          <a:noFill/>
        </p:spPr>
        <p:txBody>
          <a:bodyPr wrap="square">
            <a:spAutoFit/>
          </a:bodyPr>
          <a:lstStyle/>
          <a:p>
            <a:r>
              <a:rPr sz="2000" b="0">
                <a:solidFill>
                  <a:srgbClr val="0F2B3A"/>
                </a:solidFill>
                <a:latin typeface="Consolas"/>
              </a:rPr>
              <a:t>Pose-moi tes questions une par une : cibles, métiers à mettre</a:t>
            </a:r>
          </a:p>
        </p:txBody>
      </p:sp>
      <p:sp>
        <p:nvSpPr>
          <p:cNvPr id="8" name="TextBox 7"/>
          <p:cNvSpPr txBox="1"/>
          <p:nvPr/>
        </p:nvSpPr>
        <p:spPr>
          <a:xfrm>
            <a:off x="640080" y="3118104"/>
            <a:ext cx="10881360" cy="411480"/>
          </a:xfrm>
          <a:prstGeom prst="rect">
            <a:avLst/>
          </a:prstGeom>
          <a:noFill/>
        </p:spPr>
        <p:txBody>
          <a:bodyPr wrap="square">
            <a:spAutoFit/>
          </a:bodyPr>
          <a:lstStyle/>
          <a:p>
            <a:r>
              <a:rPr sz="2000" b="0">
                <a:solidFill>
                  <a:srgbClr val="0F2B3A"/>
                </a:solidFill>
                <a:latin typeface="Consolas"/>
              </a:rPr>
              <a:t>en avant, ton, longueur, appel à l'action, pièges à éviter.</a:t>
            </a:r>
          </a:p>
        </p:txBody>
      </p:sp>
      <p:sp>
        <p:nvSpPr>
          <p:cNvPr id="9" name="TextBox 8"/>
          <p:cNvSpPr txBox="1"/>
          <p:nvPr/>
        </p:nvSpPr>
        <p:spPr>
          <a:xfrm>
            <a:off x="640080" y="3877056"/>
            <a:ext cx="10881360" cy="411480"/>
          </a:xfrm>
          <a:prstGeom prst="rect">
            <a:avLst/>
          </a:prstGeom>
          <a:noFill/>
        </p:spPr>
        <p:txBody>
          <a:bodyPr wrap="square">
            <a:spAutoFit/>
          </a:bodyPr>
          <a:lstStyle/>
          <a:p>
            <a:r>
              <a:rPr sz="2000" b="0">
                <a:solidFill>
                  <a:srgbClr val="0F2B3A"/>
                </a:solidFill>
                <a:latin typeface="Consolas"/>
              </a:rPr>
              <a:t>Règles : seulement des chantiers et des références réels,</a:t>
            </a:r>
          </a:p>
        </p:txBody>
      </p:sp>
      <p:sp>
        <p:nvSpPr>
          <p:cNvPr id="10" name="TextBox 9"/>
          <p:cNvSpPr txBox="1"/>
          <p:nvPr/>
        </p:nvSpPr>
        <p:spPr>
          <a:xfrm>
            <a:off x="640080" y="4398264"/>
            <a:ext cx="10881360" cy="411480"/>
          </a:xfrm>
          <a:prstGeom prst="rect">
            <a:avLst/>
          </a:prstGeom>
          <a:noFill/>
        </p:spPr>
        <p:txBody>
          <a:bodyPr wrap="square">
            <a:spAutoFit/>
          </a:bodyPr>
          <a:lstStyle/>
          <a:p>
            <a:r>
              <a:rPr sz="2000" b="0">
                <a:solidFill>
                  <a:srgbClr val="0F2B3A"/>
                </a:solidFill>
                <a:latin typeface="Consolas"/>
              </a:rPr>
              <a:t>signale ce que tu supposes, et une seule demande claire à la fin.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6</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Brique 4 : le connecteur</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Claude lit ta messagerie, tu gardes la main</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Un connecteur, c'est quoi ?</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Claude va chercher l'information à la source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Tu relies une fois ton outil : messagerie, agenda, fichiers.</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Claude y lit ce qu'il faut, seulement quand tu le demandes.</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Tu choisis ce qu'il peut faire, outil par outil.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Un connecteur, c'est quoi ?</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Claude va chercher l'information à la source</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Tu relies une fois ton outil : messagerie, agenda, fichiers.</a:t>
            </a:r>
          </a:p>
        </p:txBody>
      </p:sp>
      <p:sp>
        <p:nvSpPr>
          <p:cNvPr id="7" name="TextBox 6"/>
          <p:cNvSpPr txBox="1"/>
          <p:nvPr/>
        </p:nvSpPr>
        <p:spPr>
          <a:xfrm>
            <a:off x="640080" y="2852928"/>
            <a:ext cx="10881360" cy="411480"/>
          </a:xfrm>
          <a:prstGeom prst="rect">
            <a:avLst/>
          </a:prstGeom>
          <a:noFill/>
        </p:spPr>
        <p:txBody>
          <a:bodyPr wrap="square">
            <a:spAutoFit/>
          </a:bodyPr>
          <a:lstStyle/>
          <a:p>
            <a:r>
              <a:rPr sz="2000" b="1">
                <a:solidFill>
                  <a:srgbClr val="1B5E6B"/>
                </a:solidFill>
                <a:latin typeface="Bricolage Grotesque"/>
              </a:rPr>
              <a:t>Claude y lit ce qu'il faut, seulement quand tu le demandes.</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Tu choisis ce qu'il peut faire, outil par outil.</a:t>
            </a:r>
          </a:p>
        </p:txBody>
      </p:sp>
      <p:sp>
        <p:nvSpPr>
          <p:cNvPr id="9" name="TextBox 8"/>
          <p:cNvSpPr txBox="1"/>
          <p:nvPr/>
        </p:nvSpPr>
        <p:spPr>
          <a:xfrm>
            <a:off x="640080" y="4133088"/>
            <a:ext cx="10881360" cy="411480"/>
          </a:xfrm>
          <a:prstGeom prst="rect">
            <a:avLst/>
          </a:prstGeom>
          <a:noFill/>
        </p:spPr>
        <p:txBody>
          <a:bodyPr wrap="square">
            <a:spAutoFit/>
          </a:bodyPr>
          <a:lstStyle/>
          <a:p>
            <a:r>
              <a:rPr sz="2000" b="0">
                <a:solidFill>
                  <a:srgbClr val="333333"/>
                </a:solidFill>
                <a:latin typeface="Bricolage Grotesque"/>
              </a:rPr>
              <a:t>Aujourd'hui : il lit et il prépare. C'est toi qui envoies.</a:t>
            </a:r>
          </a:p>
        </p:txBody>
      </p:sp>
      <p:sp>
        <p:nvSpPr>
          <p:cNvPr id="10" name="TextBox 9"/>
          <p:cNvSpPr txBox="1"/>
          <p:nvPr/>
        </p:nvSpPr>
        <p:spPr>
          <a:xfrm>
            <a:off x="640080" y="4654296"/>
            <a:ext cx="10881360" cy="411480"/>
          </a:xfrm>
          <a:prstGeom prst="rect">
            <a:avLst/>
          </a:prstGeom>
          <a:noFill/>
        </p:spPr>
        <p:txBody>
          <a:bodyPr wrap="square">
            <a:spAutoFit/>
          </a:bodyPr>
          <a:lstStyle/>
          <a:p>
            <a:r>
              <a:rPr sz="2000" b="0">
                <a:solidFill>
                  <a:srgbClr val="333333"/>
                </a:solidFill>
                <a:latin typeface="Bricolage Grotesque"/>
              </a:rPr>
              <a:t>Microsoft 365 : compte pro, et l'accord de l'administrateur.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Pratique 4 · Ta messagerie</a:t>
            </a:r>
          </a:p>
        </p:txBody>
      </p:sp>
      <p:sp>
        <p:nvSpPr>
          <p:cNvPr id="5" name="Rounded Rectangle 4"/>
          <p:cNvSpPr/>
          <p:nvPr/>
        </p:nvSpPr>
        <p:spPr>
          <a:xfrm>
            <a:off x="640080" y="1417320"/>
            <a:ext cx="10881360" cy="1143000"/>
          </a:xfrm>
          <a:prstGeom prst="roundRect">
            <a:avLst/>
          </a:prstGeom>
          <a:solidFill>
            <a:srgbClr val="ED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4023359" cy="320040"/>
          </a:xfrm>
          <a:prstGeom prst="rect">
            <a:avLst/>
          </a:prstGeom>
          <a:noFill/>
        </p:spPr>
        <p:txBody>
          <a:bodyPr wrap="square">
            <a:spAutoFit/>
          </a:bodyPr>
          <a:lstStyle/>
          <a:p>
            <a:pPr algn="l"/>
            <a:r>
              <a:rPr sz="1400" b="1">
                <a:solidFill>
                  <a:srgbClr val="E8A000"/>
                </a:solidFill>
                <a:latin typeface="Bricolage Grotesque"/>
              </a:rPr>
              <a:t>OBJECTIF</a:t>
            </a:r>
          </a:p>
        </p:txBody>
      </p:sp>
      <p:sp>
        <p:nvSpPr>
          <p:cNvPr id="7" name="TextBox 6"/>
          <p:cNvSpPr txBox="1"/>
          <p:nvPr/>
        </p:nvSpPr>
        <p:spPr>
          <a:xfrm>
            <a:off x="868680" y="1810512"/>
            <a:ext cx="4023359" cy="685800"/>
          </a:xfrm>
          <a:prstGeom prst="rect">
            <a:avLst/>
          </a:prstGeom>
          <a:noFill/>
        </p:spPr>
        <p:txBody>
          <a:bodyPr wrap="square">
            <a:spAutoFit/>
          </a:bodyPr>
          <a:lstStyle/>
          <a:p>
            <a:pPr algn="l"/>
            <a:r>
              <a:rPr sz="1600" b="0">
                <a:solidFill>
                  <a:srgbClr val="1A1A1A"/>
                </a:solidFill>
                <a:latin typeface="Bricolage Grotesque"/>
              </a:rPr>
              <a:t>Un mail commercial qui s'appuie sur vos vrais échanges.</a:t>
            </a:r>
          </a:p>
        </p:txBody>
      </p:sp>
      <p:sp>
        <p:nvSpPr>
          <p:cNvPr id="8" name="TextBox 7"/>
          <p:cNvSpPr txBox="1"/>
          <p:nvPr/>
        </p:nvSpPr>
        <p:spPr>
          <a:xfrm>
            <a:off x="5074920" y="1508760"/>
            <a:ext cx="4389120" cy="320040"/>
          </a:xfrm>
          <a:prstGeom prst="rect">
            <a:avLst/>
          </a:prstGeom>
          <a:noFill/>
        </p:spPr>
        <p:txBody>
          <a:bodyPr wrap="square">
            <a:spAutoFit/>
          </a:bodyPr>
          <a:lstStyle/>
          <a:p>
            <a:pPr algn="l"/>
            <a:r>
              <a:rPr sz="1400" b="1">
                <a:solidFill>
                  <a:srgbClr val="E8A000"/>
                </a:solidFill>
                <a:latin typeface="Bricolage Grotesque"/>
              </a:rPr>
              <a:t>LIVRABLE</a:t>
            </a:r>
          </a:p>
        </p:txBody>
      </p:sp>
      <p:sp>
        <p:nvSpPr>
          <p:cNvPr id="9" name="TextBox 8"/>
          <p:cNvSpPr txBox="1"/>
          <p:nvPr/>
        </p:nvSpPr>
        <p:spPr>
          <a:xfrm>
            <a:off x="5074920" y="1810512"/>
            <a:ext cx="4389120" cy="685800"/>
          </a:xfrm>
          <a:prstGeom prst="rect">
            <a:avLst/>
          </a:prstGeom>
          <a:noFill/>
        </p:spPr>
        <p:txBody>
          <a:bodyPr wrap="square">
            <a:spAutoFit/>
          </a:bodyPr>
          <a:lstStyle/>
          <a:p>
            <a:pPr algn="l"/>
            <a:r>
              <a:rPr sz="1600" b="0">
                <a:solidFill>
                  <a:srgbClr val="1A1A1A"/>
                </a:solidFill>
                <a:latin typeface="Bricolage Grotesque"/>
              </a:rPr>
              <a:t>Ta messagerie reliée et un brouillon pour un vrai client.</a:t>
            </a:r>
          </a:p>
        </p:txBody>
      </p:sp>
      <p:sp>
        <p:nvSpPr>
          <p:cNvPr id="10" name="TextBox 9"/>
          <p:cNvSpPr txBox="1"/>
          <p:nvPr/>
        </p:nvSpPr>
        <p:spPr>
          <a:xfrm>
            <a:off x="9646920" y="1508760"/>
            <a:ext cx="1554480" cy="320040"/>
          </a:xfrm>
          <a:prstGeom prst="rect">
            <a:avLst/>
          </a:prstGeom>
          <a:noFill/>
        </p:spPr>
        <p:txBody>
          <a:bodyPr wrap="square">
            <a:spAutoFit/>
          </a:bodyPr>
          <a:lstStyle/>
          <a:p>
            <a:pPr algn="l"/>
            <a:r>
              <a:rPr sz="1400" b="1">
                <a:solidFill>
                  <a:srgbClr val="E8A000"/>
                </a:solidFill>
                <a:latin typeface="Bricolage Grotesque"/>
              </a:rPr>
              <a:t>DURÉE</a:t>
            </a:r>
          </a:p>
        </p:txBody>
      </p:sp>
      <p:sp>
        <p:nvSpPr>
          <p:cNvPr id="11" name="TextBox 10"/>
          <p:cNvSpPr txBox="1"/>
          <p:nvPr/>
        </p:nvSpPr>
        <p:spPr>
          <a:xfrm>
            <a:off x="9646920" y="1810512"/>
            <a:ext cx="1554480" cy="685800"/>
          </a:xfrm>
          <a:prstGeom prst="rect">
            <a:avLst/>
          </a:prstGeom>
          <a:noFill/>
        </p:spPr>
        <p:txBody>
          <a:bodyPr wrap="square">
            <a:spAutoFit/>
          </a:bodyPr>
          <a:lstStyle/>
          <a:p>
            <a:pPr algn="l"/>
            <a:r>
              <a:rPr sz="1600" b="0">
                <a:solidFill>
                  <a:srgbClr val="1A1A1A"/>
                </a:solidFill>
                <a:latin typeface="Bricolage Grotesque"/>
              </a:rPr>
              <a:t>10 minutes</a:t>
            </a:r>
          </a:p>
        </p:txBody>
      </p:sp>
      <p:sp>
        <p:nvSpPr>
          <p:cNvPr id="12" name="TextBox 11"/>
          <p:cNvSpPr txBox="1"/>
          <p:nvPr/>
        </p:nvSpPr>
        <p:spPr>
          <a:xfrm>
            <a:off x="640080" y="2834640"/>
            <a:ext cx="10881360" cy="411480"/>
          </a:xfrm>
          <a:prstGeom prst="rect">
            <a:avLst/>
          </a:prstGeom>
          <a:noFill/>
        </p:spPr>
        <p:txBody>
          <a:bodyPr wrap="square">
            <a:spAutoFit/>
          </a:bodyPr>
          <a:lstStyle/>
          <a:p>
            <a:r>
              <a:rPr sz="1900" b="1">
                <a:solidFill>
                  <a:srgbClr val="1B5E6B"/>
                </a:solidFill>
                <a:latin typeface="Bricolage Grotesque"/>
              </a:rPr>
              <a:t>1.  </a:t>
            </a:r>
            <a:r>
              <a:rPr sz="1900">
                <a:solidFill>
                  <a:srgbClr val="333333"/>
                </a:solidFill>
                <a:latin typeface="Bricolage Grotesque"/>
              </a:rPr>
              <a:t>Relier ta messagerie dans les connecteurs de Claude.</a:t>
            </a:r>
          </a:p>
        </p:txBody>
      </p:sp>
      <p:sp>
        <p:nvSpPr>
          <p:cNvPr id="13" name="TextBox 12"/>
          <p:cNvSpPr txBox="1"/>
          <p:nvPr/>
        </p:nvSpPr>
        <p:spPr>
          <a:xfrm>
            <a:off x="640080" y="3355848"/>
            <a:ext cx="10881360" cy="411480"/>
          </a:xfrm>
          <a:prstGeom prst="rect">
            <a:avLst/>
          </a:prstGeom>
          <a:noFill/>
        </p:spPr>
        <p:txBody>
          <a:bodyPr wrap="square">
            <a:spAutoFit/>
          </a:bodyPr>
          <a:lstStyle/>
          <a:p>
            <a:r>
              <a:rPr sz="1900" b="1">
                <a:solidFill>
                  <a:srgbClr val="1B5E6B"/>
                </a:solidFill>
                <a:latin typeface="Bricolage Grotesque"/>
              </a:rPr>
              <a:t>2.  </a:t>
            </a:r>
            <a:r>
              <a:rPr sz="1900">
                <a:solidFill>
                  <a:srgbClr val="333333"/>
                </a:solidFill>
                <a:latin typeface="Bricolage Grotesque"/>
              </a:rPr>
              <a:t>Choisir un client existant à qui proposer un service.</a:t>
            </a:r>
          </a:p>
        </p:txBody>
      </p:sp>
      <p:sp>
        <p:nvSpPr>
          <p:cNvPr id="14" name="TextBox 13"/>
          <p:cNvSpPr txBox="1"/>
          <p:nvPr/>
        </p:nvSpPr>
        <p:spPr>
          <a:xfrm>
            <a:off x="640080" y="3877056"/>
            <a:ext cx="10881360" cy="411480"/>
          </a:xfrm>
          <a:prstGeom prst="rect">
            <a:avLst/>
          </a:prstGeom>
          <a:noFill/>
        </p:spPr>
        <p:txBody>
          <a:bodyPr wrap="square">
            <a:spAutoFit/>
          </a:bodyPr>
          <a:lstStyle/>
          <a:p>
            <a:r>
              <a:rPr sz="1900" b="1">
                <a:solidFill>
                  <a:srgbClr val="1B5E6B"/>
                </a:solidFill>
                <a:latin typeface="Bricolage Grotesque"/>
              </a:rPr>
              <a:t>3.  </a:t>
            </a:r>
            <a:r>
              <a:rPr sz="1900">
                <a:solidFill>
                  <a:srgbClr val="333333"/>
                </a:solidFill>
                <a:latin typeface="Bricolage Grotesque"/>
              </a:rPr>
              <a:t>Demander : « Retrouve nos derniers échanges avec &lt;client&gt; ».</a:t>
            </a:r>
          </a:p>
        </p:txBody>
      </p:sp>
      <p:sp>
        <p:nvSpPr>
          <p:cNvPr id="15" name="TextBox 14"/>
          <p:cNvSpPr txBox="1"/>
          <p:nvPr/>
        </p:nvSpPr>
        <p:spPr>
          <a:xfrm>
            <a:off x="640080" y="4398264"/>
            <a:ext cx="10881360" cy="411480"/>
          </a:xfrm>
          <a:prstGeom prst="rect">
            <a:avLst/>
          </a:prstGeom>
          <a:noFill/>
        </p:spPr>
        <p:txBody>
          <a:bodyPr wrap="square">
            <a:spAutoFit/>
          </a:bodyPr>
          <a:lstStyle/>
          <a:p>
            <a:r>
              <a:rPr sz="1900" b="1">
                <a:solidFill>
                  <a:srgbClr val="1B5E6B"/>
                </a:solidFill>
                <a:latin typeface="Bricolage Grotesque"/>
              </a:rPr>
              <a:t>4.  </a:t>
            </a:r>
            <a:r>
              <a:rPr sz="1900">
                <a:solidFill>
                  <a:srgbClr val="333333"/>
                </a:solidFill>
                <a:latin typeface="Bricolage Grotesque"/>
              </a:rPr>
              <a:t>Puis : « Avec mon skill, prépare-lui un mail commercial ».</a:t>
            </a:r>
          </a:p>
        </p:txBody>
      </p:sp>
      <p:sp>
        <p:nvSpPr>
          <p:cNvPr id="16" name="TextBox 15"/>
          <p:cNvSpPr txBox="1"/>
          <p:nvPr/>
        </p:nvSpPr>
        <p:spPr>
          <a:xfrm>
            <a:off x="640080" y="4919472"/>
            <a:ext cx="10881360" cy="411480"/>
          </a:xfrm>
          <a:prstGeom prst="rect">
            <a:avLst/>
          </a:prstGeom>
          <a:noFill/>
        </p:spPr>
        <p:txBody>
          <a:bodyPr wrap="square">
            <a:spAutoFit/>
          </a:bodyPr>
          <a:lstStyle/>
          <a:p>
            <a:r>
              <a:rPr sz="1900" b="1">
                <a:solidFill>
                  <a:srgbClr val="1B5E6B"/>
                </a:solidFill>
                <a:latin typeface="Bricolage Grotesque"/>
              </a:rPr>
              <a:t>5.  </a:t>
            </a:r>
            <a:r>
              <a:rPr sz="1900">
                <a:solidFill>
                  <a:srgbClr val="333333"/>
                </a:solidFill>
                <a:latin typeface="Bricolage Grotesque"/>
              </a:rPr>
              <a:t>Relire le brouillon, le corriger, l'envoyer toi-même si tu veux.</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515600" cy="731520"/>
          </a:xfrm>
          <a:prstGeom prst="rect">
            <a:avLst/>
          </a:prstGeom>
          <a:noFill/>
        </p:spPr>
        <p:txBody>
          <a:bodyPr wrap="square">
            <a:spAutoFit/>
          </a:bodyPr>
          <a:lstStyle/>
          <a:p>
            <a:pPr algn="l"/>
            <a:r>
              <a:rPr sz="3600" b="1">
                <a:solidFill>
                  <a:srgbClr val="E8A000"/>
                </a:solidFill>
                <a:latin typeface="Bricolage Grotesque"/>
              </a:rPr>
              <a:t>À retenir</a:t>
            </a:r>
          </a:p>
        </p:txBody>
      </p:sp>
      <p:sp>
        <p:nvSpPr>
          <p:cNvPr id="4" name="TextBox 3"/>
          <p:cNvSpPr txBox="1"/>
          <p:nvPr/>
        </p:nvSpPr>
        <p:spPr>
          <a:xfrm>
            <a:off x="640080" y="1645920"/>
            <a:ext cx="10515600" cy="548640"/>
          </a:xfrm>
          <a:prstGeom prst="rect">
            <a:avLst/>
          </a:prstGeom>
          <a:noFill/>
        </p:spPr>
        <p:txBody>
          <a:bodyPr wrap="square">
            <a:spAutoFit/>
          </a:bodyPr>
          <a:lstStyle/>
          <a:p>
            <a:pPr algn="l"/>
            <a:r>
              <a:rPr sz="1800" b="0">
                <a:solidFill>
                  <a:srgbClr val="5A8A8F"/>
                </a:solidFill>
                <a:latin typeface="Bricolage Grotesque"/>
              </a:rPr>
              <a:t>Tes 4 briques</a:t>
            </a:r>
          </a:p>
        </p:txBody>
      </p:sp>
      <p:sp>
        <p:nvSpPr>
          <p:cNvPr id="5" name="Rectangle 4"/>
          <p:cNvSpPr/>
          <p:nvPr/>
        </p:nvSpPr>
        <p:spPr>
          <a:xfrm>
            <a:off x="640080" y="2286000"/>
            <a:ext cx="2743200" cy="27432"/>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651760"/>
            <a:ext cx="10881360" cy="3383280"/>
          </a:xfrm>
          <a:prstGeom prst="rect">
            <a:avLst/>
          </a:prstGeom>
          <a:noFill/>
        </p:spPr>
        <p:txBody>
          <a:bodyPr wrap="square">
            <a:spAutoFit/>
          </a:bodyPr>
          <a:lstStyle/>
          <a:p>
            <a:pPr>
              <a:spcBef>
                <a:spcPts val="1200"/>
              </a:spcBef>
            </a:pPr>
            <a:r>
              <a:rPr sz="2000">
                <a:solidFill>
                  <a:srgbClr val="FFFFFF"/>
                </a:solidFill>
                <a:latin typeface="Bricolage Grotesque"/>
              </a:rPr>
              <a:t>1.  Instructions : qui tu es, lu partout. Court et stable.</a:t>
            </a:r>
          </a:p>
          <a:p>
            <a:pPr>
              <a:spcBef>
                <a:spcPts val="1200"/>
              </a:spcBef>
            </a:pPr>
            <a:r>
              <a:rPr sz="2000">
                <a:solidFill>
                  <a:srgbClr val="FFFFFF"/>
                </a:solidFill>
                <a:latin typeface="Bricolage Grotesque"/>
              </a:rPr>
              <a:t>2.  Projet : une activité, ses consignes, ses fichiers de référence.</a:t>
            </a:r>
          </a:p>
          <a:p>
            <a:pPr>
              <a:spcBef>
                <a:spcPts val="1200"/>
              </a:spcBef>
            </a:pPr>
            <a:r>
              <a:rPr sz="2000">
                <a:solidFill>
                  <a:srgbClr val="FFFFFF"/>
                </a:solidFill>
                <a:latin typeface="Bricolage Grotesque"/>
              </a:rPr>
              <a:t>3.  Skill : une méthode qui produit un livrable, utilisable partout.</a:t>
            </a:r>
          </a:p>
          <a:p>
            <a:pPr>
              <a:spcBef>
                <a:spcPts val="1200"/>
              </a:spcBef>
            </a:pPr>
            <a:r>
              <a:rPr sz="2000">
                <a:solidFill>
                  <a:srgbClr val="FFFFFF"/>
                </a:solidFill>
                <a:latin typeface="Bricolage Grotesque"/>
              </a:rPr>
              <a:t>4.  Connecteur : Claude lit tes outils ; tu gardes la main sur l'envoi.</a:t>
            </a:r>
          </a:p>
          <a:p>
            <a:pPr>
              <a:spcBef>
                <a:spcPts val="1200"/>
              </a:spcBef>
            </a:pPr>
            <a:r>
              <a:rPr sz="2000">
                <a:solidFill>
                  <a:srgbClr val="FFFFFF"/>
                </a:solidFill>
                <a:latin typeface="Bricolage Grotesque"/>
              </a:rPr>
              <a:t>5.  Toujours : faire citer la source, et vérifier les chiffres.</a:t>
            </a:r>
          </a:p>
        </p:txBody>
      </p:sp>
      <p:pic>
        <p:nvPicPr>
          <p:cNvPr id="7" name="Picture 6" descr="ia-round.png"/>
          <p:cNvPicPr>
            <a:picLocks noChangeAspect="1"/>
          </p:cNvPicPr>
          <p:nvPr/>
        </p:nvPicPr>
        <p:blipFill>
          <a:blip r:embed="rId2"/>
          <a:stretch>
            <a:fillRect/>
          </a:stretch>
        </p:blipFill>
        <p:spPr>
          <a:xfrm>
            <a:off x="457200" y="6355080"/>
            <a:ext cx="320040" cy="320040"/>
          </a:xfrm>
          <a:prstGeom prst="rect">
            <a:avLst/>
          </a:prstGeom>
        </p:spPr>
      </p:pic>
      <p:sp>
        <p:nvSpPr>
          <p:cNvPr id="8" name="TextBox 7"/>
          <p:cNvSpPr txBox="1"/>
          <p:nvPr/>
        </p:nvSpPr>
        <p:spPr>
          <a:xfrm>
            <a:off x="868680" y="63367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1965960"/>
            <a:ext cx="2743200" cy="36576"/>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515600" cy="731520"/>
          </a:xfrm>
          <a:prstGeom prst="rect">
            <a:avLst/>
          </a:prstGeom>
          <a:noFill/>
        </p:spPr>
        <p:txBody>
          <a:bodyPr wrap="square">
            <a:spAutoFit/>
          </a:bodyPr>
          <a:lstStyle/>
          <a:p>
            <a:pPr algn="l"/>
            <a:r>
              <a:rPr sz="2200" b="1">
                <a:solidFill>
                  <a:srgbClr val="E8A000"/>
                </a:solidFill>
                <a:latin typeface="Bricolage Grotesque"/>
              </a:rPr>
              <a:t>Séquence 7</a:t>
            </a:r>
          </a:p>
        </p:txBody>
      </p:sp>
      <p:sp>
        <p:nvSpPr>
          <p:cNvPr id="5" name="TextBox 4"/>
          <p:cNvSpPr txBox="1"/>
          <p:nvPr/>
        </p:nvSpPr>
        <p:spPr>
          <a:xfrm>
            <a:off x="640080" y="2286000"/>
            <a:ext cx="10698480" cy="1645920"/>
          </a:xfrm>
          <a:prstGeom prst="rect">
            <a:avLst/>
          </a:prstGeom>
          <a:noFill/>
        </p:spPr>
        <p:txBody>
          <a:bodyPr wrap="square">
            <a:spAutoFit/>
          </a:bodyPr>
          <a:lstStyle/>
          <a:p>
            <a:pPr algn="l"/>
            <a:r>
              <a:rPr sz="4200" b="1">
                <a:solidFill>
                  <a:srgbClr val="FFFFFF"/>
                </a:solidFill>
                <a:latin typeface="Bricolage Grotesque"/>
              </a:rPr>
              <a:t>Tes devoirs</a:t>
            </a:r>
          </a:p>
        </p:txBody>
      </p:sp>
      <p:sp>
        <p:nvSpPr>
          <p:cNvPr id="6" name="TextBox 5"/>
          <p:cNvSpPr txBox="1"/>
          <p:nvPr/>
        </p:nvSpPr>
        <p:spPr>
          <a:xfrm>
            <a:off x="640080" y="4023360"/>
            <a:ext cx="10515600" cy="731520"/>
          </a:xfrm>
          <a:prstGeom prst="rect">
            <a:avLst/>
          </a:prstGeom>
          <a:noFill/>
        </p:spPr>
        <p:txBody>
          <a:bodyPr wrap="square">
            <a:spAutoFit/>
          </a:bodyPr>
          <a:lstStyle/>
          <a:p>
            <a:pPr algn="l"/>
            <a:r>
              <a:rPr sz="2000" b="0">
                <a:solidFill>
                  <a:srgbClr val="5A8A8F"/>
                </a:solidFill>
                <a:latin typeface="Bricolage Grotesque"/>
              </a:rPr>
              <a:t>D'ici la séance 2</a:t>
            </a:r>
          </a:p>
        </p:txBody>
      </p:sp>
      <p:pic>
        <p:nvPicPr>
          <p:cNvPr id="7" name="Picture 6" descr="ia-round.png"/>
          <p:cNvPicPr>
            <a:picLocks noChangeAspect="1"/>
          </p:cNvPicPr>
          <p:nvPr/>
        </p:nvPicPr>
        <p:blipFill>
          <a:blip r:embed="rId2"/>
          <a:stretch>
            <a:fillRect/>
          </a:stretch>
        </p:blipFill>
        <p:spPr>
          <a:xfrm>
            <a:off x="457200" y="6217920"/>
            <a:ext cx="320040" cy="320040"/>
          </a:xfrm>
          <a:prstGeom prst="rect">
            <a:avLst/>
          </a:prstGeom>
        </p:spPr>
      </p:pic>
      <p:sp>
        <p:nvSpPr>
          <p:cNvPr id="8" name="TextBox 7"/>
          <p:cNvSpPr txBox="1"/>
          <p:nvPr/>
        </p:nvSpPr>
        <p:spPr>
          <a:xfrm>
            <a:off x="868680" y="619963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ln>
            <a:noFill/>
          </a:ln>
          <a:gradFill>
            <a:gsLst>
              <a:gs pos="0">
                <a:srgbClr val="0A2530"/>
              </a:gs>
              <a:gs pos="100000">
                <a:srgbClr val="1E5565"/>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18288"/>
          </a:xfrm>
          <a:prstGeom prst="rect">
            <a:avLst/>
          </a:prstGeom>
          <a:solidFill>
            <a:srgbClr val="E8A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2880"/>
            <a:ext cx="10515600" cy="822960"/>
          </a:xfrm>
          <a:prstGeom prst="rect">
            <a:avLst/>
          </a:prstGeom>
          <a:noFill/>
        </p:spPr>
        <p:txBody>
          <a:bodyPr wrap="square">
            <a:spAutoFit/>
          </a:bodyPr>
          <a:lstStyle/>
          <a:p>
            <a:pPr algn="l"/>
            <a:r>
              <a:rPr sz="3400" b="1">
                <a:solidFill>
                  <a:srgbClr val="FFFFFF"/>
                </a:solidFill>
                <a:latin typeface="Bricolage Grotesque"/>
              </a:rPr>
              <a:t>Tes devoirs</a:t>
            </a:r>
          </a:p>
        </p:txBody>
      </p:sp>
      <p:sp>
        <p:nvSpPr>
          <p:cNvPr id="5" name="TextBox 4"/>
          <p:cNvSpPr txBox="1"/>
          <p:nvPr/>
        </p:nvSpPr>
        <p:spPr>
          <a:xfrm>
            <a:off x="640080" y="1463040"/>
            <a:ext cx="10515600" cy="640080"/>
          </a:xfrm>
          <a:prstGeom prst="rect">
            <a:avLst/>
          </a:prstGeom>
          <a:noFill/>
        </p:spPr>
        <p:txBody>
          <a:bodyPr wrap="square">
            <a:spAutoFit/>
          </a:bodyPr>
          <a:lstStyle/>
          <a:p>
            <a:pPr algn="l"/>
            <a:r>
              <a:rPr sz="2600" b="1">
                <a:solidFill>
                  <a:srgbClr val="1A1A1A"/>
                </a:solidFill>
                <a:latin typeface="Bricolage Grotesque"/>
              </a:rPr>
              <a:t>D'ici la séance 2</a:t>
            </a:r>
          </a:p>
        </p:txBody>
      </p:sp>
      <p:sp>
        <p:nvSpPr>
          <p:cNvPr id="6" name="TextBox 5"/>
          <p:cNvSpPr txBox="1"/>
          <p:nvPr/>
        </p:nvSpPr>
        <p:spPr>
          <a:xfrm>
            <a:off x="640080" y="2331720"/>
            <a:ext cx="10881360" cy="411480"/>
          </a:xfrm>
          <a:prstGeom prst="rect">
            <a:avLst/>
          </a:prstGeom>
          <a:noFill/>
        </p:spPr>
        <p:txBody>
          <a:bodyPr wrap="square">
            <a:spAutoFit/>
          </a:bodyPr>
          <a:lstStyle/>
          <a:p>
            <a:r>
              <a:rPr sz="2000" b="1">
                <a:solidFill>
                  <a:srgbClr val="1B5E6B"/>
                </a:solidFill>
                <a:latin typeface="Bricolage Grotesque"/>
              </a:rPr>
              <a:t>1.  Passer 3 factures du mois dans le projet, avec ta secrétaire.</a:t>
            </a:r>
          </a:p>
        </p:txBody>
      </p:sp>
      <p:sp>
        <p:nvSpPr>
          <p:cNvPr id="7" name="TextBox 6"/>
          <p:cNvSpPr txBox="1"/>
          <p:nvPr/>
        </p:nvSpPr>
        <p:spPr>
          <a:xfrm>
            <a:off x="640080" y="2852928"/>
            <a:ext cx="10881360" cy="411480"/>
          </a:xfrm>
          <a:prstGeom prst="rect">
            <a:avLst/>
          </a:prstGeom>
          <a:noFill/>
        </p:spPr>
        <p:txBody>
          <a:bodyPr wrap="square">
            <a:spAutoFit/>
          </a:bodyPr>
          <a:lstStyle/>
          <a:p>
            <a:r>
              <a:rPr sz="2000" b="0">
                <a:solidFill>
                  <a:srgbClr val="333333"/>
                </a:solidFill>
                <a:latin typeface="Bricolage Grotesque"/>
              </a:rPr>
              <a:t>Noter ce qui est faux ou manquant dans le tableau.</a:t>
            </a:r>
          </a:p>
        </p:txBody>
      </p:sp>
      <p:sp>
        <p:nvSpPr>
          <p:cNvPr id="8" name="TextBox 7"/>
          <p:cNvSpPr txBox="1"/>
          <p:nvPr/>
        </p:nvSpPr>
        <p:spPr>
          <a:xfrm>
            <a:off x="640080" y="3374136"/>
            <a:ext cx="10881360" cy="411480"/>
          </a:xfrm>
          <a:prstGeom prst="rect">
            <a:avLst/>
          </a:prstGeom>
          <a:noFill/>
        </p:spPr>
        <p:txBody>
          <a:bodyPr wrap="square">
            <a:spAutoFit/>
          </a:bodyPr>
          <a:lstStyle/>
          <a:p>
            <a:r>
              <a:rPr sz="2000" b="1">
                <a:solidFill>
                  <a:srgbClr val="1B5E6B"/>
                </a:solidFill>
                <a:latin typeface="Bricolage Grotesque"/>
              </a:rPr>
              <a:t>2.  Préparer 3 mails avec ton skill : client, ancien client, prospect.</a:t>
            </a:r>
          </a:p>
        </p:txBody>
      </p:sp>
      <p:sp>
        <p:nvSpPr>
          <p:cNvPr id="9" name="TextBox 8"/>
          <p:cNvSpPr txBox="1"/>
          <p:nvPr/>
        </p:nvSpPr>
        <p:spPr>
          <a:xfrm>
            <a:off x="640080" y="3895344"/>
            <a:ext cx="10881360" cy="411480"/>
          </a:xfrm>
          <a:prstGeom prst="rect">
            <a:avLst/>
          </a:prstGeom>
          <a:noFill/>
        </p:spPr>
        <p:txBody>
          <a:bodyPr wrap="square">
            <a:spAutoFit/>
          </a:bodyPr>
          <a:lstStyle/>
          <a:p>
            <a:r>
              <a:rPr sz="2000" b="0">
                <a:solidFill>
                  <a:srgbClr val="333333"/>
                </a:solidFill>
                <a:latin typeface="Bricolage Grotesque"/>
              </a:rPr>
              <a:t>Noter ce que tu corriges : on améliorera le skill.</a:t>
            </a:r>
          </a:p>
        </p:txBody>
      </p:sp>
      <p:sp>
        <p:nvSpPr>
          <p:cNvPr id="10" name="TextBox 9"/>
          <p:cNvSpPr txBox="1"/>
          <p:nvPr/>
        </p:nvSpPr>
        <p:spPr>
          <a:xfrm>
            <a:off x="640080" y="4416552"/>
            <a:ext cx="10881360" cy="411480"/>
          </a:xfrm>
          <a:prstGeom prst="rect">
            <a:avLst/>
          </a:prstGeom>
          <a:noFill/>
        </p:spPr>
        <p:txBody>
          <a:bodyPr wrap="square">
            <a:spAutoFit/>
          </a:bodyPr>
          <a:lstStyle/>
          <a:p>
            <a:r>
              <a:rPr sz="2000" b="1">
                <a:solidFill>
                  <a:srgbClr val="1B5E6B"/>
                </a:solidFill>
                <a:latin typeface="Bricolage Grotesque"/>
              </a:rPr>
              <a:t>3.  Dès l'ouverture de l'e-learning : « IA sans jargon », « Claude ».</a:t>
            </a:r>
          </a:p>
        </p:txBody>
      </p:sp>
      <p:sp>
        <p:nvSpPr>
          <p:cNvPr id="11" name="TextBox 10"/>
          <p:cNvSpPr txBox="1"/>
          <p:nvPr/>
        </p:nvSpPr>
        <p:spPr>
          <a:xfrm>
            <a:off x="640080" y="4937760"/>
            <a:ext cx="10881360" cy="411480"/>
          </a:xfrm>
          <a:prstGeom prst="rect">
            <a:avLst/>
          </a:prstGeom>
          <a:noFill/>
        </p:spPr>
        <p:txBody>
          <a:bodyPr wrap="square">
            <a:spAutoFit/>
          </a:bodyPr>
          <a:lstStyle/>
          <a:p>
            <a:r>
              <a:rPr sz="2000" b="1">
                <a:solidFill>
                  <a:srgbClr val="1B5E6B"/>
                </a:solidFill>
                <a:latin typeface="Bricolage Grotesque"/>
              </a:rPr>
              <a:t>4.  Pour la S2 : 5 à 10 mails types reçus (devis, AO, CV).</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560320"/>
            <a:ext cx="12191695" cy="1828800"/>
          </a:xfrm>
          <a:prstGeom prst="rect">
            <a:avLst/>
          </a:prstGeom>
          <a:noFill/>
        </p:spPr>
        <p:txBody>
          <a:bodyPr wrap="square">
            <a:spAutoFit/>
          </a:bodyPr>
          <a:lstStyle/>
          <a:p>
            <a:pPr algn="ctr"/>
            <a:r>
              <a:rPr sz="6400" b="1">
                <a:solidFill>
                  <a:srgbClr val="FFFFFF"/>
                </a:solidFill>
                <a:latin typeface="Bricolage Grotesque"/>
              </a:rPr>
              <a:t>Des questions ?</a:t>
            </a:r>
          </a:p>
        </p:txBody>
      </p:sp>
      <p:pic>
        <p:nvPicPr>
          <p:cNvPr id="4" name="Picture 3" descr="ia-round.png"/>
          <p:cNvPicPr>
            <a:picLocks noChangeAspect="1"/>
          </p:cNvPicPr>
          <p:nvPr/>
        </p:nvPicPr>
        <p:blipFill>
          <a:blip r:embed="rId2"/>
          <a:stretch>
            <a:fillRect/>
          </a:stretch>
        </p:blipFill>
        <p:spPr>
          <a:xfrm>
            <a:off x="4846320" y="4754880"/>
            <a:ext cx="320040" cy="320040"/>
          </a:xfrm>
          <a:prstGeom prst="rect">
            <a:avLst/>
          </a:prstGeom>
        </p:spPr>
      </p:pic>
      <p:sp>
        <p:nvSpPr>
          <p:cNvPr id="5" name="TextBox 4"/>
          <p:cNvSpPr txBox="1"/>
          <p:nvPr/>
        </p:nvSpPr>
        <p:spPr>
          <a:xfrm>
            <a:off x="5257800" y="4736592"/>
            <a:ext cx="3657600" cy="365760"/>
          </a:xfrm>
          <a:prstGeom prst="rect">
            <a:avLst/>
          </a:prstGeom>
          <a:noFill/>
        </p:spPr>
        <p:txBody>
          <a:bodyPr wrap="square">
            <a:spAutoFit/>
          </a:bodyPr>
          <a:lstStyle/>
          <a:p>
            <a:pPr algn="l"/>
            <a:r>
              <a:rPr sz="1400" b="0">
                <a:solidFill>
                  <a:srgbClr val="FFFFFF"/>
                </a:solidFill>
                <a:latin typeface="Bricolage Grotesque"/>
              </a:rPr>
              <a:t>intelligence academy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