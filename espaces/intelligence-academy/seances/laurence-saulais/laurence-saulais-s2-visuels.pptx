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notesMaster" Target="notesMasters/notesMaster1.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Laurence a demandé par mail de valider sa compréhension de ces trois notions : elle était correcte. Le dire franchement, c'est une réponse à son besoin de réassurance.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Laurence a demandé par mail de valider sa compréhension de ces trois notions : elle était correcte. Le dire franchement, c'est une réponse à son besoin de réassurance.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important : dans son fichier, Laurence écrit qu'elle pose désormais ses questions de santé « en mode Instant ». Instant est le modèle par défaut de ChatGPT depuis mai 2026, ce n'est pas le chat temporaire. Lui faire montrer à l'écran où elle clique. Depuis fin août 2026, un chat temporaire peut être ajouté à l'historique après coup, et on peut choisir au départ s'il utilise la mémoire et les instructions : cela répond à sa question sur la conversion. Il reste conservé 30 jours côté OpenAI pour la sécurité.</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important : dans son fichier, Laurence écrit qu'elle pose désormais ses questions de santé « en mode Instant ». Instant est le modèle par défaut de ChatGPT depuis mai 2026, ce n'est pas le chat temporaire. Lui faire montrer à l'écran où elle clique. Depuis fin août 2026, un chat temporaire peut être ajouté à l'historique après coup, et on peut choisir au départ s'il utilise la mémoire et les instructions : cela répond à sa question sur la conversion. Il reste conservé 30 jours côté OpenAI pour la sécurité.</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Elle pose aussi la question de la phrase « Ces instructions s'appliquent à toutes mes conversations » : inutile, c'est la définition même des instructions personnalisées. Les 1 500 caractères gagnés servent mieux ailleurs.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Elle pose aussi la question de la phrase « Ces instructions s'appliquent à toutes mes conversations » : inutile, c'est la définition même des instructions personnalisées. Les 1 500 caractères gagnés servent mieux ailleurs.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la question qui l'a bloquée toute la semaine (« Coordination : synthèses et courriers »). En séance 1, la formule « un projet par tâche » était trop stricte : la reformuler ici.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la question qui l'a bloquée toute la semaine (« Coordination : synthèses et courriers »). En séance 1, la formule « un projet par tâche » était trop stricte : la reformuler ici.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Partir de son mail du 8/10 : affiches, flyers piano, candidatures spontanées, réponses aux annonces. La règle tranche toutes ses hésitations sans « usine à gaz ».</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 conclusion était « un projet par support ». Contre-argument : elle se perd déjà dans l'arborescence. Un projet par support ne se justifie que si ce support revient souvent et a beaucoup d'exemples propres. Les instructions graphiques actuelles sont trop longues : 10 lignes suffisent (direction artistique, méthode, validation). Réponse à sa question : oui, ChatGPT rédige un mail personnalisé à partir de l'annonce collée, un agent n'apporte rien ici.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 conclusion était « un projet par support ». Contre-argument : elle se perd déjà dans l'arborescence. Un projet par support ne se justifie que si ce support revient souvent et a beaucoup d'exemples propres. Les instructions graphiques actuelles sont trop longues : 10 lignes suffisent (direction artistique, méthode, validation). Réponse à sa question : oui, ChatGPT rédige un mail personnalisé à partir de l'annonce collée, un agent n'apporte rien ici.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 conclusion était « un projet par support ». Contre-argument : elle se perd déjà dans l'arborescence. Un projet par support ne se justifie que si ce support revient souvent et a beaucoup d'exemples propres. Les instructions graphiques actuelles sont trop longues : 10 lignes suffisent (direction artistique, méthode, validation). Réponse à sa question : oui, ChatGPT rédige un mail personnalisé à partir de l'annonce collée, un agent n'apporte rien ici.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Elle demande si l'analyse des mots-clés était nécessaire : non, elle vient de la consigne d'un exercice de l'e-learning sur la prédiction de mots, et elle consomme du contexte. Valoriser sa trouvaille « Informations manquantes » : c'est exactement le réflexe de vérification.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Elle demande si l'analyse des mots-clés était nécessaire : non, elle vient de la consigne d'un exercice de l'e-learning sur la prédiction de mots, et elle consomme du contexte. Valoriser sa trouvaille « Informations manquantes » : c'est exactement le réflexe de vérification.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Elle demande si l'analyse des mots-clés était nécessaire : non, elle vient de la consigne d'un exercice de l'e-learning sur la prédiction de mots, et elle consomme du contexte. Valoriser sa trouvaille « Informations manquantes » : c'est exactement le réflexe de vérification.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minutes de discussion sur sa question de fond, elle y tient (et le programme prévoit « fixer ses propres limites d'usage »). Sa version rédigée par l'IA est juste sur le fond mais trop longue pour être appliquée au quotidien.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minutes de discussion sur sa question de fond, elle y tient (et le programme prévoit « fixer ses propres limites d'usage »). Sa version rédigée par l'IA est juste sur le fond mais trop longue pour être appliquée au quotidien.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Depuis fin 2025, pour les comptes personnels (Free, Pro, Max), l'utilisation des conversations pour l'entraînement est activée par défaut : la désactiver en premier, c'est sa priorité déclarée. Désactivé, la conservation est de 30 jours. Les libellés exacts des menus peuvent varier : suivre l'écran. Gemini : même logique, en option pour une photo de fond avec Nano Banana.</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ChatGPT Images 2.5 est sorti le 8 septembre 2026 pour tous les utilisateurs : retouches plus précises, modèles prêts (« Affiche »), retouche par commentaire sur l'image, croquis (@Sketch). Nano Banana 2 est le générateur d'images de Google dans l'appli Gemini : gratuit avec un quota quotidien, téléchargement en 1K sans abonnement, très bon pour modifier une photo existante. Midjourney V8 : le plus esthétique, moodboards pour un style constant, mais aucun essai gratuit sur le site (seulement l'appli niji · journey, au style manga). Basic à 10 $ par mois, 8 $ en annuel.</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la méthode de prompt de la séance 1 appliquée à l'image. Un prompt d'image décrit une scène, pas une intention : « une affiche qui donne envie » ne dit rien, « des fauteuils en arc de cercle autour d'un piano » dit tout. Laurence connaît le vocabulaire de la direction artistique : l'inviter à l'utiliser.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Exemple fictif, à adapter à son événement réel. La place laissée vide pour le titre prépare l'étape Canva.</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Exemple fictif, à adapter à son événement réel. La place laissée vide pour le titre prépare l'étape Canva.</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confusion classique : demander une correction dans un nouveau message de génération, et obtenir une image entièrement différente. Retoucher, c'est partir de l'image et la nommer.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n'est pas une retouche au pixel comme dans Photoshop : ChatGPT recrée l'image en gardant le plus possible l'original. Images 2.5 a nettement amélioré ce point, mais il faut toujours contrôler. Si ça dérive : revenir à la version précédente dans la conversation, une seule retouche par message, et formuler ce qui ne doit pas bouger.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n'est pas une retouche au pixel comme dans Photoshop : ChatGPT recrée l'image en gardant le plus possible l'original. Images 2.5 a nettement amélioré ce point, mais il faut toujours contrôler. Si ça dérive : revenir à la version précédente dans la conversation, une seule retouche par message, et formuler ce qui ne doit pas bouger.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Ses propres instructions graphiques parlaient déjà de « fidélité des textes » : c'est la réponse. Une image générée par ChatGPT ou Gemini est un fichier image unique : pour corriger une date, il faut regénérer. Dans Canva, chaque texte est un calque qu'on corrige au clavier.</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Ses propres instructions graphiques parlaient déjà de « fidélité des textes » : c'est la réponse. Une image générée par ChatGPT ou Gemini est un fichier image unique : pour corriger une date, il faut regénérer. Dans Canva, chaque texte est un calque qu'on corrige au clavier.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Ses propres instructions graphiques parlaient déjà de « fidélité des textes » : c'est la réponse. Une image générée par ChatGPT ou Gemini est un fichier image unique : pour corriger une date, il faut regénérer. Dans Canva, chaque texte est un calque qu'on corrige au clavier.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Canva AI 2.0 a été lancé le 16 avril 2026 (Canva Create), d'abord en aperçu : il s'appuie sur le « Canva Design Model » et produit des designs en calques, pas une image figée. Quand on lui demande une modification, seul l'élément visé change. Sur le forfait gratuit, le nombre d'utilisations de l'IA est limité (les chiffres publiés varient) : vérifier le forfait de Laurence. Le plugin Canva dans ChatGPT : création, aperçu et modification de designs Canva dans la conversation (annonce Canva du 3 juin 2026) ; il suffit d'écrire « Canva » dans le prompt. Disponible en France (vérifié par Idris). C'est la réponse à sa question « comment connecter GPT à Canva ». Dans Canva, Gomme magique et Modification magique retouchent aussi une zone d'image.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aussi la trame de la séance 4 (projet de bout en bout) : la poser maintenant.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Laisser Laurence faire. Reprendre la main seulement pour montrer la sélection la première fois. Si l'affiche contient beaucoup de texte généré, on passera vite à la partie B.</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phrases sont des trames : les crochets se remplacent par sa demande. Elle peut les enregistrer dans les instructions du projet Créations graphiques.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phrases sont des trames : les crochets se remplacent par sa demande. Elle peut les enregistrer dans les instructions du projet Créations graphiques.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phrases sont des trames : les crochets se remplacent par sa demande. Elle peut les enregistrer dans les instructions du projet Créations graphiques.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son quota d'IA Canva est épuisé ou si Canva AI n'est pas disponible sur son forfait : poser le texte à la main, puis Redimensionner (Canva Pro) ou créer un format carré et y copier les éléments. Relire ensuite avec la check-list de la slide suivante.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sont ses propres critères (instructions « CRÉATIONS GRAPHIQUES ») : les lui rendre sous forme de check-list montre qu'elle les a déjà, il suffit de les appliquer.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sont ses propres critères (instructions « CRÉATIONS GRAPHIQUES ») : les lui rendre sous forme de check-list montre qu'elle les a déjà, il suffit de les appliquer.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la réponse concrète à sa question « connecter GPT à Canva ». La connexion se fait sur SON compte Canva : c'est elle qui valide l'autorisation. Option si le temps le permet : une photo de fond générée avec Nano Banana dans Gemini (gratuit, quota par jour, téléchargement en 1K), importée ensuite dans le design. Rappel du cadre : pas de photo de résidents identifiables (droit à l'image).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5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206240"/>
            <a:ext cx="12191695" cy="2651760"/>
          </a:xfrm>
          <a:prstGeom prst="rect">
            <a:avLst/>
          </a:prstGeom>
          <a:solidFill>
            <a:srgbClr val="1E5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960120"/>
            <a:ext cx="2194560" cy="36576"/>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0"/>
            <a:ext cx="10515600" cy="731520"/>
          </a:xfrm>
          <a:prstGeom prst="rect">
            <a:avLst/>
          </a:prstGeom>
          <a:noFill/>
        </p:spPr>
        <p:txBody>
          <a:bodyPr wrap="square">
            <a:spAutoFit/>
          </a:bodyPr>
          <a:lstStyle/>
          <a:p>
            <a:pPr algn="l"/>
            <a:r>
              <a:rPr sz="1800" b="1">
                <a:solidFill>
                  <a:srgbClr val="E8A000"/>
                </a:solidFill>
                <a:latin typeface="Bricolage Grotesque"/>
              </a:rPr>
              <a:t>SÉANCE 2 / 4 · LAURENCE SAULAIS</a:t>
            </a:r>
          </a:p>
        </p:txBody>
      </p:sp>
      <p:sp>
        <p:nvSpPr>
          <p:cNvPr id="6" name="TextBox 5"/>
          <p:cNvSpPr txBox="1"/>
          <p:nvPr/>
        </p:nvSpPr>
        <p:spPr>
          <a:xfrm>
            <a:off x="640080" y="1920240"/>
            <a:ext cx="10881360" cy="1371600"/>
          </a:xfrm>
          <a:prstGeom prst="rect">
            <a:avLst/>
          </a:prstGeom>
          <a:noFill/>
        </p:spPr>
        <p:txBody>
          <a:bodyPr wrap="square">
            <a:spAutoFit/>
          </a:bodyPr>
          <a:lstStyle/>
          <a:p>
            <a:pPr algn="l"/>
            <a:r>
              <a:rPr sz="5000" b="1">
                <a:solidFill>
                  <a:srgbClr val="FFFFFF"/>
                </a:solidFill>
                <a:latin typeface="Bricolage Grotesque"/>
              </a:rPr>
              <a:t>Les visuels, sans repartir de zéro</a:t>
            </a:r>
          </a:p>
        </p:txBody>
      </p:sp>
      <p:sp>
        <p:nvSpPr>
          <p:cNvPr id="7" name="TextBox 6"/>
          <p:cNvSpPr txBox="1"/>
          <p:nvPr/>
        </p:nvSpPr>
        <p:spPr>
          <a:xfrm>
            <a:off x="640080" y="3383280"/>
            <a:ext cx="10515600" cy="731520"/>
          </a:xfrm>
          <a:prstGeom prst="rect">
            <a:avLst/>
          </a:prstGeom>
          <a:noFill/>
        </p:spPr>
        <p:txBody>
          <a:bodyPr wrap="square">
            <a:spAutoFit/>
          </a:bodyPr>
          <a:lstStyle/>
          <a:p>
            <a:pPr algn="l"/>
            <a:r>
              <a:rPr sz="2600" b="0">
                <a:solidFill>
                  <a:srgbClr val="E8A000"/>
                </a:solidFill>
                <a:latin typeface="Bricolage Grotesque"/>
              </a:rPr>
              <a:t>Générer, retoucher, poser le texte, décliner</a:t>
            </a:r>
          </a:p>
        </p:txBody>
      </p:sp>
      <p:sp>
        <p:nvSpPr>
          <p:cNvPr id="8" name="TextBox 7"/>
          <p:cNvSpPr txBox="1"/>
          <p:nvPr/>
        </p:nvSpPr>
        <p:spPr>
          <a:xfrm>
            <a:off x="640080" y="4480560"/>
            <a:ext cx="10515600" cy="731520"/>
          </a:xfrm>
          <a:prstGeom prst="rect">
            <a:avLst/>
          </a:prstGeom>
          <a:noFill/>
        </p:spPr>
        <p:txBody>
          <a:bodyPr wrap="square">
            <a:spAutoFit/>
          </a:bodyPr>
          <a:lstStyle/>
          <a:p>
            <a:pPr algn="l"/>
            <a:r>
              <a:rPr sz="2000" b="0">
                <a:solidFill>
                  <a:srgbClr val="5A8A8F"/>
                </a:solidFill>
                <a:latin typeface="Bricolage Grotesque"/>
              </a:rPr>
              <a:t>Mardi 13 octobre 2026 · 9h-11h · Idris Salvi</a:t>
            </a:r>
          </a:p>
        </p:txBody>
      </p:sp>
      <p:pic>
        <p:nvPicPr>
          <p:cNvPr id="9" name="Picture 8" descr="ia-round.png"/>
          <p:cNvPicPr>
            <a:picLocks noChangeAspect="1"/>
          </p:cNvPicPr>
          <p:nvPr/>
        </p:nvPicPr>
        <p:blipFill>
          <a:blip r:embed="rId2"/>
          <a:stretch>
            <a:fillRect/>
          </a:stretch>
        </p:blipFill>
        <p:spPr>
          <a:xfrm>
            <a:off x="457200" y="6217920"/>
            <a:ext cx="320040" cy="320040"/>
          </a:xfrm>
          <a:prstGeom prst="rect">
            <a:avLst/>
          </a:prstGeom>
        </p:spPr>
      </p:pic>
      <p:sp>
        <p:nvSpPr>
          <p:cNvPr id="10" name="TextBox 9"/>
          <p:cNvSpPr txBox="1"/>
          <p:nvPr/>
        </p:nvSpPr>
        <p:spPr>
          <a:xfrm>
            <a:off x="868680" y="6199632"/>
            <a:ext cx="3657600" cy="365760"/>
          </a:xfrm>
          <a:prstGeom prst="rect">
            <a:avLst/>
          </a:prstGeom>
          <a:noFill/>
        </p:spPr>
        <p:txBody>
          <a:bodyPr wrap="square">
            <a:spAutoFit/>
          </a:bodyPr>
          <a:lstStyle/>
          <a:p>
            <a:pPr algn="l"/>
            <a:r>
              <a:rPr sz="1400" b="0">
                <a:solidFill>
                  <a:srgbClr val="FFFFFF"/>
                </a:solidFill>
                <a:latin typeface="Bricolage Grotesque"/>
              </a:rPr>
              <a:t>intelligence academy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Le parcours</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Quatre séances, on est à la deuxième</a:t>
            </a:r>
          </a:p>
        </p:txBody>
      </p:sp>
      <p:sp>
        <p:nvSpPr>
          <p:cNvPr id="6" name="Rounded Rectangle 5"/>
          <p:cNvSpPr/>
          <p:nvPr/>
        </p:nvSpPr>
        <p:spPr>
          <a:xfrm>
            <a:off x="640080" y="2743200"/>
            <a:ext cx="2331720" cy="77724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907792"/>
            <a:ext cx="2148840" cy="502920"/>
          </a:xfrm>
          <a:prstGeom prst="rect">
            <a:avLst/>
          </a:prstGeom>
          <a:noFill/>
        </p:spPr>
        <p:txBody>
          <a:bodyPr wrap="square">
            <a:spAutoFit/>
          </a:bodyPr>
          <a:lstStyle/>
          <a:p>
            <a:pPr algn="ctr"/>
            <a:r>
              <a:rPr sz="1400" b="1">
                <a:solidFill>
                  <a:srgbClr val="FFFFFF"/>
                </a:solidFill>
                <a:latin typeface="Bricolage Grotesque"/>
              </a:rPr>
              <a:t>S1 · 2 oct.
Fondamentaux ✓</a:t>
            </a:r>
          </a:p>
        </p:txBody>
      </p:sp>
      <p:sp>
        <p:nvSpPr>
          <p:cNvPr id="8" name="TextBox 7"/>
          <p:cNvSpPr txBox="1"/>
          <p:nvPr/>
        </p:nvSpPr>
        <p:spPr>
          <a:xfrm>
            <a:off x="3008376" y="292608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9" name="Rounded Rectangle 8"/>
          <p:cNvSpPr/>
          <p:nvPr/>
        </p:nvSpPr>
        <p:spPr>
          <a:xfrm>
            <a:off x="3355848" y="2743200"/>
            <a:ext cx="2331720" cy="777240"/>
          </a:xfrm>
          <a:prstGeom prst="roundRect">
            <a:avLst/>
          </a:prstGeom>
          <a:solidFill>
            <a:srgbClr val="1E5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47288" y="2907792"/>
            <a:ext cx="2148840" cy="502920"/>
          </a:xfrm>
          <a:prstGeom prst="rect">
            <a:avLst/>
          </a:prstGeom>
          <a:noFill/>
        </p:spPr>
        <p:txBody>
          <a:bodyPr wrap="square">
            <a:spAutoFit/>
          </a:bodyPr>
          <a:lstStyle/>
          <a:p>
            <a:pPr algn="ctr"/>
            <a:r>
              <a:rPr sz="1400" b="1">
                <a:solidFill>
                  <a:srgbClr val="FFFFFF"/>
                </a:solidFill>
                <a:latin typeface="Bricolage Grotesque"/>
              </a:rPr>
              <a:t>S2 · 13 oct.
Visuels</a:t>
            </a:r>
          </a:p>
        </p:txBody>
      </p:sp>
      <p:sp>
        <p:nvSpPr>
          <p:cNvPr id="11" name="TextBox 10"/>
          <p:cNvSpPr txBox="1"/>
          <p:nvPr/>
        </p:nvSpPr>
        <p:spPr>
          <a:xfrm>
            <a:off x="5724144" y="292608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12" name="Rounded Rectangle 11"/>
          <p:cNvSpPr/>
          <p:nvPr/>
        </p:nvSpPr>
        <p:spPr>
          <a:xfrm>
            <a:off x="6071616" y="2743200"/>
            <a:ext cx="2331720" cy="77724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63056" y="2907792"/>
            <a:ext cx="2148840" cy="502920"/>
          </a:xfrm>
          <a:prstGeom prst="rect">
            <a:avLst/>
          </a:prstGeom>
          <a:noFill/>
        </p:spPr>
        <p:txBody>
          <a:bodyPr wrap="square">
            <a:spAutoFit/>
          </a:bodyPr>
          <a:lstStyle/>
          <a:p>
            <a:pPr algn="ctr"/>
            <a:r>
              <a:rPr sz="1400" b="1">
                <a:solidFill>
                  <a:srgbClr val="FFFFFF"/>
                </a:solidFill>
                <a:latin typeface="Bricolage Grotesque"/>
              </a:rPr>
              <a:t>S3 · 20 oct.
Écrits, tableaux, CR</a:t>
            </a:r>
          </a:p>
        </p:txBody>
      </p:sp>
      <p:sp>
        <p:nvSpPr>
          <p:cNvPr id="14" name="TextBox 13"/>
          <p:cNvSpPr txBox="1"/>
          <p:nvPr/>
        </p:nvSpPr>
        <p:spPr>
          <a:xfrm>
            <a:off x="8439912" y="292608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15" name="Rounded Rectangle 14"/>
          <p:cNvSpPr/>
          <p:nvPr/>
        </p:nvSpPr>
        <p:spPr>
          <a:xfrm>
            <a:off x="8787384" y="2743200"/>
            <a:ext cx="2331720" cy="777240"/>
          </a:xfrm>
          <a:prstGeom prst="roundRect">
            <a:avLst/>
          </a:prstGeom>
          <a:solidFill>
            <a:srgbClr val="1E5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78824" y="2907792"/>
            <a:ext cx="2148840" cy="502920"/>
          </a:xfrm>
          <a:prstGeom prst="rect">
            <a:avLst/>
          </a:prstGeom>
          <a:noFill/>
        </p:spPr>
        <p:txBody>
          <a:bodyPr wrap="square">
            <a:spAutoFit/>
          </a:bodyPr>
          <a:lstStyle/>
          <a:p>
            <a:pPr algn="ctr"/>
            <a:r>
              <a:rPr sz="1400" b="1">
                <a:solidFill>
                  <a:srgbClr val="FFFFFF"/>
                </a:solidFill>
                <a:latin typeface="Bricolage Grotesque"/>
              </a:rPr>
              <a:t>S4 · 29 oct.
Projet de bout en bout</a:t>
            </a:r>
          </a:p>
        </p:txBody>
      </p:sp>
      <p:sp>
        <p:nvSpPr>
          <p:cNvPr id="17" name="TextBox 16"/>
          <p:cNvSpPr txBox="1"/>
          <p:nvPr/>
        </p:nvSpPr>
        <p:spPr>
          <a:xfrm>
            <a:off x="640080" y="4114800"/>
            <a:ext cx="10972800" cy="411480"/>
          </a:xfrm>
          <a:prstGeom prst="rect">
            <a:avLst/>
          </a:prstGeom>
          <a:noFill/>
        </p:spPr>
        <p:txBody>
          <a:bodyPr wrap="square">
            <a:spAutoFit/>
          </a:bodyPr>
          <a:lstStyle/>
          <a:p>
            <a:pPr algn="l"/>
            <a:r>
              <a:rPr sz="1800" b="1">
                <a:solidFill>
                  <a:srgbClr val="1B5E6B"/>
                </a:solidFill>
                <a:latin typeface="Bricolage Grotesque"/>
              </a:rPr>
              <a:t>Le livrable d'aujourd'hui : votre affiche, retouchée et déclinée en publication.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Le déroulé de ce matin</a:t>
            </a:r>
          </a:p>
        </p:txBody>
      </p:sp>
      <p:sp>
        <p:nvSpPr>
          <p:cNvPr id="5" name="TextBox 4"/>
          <p:cNvSpPr txBox="1"/>
          <p:nvPr/>
        </p:nvSpPr>
        <p:spPr>
          <a:xfrm>
            <a:off x="640080" y="1554480"/>
            <a:ext cx="10881360" cy="411480"/>
          </a:xfrm>
          <a:prstGeom prst="rect">
            <a:avLst/>
          </a:prstGeom>
          <a:noFill/>
        </p:spPr>
        <p:txBody>
          <a:bodyPr wrap="square">
            <a:spAutoFit/>
          </a:bodyPr>
          <a:lstStyle/>
          <a:p>
            <a:r>
              <a:rPr sz="2000" b="1">
                <a:solidFill>
                  <a:srgbClr val="1B5E6B"/>
                </a:solidFill>
                <a:latin typeface="Bricolage Grotesque"/>
              </a:rPr>
              <a:t>1.  Quiz (10 min)</a:t>
            </a:r>
          </a:p>
        </p:txBody>
      </p:sp>
      <p:sp>
        <p:nvSpPr>
          <p:cNvPr id="6" name="TextBox 5"/>
          <p:cNvSpPr txBox="1"/>
          <p:nvPr/>
        </p:nvSpPr>
        <p:spPr>
          <a:xfrm>
            <a:off x="640080" y="2075688"/>
            <a:ext cx="10881360" cy="411480"/>
          </a:xfrm>
          <a:prstGeom prst="rect">
            <a:avLst/>
          </a:prstGeom>
          <a:noFill/>
        </p:spPr>
        <p:txBody>
          <a:bodyPr wrap="square">
            <a:spAutoFit/>
          </a:bodyPr>
          <a:lstStyle/>
          <a:p>
            <a:r>
              <a:rPr sz="2000" b="1">
                <a:solidFill>
                  <a:srgbClr val="1B5E6B"/>
                </a:solidFill>
                <a:latin typeface="Bricolage Grotesque"/>
              </a:rPr>
              <a:t>2.  Vos exercices : trois points (25 min)</a:t>
            </a:r>
          </a:p>
        </p:txBody>
      </p:sp>
      <p:sp>
        <p:nvSpPr>
          <p:cNvPr id="7" name="TextBox 6"/>
          <p:cNvSpPr txBox="1"/>
          <p:nvPr/>
        </p:nvSpPr>
        <p:spPr>
          <a:xfrm>
            <a:off x="640080" y="2596896"/>
            <a:ext cx="10881360" cy="411480"/>
          </a:xfrm>
          <a:prstGeom prst="rect">
            <a:avLst/>
          </a:prstGeom>
          <a:noFill/>
        </p:spPr>
        <p:txBody>
          <a:bodyPr wrap="square">
            <a:spAutoFit/>
          </a:bodyPr>
          <a:lstStyle/>
          <a:p>
            <a:r>
              <a:rPr sz="2000" b="1">
                <a:solidFill>
                  <a:srgbClr val="1B5E6B"/>
                </a:solidFill>
                <a:latin typeface="Bricolage Grotesque"/>
              </a:rPr>
              <a:t>3.  Votre compte Claude (10 min)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Le déroulé de ce matin</a:t>
            </a:r>
          </a:p>
        </p:txBody>
      </p:sp>
      <p:sp>
        <p:nvSpPr>
          <p:cNvPr id="5" name="TextBox 4"/>
          <p:cNvSpPr txBox="1"/>
          <p:nvPr/>
        </p:nvSpPr>
        <p:spPr>
          <a:xfrm>
            <a:off x="640080" y="1554480"/>
            <a:ext cx="10881360" cy="411480"/>
          </a:xfrm>
          <a:prstGeom prst="rect">
            <a:avLst/>
          </a:prstGeom>
          <a:noFill/>
        </p:spPr>
        <p:txBody>
          <a:bodyPr wrap="square">
            <a:spAutoFit/>
          </a:bodyPr>
          <a:lstStyle/>
          <a:p>
            <a:r>
              <a:rPr sz="2000" b="1">
                <a:solidFill>
                  <a:srgbClr val="1B5E6B"/>
                </a:solidFill>
                <a:latin typeface="Bricolage Grotesque"/>
              </a:rPr>
              <a:t>1.  Quiz (10 min)</a:t>
            </a:r>
          </a:p>
        </p:txBody>
      </p:sp>
      <p:sp>
        <p:nvSpPr>
          <p:cNvPr id="6" name="TextBox 5"/>
          <p:cNvSpPr txBox="1"/>
          <p:nvPr/>
        </p:nvSpPr>
        <p:spPr>
          <a:xfrm>
            <a:off x="640080" y="2075688"/>
            <a:ext cx="10881360" cy="411480"/>
          </a:xfrm>
          <a:prstGeom prst="rect">
            <a:avLst/>
          </a:prstGeom>
          <a:noFill/>
        </p:spPr>
        <p:txBody>
          <a:bodyPr wrap="square">
            <a:spAutoFit/>
          </a:bodyPr>
          <a:lstStyle/>
          <a:p>
            <a:r>
              <a:rPr sz="2000" b="1">
                <a:solidFill>
                  <a:srgbClr val="1B5E6B"/>
                </a:solidFill>
                <a:latin typeface="Bricolage Grotesque"/>
              </a:rPr>
              <a:t>2.  Vos exercices : trois points (25 min)</a:t>
            </a:r>
          </a:p>
        </p:txBody>
      </p:sp>
      <p:sp>
        <p:nvSpPr>
          <p:cNvPr id="7" name="TextBox 6"/>
          <p:cNvSpPr txBox="1"/>
          <p:nvPr/>
        </p:nvSpPr>
        <p:spPr>
          <a:xfrm>
            <a:off x="640080" y="2596896"/>
            <a:ext cx="10881360" cy="411480"/>
          </a:xfrm>
          <a:prstGeom prst="rect">
            <a:avLst/>
          </a:prstGeom>
          <a:noFill/>
        </p:spPr>
        <p:txBody>
          <a:bodyPr wrap="square">
            <a:spAutoFit/>
          </a:bodyPr>
          <a:lstStyle/>
          <a:p>
            <a:r>
              <a:rPr sz="2000" b="1">
                <a:solidFill>
                  <a:srgbClr val="1B5E6B"/>
                </a:solidFill>
                <a:latin typeface="Bricolage Grotesque"/>
              </a:rPr>
              <a:t>3.  Votre compte Claude (10 min)</a:t>
            </a:r>
          </a:p>
        </p:txBody>
      </p:sp>
      <p:sp>
        <p:nvSpPr>
          <p:cNvPr id="8" name="TextBox 7"/>
          <p:cNvSpPr txBox="1"/>
          <p:nvPr/>
        </p:nvSpPr>
        <p:spPr>
          <a:xfrm>
            <a:off x="640080" y="3355848"/>
            <a:ext cx="10881360" cy="411480"/>
          </a:xfrm>
          <a:prstGeom prst="rect">
            <a:avLst/>
          </a:prstGeom>
          <a:noFill/>
        </p:spPr>
        <p:txBody>
          <a:bodyPr wrap="square">
            <a:spAutoFit/>
          </a:bodyPr>
          <a:lstStyle/>
          <a:p>
            <a:r>
              <a:rPr sz="2000" b="1">
                <a:solidFill>
                  <a:srgbClr val="1B5E6B"/>
                </a:solidFill>
                <a:latin typeface="Bricolage Grotesque"/>
              </a:rPr>
              <a:t>4.  Les visuels, l'essentiel (15 min)</a:t>
            </a:r>
          </a:p>
        </p:txBody>
      </p:sp>
      <p:sp>
        <p:nvSpPr>
          <p:cNvPr id="9" name="TextBox 8"/>
          <p:cNvSpPr txBox="1"/>
          <p:nvPr/>
        </p:nvSpPr>
        <p:spPr>
          <a:xfrm>
            <a:off x="640080" y="3877056"/>
            <a:ext cx="10881360" cy="411480"/>
          </a:xfrm>
          <a:prstGeom prst="rect">
            <a:avLst/>
          </a:prstGeom>
          <a:noFill/>
        </p:spPr>
        <p:txBody>
          <a:bodyPr wrap="square">
            <a:spAutoFit/>
          </a:bodyPr>
          <a:lstStyle/>
          <a:p>
            <a:r>
              <a:rPr sz="2000" b="1">
                <a:solidFill>
                  <a:srgbClr val="1B5E6B"/>
                </a:solidFill>
                <a:latin typeface="Bricolage Grotesque"/>
              </a:rPr>
              <a:t>5.  La pratique : votre affiche, puis votre flyer piano (45 min)</a:t>
            </a:r>
          </a:p>
        </p:txBody>
      </p:sp>
      <p:sp>
        <p:nvSpPr>
          <p:cNvPr id="10" name="TextBox 9"/>
          <p:cNvSpPr txBox="1"/>
          <p:nvPr/>
        </p:nvSpPr>
        <p:spPr>
          <a:xfrm>
            <a:off x="640080" y="4398264"/>
            <a:ext cx="10881360" cy="411480"/>
          </a:xfrm>
          <a:prstGeom prst="rect">
            <a:avLst/>
          </a:prstGeom>
          <a:noFill/>
        </p:spPr>
        <p:txBody>
          <a:bodyPr wrap="square">
            <a:spAutoFit/>
          </a:bodyPr>
          <a:lstStyle/>
          <a:p>
            <a:r>
              <a:rPr sz="2000" b="1">
                <a:solidFill>
                  <a:srgbClr val="1B5E6B"/>
                </a:solidFill>
                <a:latin typeface="Bricolage Grotesque"/>
              </a:rPr>
              <a:t>6.  Les devoirs (10 min)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965960"/>
            <a:ext cx="2743200" cy="36576"/>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515600" cy="731520"/>
          </a:xfrm>
          <a:prstGeom prst="rect">
            <a:avLst/>
          </a:prstGeom>
          <a:noFill/>
        </p:spPr>
        <p:txBody>
          <a:bodyPr wrap="square">
            <a:spAutoFit/>
          </a:bodyPr>
          <a:lstStyle/>
          <a:p>
            <a:pPr algn="l"/>
            <a:r>
              <a:rPr sz="2200" b="1">
                <a:solidFill>
                  <a:srgbClr val="E8A000"/>
                </a:solidFill>
                <a:latin typeface="Bricolage Grotesque"/>
              </a:rPr>
              <a:t>Séquence 1</a:t>
            </a:r>
          </a:p>
        </p:txBody>
      </p:sp>
      <p:sp>
        <p:nvSpPr>
          <p:cNvPr id="5" name="TextBox 4"/>
          <p:cNvSpPr txBox="1"/>
          <p:nvPr/>
        </p:nvSpPr>
        <p:spPr>
          <a:xfrm>
            <a:off x="640080" y="2286000"/>
            <a:ext cx="10698480" cy="1645920"/>
          </a:xfrm>
          <a:prstGeom prst="rect">
            <a:avLst/>
          </a:prstGeom>
          <a:noFill/>
        </p:spPr>
        <p:txBody>
          <a:bodyPr wrap="square">
            <a:spAutoFit/>
          </a:bodyPr>
          <a:lstStyle/>
          <a:p>
            <a:pPr algn="l"/>
            <a:r>
              <a:rPr sz="4200" b="1">
                <a:solidFill>
                  <a:srgbClr val="FFFFFF"/>
                </a:solidFill>
                <a:latin typeface="Bricolage Grotesque"/>
              </a:rPr>
              <a:t>Quiz d'ouverture</a:t>
            </a:r>
          </a:p>
        </p:txBody>
      </p:sp>
      <p:sp>
        <p:nvSpPr>
          <p:cNvPr id="6" name="TextBox 5"/>
          <p:cNvSpPr txBox="1"/>
          <p:nvPr/>
        </p:nvSpPr>
        <p:spPr>
          <a:xfrm>
            <a:off x="640080" y="4023360"/>
            <a:ext cx="10515600" cy="731520"/>
          </a:xfrm>
          <a:prstGeom prst="rect">
            <a:avLst/>
          </a:prstGeom>
          <a:noFill/>
        </p:spPr>
        <p:txBody>
          <a:bodyPr wrap="square">
            <a:spAutoFit/>
          </a:bodyPr>
          <a:lstStyle/>
          <a:p>
            <a:pPr algn="l"/>
            <a:r>
              <a:rPr sz="2000" b="0">
                <a:solidFill>
                  <a:srgbClr val="5A8A8F"/>
                </a:solidFill>
                <a:latin typeface="Bricolage Grotesque"/>
              </a:rPr>
              <a:t>Quatre questions, tirées de vos propres questions</a:t>
            </a:r>
          </a:p>
        </p:txBody>
      </p:sp>
      <p:pic>
        <p:nvPicPr>
          <p:cNvPr id="7" name="Picture 6" descr="ia-round.png"/>
          <p:cNvPicPr>
            <a:picLocks noChangeAspect="1"/>
          </p:cNvPicPr>
          <p:nvPr/>
        </p:nvPicPr>
        <p:blipFill>
          <a:blip r:embed="rId2"/>
          <a:stretch>
            <a:fillRect/>
          </a:stretch>
        </p:blipFill>
        <p:spPr>
          <a:xfrm>
            <a:off x="457200" y="6217920"/>
            <a:ext cx="320040" cy="320040"/>
          </a:xfrm>
          <a:prstGeom prst="rect">
            <a:avLst/>
          </a:prstGeom>
        </p:spPr>
      </p:pic>
      <p:sp>
        <p:nvSpPr>
          <p:cNvPr id="8" name="TextBox 7"/>
          <p:cNvSpPr txBox="1"/>
          <p:nvPr/>
        </p:nvSpPr>
        <p:spPr>
          <a:xfrm>
            <a:off x="868680" y="6199632"/>
            <a:ext cx="3657600" cy="365760"/>
          </a:xfrm>
          <a:prstGeom prst="rect">
            <a:avLst/>
          </a:prstGeom>
          <a:noFill/>
        </p:spPr>
        <p:txBody>
          <a:bodyPr wrap="square">
            <a:spAutoFit/>
          </a:bodyPr>
          <a:lstStyle/>
          <a:p>
            <a:pPr algn="l"/>
            <a:r>
              <a:rPr sz="1400" b="0">
                <a:solidFill>
                  <a:srgbClr val="FFFFFF"/>
                </a:solidFill>
                <a:latin typeface="Bricolage Grotesque"/>
              </a:rPr>
              <a:t>intelligence academy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Quiz · Question 1 / 4</a:t>
            </a:r>
          </a:p>
        </p:txBody>
      </p:sp>
      <p:sp>
        <p:nvSpPr>
          <p:cNvPr id="5" name="TextBox 4"/>
          <p:cNvSpPr txBox="1"/>
          <p:nvPr/>
        </p:nvSpPr>
        <p:spPr>
          <a:xfrm>
            <a:off x="640080" y="1417320"/>
            <a:ext cx="10881360" cy="731520"/>
          </a:xfrm>
          <a:prstGeom prst="rect">
            <a:avLst/>
          </a:prstGeom>
          <a:noFill/>
        </p:spPr>
        <p:txBody>
          <a:bodyPr wrap="square">
            <a:spAutoFit/>
          </a:bodyPr>
          <a:lstStyle/>
          <a:p>
            <a:pPr algn="l"/>
            <a:r>
              <a:rPr sz="2400" b="1">
                <a:solidFill>
                  <a:srgbClr val="1A1A1A"/>
                </a:solidFill>
                <a:latin typeface="Bricolage Grotesque"/>
              </a:rPr>
              <a:t>Trois mécanismes distincts : reliez chacun à sa définition.</a:t>
            </a:r>
          </a:p>
        </p:txBody>
      </p:sp>
      <p:sp>
        <p:nvSpPr>
          <p:cNvPr id="6" name="Rounded Rectangle 5"/>
          <p:cNvSpPr/>
          <p:nvPr/>
        </p:nvSpPr>
        <p:spPr>
          <a:xfrm>
            <a:off x="640080" y="228600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359152"/>
            <a:ext cx="10515600" cy="384048"/>
          </a:xfrm>
          <a:prstGeom prst="rect">
            <a:avLst/>
          </a:prstGeom>
          <a:noFill/>
        </p:spPr>
        <p:txBody>
          <a:bodyPr wrap="square">
            <a:spAutoFit/>
          </a:bodyPr>
          <a:lstStyle/>
          <a:p>
            <a:pPr algn="l"/>
            <a:r>
              <a:rPr sz="1900" b="0">
                <a:solidFill>
                  <a:srgbClr val="333333"/>
                </a:solidFill>
                <a:latin typeface="Bricolage Grotesque"/>
              </a:rPr>
              <a:t>A.  Retient vos préférences d'une conversation à l'autre</a:t>
            </a:r>
          </a:p>
        </p:txBody>
      </p:sp>
      <p:sp>
        <p:nvSpPr>
          <p:cNvPr id="8" name="Rounded Rectangle 7"/>
          <p:cNvSpPr/>
          <p:nvPr/>
        </p:nvSpPr>
        <p:spPr>
          <a:xfrm>
            <a:off x="640080" y="292608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999232"/>
            <a:ext cx="10515600" cy="384048"/>
          </a:xfrm>
          <a:prstGeom prst="rect">
            <a:avLst/>
          </a:prstGeom>
          <a:noFill/>
        </p:spPr>
        <p:txBody>
          <a:bodyPr wrap="square">
            <a:spAutoFit/>
          </a:bodyPr>
          <a:lstStyle/>
          <a:p>
            <a:pPr algn="l"/>
            <a:r>
              <a:rPr sz="1900" b="0">
                <a:solidFill>
                  <a:srgbClr val="333333"/>
                </a:solidFill>
                <a:latin typeface="Bricolage Grotesque"/>
              </a:rPr>
              <a:t>B.  Réutilise vos échanges pour améliorer les futurs modèles</a:t>
            </a:r>
          </a:p>
        </p:txBody>
      </p:sp>
      <p:sp>
        <p:nvSpPr>
          <p:cNvPr id="10" name="Rounded Rectangle 9"/>
          <p:cNvSpPr/>
          <p:nvPr/>
        </p:nvSpPr>
        <p:spPr>
          <a:xfrm>
            <a:off x="640080" y="356616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639312"/>
            <a:ext cx="10515600" cy="384048"/>
          </a:xfrm>
          <a:prstGeom prst="rect">
            <a:avLst/>
          </a:prstGeom>
          <a:noFill/>
        </p:spPr>
        <p:txBody>
          <a:bodyPr wrap="square">
            <a:spAutoFit/>
          </a:bodyPr>
          <a:lstStyle/>
          <a:p>
            <a:pPr algn="l"/>
            <a:r>
              <a:rPr sz="1900" b="0">
                <a:solidFill>
                  <a:srgbClr val="333333"/>
                </a:solidFill>
                <a:latin typeface="Bricolage Grotesque"/>
              </a:rPr>
              <a:t>C.  Prend le temps de raisonner avant de répondre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Quiz · Question 1 / 4</a:t>
            </a:r>
          </a:p>
        </p:txBody>
      </p:sp>
      <p:sp>
        <p:nvSpPr>
          <p:cNvPr id="5" name="TextBox 4"/>
          <p:cNvSpPr txBox="1"/>
          <p:nvPr/>
        </p:nvSpPr>
        <p:spPr>
          <a:xfrm>
            <a:off x="640080" y="1417320"/>
            <a:ext cx="10881360" cy="731520"/>
          </a:xfrm>
          <a:prstGeom prst="rect">
            <a:avLst/>
          </a:prstGeom>
          <a:noFill/>
        </p:spPr>
        <p:txBody>
          <a:bodyPr wrap="square">
            <a:spAutoFit/>
          </a:bodyPr>
          <a:lstStyle/>
          <a:p>
            <a:pPr algn="l"/>
            <a:r>
              <a:rPr sz="2400" b="1">
                <a:solidFill>
                  <a:srgbClr val="1A1A1A"/>
                </a:solidFill>
                <a:latin typeface="Bricolage Grotesque"/>
              </a:rPr>
              <a:t>Trois mécanismes distincts : reliez chacun à sa définition.</a:t>
            </a:r>
          </a:p>
        </p:txBody>
      </p:sp>
      <p:sp>
        <p:nvSpPr>
          <p:cNvPr id="6" name="Rounded Rectangle 5"/>
          <p:cNvSpPr/>
          <p:nvPr/>
        </p:nvSpPr>
        <p:spPr>
          <a:xfrm>
            <a:off x="640080" y="228600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359152"/>
            <a:ext cx="10515600" cy="384048"/>
          </a:xfrm>
          <a:prstGeom prst="rect">
            <a:avLst/>
          </a:prstGeom>
          <a:noFill/>
        </p:spPr>
        <p:txBody>
          <a:bodyPr wrap="square">
            <a:spAutoFit/>
          </a:bodyPr>
          <a:lstStyle/>
          <a:p>
            <a:pPr algn="l"/>
            <a:r>
              <a:rPr sz="1900" b="0">
                <a:solidFill>
                  <a:srgbClr val="333333"/>
                </a:solidFill>
                <a:latin typeface="Bricolage Grotesque"/>
              </a:rPr>
              <a:t>A.  Retient vos préférences d'une conversation à l'autre</a:t>
            </a:r>
          </a:p>
        </p:txBody>
      </p:sp>
      <p:sp>
        <p:nvSpPr>
          <p:cNvPr id="8" name="Rounded Rectangle 7"/>
          <p:cNvSpPr/>
          <p:nvPr/>
        </p:nvSpPr>
        <p:spPr>
          <a:xfrm>
            <a:off x="640080" y="292608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999232"/>
            <a:ext cx="10515600" cy="384048"/>
          </a:xfrm>
          <a:prstGeom prst="rect">
            <a:avLst/>
          </a:prstGeom>
          <a:noFill/>
        </p:spPr>
        <p:txBody>
          <a:bodyPr wrap="square">
            <a:spAutoFit/>
          </a:bodyPr>
          <a:lstStyle/>
          <a:p>
            <a:pPr algn="l"/>
            <a:r>
              <a:rPr sz="1900" b="0">
                <a:solidFill>
                  <a:srgbClr val="333333"/>
                </a:solidFill>
                <a:latin typeface="Bricolage Grotesque"/>
              </a:rPr>
              <a:t>B.  Réutilise vos échanges pour améliorer les futurs modèles</a:t>
            </a:r>
          </a:p>
        </p:txBody>
      </p:sp>
      <p:sp>
        <p:nvSpPr>
          <p:cNvPr id="10" name="Rounded Rectangle 9"/>
          <p:cNvSpPr/>
          <p:nvPr/>
        </p:nvSpPr>
        <p:spPr>
          <a:xfrm>
            <a:off x="640080" y="356616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639312"/>
            <a:ext cx="10515600" cy="384048"/>
          </a:xfrm>
          <a:prstGeom prst="rect">
            <a:avLst/>
          </a:prstGeom>
          <a:noFill/>
        </p:spPr>
        <p:txBody>
          <a:bodyPr wrap="square">
            <a:spAutoFit/>
          </a:bodyPr>
          <a:lstStyle/>
          <a:p>
            <a:pPr algn="l"/>
            <a:r>
              <a:rPr sz="1900" b="0">
                <a:solidFill>
                  <a:srgbClr val="333333"/>
                </a:solidFill>
                <a:latin typeface="Bricolage Grotesque"/>
              </a:rPr>
              <a:t>C.  Prend le temps de raisonner avant de répondre</a:t>
            </a:r>
          </a:p>
        </p:txBody>
      </p:sp>
      <p:sp>
        <p:nvSpPr>
          <p:cNvPr id="12" name="Rounded Rectangle 11"/>
          <p:cNvSpPr/>
          <p:nvPr/>
        </p:nvSpPr>
        <p:spPr>
          <a:xfrm>
            <a:off x="640080" y="4343400"/>
            <a:ext cx="10881360" cy="105156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4434840"/>
            <a:ext cx="10515600" cy="384048"/>
          </a:xfrm>
          <a:prstGeom prst="rect">
            <a:avLst/>
          </a:prstGeom>
          <a:noFill/>
        </p:spPr>
        <p:txBody>
          <a:bodyPr wrap="square">
            <a:spAutoFit/>
          </a:bodyPr>
          <a:lstStyle/>
          <a:p>
            <a:pPr algn="l"/>
            <a:r>
              <a:rPr sz="1800" b="1">
                <a:solidFill>
                  <a:srgbClr val="FFFFFF"/>
                </a:solidFill>
                <a:latin typeface="Bricolage Grotesque"/>
              </a:rPr>
              <a:t>A = la mémoire  ·  B = l'entraînement  ·  C = le mode Thinking</a:t>
            </a:r>
          </a:p>
        </p:txBody>
      </p:sp>
      <p:sp>
        <p:nvSpPr>
          <p:cNvPr id="14" name="TextBox 13"/>
          <p:cNvSpPr txBox="1"/>
          <p:nvPr/>
        </p:nvSpPr>
        <p:spPr>
          <a:xfrm>
            <a:off x="868680" y="4864607"/>
            <a:ext cx="10515600" cy="384048"/>
          </a:xfrm>
          <a:prstGeom prst="rect">
            <a:avLst/>
          </a:prstGeom>
          <a:noFill/>
        </p:spPr>
        <p:txBody>
          <a:bodyPr wrap="square">
            <a:spAutoFit/>
          </a:bodyPr>
          <a:lstStyle/>
          <a:p>
            <a:pPr algn="l"/>
            <a:r>
              <a:rPr sz="1800" b="1">
                <a:solidFill>
                  <a:srgbClr val="FFFFFF"/>
                </a:solidFill>
                <a:latin typeface="Bricolage Grotesque"/>
              </a:rPr>
              <a:t>Votre reformulation par mail était juste : trois réglages, trois effets.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Quiz · Question 2 / 4</a:t>
            </a:r>
          </a:p>
        </p:txBody>
      </p:sp>
      <p:sp>
        <p:nvSpPr>
          <p:cNvPr id="5" name="TextBox 4"/>
          <p:cNvSpPr txBox="1"/>
          <p:nvPr/>
        </p:nvSpPr>
        <p:spPr>
          <a:xfrm>
            <a:off x="640080" y="1417320"/>
            <a:ext cx="10881360" cy="731520"/>
          </a:xfrm>
          <a:prstGeom prst="rect">
            <a:avLst/>
          </a:prstGeom>
          <a:noFill/>
        </p:spPr>
        <p:txBody>
          <a:bodyPr wrap="square">
            <a:spAutoFit/>
          </a:bodyPr>
          <a:lstStyle/>
          <a:p>
            <a:pPr algn="l"/>
            <a:r>
              <a:rPr sz="2400" b="1">
                <a:solidFill>
                  <a:srgbClr val="1A1A1A"/>
                </a:solidFill>
                <a:latin typeface="Bricolage Grotesque"/>
              </a:rPr>
              <a:t>Une question sur la santé de votre mère : « Instant » ou « Temporaire » ?</a:t>
            </a:r>
          </a:p>
        </p:txBody>
      </p:sp>
      <p:sp>
        <p:nvSpPr>
          <p:cNvPr id="6" name="Rounded Rectangle 5"/>
          <p:cNvSpPr/>
          <p:nvPr/>
        </p:nvSpPr>
        <p:spPr>
          <a:xfrm>
            <a:off x="640080" y="228600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359152"/>
            <a:ext cx="10515600" cy="384048"/>
          </a:xfrm>
          <a:prstGeom prst="rect">
            <a:avLst/>
          </a:prstGeom>
          <a:noFill/>
        </p:spPr>
        <p:txBody>
          <a:bodyPr wrap="square">
            <a:spAutoFit/>
          </a:bodyPr>
          <a:lstStyle/>
          <a:p>
            <a:pPr algn="l"/>
            <a:r>
              <a:rPr sz="1900" b="0">
                <a:solidFill>
                  <a:srgbClr val="333333"/>
                </a:solidFill>
                <a:latin typeface="Bricolage Grotesque"/>
              </a:rPr>
              <a:t>A.  Instant : la conversation n'est pas conservée</a:t>
            </a:r>
          </a:p>
        </p:txBody>
      </p:sp>
      <p:sp>
        <p:nvSpPr>
          <p:cNvPr id="8" name="Rounded Rectangle 7"/>
          <p:cNvSpPr/>
          <p:nvPr/>
        </p:nvSpPr>
        <p:spPr>
          <a:xfrm>
            <a:off x="640080" y="292608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999232"/>
            <a:ext cx="10515600" cy="384048"/>
          </a:xfrm>
          <a:prstGeom prst="rect">
            <a:avLst/>
          </a:prstGeom>
          <a:noFill/>
        </p:spPr>
        <p:txBody>
          <a:bodyPr wrap="square">
            <a:spAutoFit/>
          </a:bodyPr>
          <a:lstStyle/>
          <a:p>
            <a:pPr algn="l"/>
            <a:r>
              <a:rPr sz="1900" b="0">
                <a:solidFill>
                  <a:srgbClr val="333333"/>
                </a:solidFill>
                <a:latin typeface="Bricolage Grotesque"/>
              </a:rPr>
              <a:t>B.  Temporaire : hors historique, hors entraînement, effacée après 30 jours</a:t>
            </a:r>
          </a:p>
        </p:txBody>
      </p:sp>
      <p:sp>
        <p:nvSpPr>
          <p:cNvPr id="10" name="Rounded Rectangle 9"/>
          <p:cNvSpPr/>
          <p:nvPr/>
        </p:nvSpPr>
        <p:spPr>
          <a:xfrm>
            <a:off x="640080" y="356616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639312"/>
            <a:ext cx="10515600" cy="384048"/>
          </a:xfrm>
          <a:prstGeom prst="rect">
            <a:avLst/>
          </a:prstGeom>
          <a:noFill/>
        </p:spPr>
        <p:txBody>
          <a:bodyPr wrap="square">
            <a:spAutoFit/>
          </a:bodyPr>
          <a:lstStyle/>
          <a:p>
            <a:pPr algn="l"/>
            <a:r>
              <a:rPr sz="1900" b="0">
                <a:solidFill>
                  <a:srgbClr val="333333"/>
                </a:solidFill>
                <a:latin typeface="Bricolage Grotesque"/>
              </a:rPr>
              <a:t>C.  Les deux reviennent au même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Quiz · Question 2 / 4</a:t>
            </a:r>
          </a:p>
        </p:txBody>
      </p:sp>
      <p:sp>
        <p:nvSpPr>
          <p:cNvPr id="5" name="TextBox 4"/>
          <p:cNvSpPr txBox="1"/>
          <p:nvPr/>
        </p:nvSpPr>
        <p:spPr>
          <a:xfrm>
            <a:off x="640080" y="1417320"/>
            <a:ext cx="10881360" cy="731520"/>
          </a:xfrm>
          <a:prstGeom prst="rect">
            <a:avLst/>
          </a:prstGeom>
          <a:noFill/>
        </p:spPr>
        <p:txBody>
          <a:bodyPr wrap="square">
            <a:spAutoFit/>
          </a:bodyPr>
          <a:lstStyle/>
          <a:p>
            <a:pPr algn="l"/>
            <a:r>
              <a:rPr sz="2400" b="1">
                <a:solidFill>
                  <a:srgbClr val="1A1A1A"/>
                </a:solidFill>
                <a:latin typeface="Bricolage Grotesque"/>
              </a:rPr>
              <a:t>Une question sur la santé de votre mère : « Instant » ou « Temporaire » ?</a:t>
            </a:r>
          </a:p>
        </p:txBody>
      </p:sp>
      <p:sp>
        <p:nvSpPr>
          <p:cNvPr id="6" name="Rounded Rectangle 5"/>
          <p:cNvSpPr/>
          <p:nvPr/>
        </p:nvSpPr>
        <p:spPr>
          <a:xfrm>
            <a:off x="640080" y="228600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359152"/>
            <a:ext cx="10515600" cy="384048"/>
          </a:xfrm>
          <a:prstGeom prst="rect">
            <a:avLst/>
          </a:prstGeom>
          <a:noFill/>
        </p:spPr>
        <p:txBody>
          <a:bodyPr wrap="square">
            <a:spAutoFit/>
          </a:bodyPr>
          <a:lstStyle/>
          <a:p>
            <a:pPr algn="l"/>
            <a:r>
              <a:rPr sz="1900" b="0">
                <a:solidFill>
                  <a:srgbClr val="333333"/>
                </a:solidFill>
                <a:latin typeface="Bricolage Grotesque"/>
              </a:rPr>
              <a:t>A.  Instant : la conversation n'est pas conservée</a:t>
            </a:r>
          </a:p>
        </p:txBody>
      </p:sp>
      <p:sp>
        <p:nvSpPr>
          <p:cNvPr id="8" name="Rounded Rectangle 7"/>
          <p:cNvSpPr/>
          <p:nvPr/>
        </p:nvSpPr>
        <p:spPr>
          <a:xfrm>
            <a:off x="640080" y="292608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999232"/>
            <a:ext cx="10515600" cy="384048"/>
          </a:xfrm>
          <a:prstGeom prst="rect">
            <a:avLst/>
          </a:prstGeom>
          <a:noFill/>
        </p:spPr>
        <p:txBody>
          <a:bodyPr wrap="square">
            <a:spAutoFit/>
          </a:bodyPr>
          <a:lstStyle/>
          <a:p>
            <a:pPr algn="l"/>
            <a:r>
              <a:rPr sz="1900" b="0">
                <a:solidFill>
                  <a:srgbClr val="333333"/>
                </a:solidFill>
                <a:latin typeface="Bricolage Grotesque"/>
              </a:rPr>
              <a:t>B.  Temporaire : hors historique, hors entraînement, effacée après 30 jours</a:t>
            </a:r>
          </a:p>
        </p:txBody>
      </p:sp>
      <p:sp>
        <p:nvSpPr>
          <p:cNvPr id="10" name="Rounded Rectangle 9"/>
          <p:cNvSpPr/>
          <p:nvPr/>
        </p:nvSpPr>
        <p:spPr>
          <a:xfrm>
            <a:off x="640080" y="356616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639312"/>
            <a:ext cx="10515600" cy="384048"/>
          </a:xfrm>
          <a:prstGeom prst="rect">
            <a:avLst/>
          </a:prstGeom>
          <a:noFill/>
        </p:spPr>
        <p:txBody>
          <a:bodyPr wrap="square">
            <a:spAutoFit/>
          </a:bodyPr>
          <a:lstStyle/>
          <a:p>
            <a:pPr algn="l"/>
            <a:r>
              <a:rPr sz="1900" b="0">
                <a:solidFill>
                  <a:srgbClr val="333333"/>
                </a:solidFill>
                <a:latin typeface="Bricolage Grotesque"/>
              </a:rPr>
              <a:t>C.  Les deux reviennent au même</a:t>
            </a:r>
          </a:p>
        </p:txBody>
      </p:sp>
      <p:sp>
        <p:nvSpPr>
          <p:cNvPr id="12" name="Rounded Rectangle 11"/>
          <p:cNvSpPr/>
          <p:nvPr/>
        </p:nvSpPr>
        <p:spPr>
          <a:xfrm>
            <a:off x="640080" y="4343400"/>
            <a:ext cx="10881360" cy="105156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4434840"/>
            <a:ext cx="10515600" cy="384048"/>
          </a:xfrm>
          <a:prstGeom prst="rect">
            <a:avLst/>
          </a:prstGeom>
          <a:noFill/>
        </p:spPr>
        <p:txBody>
          <a:bodyPr wrap="square">
            <a:spAutoFit/>
          </a:bodyPr>
          <a:lstStyle/>
          <a:p>
            <a:pPr algn="l"/>
            <a:r>
              <a:rPr sz="1800" b="1">
                <a:solidFill>
                  <a:srgbClr val="FFFFFF"/>
                </a:solidFill>
                <a:latin typeface="Bricolage Grotesque"/>
              </a:rPr>
              <a:t>B. « Instant » est un modèle rapide (GPT-5.5 Instant), comme « Thinking » :</a:t>
            </a:r>
          </a:p>
        </p:txBody>
      </p:sp>
      <p:sp>
        <p:nvSpPr>
          <p:cNvPr id="14" name="TextBox 13"/>
          <p:cNvSpPr txBox="1"/>
          <p:nvPr/>
        </p:nvSpPr>
        <p:spPr>
          <a:xfrm>
            <a:off x="868680" y="4864607"/>
            <a:ext cx="10515600" cy="384048"/>
          </a:xfrm>
          <a:prstGeom prst="rect">
            <a:avLst/>
          </a:prstGeom>
          <a:noFill/>
        </p:spPr>
        <p:txBody>
          <a:bodyPr wrap="square">
            <a:spAutoFit/>
          </a:bodyPr>
          <a:lstStyle/>
          <a:p>
            <a:pPr algn="l"/>
            <a:r>
              <a:rPr sz="1800" b="1">
                <a:solidFill>
                  <a:srgbClr val="FFFFFF"/>
                </a:solidFill>
                <a:latin typeface="Bricolage Grotesque"/>
              </a:rPr>
              <a:t>il ne change rien à la confidentialité. Le bouton à utiliser : Temporaire.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Quiz · Question 3 / 4</a:t>
            </a:r>
          </a:p>
        </p:txBody>
      </p:sp>
      <p:sp>
        <p:nvSpPr>
          <p:cNvPr id="5" name="TextBox 4"/>
          <p:cNvSpPr txBox="1"/>
          <p:nvPr/>
        </p:nvSpPr>
        <p:spPr>
          <a:xfrm>
            <a:off x="640080" y="1417320"/>
            <a:ext cx="10881360" cy="731520"/>
          </a:xfrm>
          <a:prstGeom prst="rect">
            <a:avLst/>
          </a:prstGeom>
          <a:noFill/>
        </p:spPr>
        <p:txBody>
          <a:bodyPr wrap="square">
            <a:spAutoFit/>
          </a:bodyPr>
          <a:lstStyle/>
          <a:p>
            <a:pPr algn="l"/>
            <a:r>
              <a:rPr sz="2400" b="1">
                <a:solidFill>
                  <a:srgbClr val="1A1A1A"/>
                </a:solidFill>
                <a:latin typeface="Bricolage Grotesque"/>
              </a:rPr>
              <a:t>Vos infos sont déjà dans la mémoire. Faut-il les répéter dans les instructions ?</a:t>
            </a:r>
          </a:p>
        </p:txBody>
      </p:sp>
      <p:sp>
        <p:nvSpPr>
          <p:cNvPr id="6" name="Rounded Rectangle 5"/>
          <p:cNvSpPr/>
          <p:nvPr/>
        </p:nvSpPr>
        <p:spPr>
          <a:xfrm>
            <a:off x="640080" y="228600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359152"/>
            <a:ext cx="10515600" cy="384048"/>
          </a:xfrm>
          <a:prstGeom prst="rect">
            <a:avLst/>
          </a:prstGeom>
          <a:noFill/>
        </p:spPr>
        <p:txBody>
          <a:bodyPr wrap="square">
            <a:spAutoFit/>
          </a:bodyPr>
          <a:lstStyle/>
          <a:p>
            <a:pPr algn="l"/>
            <a:r>
              <a:rPr sz="1900" b="0">
                <a:solidFill>
                  <a:srgbClr val="333333"/>
                </a:solidFill>
                <a:latin typeface="Bricolage Grotesque"/>
              </a:rPr>
              <a:t>A.  Non, la mémoire suffit</a:t>
            </a:r>
          </a:p>
        </p:txBody>
      </p:sp>
      <p:sp>
        <p:nvSpPr>
          <p:cNvPr id="8" name="Rounded Rectangle 7"/>
          <p:cNvSpPr/>
          <p:nvPr/>
        </p:nvSpPr>
        <p:spPr>
          <a:xfrm>
            <a:off x="640080" y="292608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999232"/>
            <a:ext cx="10515600" cy="384048"/>
          </a:xfrm>
          <a:prstGeom prst="rect">
            <a:avLst/>
          </a:prstGeom>
          <a:noFill/>
        </p:spPr>
        <p:txBody>
          <a:bodyPr wrap="square">
            <a:spAutoFit/>
          </a:bodyPr>
          <a:lstStyle/>
          <a:p>
            <a:pPr algn="l"/>
            <a:r>
              <a:rPr sz="1900" b="0">
                <a:solidFill>
                  <a:srgbClr val="333333"/>
                </a:solidFill>
                <a:latin typeface="Bricolage Grotesque"/>
              </a:rPr>
              <a:t>B.  Oui : l'essentiel stable va dans les instructions, la mémoire complète</a:t>
            </a:r>
          </a:p>
        </p:txBody>
      </p:sp>
      <p:sp>
        <p:nvSpPr>
          <p:cNvPr id="10" name="Rounded Rectangle 9"/>
          <p:cNvSpPr/>
          <p:nvPr/>
        </p:nvSpPr>
        <p:spPr>
          <a:xfrm>
            <a:off x="640080" y="356616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639312"/>
            <a:ext cx="10515600" cy="384048"/>
          </a:xfrm>
          <a:prstGeom prst="rect">
            <a:avLst/>
          </a:prstGeom>
          <a:noFill/>
        </p:spPr>
        <p:txBody>
          <a:bodyPr wrap="square">
            <a:spAutoFit/>
          </a:bodyPr>
          <a:lstStyle/>
          <a:p>
            <a:pPr algn="l"/>
            <a:r>
              <a:rPr sz="1900" b="0">
                <a:solidFill>
                  <a:srgbClr val="333333"/>
                </a:solidFill>
                <a:latin typeface="Bricolage Grotesque"/>
              </a:rPr>
              <a:t>C.  Oui, tout doit être écrit deux fois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Quiz · Question 3 / 4</a:t>
            </a:r>
          </a:p>
        </p:txBody>
      </p:sp>
      <p:sp>
        <p:nvSpPr>
          <p:cNvPr id="5" name="TextBox 4"/>
          <p:cNvSpPr txBox="1"/>
          <p:nvPr/>
        </p:nvSpPr>
        <p:spPr>
          <a:xfrm>
            <a:off x="640080" y="1417320"/>
            <a:ext cx="10881360" cy="731520"/>
          </a:xfrm>
          <a:prstGeom prst="rect">
            <a:avLst/>
          </a:prstGeom>
          <a:noFill/>
        </p:spPr>
        <p:txBody>
          <a:bodyPr wrap="square">
            <a:spAutoFit/>
          </a:bodyPr>
          <a:lstStyle/>
          <a:p>
            <a:pPr algn="l"/>
            <a:r>
              <a:rPr sz="2400" b="1">
                <a:solidFill>
                  <a:srgbClr val="1A1A1A"/>
                </a:solidFill>
                <a:latin typeface="Bricolage Grotesque"/>
              </a:rPr>
              <a:t>Vos infos sont déjà dans la mémoire. Faut-il les répéter dans les instructions ?</a:t>
            </a:r>
          </a:p>
        </p:txBody>
      </p:sp>
      <p:sp>
        <p:nvSpPr>
          <p:cNvPr id="6" name="Rounded Rectangle 5"/>
          <p:cNvSpPr/>
          <p:nvPr/>
        </p:nvSpPr>
        <p:spPr>
          <a:xfrm>
            <a:off x="640080" y="228600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359152"/>
            <a:ext cx="10515600" cy="384048"/>
          </a:xfrm>
          <a:prstGeom prst="rect">
            <a:avLst/>
          </a:prstGeom>
          <a:noFill/>
        </p:spPr>
        <p:txBody>
          <a:bodyPr wrap="square">
            <a:spAutoFit/>
          </a:bodyPr>
          <a:lstStyle/>
          <a:p>
            <a:pPr algn="l"/>
            <a:r>
              <a:rPr sz="1900" b="0">
                <a:solidFill>
                  <a:srgbClr val="333333"/>
                </a:solidFill>
                <a:latin typeface="Bricolage Grotesque"/>
              </a:rPr>
              <a:t>A.  Non, la mémoire suffit</a:t>
            </a:r>
          </a:p>
        </p:txBody>
      </p:sp>
      <p:sp>
        <p:nvSpPr>
          <p:cNvPr id="8" name="Rounded Rectangle 7"/>
          <p:cNvSpPr/>
          <p:nvPr/>
        </p:nvSpPr>
        <p:spPr>
          <a:xfrm>
            <a:off x="640080" y="292608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999232"/>
            <a:ext cx="10515600" cy="384048"/>
          </a:xfrm>
          <a:prstGeom prst="rect">
            <a:avLst/>
          </a:prstGeom>
          <a:noFill/>
        </p:spPr>
        <p:txBody>
          <a:bodyPr wrap="square">
            <a:spAutoFit/>
          </a:bodyPr>
          <a:lstStyle/>
          <a:p>
            <a:pPr algn="l"/>
            <a:r>
              <a:rPr sz="1900" b="0">
                <a:solidFill>
                  <a:srgbClr val="333333"/>
                </a:solidFill>
                <a:latin typeface="Bricolage Grotesque"/>
              </a:rPr>
              <a:t>B.  Oui : l'essentiel stable va dans les instructions, la mémoire complète</a:t>
            </a:r>
          </a:p>
        </p:txBody>
      </p:sp>
      <p:sp>
        <p:nvSpPr>
          <p:cNvPr id="10" name="Rounded Rectangle 9"/>
          <p:cNvSpPr/>
          <p:nvPr/>
        </p:nvSpPr>
        <p:spPr>
          <a:xfrm>
            <a:off x="640080" y="356616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639312"/>
            <a:ext cx="10515600" cy="384048"/>
          </a:xfrm>
          <a:prstGeom prst="rect">
            <a:avLst/>
          </a:prstGeom>
          <a:noFill/>
        </p:spPr>
        <p:txBody>
          <a:bodyPr wrap="square">
            <a:spAutoFit/>
          </a:bodyPr>
          <a:lstStyle/>
          <a:p>
            <a:pPr algn="l"/>
            <a:r>
              <a:rPr sz="1900" b="0">
                <a:solidFill>
                  <a:srgbClr val="333333"/>
                </a:solidFill>
                <a:latin typeface="Bricolage Grotesque"/>
              </a:rPr>
              <a:t>C.  Oui, tout doit être écrit deux fois</a:t>
            </a:r>
          </a:p>
        </p:txBody>
      </p:sp>
      <p:sp>
        <p:nvSpPr>
          <p:cNvPr id="12" name="Rounded Rectangle 11"/>
          <p:cNvSpPr/>
          <p:nvPr/>
        </p:nvSpPr>
        <p:spPr>
          <a:xfrm>
            <a:off x="640080" y="4343400"/>
            <a:ext cx="10881360" cy="105156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4434840"/>
            <a:ext cx="10515600" cy="384048"/>
          </a:xfrm>
          <a:prstGeom prst="rect">
            <a:avLst/>
          </a:prstGeom>
          <a:noFill/>
        </p:spPr>
        <p:txBody>
          <a:bodyPr wrap="square">
            <a:spAutoFit/>
          </a:bodyPr>
          <a:lstStyle/>
          <a:p>
            <a:pPr algn="l"/>
            <a:r>
              <a:rPr sz="1800" b="1">
                <a:solidFill>
                  <a:srgbClr val="FFFFFF"/>
                </a:solidFill>
                <a:latin typeface="Bricolage Grotesque"/>
              </a:rPr>
              <a:t>B. Les instructions : ce que VOUS décidez, lu à chaque échange.</a:t>
            </a:r>
          </a:p>
        </p:txBody>
      </p:sp>
      <p:sp>
        <p:nvSpPr>
          <p:cNvPr id="14" name="TextBox 13"/>
          <p:cNvSpPr txBox="1"/>
          <p:nvPr/>
        </p:nvSpPr>
        <p:spPr>
          <a:xfrm>
            <a:off x="868680" y="4864607"/>
            <a:ext cx="10515600" cy="384048"/>
          </a:xfrm>
          <a:prstGeom prst="rect">
            <a:avLst/>
          </a:prstGeom>
          <a:noFill/>
        </p:spPr>
        <p:txBody>
          <a:bodyPr wrap="square">
            <a:spAutoFit/>
          </a:bodyPr>
          <a:lstStyle/>
          <a:p>
            <a:pPr algn="l"/>
            <a:r>
              <a:rPr sz="1800" b="1">
                <a:solidFill>
                  <a:srgbClr val="FFFFFF"/>
                </a:solidFill>
                <a:latin typeface="Bricolage Grotesque"/>
              </a:rPr>
              <a:t>La mémoire : ce que l'outil a retenu. Il s'en sert ou non, et peut se tromper.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Quiz · Question 4 / 4</a:t>
            </a:r>
          </a:p>
        </p:txBody>
      </p:sp>
      <p:sp>
        <p:nvSpPr>
          <p:cNvPr id="5" name="TextBox 4"/>
          <p:cNvSpPr txBox="1"/>
          <p:nvPr/>
        </p:nvSpPr>
        <p:spPr>
          <a:xfrm>
            <a:off x="640080" y="1417320"/>
            <a:ext cx="10881360" cy="731520"/>
          </a:xfrm>
          <a:prstGeom prst="rect">
            <a:avLst/>
          </a:prstGeom>
          <a:noFill/>
        </p:spPr>
        <p:txBody>
          <a:bodyPr wrap="square">
            <a:spAutoFit/>
          </a:bodyPr>
          <a:lstStyle/>
          <a:p>
            <a:pPr algn="l"/>
            <a:r>
              <a:rPr sz="2400" b="1">
                <a:solidFill>
                  <a:srgbClr val="1A1A1A"/>
                </a:solidFill>
                <a:latin typeface="Bricolage Grotesque"/>
              </a:rPr>
              <a:t>Synthèse, puis courrier, sur le même dossier : un projet ou deux ?</a:t>
            </a:r>
          </a:p>
        </p:txBody>
      </p:sp>
      <p:sp>
        <p:nvSpPr>
          <p:cNvPr id="6" name="Rounded Rectangle 5"/>
          <p:cNvSpPr/>
          <p:nvPr/>
        </p:nvSpPr>
        <p:spPr>
          <a:xfrm>
            <a:off x="640080" y="228600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359152"/>
            <a:ext cx="10515600" cy="384048"/>
          </a:xfrm>
          <a:prstGeom prst="rect">
            <a:avLst/>
          </a:prstGeom>
          <a:noFill/>
        </p:spPr>
        <p:txBody>
          <a:bodyPr wrap="square">
            <a:spAutoFit/>
          </a:bodyPr>
          <a:lstStyle/>
          <a:p>
            <a:pPr algn="l"/>
            <a:r>
              <a:rPr sz="1900" b="0">
                <a:solidFill>
                  <a:srgbClr val="333333"/>
                </a:solidFill>
                <a:latin typeface="Bricolage Grotesque"/>
              </a:rPr>
              <a:t>A.  Deux projets : un par type de document</a:t>
            </a:r>
          </a:p>
        </p:txBody>
      </p:sp>
      <p:sp>
        <p:nvSpPr>
          <p:cNvPr id="8" name="Rounded Rectangle 7"/>
          <p:cNvSpPr/>
          <p:nvPr/>
        </p:nvSpPr>
        <p:spPr>
          <a:xfrm>
            <a:off x="640080" y="292608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999232"/>
            <a:ext cx="10515600" cy="384048"/>
          </a:xfrm>
          <a:prstGeom prst="rect">
            <a:avLst/>
          </a:prstGeom>
          <a:noFill/>
        </p:spPr>
        <p:txBody>
          <a:bodyPr wrap="square">
            <a:spAutoFit/>
          </a:bodyPr>
          <a:lstStyle/>
          <a:p>
            <a:pPr algn="l"/>
            <a:r>
              <a:rPr sz="1900" b="0">
                <a:solidFill>
                  <a:srgbClr val="333333"/>
                </a:solidFill>
                <a:latin typeface="Bricolage Grotesque"/>
              </a:rPr>
              <a:t>B.  Un projet, et une conversation par tâche</a:t>
            </a:r>
          </a:p>
        </p:txBody>
      </p:sp>
      <p:sp>
        <p:nvSpPr>
          <p:cNvPr id="10" name="Rounded Rectangle 9"/>
          <p:cNvSpPr/>
          <p:nvPr/>
        </p:nvSpPr>
        <p:spPr>
          <a:xfrm>
            <a:off x="640080" y="356616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639312"/>
            <a:ext cx="10515600" cy="384048"/>
          </a:xfrm>
          <a:prstGeom prst="rect">
            <a:avLst/>
          </a:prstGeom>
          <a:noFill/>
        </p:spPr>
        <p:txBody>
          <a:bodyPr wrap="square">
            <a:spAutoFit/>
          </a:bodyPr>
          <a:lstStyle/>
          <a:p>
            <a:pPr algn="l"/>
            <a:r>
              <a:rPr sz="1900" b="0">
                <a:solidFill>
                  <a:srgbClr val="333333"/>
                </a:solidFill>
                <a:latin typeface="Bricolage Grotesque"/>
              </a:rPr>
              <a:t>C.  Une seule conversation pour tout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Quiz · Question 4 / 4</a:t>
            </a:r>
          </a:p>
        </p:txBody>
      </p:sp>
      <p:sp>
        <p:nvSpPr>
          <p:cNvPr id="5" name="TextBox 4"/>
          <p:cNvSpPr txBox="1"/>
          <p:nvPr/>
        </p:nvSpPr>
        <p:spPr>
          <a:xfrm>
            <a:off x="640080" y="1417320"/>
            <a:ext cx="10881360" cy="731520"/>
          </a:xfrm>
          <a:prstGeom prst="rect">
            <a:avLst/>
          </a:prstGeom>
          <a:noFill/>
        </p:spPr>
        <p:txBody>
          <a:bodyPr wrap="square">
            <a:spAutoFit/>
          </a:bodyPr>
          <a:lstStyle/>
          <a:p>
            <a:pPr algn="l"/>
            <a:r>
              <a:rPr sz="2400" b="1">
                <a:solidFill>
                  <a:srgbClr val="1A1A1A"/>
                </a:solidFill>
                <a:latin typeface="Bricolage Grotesque"/>
              </a:rPr>
              <a:t>Synthèse, puis courrier, sur le même dossier : un projet ou deux ?</a:t>
            </a:r>
          </a:p>
        </p:txBody>
      </p:sp>
      <p:sp>
        <p:nvSpPr>
          <p:cNvPr id="6" name="Rounded Rectangle 5"/>
          <p:cNvSpPr/>
          <p:nvPr/>
        </p:nvSpPr>
        <p:spPr>
          <a:xfrm>
            <a:off x="640080" y="228600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359152"/>
            <a:ext cx="10515600" cy="384048"/>
          </a:xfrm>
          <a:prstGeom prst="rect">
            <a:avLst/>
          </a:prstGeom>
          <a:noFill/>
        </p:spPr>
        <p:txBody>
          <a:bodyPr wrap="square">
            <a:spAutoFit/>
          </a:bodyPr>
          <a:lstStyle/>
          <a:p>
            <a:pPr algn="l"/>
            <a:r>
              <a:rPr sz="1900" b="0">
                <a:solidFill>
                  <a:srgbClr val="333333"/>
                </a:solidFill>
                <a:latin typeface="Bricolage Grotesque"/>
              </a:rPr>
              <a:t>A.  Deux projets : un par type de document</a:t>
            </a:r>
          </a:p>
        </p:txBody>
      </p:sp>
      <p:sp>
        <p:nvSpPr>
          <p:cNvPr id="8" name="Rounded Rectangle 7"/>
          <p:cNvSpPr/>
          <p:nvPr/>
        </p:nvSpPr>
        <p:spPr>
          <a:xfrm>
            <a:off x="640080" y="292608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999232"/>
            <a:ext cx="10515600" cy="384048"/>
          </a:xfrm>
          <a:prstGeom prst="rect">
            <a:avLst/>
          </a:prstGeom>
          <a:noFill/>
        </p:spPr>
        <p:txBody>
          <a:bodyPr wrap="square">
            <a:spAutoFit/>
          </a:bodyPr>
          <a:lstStyle/>
          <a:p>
            <a:pPr algn="l"/>
            <a:r>
              <a:rPr sz="1900" b="0">
                <a:solidFill>
                  <a:srgbClr val="333333"/>
                </a:solidFill>
                <a:latin typeface="Bricolage Grotesque"/>
              </a:rPr>
              <a:t>B.  Un projet, et une conversation par tâche</a:t>
            </a:r>
          </a:p>
        </p:txBody>
      </p:sp>
      <p:sp>
        <p:nvSpPr>
          <p:cNvPr id="10" name="Rounded Rectangle 9"/>
          <p:cNvSpPr/>
          <p:nvPr/>
        </p:nvSpPr>
        <p:spPr>
          <a:xfrm>
            <a:off x="640080" y="356616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639312"/>
            <a:ext cx="10515600" cy="384048"/>
          </a:xfrm>
          <a:prstGeom prst="rect">
            <a:avLst/>
          </a:prstGeom>
          <a:noFill/>
        </p:spPr>
        <p:txBody>
          <a:bodyPr wrap="square">
            <a:spAutoFit/>
          </a:bodyPr>
          <a:lstStyle/>
          <a:p>
            <a:pPr algn="l"/>
            <a:r>
              <a:rPr sz="1900" b="0">
                <a:solidFill>
                  <a:srgbClr val="333333"/>
                </a:solidFill>
                <a:latin typeface="Bricolage Grotesque"/>
              </a:rPr>
              <a:t>C.  Une seule conversation pour tout</a:t>
            </a:r>
          </a:p>
        </p:txBody>
      </p:sp>
      <p:sp>
        <p:nvSpPr>
          <p:cNvPr id="12" name="Rounded Rectangle 11"/>
          <p:cNvSpPr/>
          <p:nvPr/>
        </p:nvSpPr>
        <p:spPr>
          <a:xfrm>
            <a:off x="640080" y="4343400"/>
            <a:ext cx="10881360" cy="105156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4434840"/>
            <a:ext cx="10515600" cy="384048"/>
          </a:xfrm>
          <a:prstGeom prst="rect">
            <a:avLst/>
          </a:prstGeom>
          <a:noFill/>
        </p:spPr>
        <p:txBody>
          <a:bodyPr wrap="square">
            <a:spAutoFit/>
          </a:bodyPr>
          <a:lstStyle/>
          <a:p>
            <a:pPr algn="l"/>
            <a:r>
              <a:rPr sz="1800" b="1">
                <a:solidFill>
                  <a:srgbClr val="FFFFFF"/>
                </a:solidFill>
                <a:latin typeface="Bricolage Grotesque"/>
              </a:rPr>
              <a:t>B. Le projet porte le contexte commun : sources, ton, destinataires.</a:t>
            </a:r>
          </a:p>
        </p:txBody>
      </p:sp>
      <p:sp>
        <p:nvSpPr>
          <p:cNvPr id="14" name="TextBox 13"/>
          <p:cNvSpPr txBox="1"/>
          <p:nvPr/>
        </p:nvSpPr>
        <p:spPr>
          <a:xfrm>
            <a:off x="868680" y="4864607"/>
            <a:ext cx="10515600" cy="384048"/>
          </a:xfrm>
          <a:prstGeom prst="rect">
            <a:avLst/>
          </a:prstGeom>
          <a:noFill/>
        </p:spPr>
        <p:txBody>
          <a:bodyPr wrap="square">
            <a:spAutoFit/>
          </a:bodyPr>
          <a:lstStyle/>
          <a:p>
            <a:pPr algn="l"/>
            <a:r>
              <a:rPr sz="1800" b="1">
                <a:solidFill>
                  <a:srgbClr val="FFFFFF"/>
                </a:solidFill>
                <a:latin typeface="Bricolage Grotesque"/>
              </a:rPr>
              <a:t>Chaque conversation porte une tâche. C'est la clé de vos questions.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965960"/>
            <a:ext cx="2743200" cy="36576"/>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515600" cy="731520"/>
          </a:xfrm>
          <a:prstGeom prst="rect">
            <a:avLst/>
          </a:prstGeom>
          <a:noFill/>
        </p:spPr>
        <p:txBody>
          <a:bodyPr wrap="square">
            <a:spAutoFit/>
          </a:bodyPr>
          <a:lstStyle/>
          <a:p>
            <a:pPr algn="l"/>
            <a:r>
              <a:rPr sz="2200" b="1">
                <a:solidFill>
                  <a:srgbClr val="E8A000"/>
                </a:solidFill>
                <a:latin typeface="Bricolage Grotesque"/>
              </a:rPr>
              <a:t>Séquence 2</a:t>
            </a:r>
          </a:p>
        </p:txBody>
      </p:sp>
      <p:sp>
        <p:nvSpPr>
          <p:cNvPr id="5" name="TextBox 4"/>
          <p:cNvSpPr txBox="1"/>
          <p:nvPr/>
        </p:nvSpPr>
        <p:spPr>
          <a:xfrm>
            <a:off x="640080" y="2286000"/>
            <a:ext cx="10698480" cy="1645920"/>
          </a:xfrm>
          <a:prstGeom prst="rect">
            <a:avLst/>
          </a:prstGeom>
          <a:noFill/>
        </p:spPr>
        <p:txBody>
          <a:bodyPr wrap="square">
            <a:spAutoFit/>
          </a:bodyPr>
          <a:lstStyle/>
          <a:p>
            <a:pPr algn="l"/>
            <a:r>
              <a:rPr sz="4200" b="1">
                <a:solidFill>
                  <a:srgbClr val="FFFFFF"/>
                </a:solidFill>
                <a:latin typeface="Bricolage Grotesque"/>
              </a:rPr>
              <a:t>Vos exercices</a:t>
            </a:r>
          </a:p>
        </p:txBody>
      </p:sp>
      <p:sp>
        <p:nvSpPr>
          <p:cNvPr id="6" name="TextBox 5"/>
          <p:cNvSpPr txBox="1"/>
          <p:nvPr/>
        </p:nvSpPr>
        <p:spPr>
          <a:xfrm>
            <a:off x="640080" y="4023360"/>
            <a:ext cx="10515600" cy="731520"/>
          </a:xfrm>
          <a:prstGeom prst="rect">
            <a:avLst/>
          </a:prstGeom>
          <a:noFill/>
        </p:spPr>
        <p:txBody>
          <a:bodyPr wrap="square">
            <a:spAutoFit/>
          </a:bodyPr>
          <a:lstStyle/>
          <a:p>
            <a:pPr algn="l"/>
            <a:r>
              <a:rPr sz="2000" b="0">
                <a:solidFill>
                  <a:srgbClr val="5A8A8F"/>
                </a:solidFill>
                <a:latin typeface="Bricolage Grotesque"/>
              </a:rPr>
              <a:t>Trois points en séance, le reste par écrit</a:t>
            </a:r>
          </a:p>
        </p:txBody>
      </p:sp>
      <p:pic>
        <p:nvPicPr>
          <p:cNvPr id="7" name="Picture 6" descr="ia-round.png"/>
          <p:cNvPicPr>
            <a:picLocks noChangeAspect="1"/>
          </p:cNvPicPr>
          <p:nvPr/>
        </p:nvPicPr>
        <p:blipFill>
          <a:blip r:embed="rId2"/>
          <a:stretch>
            <a:fillRect/>
          </a:stretch>
        </p:blipFill>
        <p:spPr>
          <a:xfrm>
            <a:off x="457200" y="6217920"/>
            <a:ext cx="320040" cy="320040"/>
          </a:xfrm>
          <a:prstGeom prst="rect">
            <a:avLst/>
          </a:prstGeom>
        </p:spPr>
      </p:pic>
      <p:sp>
        <p:nvSpPr>
          <p:cNvPr id="8" name="TextBox 7"/>
          <p:cNvSpPr txBox="1"/>
          <p:nvPr/>
        </p:nvSpPr>
        <p:spPr>
          <a:xfrm>
            <a:off x="868680" y="6199632"/>
            <a:ext cx="3657600" cy="365760"/>
          </a:xfrm>
          <a:prstGeom prst="rect">
            <a:avLst/>
          </a:prstGeom>
          <a:noFill/>
        </p:spPr>
        <p:txBody>
          <a:bodyPr wrap="square">
            <a:spAutoFit/>
          </a:bodyPr>
          <a:lstStyle/>
          <a:p>
            <a:pPr algn="l"/>
            <a:r>
              <a:rPr sz="1400" b="0">
                <a:solidFill>
                  <a:srgbClr val="FFFFFF"/>
                </a:solidFill>
                <a:latin typeface="Bricolage Grotesque"/>
              </a:rPr>
              <a:t>intelligence academy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Les projets : la règle simple</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Ce qui va dans le projet, ce qui va dans le chat</a:t>
            </a:r>
          </a:p>
        </p:txBody>
      </p:sp>
      <p:sp>
        <p:nvSpPr>
          <p:cNvPr id="6" name="Rectangle 5"/>
          <p:cNvSpPr/>
          <p:nvPr/>
        </p:nvSpPr>
        <p:spPr>
          <a:xfrm>
            <a:off x="5897880" y="2286000"/>
            <a:ext cx="27432" cy="2450592"/>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286000"/>
            <a:ext cx="5029200" cy="411480"/>
          </a:xfrm>
          <a:prstGeom prst="rect">
            <a:avLst/>
          </a:prstGeom>
          <a:noFill/>
        </p:spPr>
        <p:txBody>
          <a:bodyPr wrap="square">
            <a:spAutoFit/>
          </a:bodyPr>
          <a:lstStyle/>
          <a:p>
            <a:pPr algn="l"/>
            <a:r>
              <a:rPr sz="2100" b="1">
                <a:solidFill>
                  <a:srgbClr val="1B5E6B"/>
                </a:solidFill>
                <a:latin typeface="Bricolage Grotesque"/>
              </a:rPr>
              <a:t>Le projet = le contexte commun</a:t>
            </a:r>
          </a:p>
        </p:txBody>
      </p:sp>
      <p:sp>
        <p:nvSpPr>
          <p:cNvPr id="8" name="TextBox 7"/>
          <p:cNvSpPr txBox="1"/>
          <p:nvPr/>
        </p:nvSpPr>
        <p:spPr>
          <a:xfrm>
            <a:off x="640080" y="2880360"/>
            <a:ext cx="5120640" cy="384048"/>
          </a:xfrm>
          <a:prstGeom prst="rect">
            <a:avLst/>
          </a:prstGeom>
          <a:noFill/>
        </p:spPr>
        <p:txBody>
          <a:bodyPr wrap="square">
            <a:spAutoFit/>
          </a:bodyPr>
          <a:lstStyle/>
          <a:p>
            <a:pPr algn="l"/>
            <a:r>
              <a:rPr sz="1800" b="0">
                <a:solidFill>
                  <a:srgbClr val="333333"/>
                </a:solidFill>
                <a:latin typeface="Bricolage Grotesque"/>
              </a:rPr>
              <a:t>Les instructions (ton, méthode)</a:t>
            </a:r>
          </a:p>
        </p:txBody>
      </p:sp>
      <p:sp>
        <p:nvSpPr>
          <p:cNvPr id="9" name="TextBox 8"/>
          <p:cNvSpPr txBox="1"/>
          <p:nvPr/>
        </p:nvSpPr>
        <p:spPr>
          <a:xfrm>
            <a:off x="640080" y="3355848"/>
            <a:ext cx="5120640" cy="384048"/>
          </a:xfrm>
          <a:prstGeom prst="rect">
            <a:avLst/>
          </a:prstGeom>
          <a:noFill/>
        </p:spPr>
        <p:txBody>
          <a:bodyPr wrap="square">
            <a:spAutoFit/>
          </a:bodyPr>
          <a:lstStyle/>
          <a:p>
            <a:pPr algn="l"/>
            <a:r>
              <a:rPr sz="1800" b="0">
                <a:solidFill>
                  <a:srgbClr val="333333"/>
                </a:solidFill>
                <a:latin typeface="Bricolage Grotesque"/>
              </a:rPr>
              <a:t>Les sources (vos exemples réussis)</a:t>
            </a:r>
          </a:p>
        </p:txBody>
      </p:sp>
      <p:sp>
        <p:nvSpPr>
          <p:cNvPr id="10" name="TextBox 9"/>
          <p:cNvSpPr txBox="1"/>
          <p:nvPr/>
        </p:nvSpPr>
        <p:spPr>
          <a:xfrm>
            <a:off x="640080" y="3831335"/>
            <a:ext cx="5120640" cy="384048"/>
          </a:xfrm>
          <a:prstGeom prst="rect">
            <a:avLst/>
          </a:prstGeom>
          <a:noFill/>
        </p:spPr>
        <p:txBody>
          <a:bodyPr wrap="square">
            <a:spAutoFit/>
          </a:bodyPr>
          <a:lstStyle/>
          <a:p>
            <a:pPr algn="l"/>
            <a:r>
              <a:rPr sz="1800" b="0">
                <a:solidFill>
                  <a:srgbClr val="333333"/>
                </a:solidFill>
                <a:latin typeface="Bricolage Grotesque"/>
              </a:rPr>
              <a:t>Les destinataires habituels</a:t>
            </a:r>
          </a:p>
        </p:txBody>
      </p:sp>
      <p:sp>
        <p:nvSpPr>
          <p:cNvPr id="11" name="TextBox 10"/>
          <p:cNvSpPr txBox="1"/>
          <p:nvPr/>
        </p:nvSpPr>
        <p:spPr>
          <a:xfrm>
            <a:off x="640080" y="4306823"/>
            <a:ext cx="5120640" cy="384048"/>
          </a:xfrm>
          <a:prstGeom prst="rect">
            <a:avLst/>
          </a:prstGeom>
          <a:noFill/>
        </p:spPr>
        <p:txBody>
          <a:bodyPr wrap="square">
            <a:spAutoFit/>
          </a:bodyPr>
          <a:lstStyle/>
          <a:p>
            <a:pPr algn="l"/>
            <a:r>
              <a:rPr sz="1800" b="0">
                <a:solidFill>
                  <a:srgbClr val="333333"/>
                </a:solidFill>
                <a:latin typeface="Bricolage Grotesque"/>
              </a:rPr>
              <a:t>Ce qui ne change pas d'une fois à l'autre</a:t>
            </a:r>
          </a:p>
        </p:txBody>
      </p:sp>
      <p:sp>
        <p:nvSpPr>
          <p:cNvPr id="12" name="TextBox 11"/>
          <p:cNvSpPr txBox="1"/>
          <p:nvPr/>
        </p:nvSpPr>
        <p:spPr>
          <a:xfrm>
            <a:off x="6172200" y="2286000"/>
            <a:ext cx="5029200" cy="411480"/>
          </a:xfrm>
          <a:prstGeom prst="rect">
            <a:avLst/>
          </a:prstGeom>
          <a:noFill/>
        </p:spPr>
        <p:txBody>
          <a:bodyPr wrap="square">
            <a:spAutoFit/>
          </a:bodyPr>
          <a:lstStyle/>
          <a:p>
            <a:pPr algn="l"/>
            <a:r>
              <a:rPr sz="2100" b="1">
                <a:solidFill>
                  <a:srgbClr val="1B5E6B"/>
                </a:solidFill>
                <a:latin typeface="Bricolage Grotesque"/>
              </a:rPr>
              <a:t>La conversation = une tâche</a:t>
            </a:r>
          </a:p>
        </p:txBody>
      </p:sp>
      <p:sp>
        <p:nvSpPr>
          <p:cNvPr id="13" name="TextBox 12"/>
          <p:cNvSpPr txBox="1"/>
          <p:nvPr/>
        </p:nvSpPr>
        <p:spPr>
          <a:xfrm>
            <a:off x="6172200" y="2880360"/>
            <a:ext cx="5120640" cy="384048"/>
          </a:xfrm>
          <a:prstGeom prst="rect">
            <a:avLst/>
          </a:prstGeom>
          <a:noFill/>
        </p:spPr>
        <p:txBody>
          <a:bodyPr wrap="square">
            <a:spAutoFit/>
          </a:bodyPr>
          <a:lstStyle/>
          <a:p>
            <a:pPr algn="l"/>
            <a:r>
              <a:rPr sz="1800" b="0">
                <a:solidFill>
                  <a:srgbClr val="333333"/>
                </a:solidFill>
                <a:latin typeface="Bricolage Grotesque"/>
              </a:rPr>
              <a:t>« Rédige le courrier au CCAS »</a:t>
            </a:r>
          </a:p>
        </p:txBody>
      </p:sp>
      <p:sp>
        <p:nvSpPr>
          <p:cNvPr id="14" name="TextBox 13"/>
          <p:cNvSpPr txBox="1"/>
          <p:nvPr/>
        </p:nvSpPr>
        <p:spPr>
          <a:xfrm>
            <a:off x="6172200" y="3355848"/>
            <a:ext cx="5120640" cy="384048"/>
          </a:xfrm>
          <a:prstGeom prst="rect">
            <a:avLst/>
          </a:prstGeom>
          <a:noFill/>
        </p:spPr>
        <p:txBody>
          <a:bodyPr wrap="square">
            <a:spAutoFit/>
          </a:bodyPr>
          <a:lstStyle/>
          <a:p>
            <a:pPr algn="l"/>
            <a:r>
              <a:rPr sz="1800" b="0">
                <a:solidFill>
                  <a:srgbClr val="333333"/>
                </a:solidFill>
                <a:latin typeface="Bricolage Grotesque"/>
              </a:rPr>
              <a:t>« Fais l'affiche du 14 novembre »</a:t>
            </a:r>
          </a:p>
        </p:txBody>
      </p:sp>
      <p:sp>
        <p:nvSpPr>
          <p:cNvPr id="15" name="TextBox 14"/>
          <p:cNvSpPr txBox="1"/>
          <p:nvPr/>
        </p:nvSpPr>
        <p:spPr>
          <a:xfrm>
            <a:off x="6172200" y="3831335"/>
            <a:ext cx="5120640" cy="384048"/>
          </a:xfrm>
          <a:prstGeom prst="rect">
            <a:avLst/>
          </a:prstGeom>
          <a:noFill/>
        </p:spPr>
        <p:txBody>
          <a:bodyPr wrap="square">
            <a:spAutoFit/>
          </a:bodyPr>
          <a:lstStyle/>
          <a:p>
            <a:pPr algn="l"/>
            <a:r>
              <a:rPr sz="1800" b="0">
                <a:solidFill>
                  <a:srgbClr val="333333"/>
                </a:solidFill>
                <a:latin typeface="Bricolage Grotesque"/>
              </a:rPr>
              <a:t>« Adapte ma candidature à cette annonce »</a:t>
            </a:r>
          </a:p>
        </p:txBody>
      </p:sp>
      <p:sp>
        <p:nvSpPr>
          <p:cNvPr id="16" name="TextBox 15"/>
          <p:cNvSpPr txBox="1"/>
          <p:nvPr/>
        </p:nvSpPr>
        <p:spPr>
          <a:xfrm>
            <a:off x="6172200" y="4306823"/>
            <a:ext cx="5120640" cy="384048"/>
          </a:xfrm>
          <a:prstGeom prst="rect">
            <a:avLst/>
          </a:prstGeom>
          <a:noFill/>
        </p:spPr>
        <p:txBody>
          <a:bodyPr wrap="square">
            <a:spAutoFit/>
          </a:bodyPr>
          <a:lstStyle/>
          <a:p>
            <a:pPr algn="l"/>
            <a:r>
              <a:rPr sz="1800" b="0">
                <a:solidFill>
                  <a:srgbClr val="333333"/>
                </a:solidFill>
                <a:latin typeface="Bricolage Grotesque"/>
              </a:rPr>
              <a:t>Une conversation neuve à chaque tâche</a:t>
            </a:r>
          </a:p>
        </p:txBody>
      </p:sp>
      <p:sp>
        <p:nvSpPr>
          <p:cNvPr id="17" name="TextBox 16"/>
          <p:cNvSpPr txBox="1"/>
          <p:nvPr/>
        </p:nvSpPr>
        <p:spPr>
          <a:xfrm>
            <a:off x="640080" y="4919472"/>
            <a:ext cx="10881360" cy="411480"/>
          </a:xfrm>
          <a:prstGeom prst="rect">
            <a:avLst/>
          </a:prstGeom>
          <a:noFill/>
        </p:spPr>
        <p:txBody>
          <a:bodyPr wrap="square">
            <a:spAutoFit/>
          </a:bodyPr>
          <a:lstStyle/>
          <a:p>
            <a:pPr algn="l"/>
            <a:r>
              <a:rPr sz="1800" b="1">
                <a:solidFill>
                  <a:srgbClr val="E8A000"/>
                </a:solidFill>
                <a:latin typeface="Bricolage Grotesque"/>
              </a:rPr>
              <a:t>Si deux tâches partagent le même contexte, elles vont dans le même projet.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Vos projets, simplifiés</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Ma recommandation : trois projets, pas plus</a:t>
            </a:r>
          </a:p>
        </p:txBody>
      </p:sp>
      <p:sp>
        <p:nvSpPr>
          <p:cNvPr id="6" name="TextBox 5"/>
          <p:cNvSpPr txBox="1"/>
          <p:nvPr/>
        </p:nvSpPr>
        <p:spPr>
          <a:xfrm>
            <a:off x="640080" y="2331720"/>
            <a:ext cx="10881360" cy="411480"/>
          </a:xfrm>
          <a:prstGeom prst="rect">
            <a:avLst/>
          </a:prstGeom>
          <a:noFill/>
        </p:spPr>
        <p:txBody>
          <a:bodyPr wrap="square">
            <a:spAutoFit/>
          </a:bodyPr>
          <a:lstStyle/>
          <a:p>
            <a:r>
              <a:rPr sz="2000" b="1">
                <a:solidFill>
                  <a:srgbClr val="1B5E6B"/>
                </a:solidFill>
                <a:latin typeface="Bricolage Grotesque"/>
              </a:rPr>
              <a:t>1.  Créations graphiques : affiches, flyers, carte de positionnement.</a:t>
            </a:r>
          </a:p>
        </p:txBody>
      </p:sp>
      <p:sp>
        <p:nvSpPr>
          <p:cNvPr id="7" name="TextBox 6"/>
          <p:cNvSpPr txBox="1"/>
          <p:nvPr/>
        </p:nvSpPr>
        <p:spPr>
          <a:xfrm>
            <a:off x="640080" y="2852928"/>
            <a:ext cx="10881360" cy="411480"/>
          </a:xfrm>
          <a:prstGeom prst="rect">
            <a:avLst/>
          </a:prstGeom>
          <a:noFill/>
        </p:spPr>
        <p:txBody>
          <a:bodyPr wrap="square">
            <a:spAutoFit/>
          </a:bodyPr>
          <a:lstStyle/>
          <a:p>
            <a:r>
              <a:rPr sz="2000" b="0">
                <a:solidFill>
                  <a:srgbClr val="333333"/>
                </a:solidFill>
                <a:latin typeface="Bricolage Grotesque"/>
              </a:rPr>
              <a:t>     Dans les sources, un exemple réussi par support, bien nommé.</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Vos projets, simplifiés</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Ma recommandation : trois projets, pas plus</a:t>
            </a:r>
          </a:p>
        </p:txBody>
      </p:sp>
      <p:sp>
        <p:nvSpPr>
          <p:cNvPr id="6" name="TextBox 5"/>
          <p:cNvSpPr txBox="1"/>
          <p:nvPr/>
        </p:nvSpPr>
        <p:spPr>
          <a:xfrm>
            <a:off x="640080" y="2331720"/>
            <a:ext cx="10881360" cy="411480"/>
          </a:xfrm>
          <a:prstGeom prst="rect">
            <a:avLst/>
          </a:prstGeom>
          <a:noFill/>
        </p:spPr>
        <p:txBody>
          <a:bodyPr wrap="square">
            <a:spAutoFit/>
          </a:bodyPr>
          <a:lstStyle/>
          <a:p>
            <a:r>
              <a:rPr sz="2000" b="1">
                <a:solidFill>
                  <a:srgbClr val="1B5E6B"/>
                </a:solidFill>
                <a:latin typeface="Bricolage Grotesque"/>
              </a:rPr>
              <a:t>1.  Créations graphiques : affiches, flyers, carte de positionnement.</a:t>
            </a:r>
          </a:p>
        </p:txBody>
      </p:sp>
      <p:sp>
        <p:nvSpPr>
          <p:cNvPr id="7" name="TextBox 6"/>
          <p:cNvSpPr txBox="1"/>
          <p:nvPr/>
        </p:nvSpPr>
        <p:spPr>
          <a:xfrm>
            <a:off x="640080" y="2852928"/>
            <a:ext cx="10881360" cy="411480"/>
          </a:xfrm>
          <a:prstGeom prst="rect">
            <a:avLst/>
          </a:prstGeom>
          <a:noFill/>
        </p:spPr>
        <p:txBody>
          <a:bodyPr wrap="square">
            <a:spAutoFit/>
          </a:bodyPr>
          <a:lstStyle/>
          <a:p>
            <a:r>
              <a:rPr sz="2000" b="0">
                <a:solidFill>
                  <a:srgbClr val="333333"/>
                </a:solidFill>
                <a:latin typeface="Bricolage Grotesque"/>
              </a:rPr>
              <a:t>     Dans les sources, un exemple réussi par support, bien nommé.</a:t>
            </a:r>
          </a:p>
        </p:txBody>
      </p:sp>
      <p:sp>
        <p:nvSpPr>
          <p:cNvPr id="8" name="TextBox 7"/>
          <p:cNvSpPr txBox="1"/>
          <p:nvPr/>
        </p:nvSpPr>
        <p:spPr>
          <a:xfrm>
            <a:off x="640080" y="3611880"/>
            <a:ext cx="10881360" cy="411480"/>
          </a:xfrm>
          <a:prstGeom prst="rect">
            <a:avLst/>
          </a:prstGeom>
          <a:noFill/>
        </p:spPr>
        <p:txBody>
          <a:bodyPr wrap="square">
            <a:spAutoFit/>
          </a:bodyPr>
          <a:lstStyle/>
          <a:p>
            <a:r>
              <a:rPr sz="2000" b="1">
                <a:solidFill>
                  <a:srgbClr val="1B5E6B"/>
                </a:solidFill>
                <a:latin typeface="Bricolage Grotesque"/>
              </a:rPr>
              <a:t>2.  Recherche d'emploi : candidatures spontanées et réponses aux annonces.</a:t>
            </a:r>
          </a:p>
        </p:txBody>
      </p:sp>
      <p:sp>
        <p:nvSpPr>
          <p:cNvPr id="9" name="TextBox 8"/>
          <p:cNvSpPr txBox="1"/>
          <p:nvPr/>
        </p:nvSpPr>
        <p:spPr>
          <a:xfrm>
            <a:off x="640080" y="4133088"/>
            <a:ext cx="10881360" cy="411480"/>
          </a:xfrm>
          <a:prstGeom prst="rect">
            <a:avLst/>
          </a:prstGeom>
          <a:noFill/>
        </p:spPr>
        <p:txBody>
          <a:bodyPr wrap="square">
            <a:spAutoFit/>
          </a:bodyPr>
          <a:lstStyle/>
          <a:p>
            <a:r>
              <a:rPr sz="2000" b="0">
                <a:solidFill>
                  <a:srgbClr val="333333"/>
                </a:solidFill>
                <a:latin typeface="Bricolage Grotesque"/>
              </a:rPr>
              <a:t>     CV et carte en sources. Vous collez l'annonce : pas besoin d'agent.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Vos projets, simplifiés</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Ma recommandation : trois projets, pas plus</a:t>
            </a:r>
          </a:p>
        </p:txBody>
      </p:sp>
      <p:sp>
        <p:nvSpPr>
          <p:cNvPr id="6" name="TextBox 5"/>
          <p:cNvSpPr txBox="1"/>
          <p:nvPr/>
        </p:nvSpPr>
        <p:spPr>
          <a:xfrm>
            <a:off x="640080" y="2331720"/>
            <a:ext cx="10881360" cy="411480"/>
          </a:xfrm>
          <a:prstGeom prst="rect">
            <a:avLst/>
          </a:prstGeom>
          <a:noFill/>
        </p:spPr>
        <p:txBody>
          <a:bodyPr wrap="square">
            <a:spAutoFit/>
          </a:bodyPr>
          <a:lstStyle/>
          <a:p>
            <a:r>
              <a:rPr sz="2000" b="1">
                <a:solidFill>
                  <a:srgbClr val="1B5E6B"/>
                </a:solidFill>
                <a:latin typeface="Bricolage Grotesque"/>
              </a:rPr>
              <a:t>1.  Créations graphiques : affiches, flyers, carte de positionnement.</a:t>
            </a:r>
          </a:p>
        </p:txBody>
      </p:sp>
      <p:sp>
        <p:nvSpPr>
          <p:cNvPr id="7" name="TextBox 6"/>
          <p:cNvSpPr txBox="1"/>
          <p:nvPr/>
        </p:nvSpPr>
        <p:spPr>
          <a:xfrm>
            <a:off x="640080" y="2852928"/>
            <a:ext cx="10881360" cy="411480"/>
          </a:xfrm>
          <a:prstGeom prst="rect">
            <a:avLst/>
          </a:prstGeom>
          <a:noFill/>
        </p:spPr>
        <p:txBody>
          <a:bodyPr wrap="square">
            <a:spAutoFit/>
          </a:bodyPr>
          <a:lstStyle/>
          <a:p>
            <a:r>
              <a:rPr sz="2000" b="0">
                <a:solidFill>
                  <a:srgbClr val="333333"/>
                </a:solidFill>
                <a:latin typeface="Bricolage Grotesque"/>
              </a:rPr>
              <a:t>     Dans les sources, un exemple réussi par support, bien nommé.</a:t>
            </a:r>
          </a:p>
        </p:txBody>
      </p:sp>
      <p:sp>
        <p:nvSpPr>
          <p:cNvPr id="8" name="TextBox 7"/>
          <p:cNvSpPr txBox="1"/>
          <p:nvPr/>
        </p:nvSpPr>
        <p:spPr>
          <a:xfrm>
            <a:off x="640080" y="3611880"/>
            <a:ext cx="10881360" cy="411480"/>
          </a:xfrm>
          <a:prstGeom prst="rect">
            <a:avLst/>
          </a:prstGeom>
          <a:noFill/>
        </p:spPr>
        <p:txBody>
          <a:bodyPr wrap="square">
            <a:spAutoFit/>
          </a:bodyPr>
          <a:lstStyle/>
          <a:p>
            <a:r>
              <a:rPr sz="2000" b="1">
                <a:solidFill>
                  <a:srgbClr val="1B5E6B"/>
                </a:solidFill>
                <a:latin typeface="Bricolage Grotesque"/>
              </a:rPr>
              <a:t>2.  Recherche d'emploi : candidatures spontanées et réponses aux annonces.</a:t>
            </a:r>
          </a:p>
        </p:txBody>
      </p:sp>
      <p:sp>
        <p:nvSpPr>
          <p:cNvPr id="9" name="TextBox 8"/>
          <p:cNvSpPr txBox="1"/>
          <p:nvPr/>
        </p:nvSpPr>
        <p:spPr>
          <a:xfrm>
            <a:off x="640080" y="4133088"/>
            <a:ext cx="10881360" cy="411480"/>
          </a:xfrm>
          <a:prstGeom prst="rect">
            <a:avLst/>
          </a:prstGeom>
          <a:noFill/>
        </p:spPr>
        <p:txBody>
          <a:bodyPr wrap="square">
            <a:spAutoFit/>
          </a:bodyPr>
          <a:lstStyle/>
          <a:p>
            <a:r>
              <a:rPr sz="2000" b="0">
                <a:solidFill>
                  <a:srgbClr val="333333"/>
                </a:solidFill>
                <a:latin typeface="Bricolage Grotesque"/>
              </a:rPr>
              <a:t>     CV et carte en sources. Vous collez l'annonce : pas besoin d'agent.</a:t>
            </a:r>
          </a:p>
        </p:txBody>
      </p:sp>
      <p:sp>
        <p:nvSpPr>
          <p:cNvPr id="10" name="TextBox 9"/>
          <p:cNvSpPr txBox="1"/>
          <p:nvPr/>
        </p:nvSpPr>
        <p:spPr>
          <a:xfrm>
            <a:off x="640080" y="4892040"/>
            <a:ext cx="10881360" cy="411480"/>
          </a:xfrm>
          <a:prstGeom prst="rect">
            <a:avLst/>
          </a:prstGeom>
          <a:noFill/>
        </p:spPr>
        <p:txBody>
          <a:bodyPr wrap="square">
            <a:spAutoFit/>
          </a:bodyPr>
          <a:lstStyle/>
          <a:p>
            <a:r>
              <a:rPr sz="2000" b="1">
                <a:solidFill>
                  <a:srgbClr val="1B5E6B"/>
                </a:solidFill>
                <a:latin typeface="Bricolage Grotesque"/>
              </a:rPr>
              <a:t>3.  Formation IA : vos exercices et vos questions. Bonne idée.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Le prompt des trois livrables</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Ce qui marche, ce qu'on enlève, ce qu'on garde</a:t>
            </a:r>
          </a:p>
        </p:txBody>
      </p:sp>
      <p:sp>
        <p:nvSpPr>
          <p:cNvPr id="6" name="TextBox 5"/>
          <p:cNvSpPr txBox="1"/>
          <p:nvPr/>
        </p:nvSpPr>
        <p:spPr>
          <a:xfrm>
            <a:off x="640080" y="2331720"/>
            <a:ext cx="10881360" cy="411480"/>
          </a:xfrm>
          <a:prstGeom prst="rect">
            <a:avLst/>
          </a:prstGeom>
          <a:noFill/>
        </p:spPr>
        <p:txBody>
          <a:bodyPr wrap="square">
            <a:spAutoFit/>
          </a:bodyPr>
          <a:lstStyle/>
          <a:p>
            <a:r>
              <a:rPr sz="2000" b="1">
                <a:solidFill>
                  <a:srgbClr val="1B5E6B"/>
                </a:solidFill>
                <a:latin typeface="Bricolage Grotesque"/>
              </a:rPr>
              <a:t>✅  Contexte, trois livrables, un ton par destinataire, une vérification.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Le prompt des trois livrables</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Ce qui marche, ce qu'on enlève, ce qu'on garde</a:t>
            </a:r>
          </a:p>
        </p:txBody>
      </p:sp>
      <p:sp>
        <p:nvSpPr>
          <p:cNvPr id="6" name="TextBox 5"/>
          <p:cNvSpPr txBox="1"/>
          <p:nvPr/>
        </p:nvSpPr>
        <p:spPr>
          <a:xfrm>
            <a:off x="640080" y="2331720"/>
            <a:ext cx="10881360" cy="411480"/>
          </a:xfrm>
          <a:prstGeom prst="rect">
            <a:avLst/>
          </a:prstGeom>
          <a:noFill/>
        </p:spPr>
        <p:txBody>
          <a:bodyPr wrap="square">
            <a:spAutoFit/>
          </a:bodyPr>
          <a:lstStyle/>
          <a:p>
            <a:r>
              <a:rPr sz="2000" b="1">
                <a:solidFill>
                  <a:srgbClr val="1B5E6B"/>
                </a:solidFill>
                <a:latin typeface="Bricolage Grotesque"/>
              </a:rPr>
              <a:t>✅  Contexte, trois livrables, un ton par destinataire, une vérification.</a:t>
            </a:r>
          </a:p>
        </p:txBody>
      </p:sp>
      <p:sp>
        <p:nvSpPr>
          <p:cNvPr id="7" name="TextBox 6"/>
          <p:cNvSpPr txBox="1"/>
          <p:nvPr/>
        </p:nvSpPr>
        <p:spPr>
          <a:xfrm>
            <a:off x="640080" y="3090672"/>
            <a:ext cx="10881360" cy="411480"/>
          </a:xfrm>
          <a:prstGeom prst="rect">
            <a:avLst/>
          </a:prstGeom>
          <a:noFill/>
        </p:spPr>
        <p:txBody>
          <a:bodyPr wrap="square">
            <a:spAutoFit/>
          </a:bodyPr>
          <a:lstStyle/>
          <a:p>
            <a:r>
              <a:rPr sz="2000" b="1">
                <a:solidFill>
                  <a:srgbClr val="1B5E6B"/>
                </a:solidFill>
                <a:latin typeface="Bricolage Grotesque"/>
              </a:rPr>
              <a:t>✂️  L'étape « mots-clés et prédiction » : inutile pour produire.</a:t>
            </a:r>
          </a:p>
        </p:txBody>
      </p:sp>
      <p:sp>
        <p:nvSpPr>
          <p:cNvPr id="8" name="TextBox 7"/>
          <p:cNvSpPr txBox="1"/>
          <p:nvPr/>
        </p:nvSpPr>
        <p:spPr>
          <a:xfrm>
            <a:off x="640080" y="3611880"/>
            <a:ext cx="10881360" cy="411480"/>
          </a:xfrm>
          <a:prstGeom prst="rect">
            <a:avLst/>
          </a:prstGeom>
          <a:noFill/>
        </p:spPr>
        <p:txBody>
          <a:bodyPr wrap="square">
            <a:spAutoFit/>
          </a:bodyPr>
          <a:lstStyle/>
          <a:p>
            <a:r>
              <a:rPr sz="2000" b="0">
                <a:solidFill>
                  <a:srgbClr val="333333"/>
                </a:solidFill>
                <a:latin typeface="Bricolage Grotesque"/>
              </a:rPr>
              <a:t>C'était un exercice pour comprendre l'IA, pas une étape de travail.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Le prompt des trois livrables</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Ce qui marche, ce qu'on enlève, ce qu'on garde</a:t>
            </a:r>
          </a:p>
        </p:txBody>
      </p:sp>
      <p:sp>
        <p:nvSpPr>
          <p:cNvPr id="6" name="TextBox 5"/>
          <p:cNvSpPr txBox="1"/>
          <p:nvPr/>
        </p:nvSpPr>
        <p:spPr>
          <a:xfrm>
            <a:off x="640080" y="2331720"/>
            <a:ext cx="10881360" cy="411480"/>
          </a:xfrm>
          <a:prstGeom prst="rect">
            <a:avLst/>
          </a:prstGeom>
          <a:noFill/>
        </p:spPr>
        <p:txBody>
          <a:bodyPr wrap="square">
            <a:spAutoFit/>
          </a:bodyPr>
          <a:lstStyle/>
          <a:p>
            <a:r>
              <a:rPr sz="2000" b="1">
                <a:solidFill>
                  <a:srgbClr val="1B5E6B"/>
                </a:solidFill>
                <a:latin typeface="Bricolage Grotesque"/>
              </a:rPr>
              <a:t>✅  Contexte, trois livrables, un ton par destinataire, une vérification.</a:t>
            </a:r>
          </a:p>
        </p:txBody>
      </p:sp>
      <p:sp>
        <p:nvSpPr>
          <p:cNvPr id="7" name="TextBox 6"/>
          <p:cNvSpPr txBox="1"/>
          <p:nvPr/>
        </p:nvSpPr>
        <p:spPr>
          <a:xfrm>
            <a:off x="640080" y="3090672"/>
            <a:ext cx="10881360" cy="411480"/>
          </a:xfrm>
          <a:prstGeom prst="rect">
            <a:avLst/>
          </a:prstGeom>
          <a:noFill/>
        </p:spPr>
        <p:txBody>
          <a:bodyPr wrap="square">
            <a:spAutoFit/>
          </a:bodyPr>
          <a:lstStyle/>
          <a:p>
            <a:r>
              <a:rPr sz="2000" b="1">
                <a:solidFill>
                  <a:srgbClr val="1B5E6B"/>
                </a:solidFill>
                <a:latin typeface="Bricolage Grotesque"/>
              </a:rPr>
              <a:t>✂️  L'étape « mots-clés et prédiction » : inutile pour produire.</a:t>
            </a:r>
          </a:p>
        </p:txBody>
      </p:sp>
      <p:sp>
        <p:nvSpPr>
          <p:cNvPr id="8" name="TextBox 7"/>
          <p:cNvSpPr txBox="1"/>
          <p:nvPr/>
        </p:nvSpPr>
        <p:spPr>
          <a:xfrm>
            <a:off x="640080" y="3611880"/>
            <a:ext cx="10881360" cy="411480"/>
          </a:xfrm>
          <a:prstGeom prst="rect">
            <a:avLst/>
          </a:prstGeom>
          <a:noFill/>
        </p:spPr>
        <p:txBody>
          <a:bodyPr wrap="square">
            <a:spAutoFit/>
          </a:bodyPr>
          <a:lstStyle/>
          <a:p>
            <a:r>
              <a:rPr sz="2000" b="0">
                <a:solidFill>
                  <a:srgbClr val="333333"/>
                </a:solidFill>
                <a:latin typeface="Bricolage Grotesque"/>
              </a:rPr>
              <a:t>C'était un exercice pour comprendre l'IA, pas une étape de travail.</a:t>
            </a:r>
          </a:p>
        </p:txBody>
      </p:sp>
      <p:sp>
        <p:nvSpPr>
          <p:cNvPr id="9" name="TextBox 8"/>
          <p:cNvSpPr txBox="1"/>
          <p:nvPr/>
        </p:nvSpPr>
        <p:spPr>
          <a:xfrm>
            <a:off x="640080" y="4370832"/>
            <a:ext cx="10881360" cy="411480"/>
          </a:xfrm>
          <a:prstGeom prst="rect">
            <a:avLst/>
          </a:prstGeom>
          <a:noFill/>
        </p:spPr>
        <p:txBody>
          <a:bodyPr wrap="square">
            <a:spAutoFit/>
          </a:bodyPr>
          <a:lstStyle/>
          <a:p>
            <a:r>
              <a:rPr sz="2000" b="1">
                <a:solidFill>
                  <a:srgbClr val="1B5E6B"/>
                </a:solidFill>
                <a:latin typeface="Bricolage Grotesque"/>
              </a:rPr>
              <a:t>➕  Votre ajout « Informations manquantes à vérifier » : à garder</a:t>
            </a:r>
          </a:p>
        </p:txBody>
      </p:sp>
      <p:sp>
        <p:nvSpPr>
          <p:cNvPr id="10" name="TextBox 9"/>
          <p:cNvSpPr txBox="1"/>
          <p:nvPr/>
        </p:nvSpPr>
        <p:spPr>
          <a:xfrm>
            <a:off x="640080" y="4892040"/>
            <a:ext cx="10881360" cy="411480"/>
          </a:xfrm>
          <a:prstGeom prst="rect">
            <a:avLst/>
          </a:prstGeom>
          <a:noFill/>
        </p:spPr>
        <p:txBody>
          <a:bodyPr wrap="square">
            <a:spAutoFit/>
          </a:bodyPr>
          <a:lstStyle/>
          <a:p>
            <a:r>
              <a:rPr sz="2000" b="0">
                <a:solidFill>
                  <a:srgbClr val="333333"/>
                </a:solidFill>
                <a:latin typeface="Bricolage Grotesque"/>
              </a:rPr>
              <a:t>dans toutes vos trames. Il évite que l'IA comble les trous en inventant.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Votre cadre de confidentialité</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Votre version courte est la bonne</a:t>
            </a:r>
          </a:p>
        </p:txBody>
      </p:sp>
      <p:sp>
        <p:nvSpPr>
          <p:cNvPr id="6" name="TextBox 5"/>
          <p:cNvSpPr txBox="1"/>
          <p:nvPr/>
        </p:nvSpPr>
        <p:spPr>
          <a:xfrm>
            <a:off x="640080" y="2331720"/>
            <a:ext cx="10881360" cy="411480"/>
          </a:xfrm>
          <a:prstGeom prst="rect">
            <a:avLst/>
          </a:prstGeom>
          <a:noFill/>
        </p:spPr>
        <p:txBody>
          <a:bodyPr wrap="square">
            <a:spAutoFit/>
          </a:bodyPr>
          <a:lstStyle/>
          <a:p>
            <a:r>
              <a:rPr sz="2000" b="1">
                <a:solidFill>
                  <a:srgbClr val="1B5E6B"/>
                </a:solidFill>
                <a:latin typeface="Bricolage Grotesque"/>
              </a:rPr>
              <a:t>✅  Vos quatre questions, écrites sans l'IA : courtes, à vous, applicables.</a:t>
            </a:r>
          </a:p>
        </p:txBody>
      </p:sp>
      <p:sp>
        <p:nvSpPr>
          <p:cNvPr id="7" name="TextBox 6"/>
          <p:cNvSpPr txBox="1"/>
          <p:nvPr/>
        </p:nvSpPr>
        <p:spPr>
          <a:xfrm>
            <a:off x="640080" y="2852928"/>
            <a:ext cx="10881360" cy="411480"/>
          </a:xfrm>
          <a:prstGeom prst="rect">
            <a:avLst/>
          </a:prstGeom>
          <a:noFill/>
        </p:spPr>
        <p:txBody>
          <a:bodyPr wrap="square">
            <a:spAutoFit/>
          </a:bodyPr>
          <a:lstStyle/>
          <a:p>
            <a:r>
              <a:rPr sz="2000" b="1">
                <a:solidFill>
                  <a:srgbClr val="1B5E6B"/>
                </a:solidFill>
                <a:latin typeface="Bricolage Grotesque"/>
              </a:rPr>
              <a:t>⚠️  Remplacer « mode Instant » par « chat Temporaire » partout.</a:t>
            </a:r>
          </a:p>
        </p:txBody>
      </p:sp>
      <p:sp>
        <p:nvSpPr>
          <p:cNvPr id="8" name="TextBox 7"/>
          <p:cNvSpPr txBox="1"/>
          <p:nvPr/>
        </p:nvSpPr>
        <p:spPr>
          <a:xfrm>
            <a:off x="640080" y="3374136"/>
            <a:ext cx="10881360" cy="411480"/>
          </a:xfrm>
          <a:prstGeom prst="rect">
            <a:avLst/>
          </a:prstGeom>
          <a:noFill/>
        </p:spPr>
        <p:txBody>
          <a:bodyPr wrap="square">
            <a:spAutoFit/>
          </a:bodyPr>
          <a:lstStyle/>
          <a:p>
            <a:r>
              <a:rPr sz="2000" b="1">
                <a:solidFill>
                  <a:srgbClr val="1B5E6B"/>
                </a:solidFill>
                <a:latin typeface="Bricolage Grotesque"/>
              </a:rPr>
              <a:t>⚠️  Le chat Temporaire ne rend pas acceptable une donnée nominative.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Votre cadre de confidentialité</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Votre version courte est la bonne</a:t>
            </a:r>
          </a:p>
        </p:txBody>
      </p:sp>
      <p:sp>
        <p:nvSpPr>
          <p:cNvPr id="6" name="TextBox 5"/>
          <p:cNvSpPr txBox="1"/>
          <p:nvPr/>
        </p:nvSpPr>
        <p:spPr>
          <a:xfrm>
            <a:off x="640080" y="2331720"/>
            <a:ext cx="10881360" cy="411480"/>
          </a:xfrm>
          <a:prstGeom prst="rect">
            <a:avLst/>
          </a:prstGeom>
          <a:noFill/>
        </p:spPr>
        <p:txBody>
          <a:bodyPr wrap="square">
            <a:spAutoFit/>
          </a:bodyPr>
          <a:lstStyle/>
          <a:p>
            <a:r>
              <a:rPr sz="2000" b="1">
                <a:solidFill>
                  <a:srgbClr val="1B5E6B"/>
                </a:solidFill>
                <a:latin typeface="Bricolage Grotesque"/>
              </a:rPr>
              <a:t>✅  Vos quatre questions, écrites sans l'IA : courtes, à vous, applicables.</a:t>
            </a:r>
          </a:p>
        </p:txBody>
      </p:sp>
      <p:sp>
        <p:nvSpPr>
          <p:cNvPr id="7" name="TextBox 6"/>
          <p:cNvSpPr txBox="1"/>
          <p:nvPr/>
        </p:nvSpPr>
        <p:spPr>
          <a:xfrm>
            <a:off x="640080" y="2852928"/>
            <a:ext cx="10881360" cy="411480"/>
          </a:xfrm>
          <a:prstGeom prst="rect">
            <a:avLst/>
          </a:prstGeom>
          <a:noFill/>
        </p:spPr>
        <p:txBody>
          <a:bodyPr wrap="square">
            <a:spAutoFit/>
          </a:bodyPr>
          <a:lstStyle/>
          <a:p>
            <a:r>
              <a:rPr sz="2000" b="1">
                <a:solidFill>
                  <a:srgbClr val="1B5E6B"/>
                </a:solidFill>
                <a:latin typeface="Bricolage Grotesque"/>
              </a:rPr>
              <a:t>⚠️  Remplacer « mode Instant » par « chat Temporaire » partout.</a:t>
            </a:r>
          </a:p>
        </p:txBody>
      </p:sp>
      <p:sp>
        <p:nvSpPr>
          <p:cNvPr id="8" name="TextBox 7"/>
          <p:cNvSpPr txBox="1"/>
          <p:nvPr/>
        </p:nvSpPr>
        <p:spPr>
          <a:xfrm>
            <a:off x="640080" y="3374136"/>
            <a:ext cx="10881360" cy="411480"/>
          </a:xfrm>
          <a:prstGeom prst="rect">
            <a:avLst/>
          </a:prstGeom>
          <a:noFill/>
        </p:spPr>
        <p:txBody>
          <a:bodyPr wrap="square">
            <a:spAutoFit/>
          </a:bodyPr>
          <a:lstStyle/>
          <a:p>
            <a:r>
              <a:rPr sz="2000" b="1">
                <a:solidFill>
                  <a:srgbClr val="1B5E6B"/>
                </a:solidFill>
                <a:latin typeface="Bricolage Grotesque"/>
              </a:rPr>
              <a:t>⚠️  Le chat Temporaire ne rend pas acceptable une donnée nominative.</a:t>
            </a:r>
          </a:p>
        </p:txBody>
      </p:sp>
      <p:sp>
        <p:nvSpPr>
          <p:cNvPr id="9" name="TextBox 8"/>
          <p:cNvSpPr txBox="1"/>
          <p:nvPr/>
        </p:nvSpPr>
        <p:spPr>
          <a:xfrm>
            <a:off x="640080" y="4133088"/>
            <a:ext cx="10881360" cy="411480"/>
          </a:xfrm>
          <a:prstGeom prst="rect">
            <a:avLst/>
          </a:prstGeom>
          <a:noFill/>
        </p:spPr>
        <p:txBody>
          <a:bodyPr wrap="square">
            <a:spAutoFit/>
          </a:bodyPr>
          <a:lstStyle/>
          <a:p>
            <a:r>
              <a:rPr sz="2000" b="1">
                <a:solidFill>
                  <a:srgbClr val="1B5E6B"/>
                </a:solidFill>
                <a:latin typeface="Bricolage Grotesque"/>
              </a:rPr>
              <a:t>Votre question de fond : que continue-t-on à faire soi-même ?</a:t>
            </a:r>
          </a:p>
        </p:txBody>
      </p:sp>
      <p:sp>
        <p:nvSpPr>
          <p:cNvPr id="10" name="TextBox 9"/>
          <p:cNvSpPr txBox="1"/>
          <p:nvPr/>
        </p:nvSpPr>
        <p:spPr>
          <a:xfrm>
            <a:off x="640080" y="4654296"/>
            <a:ext cx="10881360" cy="411480"/>
          </a:xfrm>
          <a:prstGeom prst="rect">
            <a:avLst/>
          </a:prstGeom>
          <a:noFill/>
        </p:spPr>
        <p:txBody>
          <a:bodyPr wrap="square">
            <a:spAutoFit/>
          </a:bodyPr>
          <a:lstStyle/>
          <a:p>
            <a:r>
              <a:rPr sz="2000" b="1">
                <a:solidFill>
                  <a:srgbClr val="E8A000"/>
                </a:solidFill>
                <a:latin typeface="Bricolage Grotesque"/>
              </a:rPr>
              <a:t>« L'IA prépare. Vous décidez, vous validez, vous signez. »</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Vos autres questions</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Réponse écrite après la séance, promis</a:t>
            </a:r>
          </a:p>
        </p:txBody>
      </p:sp>
      <p:sp>
        <p:nvSpPr>
          <p:cNvPr id="6" name="TextBox 5"/>
          <p:cNvSpPr txBox="1"/>
          <p:nvPr/>
        </p:nvSpPr>
        <p:spPr>
          <a:xfrm>
            <a:off x="640080" y="2331720"/>
            <a:ext cx="10881360" cy="411480"/>
          </a:xfrm>
          <a:prstGeom prst="rect">
            <a:avLst/>
          </a:prstGeom>
          <a:noFill/>
        </p:spPr>
        <p:txBody>
          <a:bodyPr wrap="square">
            <a:spAutoFit/>
          </a:bodyPr>
          <a:lstStyle/>
          <a:p>
            <a:r>
              <a:rPr sz="2000" b="1">
                <a:solidFill>
                  <a:srgbClr val="1B5E6B"/>
                </a:solidFill>
                <a:latin typeface="Bricolage Grotesque"/>
              </a:rPr>
              <a:t>•  Le schéma qui montre le fonctionnement de l'IA</a:t>
            </a:r>
          </a:p>
        </p:txBody>
      </p:sp>
      <p:sp>
        <p:nvSpPr>
          <p:cNvPr id="7" name="TextBox 6"/>
          <p:cNvSpPr txBox="1"/>
          <p:nvPr/>
        </p:nvSpPr>
        <p:spPr>
          <a:xfrm>
            <a:off x="640080" y="2852928"/>
            <a:ext cx="10881360" cy="411480"/>
          </a:xfrm>
          <a:prstGeom prst="rect">
            <a:avLst/>
          </a:prstGeom>
          <a:noFill/>
        </p:spPr>
        <p:txBody>
          <a:bodyPr wrap="square">
            <a:spAutoFit/>
          </a:bodyPr>
          <a:lstStyle/>
          <a:p>
            <a:r>
              <a:rPr sz="2000" b="1">
                <a:solidFill>
                  <a:srgbClr val="1B5E6B"/>
                </a:solidFill>
                <a:latin typeface="Bricolage Grotesque"/>
              </a:rPr>
              <a:t>•  Garder une trace de ce qu'on a validé, et quand</a:t>
            </a:r>
          </a:p>
        </p:txBody>
      </p:sp>
      <p:sp>
        <p:nvSpPr>
          <p:cNvPr id="8" name="TextBox 7"/>
          <p:cNvSpPr txBox="1"/>
          <p:nvPr/>
        </p:nvSpPr>
        <p:spPr>
          <a:xfrm>
            <a:off x="640080" y="3374136"/>
            <a:ext cx="10881360" cy="411480"/>
          </a:xfrm>
          <a:prstGeom prst="rect">
            <a:avLst/>
          </a:prstGeom>
          <a:noFill/>
        </p:spPr>
        <p:txBody>
          <a:bodyPr wrap="square">
            <a:spAutoFit/>
          </a:bodyPr>
          <a:lstStyle/>
          <a:p>
            <a:r>
              <a:rPr sz="2000" b="1">
                <a:solidFill>
                  <a:srgbClr val="1B5E6B"/>
                </a:solidFill>
                <a:latin typeface="Bricolage Grotesque"/>
              </a:rPr>
              <a:t>•  Votre dilemme sur l'entraînement : votre conclusion tient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Vos autres questions</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Réponse écrite après la séance, promis</a:t>
            </a:r>
          </a:p>
        </p:txBody>
      </p:sp>
      <p:sp>
        <p:nvSpPr>
          <p:cNvPr id="6" name="TextBox 5"/>
          <p:cNvSpPr txBox="1"/>
          <p:nvPr/>
        </p:nvSpPr>
        <p:spPr>
          <a:xfrm>
            <a:off x="640080" y="2331720"/>
            <a:ext cx="10881360" cy="411480"/>
          </a:xfrm>
          <a:prstGeom prst="rect">
            <a:avLst/>
          </a:prstGeom>
          <a:noFill/>
        </p:spPr>
        <p:txBody>
          <a:bodyPr wrap="square">
            <a:spAutoFit/>
          </a:bodyPr>
          <a:lstStyle/>
          <a:p>
            <a:r>
              <a:rPr sz="2000" b="1">
                <a:solidFill>
                  <a:srgbClr val="1B5E6B"/>
                </a:solidFill>
                <a:latin typeface="Bricolage Grotesque"/>
              </a:rPr>
              <a:t>•  Le schéma qui montre le fonctionnement de l'IA</a:t>
            </a:r>
          </a:p>
        </p:txBody>
      </p:sp>
      <p:sp>
        <p:nvSpPr>
          <p:cNvPr id="7" name="TextBox 6"/>
          <p:cNvSpPr txBox="1"/>
          <p:nvPr/>
        </p:nvSpPr>
        <p:spPr>
          <a:xfrm>
            <a:off x="640080" y="2852928"/>
            <a:ext cx="10881360" cy="411480"/>
          </a:xfrm>
          <a:prstGeom prst="rect">
            <a:avLst/>
          </a:prstGeom>
          <a:noFill/>
        </p:spPr>
        <p:txBody>
          <a:bodyPr wrap="square">
            <a:spAutoFit/>
          </a:bodyPr>
          <a:lstStyle/>
          <a:p>
            <a:r>
              <a:rPr sz="2000" b="1">
                <a:solidFill>
                  <a:srgbClr val="1B5E6B"/>
                </a:solidFill>
                <a:latin typeface="Bricolage Grotesque"/>
              </a:rPr>
              <a:t>•  Garder une trace de ce qu'on a validé, et quand</a:t>
            </a:r>
          </a:p>
        </p:txBody>
      </p:sp>
      <p:sp>
        <p:nvSpPr>
          <p:cNvPr id="8" name="TextBox 7"/>
          <p:cNvSpPr txBox="1"/>
          <p:nvPr/>
        </p:nvSpPr>
        <p:spPr>
          <a:xfrm>
            <a:off x="640080" y="3374136"/>
            <a:ext cx="10881360" cy="411480"/>
          </a:xfrm>
          <a:prstGeom prst="rect">
            <a:avLst/>
          </a:prstGeom>
          <a:noFill/>
        </p:spPr>
        <p:txBody>
          <a:bodyPr wrap="square">
            <a:spAutoFit/>
          </a:bodyPr>
          <a:lstStyle/>
          <a:p>
            <a:r>
              <a:rPr sz="2000" b="1">
                <a:solidFill>
                  <a:srgbClr val="1B5E6B"/>
                </a:solidFill>
                <a:latin typeface="Bricolage Grotesque"/>
              </a:rPr>
              <a:t>•  Votre dilemme sur l'entraînement : votre conclusion tient</a:t>
            </a:r>
          </a:p>
        </p:txBody>
      </p:sp>
      <p:sp>
        <p:nvSpPr>
          <p:cNvPr id="9" name="TextBox 8"/>
          <p:cNvSpPr txBox="1"/>
          <p:nvPr/>
        </p:nvSpPr>
        <p:spPr>
          <a:xfrm>
            <a:off x="640080" y="4133088"/>
            <a:ext cx="10881360" cy="411480"/>
          </a:xfrm>
          <a:prstGeom prst="rect">
            <a:avLst/>
          </a:prstGeom>
          <a:noFill/>
        </p:spPr>
        <p:txBody>
          <a:bodyPr wrap="square">
            <a:spAutoFit/>
          </a:bodyPr>
          <a:lstStyle/>
          <a:p>
            <a:r>
              <a:rPr sz="2000" b="1">
                <a:solidFill>
                  <a:srgbClr val="1B5E6B"/>
                </a:solidFill>
                <a:latin typeface="Bricolage Grotesque"/>
              </a:rPr>
              <a:t>•  Passer à un forfait supérieur pour tester les agents</a:t>
            </a:r>
          </a:p>
        </p:txBody>
      </p:sp>
      <p:sp>
        <p:nvSpPr>
          <p:cNvPr id="10" name="TextBox 9"/>
          <p:cNvSpPr txBox="1"/>
          <p:nvPr/>
        </p:nvSpPr>
        <p:spPr>
          <a:xfrm>
            <a:off x="640080" y="4654296"/>
            <a:ext cx="10881360" cy="411480"/>
          </a:xfrm>
          <a:prstGeom prst="rect">
            <a:avLst/>
          </a:prstGeom>
          <a:noFill/>
        </p:spPr>
        <p:txBody>
          <a:bodyPr wrap="square">
            <a:spAutoFit/>
          </a:bodyPr>
          <a:lstStyle/>
          <a:p>
            <a:r>
              <a:rPr sz="2000" b="1">
                <a:solidFill>
                  <a:srgbClr val="1B5E6B"/>
                </a:solidFill>
                <a:latin typeface="Bricolage Grotesque"/>
              </a:rPr>
              <a:t>•  La limite de 1 500 caractères des instructions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965960"/>
            <a:ext cx="2743200" cy="36576"/>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515600" cy="731520"/>
          </a:xfrm>
          <a:prstGeom prst="rect">
            <a:avLst/>
          </a:prstGeom>
          <a:noFill/>
        </p:spPr>
        <p:txBody>
          <a:bodyPr wrap="square">
            <a:spAutoFit/>
          </a:bodyPr>
          <a:lstStyle/>
          <a:p>
            <a:pPr algn="l"/>
            <a:r>
              <a:rPr sz="2200" b="1">
                <a:solidFill>
                  <a:srgbClr val="E8A000"/>
                </a:solidFill>
                <a:latin typeface="Bricolage Grotesque"/>
              </a:rPr>
              <a:t>Séquence 3</a:t>
            </a:r>
          </a:p>
        </p:txBody>
      </p:sp>
      <p:sp>
        <p:nvSpPr>
          <p:cNvPr id="5" name="TextBox 4"/>
          <p:cNvSpPr txBox="1"/>
          <p:nvPr/>
        </p:nvSpPr>
        <p:spPr>
          <a:xfrm>
            <a:off x="640080" y="2286000"/>
            <a:ext cx="10698480" cy="1645920"/>
          </a:xfrm>
          <a:prstGeom prst="rect">
            <a:avLst/>
          </a:prstGeom>
          <a:noFill/>
        </p:spPr>
        <p:txBody>
          <a:bodyPr wrap="square">
            <a:spAutoFit/>
          </a:bodyPr>
          <a:lstStyle/>
          <a:p>
            <a:pPr algn="l"/>
            <a:r>
              <a:rPr sz="4200" b="1">
                <a:solidFill>
                  <a:srgbClr val="FFFFFF"/>
                </a:solidFill>
                <a:latin typeface="Bricolage Grotesque"/>
              </a:rPr>
              <a:t>Votre compte Claude</a:t>
            </a:r>
          </a:p>
        </p:txBody>
      </p:sp>
      <p:sp>
        <p:nvSpPr>
          <p:cNvPr id="6" name="TextBox 5"/>
          <p:cNvSpPr txBox="1"/>
          <p:nvPr/>
        </p:nvSpPr>
        <p:spPr>
          <a:xfrm>
            <a:off x="640080" y="4023360"/>
            <a:ext cx="10515600" cy="731520"/>
          </a:xfrm>
          <a:prstGeom prst="rect">
            <a:avLst/>
          </a:prstGeom>
          <a:noFill/>
        </p:spPr>
        <p:txBody>
          <a:bodyPr wrap="square">
            <a:spAutoFit/>
          </a:bodyPr>
          <a:lstStyle/>
          <a:p>
            <a:pPr algn="l"/>
            <a:r>
              <a:rPr sz="2000" b="0">
                <a:solidFill>
                  <a:srgbClr val="5A8A8F"/>
                </a:solidFill>
                <a:latin typeface="Bricolage Grotesque"/>
              </a:rPr>
              <a:t>Créé ensemble, réglé avant le premier message</a:t>
            </a:r>
          </a:p>
        </p:txBody>
      </p:sp>
      <p:pic>
        <p:nvPicPr>
          <p:cNvPr id="7" name="Picture 6" descr="ia-round.png"/>
          <p:cNvPicPr>
            <a:picLocks noChangeAspect="1"/>
          </p:cNvPicPr>
          <p:nvPr/>
        </p:nvPicPr>
        <p:blipFill>
          <a:blip r:embed="rId2"/>
          <a:stretch>
            <a:fillRect/>
          </a:stretch>
        </p:blipFill>
        <p:spPr>
          <a:xfrm>
            <a:off x="457200" y="6217920"/>
            <a:ext cx="320040" cy="320040"/>
          </a:xfrm>
          <a:prstGeom prst="rect">
            <a:avLst/>
          </a:prstGeom>
        </p:spPr>
      </p:pic>
      <p:sp>
        <p:nvSpPr>
          <p:cNvPr id="8" name="TextBox 7"/>
          <p:cNvSpPr txBox="1"/>
          <p:nvPr/>
        </p:nvSpPr>
        <p:spPr>
          <a:xfrm>
            <a:off x="868680" y="6199632"/>
            <a:ext cx="3657600" cy="365760"/>
          </a:xfrm>
          <a:prstGeom prst="rect">
            <a:avLst/>
          </a:prstGeom>
          <a:noFill/>
        </p:spPr>
        <p:txBody>
          <a:bodyPr wrap="square">
            <a:spAutoFit/>
          </a:bodyPr>
          <a:lstStyle/>
          <a:p>
            <a:pPr algn="l"/>
            <a:r>
              <a:rPr sz="1400" b="0">
                <a:solidFill>
                  <a:srgbClr val="FFFFFF"/>
                </a:solidFill>
                <a:latin typeface="Bricolage Grotesque"/>
              </a:rPr>
              <a:t>intelligence academy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Votre compte Claude, en quatre étapes</a:t>
            </a:r>
          </a:p>
        </p:txBody>
      </p:sp>
      <p:sp>
        <p:nvSpPr>
          <p:cNvPr id="5" name="Rounded Rectangle 4"/>
          <p:cNvSpPr/>
          <p:nvPr/>
        </p:nvSpPr>
        <p:spPr>
          <a:xfrm>
            <a:off x="640080" y="1417320"/>
            <a:ext cx="10881360" cy="1143000"/>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08760"/>
            <a:ext cx="4023359" cy="320040"/>
          </a:xfrm>
          <a:prstGeom prst="rect">
            <a:avLst/>
          </a:prstGeom>
          <a:noFill/>
        </p:spPr>
        <p:txBody>
          <a:bodyPr wrap="square">
            <a:spAutoFit/>
          </a:bodyPr>
          <a:lstStyle/>
          <a:p>
            <a:pPr algn="l"/>
            <a:r>
              <a:rPr sz="1400" b="1">
                <a:solidFill>
                  <a:srgbClr val="E8A000"/>
                </a:solidFill>
                <a:latin typeface="Bricolage Grotesque"/>
              </a:rPr>
              <a:t>OBJECTIF</a:t>
            </a:r>
          </a:p>
        </p:txBody>
      </p:sp>
      <p:sp>
        <p:nvSpPr>
          <p:cNvPr id="7" name="TextBox 6"/>
          <p:cNvSpPr txBox="1"/>
          <p:nvPr/>
        </p:nvSpPr>
        <p:spPr>
          <a:xfrm>
            <a:off x="868680" y="1810512"/>
            <a:ext cx="4023359" cy="685800"/>
          </a:xfrm>
          <a:prstGeom prst="rect">
            <a:avLst/>
          </a:prstGeom>
          <a:noFill/>
        </p:spPr>
        <p:txBody>
          <a:bodyPr wrap="square">
            <a:spAutoFit/>
          </a:bodyPr>
          <a:lstStyle/>
          <a:p>
            <a:pPr algn="l"/>
            <a:r>
              <a:rPr sz="1600" b="0">
                <a:solidFill>
                  <a:srgbClr val="1A1A1A"/>
                </a:solidFill>
                <a:latin typeface="Bricolage Grotesque"/>
              </a:rPr>
              <a:t>Un compte gratuit, réglé pour protéger vos données</a:t>
            </a:r>
          </a:p>
        </p:txBody>
      </p:sp>
      <p:sp>
        <p:nvSpPr>
          <p:cNvPr id="8" name="TextBox 7"/>
          <p:cNvSpPr txBox="1"/>
          <p:nvPr/>
        </p:nvSpPr>
        <p:spPr>
          <a:xfrm>
            <a:off x="5074920" y="1508760"/>
            <a:ext cx="4389120" cy="320040"/>
          </a:xfrm>
          <a:prstGeom prst="rect">
            <a:avLst/>
          </a:prstGeom>
          <a:noFill/>
        </p:spPr>
        <p:txBody>
          <a:bodyPr wrap="square">
            <a:spAutoFit/>
          </a:bodyPr>
          <a:lstStyle/>
          <a:p>
            <a:pPr algn="l"/>
            <a:r>
              <a:rPr sz="1400" b="1">
                <a:solidFill>
                  <a:srgbClr val="E8A000"/>
                </a:solidFill>
                <a:latin typeface="Bricolage Grotesque"/>
              </a:rPr>
              <a:t>LIVRABLE</a:t>
            </a:r>
          </a:p>
        </p:txBody>
      </p:sp>
      <p:sp>
        <p:nvSpPr>
          <p:cNvPr id="9" name="TextBox 8"/>
          <p:cNvSpPr txBox="1"/>
          <p:nvPr/>
        </p:nvSpPr>
        <p:spPr>
          <a:xfrm>
            <a:off x="5074920" y="1810512"/>
            <a:ext cx="4389120" cy="685800"/>
          </a:xfrm>
          <a:prstGeom prst="rect">
            <a:avLst/>
          </a:prstGeom>
          <a:noFill/>
        </p:spPr>
        <p:txBody>
          <a:bodyPr wrap="square">
            <a:spAutoFit/>
          </a:bodyPr>
          <a:lstStyle/>
          <a:p>
            <a:pPr algn="l"/>
            <a:r>
              <a:rPr sz="1600" b="0">
                <a:solidFill>
                  <a:srgbClr val="1A1A1A"/>
                </a:solidFill>
                <a:latin typeface="Bricolage Grotesque"/>
              </a:rPr>
              <a:t>Compte créé, entraînement désactivé, préférences écrites</a:t>
            </a:r>
          </a:p>
        </p:txBody>
      </p:sp>
      <p:sp>
        <p:nvSpPr>
          <p:cNvPr id="10" name="TextBox 9"/>
          <p:cNvSpPr txBox="1"/>
          <p:nvPr/>
        </p:nvSpPr>
        <p:spPr>
          <a:xfrm>
            <a:off x="9646920" y="1508760"/>
            <a:ext cx="1554480" cy="320040"/>
          </a:xfrm>
          <a:prstGeom prst="rect">
            <a:avLst/>
          </a:prstGeom>
          <a:noFill/>
        </p:spPr>
        <p:txBody>
          <a:bodyPr wrap="square">
            <a:spAutoFit/>
          </a:bodyPr>
          <a:lstStyle/>
          <a:p>
            <a:pPr algn="l"/>
            <a:r>
              <a:rPr sz="1400" b="1">
                <a:solidFill>
                  <a:srgbClr val="E8A000"/>
                </a:solidFill>
                <a:latin typeface="Bricolage Grotesque"/>
              </a:rPr>
              <a:t>DURÉE</a:t>
            </a:r>
          </a:p>
        </p:txBody>
      </p:sp>
      <p:sp>
        <p:nvSpPr>
          <p:cNvPr id="11" name="TextBox 10"/>
          <p:cNvSpPr txBox="1"/>
          <p:nvPr/>
        </p:nvSpPr>
        <p:spPr>
          <a:xfrm>
            <a:off x="9646920" y="1810512"/>
            <a:ext cx="1554480" cy="685800"/>
          </a:xfrm>
          <a:prstGeom prst="rect">
            <a:avLst/>
          </a:prstGeom>
          <a:noFill/>
        </p:spPr>
        <p:txBody>
          <a:bodyPr wrap="square">
            <a:spAutoFit/>
          </a:bodyPr>
          <a:lstStyle/>
          <a:p>
            <a:pPr algn="l"/>
            <a:r>
              <a:rPr sz="1600" b="0">
                <a:solidFill>
                  <a:srgbClr val="1A1A1A"/>
                </a:solidFill>
                <a:latin typeface="Bricolage Grotesque"/>
              </a:rPr>
              <a:t>10 min</a:t>
            </a:r>
          </a:p>
        </p:txBody>
      </p:sp>
      <p:sp>
        <p:nvSpPr>
          <p:cNvPr id="12" name="TextBox 11"/>
          <p:cNvSpPr txBox="1"/>
          <p:nvPr/>
        </p:nvSpPr>
        <p:spPr>
          <a:xfrm>
            <a:off x="640080" y="2834640"/>
            <a:ext cx="10881360" cy="411480"/>
          </a:xfrm>
          <a:prstGeom prst="rect">
            <a:avLst/>
          </a:prstGeom>
          <a:noFill/>
        </p:spPr>
        <p:txBody>
          <a:bodyPr wrap="square">
            <a:spAutoFit/>
          </a:bodyPr>
          <a:lstStyle/>
          <a:p>
            <a:r>
              <a:rPr sz="1900" b="1">
                <a:solidFill>
                  <a:srgbClr val="1B5E6B"/>
                </a:solidFill>
                <a:latin typeface="Bricolage Grotesque"/>
              </a:rPr>
              <a:t>1.  </a:t>
            </a:r>
            <a:r>
              <a:rPr sz="1900">
                <a:solidFill>
                  <a:srgbClr val="333333"/>
                </a:solidFill>
                <a:latin typeface="Bricolage Grotesque"/>
              </a:rPr>
              <a:t>Sur claude.ai : « Continuer avec Google » ou avec votre e-mail.</a:t>
            </a:r>
          </a:p>
        </p:txBody>
      </p:sp>
      <p:sp>
        <p:nvSpPr>
          <p:cNvPr id="13" name="TextBox 12"/>
          <p:cNvSpPr txBox="1"/>
          <p:nvPr/>
        </p:nvSpPr>
        <p:spPr>
          <a:xfrm>
            <a:off x="640080" y="3355848"/>
            <a:ext cx="10881360" cy="411480"/>
          </a:xfrm>
          <a:prstGeom prst="rect">
            <a:avLst/>
          </a:prstGeom>
          <a:noFill/>
        </p:spPr>
        <p:txBody>
          <a:bodyPr wrap="square">
            <a:spAutoFit/>
          </a:bodyPr>
          <a:lstStyle/>
          <a:p>
            <a:r>
              <a:rPr sz="1900" b="1">
                <a:solidFill>
                  <a:srgbClr val="1B5E6B"/>
                </a:solidFill>
                <a:latin typeface="Bricolage Grotesque"/>
              </a:rPr>
              <a:t>2.  </a:t>
            </a:r>
            <a:r>
              <a:rPr sz="1900">
                <a:solidFill>
                  <a:srgbClr val="333333"/>
                </a:solidFill>
                <a:latin typeface="Bricolage Grotesque"/>
              </a:rPr>
              <a:t>Paramètres › Confidentialité : désactivez « Aider à améliorer Claude ».</a:t>
            </a:r>
          </a:p>
        </p:txBody>
      </p:sp>
      <p:sp>
        <p:nvSpPr>
          <p:cNvPr id="14" name="TextBox 13"/>
          <p:cNvSpPr txBox="1"/>
          <p:nvPr/>
        </p:nvSpPr>
        <p:spPr>
          <a:xfrm>
            <a:off x="640080" y="3877056"/>
            <a:ext cx="10881360" cy="411480"/>
          </a:xfrm>
          <a:prstGeom prst="rect">
            <a:avLst/>
          </a:prstGeom>
          <a:noFill/>
        </p:spPr>
        <p:txBody>
          <a:bodyPr wrap="square">
            <a:spAutoFit/>
          </a:bodyPr>
          <a:lstStyle/>
          <a:p>
            <a:r>
              <a:rPr sz="1900" b="1">
                <a:solidFill>
                  <a:srgbClr val="1B5E6B"/>
                </a:solidFill>
                <a:latin typeface="Bricolage Grotesque"/>
              </a:rPr>
              <a:t>3.  </a:t>
            </a:r>
            <a:r>
              <a:rPr sz="1900">
                <a:solidFill>
                  <a:srgbClr val="333333"/>
                </a:solidFill>
                <a:latin typeface="Bricolage Grotesque"/>
              </a:rPr>
              <a:t>Paramètres › Profil : collez l'essentiel de vos instructions ChatGPT.</a:t>
            </a:r>
          </a:p>
        </p:txBody>
      </p:sp>
      <p:sp>
        <p:nvSpPr>
          <p:cNvPr id="15" name="TextBox 14"/>
          <p:cNvSpPr txBox="1"/>
          <p:nvPr/>
        </p:nvSpPr>
        <p:spPr>
          <a:xfrm>
            <a:off x="640080" y="4398264"/>
            <a:ext cx="10881360" cy="411480"/>
          </a:xfrm>
          <a:prstGeom prst="rect">
            <a:avLst/>
          </a:prstGeom>
          <a:noFill/>
        </p:spPr>
        <p:txBody>
          <a:bodyPr wrap="square">
            <a:spAutoFit/>
          </a:bodyPr>
          <a:lstStyle/>
          <a:p>
            <a:r>
              <a:rPr sz="1900" b="1">
                <a:solidFill>
                  <a:srgbClr val="1B5E6B"/>
                </a:solidFill>
                <a:latin typeface="Bricolage Grotesque"/>
              </a:rPr>
              <a:t>4.  </a:t>
            </a:r>
            <a:r>
              <a:rPr sz="1900">
                <a:solidFill>
                  <a:srgbClr val="333333"/>
                </a:solidFill>
                <a:latin typeface="Bricolage Grotesque"/>
              </a:rPr>
              <a:t>Test : votre prompt des trois livrables, comparé à la réponse de ChatGPT.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965960"/>
            <a:ext cx="2743200" cy="36576"/>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515600" cy="731520"/>
          </a:xfrm>
          <a:prstGeom prst="rect">
            <a:avLst/>
          </a:prstGeom>
          <a:noFill/>
        </p:spPr>
        <p:txBody>
          <a:bodyPr wrap="square">
            <a:spAutoFit/>
          </a:bodyPr>
          <a:lstStyle/>
          <a:p>
            <a:pPr algn="l"/>
            <a:r>
              <a:rPr sz="2200" b="1">
                <a:solidFill>
                  <a:srgbClr val="E8A000"/>
                </a:solidFill>
                <a:latin typeface="Bricolage Grotesque"/>
              </a:rPr>
              <a:t>Séquence 4</a:t>
            </a:r>
          </a:p>
        </p:txBody>
      </p:sp>
      <p:sp>
        <p:nvSpPr>
          <p:cNvPr id="5" name="TextBox 4"/>
          <p:cNvSpPr txBox="1"/>
          <p:nvPr/>
        </p:nvSpPr>
        <p:spPr>
          <a:xfrm>
            <a:off x="640080" y="2286000"/>
            <a:ext cx="10698480" cy="1645920"/>
          </a:xfrm>
          <a:prstGeom prst="rect">
            <a:avLst/>
          </a:prstGeom>
          <a:noFill/>
        </p:spPr>
        <p:txBody>
          <a:bodyPr wrap="square">
            <a:spAutoFit/>
          </a:bodyPr>
          <a:lstStyle/>
          <a:p>
            <a:pPr algn="l"/>
            <a:r>
              <a:rPr sz="4200" b="1">
                <a:solidFill>
                  <a:srgbClr val="FFFFFF"/>
                </a:solidFill>
                <a:latin typeface="Bricolage Grotesque"/>
              </a:rPr>
              <a:t>Les visuels, l'essentiel</a:t>
            </a:r>
          </a:p>
        </p:txBody>
      </p:sp>
      <p:sp>
        <p:nvSpPr>
          <p:cNvPr id="6" name="TextBox 5"/>
          <p:cNvSpPr txBox="1"/>
          <p:nvPr/>
        </p:nvSpPr>
        <p:spPr>
          <a:xfrm>
            <a:off x="640080" y="4023360"/>
            <a:ext cx="10515600" cy="731520"/>
          </a:xfrm>
          <a:prstGeom prst="rect">
            <a:avLst/>
          </a:prstGeom>
          <a:noFill/>
        </p:spPr>
        <p:txBody>
          <a:bodyPr wrap="square">
            <a:spAutoFit/>
          </a:bodyPr>
          <a:lstStyle/>
          <a:p>
            <a:pPr algn="l"/>
            <a:r>
              <a:rPr sz="2000" b="0">
                <a:solidFill>
                  <a:srgbClr val="5A8A8F"/>
                </a:solidFill>
                <a:latin typeface="Bricolage Grotesque"/>
              </a:rPr>
              <a:t>Ce qu'il faut savoir avant de cliquer</a:t>
            </a:r>
          </a:p>
        </p:txBody>
      </p:sp>
      <p:pic>
        <p:nvPicPr>
          <p:cNvPr id="7" name="Picture 6" descr="ia-round.png"/>
          <p:cNvPicPr>
            <a:picLocks noChangeAspect="1"/>
          </p:cNvPicPr>
          <p:nvPr/>
        </p:nvPicPr>
        <p:blipFill>
          <a:blip r:embed="rId2"/>
          <a:stretch>
            <a:fillRect/>
          </a:stretch>
        </p:blipFill>
        <p:spPr>
          <a:xfrm>
            <a:off x="457200" y="6217920"/>
            <a:ext cx="320040" cy="320040"/>
          </a:xfrm>
          <a:prstGeom prst="rect">
            <a:avLst/>
          </a:prstGeom>
        </p:spPr>
      </p:pic>
      <p:sp>
        <p:nvSpPr>
          <p:cNvPr id="8" name="TextBox 7"/>
          <p:cNvSpPr txBox="1"/>
          <p:nvPr/>
        </p:nvSpPr>
        <p:spPr>
          <a:xfrm>
            <a:off x="868680" y="6199632"/>
            <a:ext cx="3657600" cy="365760"/>
          </a:xfrm>
          <a:prstGeom prst="rect">
            <a:avLst/>
          </a:prstGeom>
          <a:noFill/>
        </p:spPr>
        <p:txBody>
          <a:bodyPr wrap="square">
            <a:spAutoFit/>
          </a:bodyPr>
          <a:lstStyle/>
          <a:p>
            <a:pPr algn="l"/>
            <a:r>
              <a:rPr sz="1400" b="0">
                <a:solidFill>
                  <a:srgbClr val="FFFFFF"/>
                </a:solidFill>
                <a:latin typeface="Bricolage Grotesque"/>
              </a:rPr>
              <a:t>intelligence academy</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Trois générateurs, comparés</a:t>
            </a:r>
          </a:p>
        </p:txBody>
      </p:sp>
      <p:sp>
        <p:nvSpPr>
          <p:cNvPr id="5" name="TextBox 4"/>
          <p:cNvSpPr txBox="1"/>
          <p:nvPr/>
        </p:nvSpPr>
        <p:spPr>
          <a:xfrm>
            <a:off x="777240" y="1463040"/>
            <a:ext cx="2194560" cy="365760"/>
          </a:xfrm>
          <a:prstGeom prst="rect">
            <a:avLst/>
          </a:prstGeom>
          <a:noFill/>
        </p:spPr>
        <p:txBody>
          <a:bodyPr wrap="square">
            <a:spAutoFit/>
          </a:bodyPr>
          <a:lstStyle/>
          <a:p>
            <a:pPr algn="l"/>
            <a:r>
              <a:rPr sz="1800" b="1">
                <a:solidFill>
                  <a:srgbClr val="1B5E6B"/>
                </a:solidFill>
                <a:latin typeface="Bricolage Grotesque"/>
              </a:rPr>
              <a:t/>
            </a:r>
          </a:p>
        </p:txBody>
      </p:sp>
      <p:sp>
        <p:nvSpPr>
          <p:cNvPr id="6" name="TextBox 5"/>
          <p:cNvSpPr txBox="1"/>
          <p:nvPr/>
        </p:nvSpPr>
        <p:spPr>
          <a:xfrm>
            <a:off x="3154679" y="1463040"/>
            <a:ext cx="2651760" cy="365760"/>
          </a:xfrm>
          <a:prstGeom prst="rect">
            <a:avLst/>
          </a:prstGeom>
          <a:noFill/>
        </p:spPr>
        <p:txBody>
          <a:bodyPr wrap="square">
            <a:spAutoFit/>
          </a:bodyPr>
          <a:lstStyle/>
          <a:p>
            <a:pPr algn="l"/>
            <a:r>
              <a:rPr sz="1800" b="1">
                <a:solidFill>
                  <a:srgbClr val="1B5E6B"/>
                </a:solidFill>
                <a:latin typeface="Bricolage Grotesque"/>
              </a:rPr>
              <a:t>ChatGPT</a:t>
            </a:r>
          </a:p>
        </p:txBody>
      </p:sp>
      <p:sp>
        <p:nvSpPr>
          <p:cNvPr id="7" name="TextBox 6"/>
          <p:cNvSpPr txBox="1"/>
          <p:nvPr/>
        </p:nvSpPr>
        <p:spPr>
          <a:xfrm>
            <a:off x="5989320" y="1463040"/>
            <a:ext cx="2651760" cy="365760"/>
          </a:xfrm>
          <a:prstGeom prst="rect">
            <a:avLst/>
          </a:prstGeom>
          <a:noFill/>
        </p:spPr>
        <p:txBody>
          <a:bodyPr wrap="square">
            <a:spAutoFit/>
          </a:bodyPr>
          <a:lstStyle/>
          <a:p>
            <a:pPr algn="l"/>
            <a:r>
              <a:rPr sz="1800" b="1">
                <a:solidFill>
                  <a:srgbClr val="1B5E6B"/>
                </a:solidFill>
                <a:latin typeface="Bricolage Grotesque"/>
              </a:rPr>
              <a:t>Nano Banana</a:t>
            </a:r>
          </a:p>
        </p:txBody>
      </p:sp>
      <p:sp>
        <p:nvSpPr>
          <p:cNvPr id="8" name="TextBox 7"/>
          <p:cNvSpPr txBox="1"/>
          <p:nvPr/>
        </p:nvSpPr>
        <p:spPr>
          <a:xfrm>
            <a:off x="8823960" y="1463040"/>
            <a:ext cx="2651760" cy="365760"/>
          </a:xfrm>
          <a:prstGeom prst="rect">
            <a:avLst/>
          </a:prstGeom>
          <a:noFill/>
        </p:spPr>
        <p:txBody>
          <a:bodyPr wrap="square">
            <a:spAutoFit/>
          </a:bodyPr>
          <a:lstStyle/>
          <a:p>
            <a:pPr algn="l"/>
            <a:r>
              <a:rPr sz="1800" b="1">
                <a:solidFill>
                  <a:srgbClr val="1B5E6B"/>
                </a:solidFill>
                <a:latin typeface="Bricolage Grotesque"/>
              </a:rPr>
              <a:t>Midjourney</a:t>
            </a:r>
          </a:p>
        </p:txBody>
      </p:sp>
      <p:sp>
        <p:nvSpPr>
          <p:cNvPr id="9" name="Rectangle 8"/>
          <p:cNvSpPr/>
          <p:nvPr/>
        </p:nvSpPr>
        <p:spPr>
          <a:xfrm>
            <a:off x="640080" y="1874520"/>
            <a:ext cx="10881360" cy="27432"/>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965960"/>
            <a:ext cx="10881360" cy="457200"/>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020824"/>
            <a:ext cx="2194560" cy="347472"/>
          </a:xfrm>
          <a:prstGeom prst="rect">
            <a:avLst/>
          </a:prstGeom>
          <a:noFill/>
        </p:spPr>
        <p:txBody>
          <a:bodyPr wrap="square">
            <a:spAutoFit/>
          </a:bodyPr>
          <a:lstStyle/>
          <a:p>
            <a:pPr algn="l"/>
            <a:r>
              <a:rPr sz="1600" b="1">
                <a:solidFill>
                  <a:srgbClr val="1A1A1A"/>
                </a:solidFill>
                <a:latin typeface="Bricolage Grotesque"/>
              </a:rPr>
              <a:t>Version</a:t>
            </a:r>
          </a:p>
        </p:txBody>
      </p:sp>
      <p:sp>
        <p:nvSpPr>
          <p:cNvPr id="12" name="TextBox 11"/>
          <p:cNvSpPr txBox="1"/>
          <p:nvPr/>
        </p:nvSpPr>
        <p:spPr>
          <a:xfrm>
            <a:off x="3154679" y="2020824"/>
            <a:ext cx="2651760" cy="347472"/>
          </a:xfrm>
          <a:prstGeom prst="rect">
            <a:avLst/>
          </a:prstGeom>
          <a:noFill/>
        </p:spPr>
        <p:txBody>
          <a:bodyPr wrap="square">
            <a:spAutoFit/>
          </a:bodyPr>
          <a:lstStyle/>
          <a:p>
            <a:pPr algn="l"/>
            <a:r>
              <a:rPr sz="1600" b="0">
                <a:solidFill>
                  <a:srgbClr val="333333"/>
                </a:solidFill>
                <a:latin typeface="Bricolage Grotesque"/>
              </a:rPr>
              <a:t>Images 2.5 (sept. 26)</a:t>
            </a:r>
          </a:p>
        </p:txBody>
      </p:sp>
      <p:sp>
        <p:nvSpPr>
          <p:cNvPr id="13" name="TextBox 12"/>
          <p:cNvSpPr txBox="1"/>
          <p:nvPr/>
        </p:nvSpPr>
        <p:spPr>
          <a:xfrm>
            <a:off x="5989320" y="2020824"/>
            <a:ext cx="2651760" cy="347472"/>
          </a:xfrm>
          <a:prstGeom prst="rect">
            <a:avLst/>
          </a:prstGeom>
          <a:noFill/>
        </p:spPr>
        <p:txBody>
          <a:bodyPr wrap="square">
            <a:spAutoFit/>
          </a:bodyPr>
          <a:lstStyle/>
          <a:p>
            <a:pPr algn="l"/>
            <a:r>
              <a:rPr sz="1600" b="0">
                <a:solidFill>
                  <a:srgbClr val="333333"/>
                </a:solidFill>
                <a:latin typeface="Bricolage Grotesque"/>
              </a:rPr>
              <a:t>Nano Banana 2</a:t>
            </a:r>
          </a:p>
        </p:txBody>
      </p:sp>
      <p:sp>
        <p:nvSpPr>
          <p:cNvPr id="14" name="TextBox 13"/>
          <p:cNvSpPr txBox="1"/>
          <p:nvPr/>
        </p:nvSpPr>
        <p:spPr>
          <a:xfrm>
            <a:off x="8823960" y="2020824"/>
            <a:ext cx="2651760" cy="347472"/>
          </a:xfrm>
          <a:prstGeom prst="rect">
            <a:avLst/>
          </a:prstGeom>
          <a:noFill/>
        </p:spPr>
        <p:txBody>
          <a:bodyPr wrap="square">
            <a:spAutoFit/>
          </a:bodyPr>
          <a:lstStyle/>
          <a:p>
            <a:pPr algn="l"/>
            <a:r>
              <a:rPr sz="1600" b="0">
                <a:solidFill>
                  <a:srgbClr val="333333"/>
                </a:solidFill>
                <a:latin typeface="Bricolage Grotesque"/>
              </a:rPr>
              <a:t>V8 (2026)</a:t>
            </a:r>
          </a:p>
        </p:txBody>
      </p:sp>
      <p:sp>
        <p:nvSpPr>
          <p:cNvPr id="15" name="TextBox 14"/>
          <p:cNvSpPr txBox="1"/>
          <p:nvPr/>
        </p:nvSpPr>
        <p:spPr>
          <a:xfrm>
            <a:off x="777240" y="2478024"/>
            <a:ext cx="2194560" cy="347472"/>
          </a:xfrm>
          <a:prstGeom prst="rect">
            <a:avLst/>
          </a:prstGeom>
          <a:noFill/>
        </p:spPr>
        <p:txBody>
          <a:bodyPr wrap="square">
            <a:spAutoFit/>
          </a:bodyPr>
          <a:lstStyle/>
          <a:p>
            <a:pPr algn="l"/>
            <a:r>
              <a:rPr sz="1600" b="1">
                <a:solidFill>
                  <a:srgbClr val="1A1A1A"/>
                </a:solidFill>
                <a:latin typeface="Bricolage Grotesque"/>
              </a:rPr>
              <a:t>Où</a:t>
            </a:r>
          </a:p>
        </p:txBody>
      </p:sp>
      <p:sp>
        <p:nvSpPr>
          <p:cNvPr id="16" name="TextBox 15"/>
          <p:cNvSpPr txBox="1"/>
          <p:nvPr/>
        </p:nvSpPr>
        <p:spPr>
          <a:xfrm>
            <a:off x="3154679" y="2478024"/>
            <a:ext cx="2651760" cy="347472"/>
          </a:xfrm>
          <a:prstGeom prst="rect">
            <a:avLst/>
          </a:prstGeom>
          <a:noFill/>
        </p:spPr>
        <p:txBody>
          <a:bodyPr wrap="square">
            <a:spAutoFit/>
          </a:bodyPr>
          <a:lstStyle/>
          <a:p>
            <a:pPr algn="l"/>
            <a:r>
              <a:rPr sz="1600" b="0">
                <a:solidFill>
                  <a:srgbClr val="333333"/>
                </a:solidFill>
                <a:latin typeface="Bricolage Grotesque"/>
              </a:rPr>
              <a:t>Dans ChatGPT</a:t>
            </a:r>
          </a:p>
        </p:txBody>
      </p:sp>
      <p:sp>
        <p:nvSpPr>
          <p:cNvPr id="17" name="TextBox 16"/>
          <p:cNvSpPr txBox="1"/>
          <p:nvPr/>
        </p:nvSpPr>
        <p:spPr>
          <a:xfrm>
            <a:off x="5989320" y="2478024"/>
            <a:ext cx="2651760" cy="347472"/>
          </a:xfrm>
          <a:prstGeom prst="rect">
            <a:avLst/>
          </a:prstGeom>
          <a:noFill/>
        </p:spPr>
        <p:txBody>
          <a:bodyPr wrap="square">
            <a:spAutoFit/>
          </a:bodyPr>
          <a:lstStyle/>
          <a:p>
            <a:pPr algn="l"/>
            <a:r>
              <a:rPr sz="1600" b="0">
                <a:solidFill>
                  <a:srgbClr val="333333"/>
                </a:solidFill>
                <a:latin typeface="Bricolage Grotesque"/>
              </a:rPr>
              <a:t>Appli Gemini</a:t>
            </a:r>
          </a:p>
        </p:txBody>
      </p:sp>
      <p:sp>
        <p:nvSpPr>
          <p:cNvPr id="18" name="TextBox 17"/>
          <p:cNvSpPr txBox="1"/>
          <p:nvPr/>
        </p:nvSpPr>
        <p:spPr>
          <a:xfrm>
            <a:off x="8823960" y="2478024"/>
            <a:ext cx="2651760" cy="347472"/>
          </a:xfrm>
          <a:prstGeom prst="rect">
            <a:avLst/>
          </a:prstGeom>
          <a:noFill/>
        </p:spPr>
        <p:txBody>
          <a:bodyPr wrap="square">
            <a:spAutoFit/>
          </a:bodyPr>
          <a:lstStyle/>
          <a:p>
            <a:pPr algn="l"/>
            <a:r>
              <a:rPr sz="1600" b="0">
                <a:solidFill>
                  <a:srgbClr val="333333"/>
                </a:solidFill>
                <a:latin typeface="Bricolage Grotesque"/>
              </a:rPr>
              <a:t>midjourney.com</a:t>
            </a:r>
          </a:p>
        </p:txBody>
      </p:sp>
      <p:sp>
        <p:nvSpPr>
          <p:cNvPr id="19" name="Rectangle 18"/>
          <p:cNvSpPr/>
          <p:nvPr/>
        </p:nvSpPr>
        <p:spPr>
          <a:xfrm>
            <a:off x="640080" y="2880360"/>
            <a:ext cx="10881360" cy="457200"/>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2935224"/>
            <a:ext cx="2194560" cy="347472"/>
          </a:xfrm>
          <a:prstGeom prst="rect">
            <a:avLst/>
          </a:prstGeom>
          <a:noFill/>
        </p:spPr>
        <p:txBody>
          <a:bodyPr wrap="square">
            <a:spAutoFit/>
          </a:bodyPr>
          <a:lstStyle/>
          <a:p>
            <a:pPr algn="l"/>
            <a:r>
              <a:rPr sz="1600" b="1">
                <a:solidFill>
                  <a:srgbClr val="1A1A1A"/>
                </a:solidFill>
                <a:latin typeface="Bricolage Grotesque"/>
              </a:rPr>
              <a:t>Prix</a:t>
            </a:r>
          </a:p>
        </p:txBody>
      </p:sp>
      <p:sp>
        <p:nvSpPr>
          <p:cNvPr id="21" name="TextBox 20"/>
          <p:cNvSpPr txBox="1"/>
          <p:nvPr/>
        </p:nvSpPr>
        <p:spPr>
          <a:xfrm>
            <a:off x="3154679" y="2935224"/>
            <a:ext cx="2651760" cy="347472"/>
          </a:xfrm>
          <a:prstGeom prst="rect">
            <a:avLst/>
          </a:prstGeom>
          <a:noFill/>
        </p:spPr>
        <p:txBody>
          <a:bodyPr wrap="square">
            <a:spAutoFit/>
          </a:bodyPr>
          <a:lstStyle/>
          <a:p>
            <a:pPr algn="l"/>
            <a:r>
              <a:rPr sz="1600" b="0">
                <a:solidFill>
                  <a:srgbClr val="333333"/>
                </a:solidFill>
                <a:latin typeface="Bricolage Grotesque"/>
              </a:rPr>
              <a:t>Inclus, tous forfaits</a:t>
            </a:r>
          </a:p>
        </p:txBody>
      </p:sp>
      <p:sp>
        <p:nvSpPr>
          <p:cNvPr id="22" name="TextBox 21"/>
          <p:cNvSpPr txBox="1"/>
          <p:nvPr/>
        </p:nvSpPr>
        <p:spPr>
          <a:xfrm>
            <a:off x="5989320" y="2935224"/>
            <a:ext cx="2651760" cy="347472"/>
          </a:xfrm>
          <a:prstGeom prst="rect">
            <a:avLst/>
          </a:prstGeom>
          <a:noFill/>
        </p:spPr>
        <p:txBody>
          <a:bodyPr wrap="square">
            <a:spAutoFit/>
          </a:bodyPr>
          <a:lstStyle/>
          <a:p>
            <a:pPr algn="l"/>
            <a:r>
              <a:rPr sz="1600" b="0">
                <a:solidFill>
                  <a:srgbClr val="333333"/>
                </a:solidFill>
                <a:latin typeface="Bricolage Grotesque"/>
              </a:rPr>
              <a:t>Gratuit, quota/jour</a:t>
            </a:r>
          </a:p>
        </p:txBody>
      </p:sp>
      <p:sp>
        <p:nvSpPr>
          <p:cNvPr id="23" name="TextBox 22"/>
          <p:cNvSpPr txBox="1"/>
          <p:nvPr/>
        </p:nvSpPr>
        <p:spPr>
          <a:xfrm>
            <a:off x="8823960" y="2935224"/>
            <a:ext cx="2651760" cy="347472"/>
          </a:xfrm>
          <a:prstGeom prst="rect">
            <a:avLst/>
          </a:prstGeom>
          <a:noFill/>
        </p:spPr>
        <p:txBody>
          <a:bodyPr wrap="square">
            <a:spAutoFit/>
          </a:bodyPr>
          <a:lstStyle/>
          <a:p>
            <a:pPr algn="l"/>
            <a:r>
              <a:rPr sz="1600" b="0">
                <a:solidFill>
                  <a:srgbClr val="333333"/>
                </a:solidFill>
                <a:latin typeface="Bricolage Grotesque"/>
              </a:rPr>
              <a:t>Payant, sans essai</a:t>
            </a:r>
          </a:p>
        </p:txBody>
      </p:sp>
      <p:sp>
        <p:nvSpPr>
          <p:cNvPr id="24" name="TextBox 23"/>
          <p:cNvSpPr txBox="1"/>
          <p:nvPr/>
        </p:nvSpPr>
        <p:spPr>
          <a:xfrm>
            <a:off x="777240" y="3392424"/>
            <a:ext cx="2194560" cy="347472"/>
          </a:xfrm>
          <a:prstGeom prst="rect">
            <a:avLst/>
          </a:prstGeom>
          <a:noFill/>
        </p:spPr>
        <p:txBody>
          <a:bodyPr wrap="square">
            <a:spAutoFit/>
          </a:bodyPr>
          <a:lstStyle/>
          <a:p>
            <a:pPr algn="l"/>
            <a:r>
              <a:rPr sz="1600" b="1">
                <a:solidFill>
                  <a:srgbClr val="1A1A1A"/>
                </a:solidFill>
                <a:latin typeface="Bricolage Grotesque"/>
              </a:rPr>
              <a:t>Point fort</a:t>
            </a:r>
          </a:p>
        </p:txBody>
      </p:sp>
      <p:sp>
        <p:nvSpPr>
          <p:cNvPr id="25" name="TextBox 24"/>
          <p:cNvSpPr txBox="1"/>
          <p:nvPr/>
        </p:nvSpPr>
        <p:spPr>
          <a:xfrm>
            <a:off x="3154679" y="3392424"/>
            <a:ext cx="2651760" cy="347472"/>
          </a:xfrm>
          <a:prstGeom prst="rect">
            <a:avLst/>
          </a:prstGeom>
          <a:noFill/>
        </p:spPr>
        <p:txBody>
          <a:bodyPr wrap="square">
            <a:spAutoFit/>
          </a:bodyPr>
          <a:lstStyle/>
          <a:p>
            <a:pPr algn="l"/>
            <a:r>
              <a:rPr sz="1600" b="0">
                <a:solidFill>
                  <a:srgbClr val="333333"/>
                </a:solidFill>
                <a:latin typeface="Bricolage Grotesque"/>
              </a:rPr>
              <a:t>Retouche en dialogue</a:t>
            </a:r>
          </a:p>
        </p:txBody>
      </p:sp>
      <p:sp>
        <p:nvSpPr>
          <p:cNvPr id="26" name="TextBox 25"/>
          <p:cNvSpPr txBox="1"/>
          <p:nvPr/>
        </p:nvSpPr>
        <p:spPr>
          <a:xfrm>
            <a:off x="5989320" y="3392424"/>
            <a:ext cx="2651760" cy="347472"/>
          </a:xfrm>
          <a:prstGeom prst="rect">
            <a:avLst/>
          </a:prstGeom>
          <a:noFill/>
        </p:spPr>
        <p:txBody>
          <a:bodyPr wrap="square">
            <a:spAutoFit/>
          </a:bodyPr>
          <a:lstStyle/>
          <a:p>
            <a:pPr algn="l"/>
            <a:r>
              <a:rPr sz="1600" b="0">
                <a:solidFill>
                  <a:srgbClr val="333333"/>
                </a:solidFill>
                <a:latin typeface="Bricolage Grotesque"/>
              </a:rPr>
              <a:t>Retoucher vos photos</a:t>
            </a:r>
          </a:p>
        </p:txBody>
      </p:sp>
      <p:sp>
        <p:nvSpPr>
          <p:cNvPr id="27" name="TextBox 26"/>
          <p:cNvSpPr txBox="1"/>
          <p:nvPr/>
        </p:nvSpPr>
        <p:spPr>
          <a:xfrm>
            <a:off x="8823960" y="3392424"/>
            <a:ext cx="2651760" cy="347472"/>
          </a:xfrm>
          <a:prstGeom prst="rect">
            <a:avLst/>
          </a:prstGeom>
          <a:noFill/>
        </p:spPr>
        <p:txBody>
          <a:bodyPr wrap="square">
            <a:spAutoFit/>
          </a:bodyPr>
          <a:lstStyle/>
          <a:p>
            <a:pPr algn="l"/>
            <a:r>
              <a:rPr sz="1600" b="0">
                <a:solidFill>
                  <a:srgbClr val="333333"/>
                </a:solidFill>
                <a:latin typeface="Bricolage Grotesque"/>
              </a:rPr>
              <a:t>Esthétique, styles</a:t>
            </a:r>
          </a:p>
        </p:txBody>
      </p:sp>
      <p:sp>
        <p:nvSpPr>
          <p:cNvPr id="28" name="Rectangle 27"/>
          <p:cNvSpPr/>
          <p:nvPr/>
        </p:nvSpPr>
        <p:spPr>
          <a:xfrm>
            <a:off x="640080" y="3794760"/>
            <a:ext cx="10881360" cy="457200"/>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3849624"/>
            <a:ext cx="2194560" cy="347472"/>
          </a:xfrm>
          <a:prstGeom prst="rect">
            <a:avLst/>
          </a:prstGeom>
          <a:noFill/>
        </p:spPr>
        <p:txBody>
          <a:bodyPr wrap="square">
            <a:spAutoFit/>
          </a:bodyPr>
          <a:lstStyle/>
          <a:p>
            <a:pPr algn="l"/>
            <a:r>
              <a:rPr sz="1600" b="1">
                <a:solidFill>
                  <a:srgbClr val="1A1A1A"/>
                </a:solidFill>
                <a:latin typeface="Bricolage Grotesque"/>
              </a:rPr>
              <a:t>Pour vous</a:t>
            </a:r>
          </a:p>
        </p:txBody>
      </p:sp>
      <p:sp>
        <p:nvSpPr>
          <p:cNvPr id="30" name="TextBox 29"/>
          <p:cNvSpPr txBox="1"/>
          <p:nvPr/>
        </p:nvSpPr>
        <p:spPr>
          <a:xfrm>
            <a:off x="3154679" y="3849624"/>
            <a:ext cx="2651760" cy="347472"/>
          </a:xfrm>
          <a:prstGeom prst="rect">
            <a:avLst/>
          </a:prstGeom>
          <a:noFill/>
        </p:spPr>
        <p:txBody>
          <a:bodyPr wrap="square">
            <a:spAutoFit/>
          </a:bodyPr>
          <a:lstStyle/>
          <a:p>
            <a:pPr algn="l"/>
            <a:r>
              <a:rPr sz="1600" b="0">
                <a:solidFill>
                  <a:srgbClr val="333333"/>
                </a:solidFill>
                <a:latin typeface="Bricolage Grotesque"/>
              </a:rPr>
              <a:t>Votre affiche</a:t>
            </a:r>
          </a:p>
        </p:txBody>
      </p:sp>
      <p:sp>
        <p:nvSpPr>
          <p:cNvPr id="31" name="TextBox 30"/>
          <p:cNvSpPr txBox="1"/>
          <p:nvPr/>
        </p:nvSpPr>
        <p:spPr>
          <a:xfrm>
            <a:off x="5989320" y="3849624"/>
            <a:ext cx="2651760" cy="347472"/>
          </a:xfrm>
          <a:prstGeom prst="rect">
            <a:avLst/>
          </a:prstGeom>
          <a:noFill/>
        </p:spPr>
        <p:txBody>
          <a:bodyPr wrap="square">
            <a:spAutoFit/>
          </a:bodyPr>
          <a:lstStyle/>
          <a:p>
            <a:pPr algn="l"/>
            <a:r>
              <a:rPr sz="1600" b="0">
                <a:solidFill>
                  <a:srgbClr val="333333"/>
                </a:solidFill>
                <a:latin typeface="Bricolage Grotesque"/>
              </a:rPr>
              <a:t>Photo de fond (option)</a:t>
            </a:r>
          </a:p>
        </p:txBody>
      </p:sp>
      <p:sp>
        <p:nvSpPr>
          <p:cNvPr id="32" name="TextBox 31"/>
          <p:cNvSpPr txBox="1"/>
          <p:nvPr/>
        </p:nvSpPr>
        <p:spPr>
          <a:xfrm>
            <a:off x="8823960" y="3849624"/>
            <a:ext cx="2651760" cy="347472"/>
          </a:xfrm>
          <a:prstGeom prst="rect">
            <a:avLst/>
          </a:prstGeom>
          <a:noFill/>
        </p:spPr>
        <p:txBody>
          <a:bodyPr wrap="square">
            <a:spAutoFit/>
          </a:bodyPr>
          <a:lstStyle/>
          <a:p>
            <a:pPr algn="l"/>
            <a:r>
              <a:rPr sz="1600" b="0">
                <a:solidFill>
                  <a:srgbClr val="333333"/>
                </a:solidFill>
                <a:latin typeface="Bricolage Grotesque"/>
              </a:rPr>
              <a:t>Vu en e-learning</a:t>
            </a:r>
          </a:p>
        </p:txBody>
      </p:sp>
      <p:sp>
        <p:nvSpPr>
          <p:cNvPr id="33" name="TextBox 32"/>
          <p:cNvSpPr txBox="1"/>
          <p:nvPr/>
        </p:nvSpPr>
        <p:spPr>
          <a:xfrm>
            <a:off x="640080" y="4480560"/>
            <a:ext cx="10881360" cy="457200"/>
          </a:xfrm>
          <a:prstGeom prst="rect">
            <a:avLst/>
          </a:prstGeom>
          <a:noFill/>
        </p:spPr>
        <p:txBody>
          <a:bodyPr wrap="square">
            <a:spAutoFit/>
          </a:bodyPr>
          <a:lstStyle/>
          <a:p>
            <a:pPr algn="l"/>
            <a:r>
              <a:rPr sz="1700" b="1">
                <a:solidFill>
                  <a:srgbClr val="1B5E6B"/>
                </a:solidFill>
                <a:latin typeface="Bricolage Grotesque"/>
              </a:rPr>
              <a:t>Midjourney : dès 10 $ par mois. On s'en passe : ChatGPT et Gemini suffisent pour vos supports.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Écrire un prompt d'image</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Cinq ingrédients, dans cet ordre</a:t>
            </a:r>
          </a:p>
        </p:txBody>
      </p:sp>
      <p:sp>
        <p:nvSpPr>
          <p:cNvPr id="6" name="Rounded Rectangle 5"/>
          <p:cNvSpPr/>
          <p:nvPr/>
        </p:nvSpPr>
        <p:spPr>
          <a:xfrm>
            <a:off x="640080" y="2743200"/>
            <a:ext cx="2331720" cy="77724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907792"/>
            <a:ext cx="2148840" cy="502920"/>
          </a:xfrm>
          <a:prstGeom prst="rect">
            <a:avLst/>
          </a:prstGeom>
          <a:noFill/>
        </p:spPr>
        <p:txBody>
          <a:bodyPr wrap="square">
            <a:spAutoFit/>
          </a:bodyPr>
          <a:lstStyle/>
          <a:p>
            <a:pPr algn="ctr"/>
            <a:r>
              <a:rPr sz="1400" b="1">
                <a:solidFill>
                  <a:srgbClr val="FFFFFF"/>
                </a:solidFill>
                <a:latin typeface="Bricolage Grotesque"/>
              </a:rPr>
              <a:t>1. Sujet
quoi, qui</a:t>
            </a:r>
          </a:p>
        </p:txBody>
      </p:sp>
      <p:sp>
        <p:nvSpPr>
          <p:cNvPr id="8" name="TextBox 7"/>
          <p:cNvSpPr txBox="1"/>
          <p:nvPr/>
        </p:nvSpPr>
        <p:spPr>
          <a:xfrm>
            <a:off x="3008376" y="292608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9" name="Rounded Rectangle 8"/>
          <p:cNvSpPr/>
          <p:nvPr/>
        </p:nvSpPr>
        <p:spPr>
          <a:xfrm>
            <a:off x="3355848" y="2743200"/>
            <a:ext cx="2331720" cy="777240"/>
          </a:xfrm>
          <a:prstGeom prst="roundRect">
            <a:avLst/>
          </a:prstGeom>
          <a:solidFill>
            <a:srgbClr val="1E5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47288" y="2907792"/>
            <a:ext cx="2148840" cy="502920"/>
          </a:xfrm>
          <a:prstGeom prst="rect">
            <a:avLst/>
          </a:prstGeom>
          <a:noFill/>
        </p:spPr>
        <p:txBody>
          <a:bodyPr wrap="square">
            <a:spAutoFit/>
          </a:bodyPr>
          <a:lstStyle/>
          <a:p>
            <a:pPr algn="ctr"/>
            <a:r>
              <a:rPr sz="1400" b="1">
                <a:solidFill>
                  <a:srgbClr val="FFFFFF"/>
                </a:solidFill>
                <a:latin typeface="Bricolage Grotesque"/>
              </a:rPr>
              <a:t>2. Style
photo, aquarelle…</a:t>
            </a:r>
          </a:p>
        </p:txBody>
      </p:sp>
      <p:sp>
        <p:nvSpPr>
          <p:cNvPr id="11" name="TextBox 10"/>
          <p:cNvSpPr txBox="1"/>
          <p:nvPr/>
        </p:nvSpPr>
        <p:spPr>
          <a:xfrm>
            <a:off x="5724144" y="292608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12" name="Rounded Rectangle 11"/>
          <p:cNvSpPr/>
          <p:nvPr/>
        </p:nvSpPr>
        <p:spPr>
          <a:xfrm>
            <a:off x="6071616" y="2743200"/>
            <a:ext cx="2331720" cy="77724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63056" y="2907792"/>
            <a:ext cx="2148840" cy="502920"/>
          </a:xfrm>
          <a:prstGeom prst="rect">
            <a:avLst/>
          </a:prstGeom>
          <a:noFill/>
        </p:spPr>
        <p:txBody>
          <a:bodyPr wrap="square">
            <a:spAutoFit/>
          </a:bodyPr>
          <a:lstStyle/>
          <a:p>
            <a:pPr algn="ctr"/>
            <a:r>
              <a:rPr sz="1400" b="1">
                <a:solidFill>
                  <a:srgbClr val="FFFFFF"/>
                </a:solidFill>
                <a:latin typeface="Bricolage Grotesque"/>
              </a:rPr>
              <a:t>3. Composition
cadrage, place libre</a:t>
            </a:r>
          </a:p>
        </p:txBody>
      </p:sp>
      <p:sp>
        <p:nvSpPr>
          <p:cNvPr id="14" name="TextBox 13"/>
          <p:cNvSpPr txBox="1"/>
          <p:nvPr/>
        </p:nvSpPr>
        <p:spPr>
          <a:xfrm>
            <a:off x="8439912" y="292608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15" name="Rounded Rectangle 14"/>
          <p:cNvSpPr/>
          <p:nvPr/>
        </p:nvSpPr>
        <p:spPr>
          <a:xfrm>
            <a:off x="8787384" y="2743200"/>
            <a:ext cx="2331720" cy="777240"/>
          </a:xfrm>
          <a:prstGeom prst="roundRect">
            <a:avLst/>
          </a:prstGeom>
          <a:solidFill>
            <a:srgbClr val="1E5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78824" y="2907792"/>
            <a:ext cx="2148840" cy="502920"/>
          </a:xfrm>
          <a:prstGeom prst="rect">
            <a:avLst/>
          </a:prstGeom>
          <a:noFill/>
        </p:spPr>
        <p:txBody>
          <a:bodyPr wrap="square">
            <a:spAutoFit/>
          </a:bodyPr>
          <a:lstStyle/>
          <a:p>
            <a:pPr algn="ctr"/>
            <a:r>
              <a:rPr sz="1400" b="1">
                <a:solidFill>
                  <a:srgbClr val="FFFFFF"/>
                </a:solidFill>
                <a:latin typeface="Bricolage Grotesque"/>
              </a:rPr>
              <a:t>4. Ambiance
lumière, couleurs</a:t>
            </a:r>
          </a:p>
        </p:txBody>
      </p:sp>
      <p:sp>
        <p:nvSpPr>
          <p:cNvPr id="17" name="Rounded Rectangle 16"/>
          <p:cNvSpPr/>
          <p:nvPr/>
        </p:nvSpPr>
        <p:spPr>
          <a:xfrm>
            <a:off x="640080" y="4160520"/>
            <a:ext cx="2331720" cy="77724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325112"/>
            <a:ext cx="2148840" cy="502920"/>
          </a:xfrm>
          <a:prstGeom prst="rect">
            <a:avLst/>
          </a:prstGeom>
          <a:noFill/>
        </p:spPr>
        <p:txBody>
          <a:bodyPr wrap="square">
            <a:spAutoFit/>
          </a:bodyPr>
          <a:lstStyle/>
          <a:p>
            <a:pPr algn="ctr"/>
            <a:r>
              <a:rPr sz="1400" b="1">
                <a:solidFill>
                  <a:srgbClr val="FFFFFF"/>
                </a:solidFill>
                <a:latin typeface="Bricolage Grotesque"/>
              </a:rPr>
              <a:t>5. Format
A4, carré 1:1</a:t>
            </a:r>
          </a:p>
        </p:txBody>
      </p:sp>
      <p:sp>
        <p:nvSpPr>
          <p:cNvPr id="19" name="TextBox 18"/>
          <p:cNvSpPr txBox="1"/>
          <p:nvPr/>
        </p:nvSpPr>
        <p:spPr>
          <a:xfrm>
            <a:off x="640080" y="5029200"/>
            <a:ext cx="10972800" cy="411480"/>
          </a:xfrm>
          <a:prstGeom prst="rect">
            <a:avLst/>
          </a:prstGeom>
          <a:noFill/>
        </p:spPr>
        <p:txBody>
          <a:bodyPr wrap="square">
            <a:spAutoFit/>
          </a:bodyPr>
          <a:lstStyle/>
          <a:p>
            <a:pPr algn="l"/>
            <a:r>
              <a:rPr sz="1800" b="1">
                <a:solidFill>
                  <a:srgbClr val="1B5E6B"/>
                </a:solidFill>
                <a:latin typeface="Bricolage Grotesque"/>
              </a:rPr>
              <a:t>Le même réflexe que contexte, consigne, format : décrire ce qu'on voit.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Un prompt d'image complet, en exemple</a:t>
            </a:r>
          </a:p>
        </p:txBody>
      </p:sp>
      <p:sp>
        <p:nvSpPr>
          <p:cNvPr id="5" name="TextBox 4"/>
          <p:cNvSpPr txBox="1"/>
          <p:nvPr/>
        </p:nvSpPr>
        <p:spPr>
          <a:xfrm>
            <a:off x="640080" y="1554480"/>
            <a:ext cx="10881360" cy="411480"/>
          </a:xfrm>
          <a:prstGeom prst="rect">
            <a:avLst/>
          </a:prstGeom>
          <a:noFill/>
        </p:spPr>
        <p:txBody>
          <a:bodyPr wrap="square">
            <a:spAutoFit/>
          </a:bodyPr>
          <a:lstStyle/>
          <a:p>
            <a:r>
              <a:rPr sz="2000" b="0">
                <a:solidFill>
                  <a:srgbClr val="0F2B3A"/>
                </a:solidFill>
                <a:latin typeface="Consolas"/>
              </a:rPr>
              <a:t>Affiche A4 portrait pour un après-midi musical en résidence seniors.</a:t>
            </a:r>
          </a:p>
        </p:txBody>
      </p:sp>
      <p:sp>
        <p:nvSpPr>
          <p:cNvPr id="6" name="TextBox 5"/>
          <p:cNvSpPr txBox="1"/>
          <p:nvPr/>
        </p:nvSpPr>
        <p:spPr>
          <a:xfrm>
            <a:off x="640080" y="2075688"/>
            <a:ext cx="10881360" cy="411480"/>
          </a:xfrm>
          <a:prstGeom prst="rect">
            <a:avLst/>
          </a:prstGeom>
          <a:noFill/>
        </p:spPr>
        <p:txBody>
          <a:bodyPr wrap="square">
            <a:spAutoFit/>
          </a:bodyPr>
          <a:lstStyle/>
          <a:p>
            <a:r>
              <a:rPr sz="2000" b="0">
                <a:solidFill>
                  <a:srgbClr val="0F2B3A"/>
                </a:solidFill>
                <a:latin typeface="Consolas"/>
              </a:rPr>
              <a:t>Style : illustration aquarelle douce, tons crème et bleu nuit.</a:t>
            </a:r>
          </a:p>
        </p:txBody>
      </p:sp>
      <p:sp>
        <p:nvSpPr>
          <p:cNvPr id="7" name="TextBox 6"/>
          <p:cNvSpPr txBox="1"/>
          <p:nvPr/>
        </p:nvSpPr>
        <p:spPr>
          <a:xfrm>
            <a:off x="640080" y="2596896"/>
            <a:ext cx="10881360" cy="411480"/>
          </a:xfrm>
          <a:prstGeom prst="rect">
            <a:avLst/>
          </a:prstGeom>
          <a:noFill/>
        </p:spPr>
        <p:txBody>
          <a:bodyPr wrap="square">
            <a:spAutoFit/>
          </a:bodyPr>
          <a:lstStyle/>
          <a:p>
            <a:r>
              <a:rPr sz="2000" b="0">
                <a:solidFill>
                  <a:srgbClr val="0F2B3A"/>
                </a:solidFill>
                <a:latin typeface="Consolas"/>
              </a:rPr>
              <a:t>Composition : un piano à gauche, des fauteuils en arc de cercle.</a:t>
            </a:r>
          </a:p>
        </p:txBody>
      </p:sp>
      <p:sp>
        <p:nvSpPr>
          <p:cNvPr id="8" name="TextBox 7"/>
          <p:cNvSpPr txBox="1"/>
          <p:nvPr/>
        </p:nvSpPr>
        <p:spPr>
          <a:xfrm>
            <a:off x="640080" y="3118104"/>
            <a:ext cx="10881360" cy="411480"/>
          </a:xfrm>
          <a:prstGeom prst="rect">
            <a:avLst/>
          </a:prstGeom>
          <a:noFill/>
        </p:spPr>
        <p:txBody>
          <a:bodyPr wrap="square">
            <a:spAutoFit/>
          </a:bodyPr>
          <a:lstStyle/>
          <a:p>
            <a:r>
              <a:rPr sz="2000" b="0">
                <a:solidFill>
                  <a:srgbClr val="0F2B3A"/>
                </a:solidFill>
                <a:latin typeface="Consolas"/>
              </a:rPr>
              <a:t>Ambiance : lumière chaude d'après-midi, atmosphère conviviale.</a:t>
            </a:r>
          </a:p>
        </p:txBody>
      </p:sp>
      <p:sp>
        <p:nvSpPr>
          <p:cNvPr id="9" name="TextBox 8"/>
          <p:cNvSpPr txBox="1"/>
          <p:nvPr/>
        </p:nvSpPr>
        <p:spPr>
          <a:xfrm>
            <a:off x="640080" y="3639312"/>
            <a:ext cx="10881360" cy="411480"/>
          </a:xfrm>
          <a:prstGeom prst="rect">
            <a:avLst/>
          </a:prstGeom>
          <a:noFill/>
        </p:spPr>
        <p:txBody>
          <a:bodyPr wrap="square">
            <a:spAutoFit/>
          </a:bodyPr>
          <a:lstStyle/>
          <a:p>
            <a:r>
              <a:rPr sz="2000" b="0">
                <a:solidFill>
                  <a:srgbClr val="0F2B3A"/>
                </a:solidFill>
                <a:latin typeface="Consolas"/>
              </a:rPr>
              <a:t>Laisser le tiers supérieur vide pour le titre. Aucun texte.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Un prompt d'image complet, en exemple</a:t>
            </a:r>
          </a:p>
        </p:txBody>
      </p:sp>
      <p:sp>
        <p:nvSpPr>
          <p:cNvPr id="5" name="TextBox 4"/>
          <p:cNvSpPr txBox="1"/>
          <p:nvPr/>
        </p:nvSpPr>
        <p:spPr>
          <a:xfrm>
            <a:off x="640080" y="1554480"/>
            <a:ext cx="10881360" cy="411480"/>
          </a:xfrm>
          <a:prstGeom prst="rect">
            <a:avLst/>
          </a:prstGeom>
          <a:noFill/>
        </p:spPr>
        <p:txBody>
          <a:bodyPr wrap="square">
            <a:spAutoFit/>
          </a:bodyPr>
          <a:lstStyle/>
          <a:p>
            <a:r>
              <a:rPr sz="2000" b="0">
                <a:solidFill>
                  <a:srgbClr val="0F2B3A"/>
                </a:solidFill>
                <a:latin typeface="Consolas"/>
              </a:rPr>
              <a:t>Affiche A4 portrait pour un après-midi musical en résidence seniors.</a:t>
            </a:r>
          </a:p>
        </p:txBody>
      </p:sp>
      <p:sp>
        <p:nvSpPr>
          <p:cNvPr id="6" name="TextBox 5"/>
          <p:cNvSpPr txBox="1"/>
          <p:nvPr/>
        </p:nvSpPr>
        <p:spPr>
          <a:xfrm>
            <a:off x="640080" y="2075688"/>
            <a:ext cx="10881360" cy="411480"/>
          </a:xfrm>
          <a:prstGeom prst="rect">
            <a:avLst/>
          </a:prstGeom>
          <a:noFill/>
        </p:spPr>
        <p:txBody>
          <a:bodyPr wrap="square">
            <a:spAutoFit/>
          </a:bodyPr>
          <a:lstStyle/>
          <a:p>
            <a:r>
              <a:rPr sz="2000" b="0">
                <a:solidFill>
                  <a:srgbClr val="0F2B3A"/>
                </a:solidFill>
                <a:latin typeface="Consolas"/>
              </a:rPr>
              <a:t>Style : illustration aquarelle douce, tons crème et bleu nuit.</a:t>
            </a:r>
          </a:p>
        </p:txBody>
      </p:sp>
      <p:sp>
        <p:nvSpPr>
          <p:cNvPr id="7" name="TextBox 6"/>
          <p:cNvSpPr txBox="1"/>
          <p:nvPr/>
        </p:nvSpPr>
        <p:spPr>
          <a:xfrm>
            <a:off x="640080" y="2596896"/>
            <a:ext cx="10881360" cy="411480"/>
          </a:xfrm>
          <a:prstGeom prst="rect">
            <a:avLst/>
          </a:prstGeom>
          <a:noFill/>
        </p:spPr>
        <p:txBody>
          <a:bodyPr wrap="square">
            <a:spAutoFit/>
          </a:bodyPr>
          <a:lstStyle/>
          <a:p>
            <a:r>
              <a:rPr sz="2000" b="0">
                <a:solidFill>
                  <a:srgbClr val="0F2B3A"/>
                </a:solidFill>
                <a:latin typeface="Consolas"/>
              </a:rPr>
              <a:t>Composition : un piano à gauche, des fauteuils en arc de cercle.</a:t>
            </a:r>
          </a:p>
        </p:txBody>
      </p:sp>
      <p:sp>
        <p:nvSpPr>
          <p:cNvPr id="8" name="TextBox 7"/>
          <p:cNvSpPr txBox="1"/>
          <p:nvPr/>
        </p:nvSpPr>
        <p:spPr>
          <a:xfrm>
            <a:off x="640080" y="3118104"/>
            <a:ext cx="10881360" cy="411480"/>
          </a:xfrm>
          <a:prstGeom prst="rect">
            <a:avLst/>
          </a:prstGeom>
          <a:noFill/>
        </p:spPr>
        <p:txBody>
          <a:bodyPr wrap="square">
            <a:spAutoFit/>
          </a:bodyPr>
          <a:lstStyle/>
          <a:p>
            <a:r>
              <a:rPr sz="2000" b="0">
                <a:solidFill>
                  <a:srgbClr val="0F2B3A"/>
                </a:solidFill>
                <a:latin typeface="Consolas"/>
              </a:rPr>
              <a:t>Ambiance : lumière chaude d'après-midi, atmosphère conviviale.</a:t>
            </a:r>
          </a:p>
        </p:txBody>
      </p:sp>
      <p:sp>
        <p:nvSpPr>
          <p:cNvPr id="9" name="TextBox 8"/>
          <p:cNvSpPr txBox="1"/>
          <p:nvPr/>
        </p:nvSpPr>
        <p:spPr>
          <a:xfrm>
            <a:off x="640080" y="3639312"/>
            <a:ext cx="10881360" cy="411480"/>
          </a:xfrm>
          <a:prstGeom prst="rect">
            <a:avLst/>
          </a:prstGeom>
          <a:noFill/>
        </p:spPr>
        <p:txBody>
          <a:bodyPr wrap="square">
            <a:spAutoFit/>
          </a:bodyPr>
          <a:lstStyle/>
          <a:p>
            <a:r>
              <a:rPr sz="2000" b="0">
                <a:solidFill>
                  <a:srgbClr val="0F2B3A"/>
                </a:solidFill>
                <a:latin typeface="Consolas"/>
              </a:rPr>
              <a:t>Laisser le tiers supérieur vide pour le titre. Aucun texte.</a:t>
            </a:r>
          </a:p>
        </p:txBody>
      </p:sp>
      <p:sp>
        <p:nvSpPr>
          <p:cNvPr id="10" name="TextBox 9"/>
          <p:cNvSpPr txBox="1"/>
          <p:nvPr/>
        </p:nvSpPr>
        <p:spPr>
          <a:xfrm>
            <a:off x="640080" y="4398264"/>
            <a:ext cx="10881360" cy="411480"/>
          </a:xfrm>
          <a:prstGeom prst="rect">
            <a:avLst/>
          </a:prstGeom>
          <a:noFill/>
        </p:spPr>
        <p:txBody>
          <a:bodyPr wrap="square">
            <a:spAutoFit/>
          </a:bodyPr>
          <a:lstStyle/>
          <a:p>
            <a:r>
              <a:rPr sz="2000" b="1">
                <a:solidFill>
                  <a:srgbClr val="1B5E6B"/>
                </a:solidFill>
                <a:latin typeface="Bricolage Grotesque"/>
              </a:rPr>
              <a:t>« Aucun texte » : le texte, on le pose ensuite dans Canva.</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Générer ou retoucher ?</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Deux gestes différents</a:t>
            </a:r>
          </a:p>
        </p:txBody>
      </p:sp>
      <p:sp>
        <p:nvSpPr>
          <p:cNvPr id="6" name="Rectangle 5"/>
          <p:cNvSpPr/>
          <p:nvPr/>
        </p:nvSpPr>
        <p:spPr>
          <a:xfrm>
            <a:off x="5897880" y="2286000"/>
            <a:ext cx="27432" cy="1975104"/>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286000"/>
            <a:ext cx="5029200" cy="411480"/>
          </a:xfrm>
          <a:prstGeom prst="rect">
            <a:avLst/>
          </a:prstGeom>
          <a:noFill/>
        </p:spPr>
        <p:txBody>
          <a:bodyPr wrap="square">
            <a:spAutoFit/>
          </a:bodyPr>
          <a:lstStyle/>
          <a:p>
            <a:pPr algn="l"/>
            <a:r>
              <a:rPr sz="2100" b="1">
                <a:solidFill>
                  <a:srgbClr val="1B5E6B"/>
                </a:solidFill>
                <a:latin typeface="Bricolage Grotesque"/>
              </a:rPr>
              <a:t>Générer</a:t>
            </a:r>
          </a:p>
        </p:txBody>
      </p:sp>
      <p:sp>
        <p:nvSpPr>
          <p:cNvPr id="8" name="TextBox 7"/>
          <p:cNvSpPr txBox="1"/>
          <p:nvPr/>
        </p:nvSpPr>
        <p:spPr>
          <a:xfrm>
            <a:off x="640080" y="2880360"/>
            <a:ext cx="5120640" cy="384048"/>
          </a:xfrm>
          <a:prstGeom prst="rect">
            <a:avLst/>
          </a:prstGeom>
          <a:noFill/>
        </p:spPr>
        <p:txBody>
          <a:bodyPr wrap="square">
            <a:spAutoFit/>
          </a:bodyPr>
          <a:lstStyle/>
          <a:p>
            <a:pPr algn="l"/>
            <a:r>
              <a:rPr sz="1800" b="0">
                <a:solidFill>
                  <a:srgbClr val="333333"/>
                </a:solidFill>
                <a:latin typeface="Bricolage Grotesque"/>
              </a:rPr>
              <a:t>Vous partez d'une description</a:t>
            </a:r>
          </a:p>
        </p:txBody>
      </p:sp>
      <p:sp>
        <p:nvSpPr>
          <p:cNvPr id="9" name="TextBox 8"/>
          <p:cNvSpPr txBox="1"/>
          <p:nvPr/>
        </p:nvSpPr>
        <p:spPr>
          <a:xfrm>
            <a:off x="640080" y="3355848"/>
            <a:ext cx="5120640" cy="384048"/>
          </a:xfrm>
          <a:prstGeom prst="rect">
            <a:avLst/>
          </a:prstGeom>
          <a:noFill/>
        </p:spPr>
        <p:txBody>
          <a:bodyPr wrap="square">
            <a:spAutoFit/>
          </a:bodyPr>
          <a:lstStyle/>
          <a:p>
            <a:pPr algn="l"/>
            <a:r>
              <a:rPr sz="1800" b="0">
                <a:solidFill>
                  <a:srgbClr val="333333"/>
                </a:solidFill>
                <a:latin typeface="Bricolage Grotesque"/>
              </a:rPr>
              <a:t>Tout peut changer d'un essai à l'autre</a:t>
            </a:r>
          </a:p>
        </p:txBody>
      </p:sp>
      <p:sp>
        <p:nvSpPr>
          <p:cNvPr id="10" name="TextBox 9"/>
          <p:cNvSpPr txBox="1"/>
          <p:nvPr/>
        </p:nvSpPr>
        <p:spPr>
          <a:xfrm>
            <a:off x="640080" y="3831335"/>
            <a:ext cx="5120640" cy="384048"/>
          </a:xfrm>
          <a:prstGeom prst="rect">
            <a:avLst/>
          </a:prstGeom>
          <a:noFill/>
        </p:spPr>
        <p:txBody>
          <a:bodyPr wrap="square">
            <a:spAutoFit/>
          </a:bodyPr>
          <a:lstStyle/>
          <a:p>
            <a:pPr algn="l"/>
            <a:r>
              <a:rPr sz="1800" b="0">
                <a:solidFill>
                  <a:srgbClr val="333333"/>
                </a:solidFill>
                <a:latin typeface="Bricolage Grotesque"/>
              </a:rPr>
              <a:t>Pour trouver une idée, un style</a:t>
            </a:r>
          </a:p>
        </p:txBody>
      </p:sp>
      <p:sp>
        <p:nvSpPr>
          <p:cNvPr id="11" name="TextBox 10"/>
          <p:cNvSpPr txBox="1"/>
          <p:nvPr/>
        </p:nvSpPr>
        <p:spPr>
          <a:xfrm>
            <a:off x="6172200" y="2286000"/>
            <a:ext cx="5029200" cy="411480"/>
          </a:xfrm>
          <a:prstGeom prst="rect">
            <a:avLst/>
          </a:prstGeom>
          <a:noFill/>
        </p:spPr>
        <p:txBody>
          <a:bodyPr wrap="square">
            <a:spAutoFit/>
          </a:bodyPr>
          <a:lstStyle/>
          <a:p>
            <a:pPr algn="l"/>
            <a:r>
              <a:rPr sz="2100" b="1">
                <a:solidFill>
                  <a:srgbClr val="1B5E6B"/>
                </a:solidFill>
                <a:latin typeface="Bricolage Grotesque"/>
              </a:rPr>
              <a:t>Retoucher</a:t>
            </a:r>
          </a:p>
        </p:txBody>
      </p:sp>
      <p:sp>
        <p:nvSpPr>
          <p:cNvPr id="12" name="TextBox 11"/>
          <p:cNvSpPr txBox="1"/>
          <p:nvPr/>
        </p:nvSpPr>
        <p:spPr>
          <a:xfrm>
            <a:off x="6172200" y="2880360"/>
            <a:ext cx="5120640" cy="384048"/>
          </a:xfrm>
          <a:prstGeom prst="rect">
            <a:avLst/>
          </a:prstGeom>
          <a:noFill/>
        </p:spPr>
        <p:txBody>
          <a:bodyPr wrap="square">
            <a:spAutoFit/>
          </a:bodyPr>
          <a:lstStyle/>
          <a:p>
            <a:pPr algn="l"/>
            <a:r>
              <a:rPr sz="1800" b="0">
                <a:solidFill>
                  <a:srgbClr val="333333"/>
                </a:solidFill>
                <a:latin typeface="Bricolage Grotesque"/>
              </a:rPr>
              <a:t>Vous partez d'une image existante</a:t>
            </a:r>
          </a:p>
        </p:txBody>
      </p:sp>
      <p:sp>
        <p:nvSpPr>
          <p:cNvPr id="13" name="TextBox 12"/>
          <p:cNvSpPr txBox="1"/>
          <p:nvPr/>
        </p:nvSpPr>
        <p:spPr>
          <a:xfrm>
            <a:off x="6172200" y="3355848"/>
            <a:ext cx="5120640" cy="384048"/>
          </a:xfrm>
          <a:prstGeom prst="rect">
            <a:avLst/>
          </a:prstGeom>
          <a:noFill/>
        </p:spPr>
        <p:txBody>
          <a:bodyPr wrap="square">
            <a:spAutoFit/>
          </a:bodyPr>
          <a:lstStyle/>
          <a:p>
            <a:pPr algn="l"/>
            <a:r>
              <a:rPr sz="1800" b="0">
                <a:solidFill>
                  <a:srgbClr val="333333"/>
                </a:solidFill>
                <a:latin typeface="Bricolage Grotesque"/>
              </a:rPr>
              <a:t>Un seul élément change</a:t>
            </a:r>
          </a:p>
        </p:txBody>
      </p:sp>
      <p:sp>
        <p:nvSpPr>
          <p:cNvPr id="14" name="TextBox 13"/>
          <p:cNvSpPr txBox="1"/>
          <p:nvPr/>
        </p:nvSpPr>
        <p:spPr>
          <a:xfrm>
            <a:off x="6172200" y="3831335"/>
            <a:ext cx="5120640" cy="384048"/>
          </a:xfrm>
          <a:prstGeom prst="rect">
            <a:avLst/>
          </a:prstGeom>
          <a:noFill/>
        </p:spPr>
        <p:txBody>
          <a:bodyPr wrap="square">
            <a:spAutoFit/>
          </a:bodyPr>
          <a:lstStyle/>
          <a:p>
            <a:pPr algn="l"/>
            <a:r>
              <a:rPr sz="1800" b="0">
                <a:solidFill>
                  <a:srgbClr val="333333"/>
                </a:solidFill>
                <a:latin typeface="Bricolage Grotesque"/>
              </a:rPr>
              <a:t>Pour améliorer sans repartir de zéro</a:t>
            </a:r>
          </a:p>
        </p:txBody>
      </p:sp>
      <p:sp>
        <p:nvSpPr>
          <p:cNvPr id="15" name="TextBox 14"/>
          <p:cNvSpPr txBox="1"/>
          <p:nvPr/>
        </p:nvSpPr>
        <p:spPr>
          <a:xfrm>
            <a:off x="640080" y="4443983"/>
            <a:ext cx="10881360" cy="411480"/>
          </a:xfrm>
          <a:prstGeom prst="rect">
            <a:avLst/>
          </a:prstGeom>
          <a:noFill/>
        </p:spPr>
        <p:txBody>
          <a:bodyPr wrap="square">
            <a:spAutoFit/>
          </a:bodyPr>
          <a:lstStyle/>
          <a:p>
            <a:pPr algn="l"/>
            <a:r>
              <a:rPr sz="1800" b="1">
                <a:solidFill>
                  <a:srgbClr val="E8A000"/>
                </a:solidFill>
                <a:latin typeface="Bricolage Grotesque"/>
              </a:rPr>
              <a:t>Pour retoucher : dites ce qui change ET ce qui ne doit pas bouger.</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La retouche ciblée dans ChatGPT</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Quatre gestes</a:t>
            </a:r>
          </a:p>
        </p:txBody>
      </p:sp>
      <p:sp>
        <p:nvSpPr>
          <p:cNvPr id="6" name="TextBox 5"/>
          <p:cNvSpPr txBox="1"/>
          <p:nvPr/>
        </p:nvSpPr>
        <p:spPr>
          <a:xfrm>
            <a:off x="640080" y="2331720"/>
            <a:ext cx="10881360" cy="411480"/>
          </a:xfrm>
          <a:prstGeom prst="rect">
            <a:avLst/>
          </a:prstGeom>
          <a:noFill/>
        </p:spPr>
        <p:txBody>
          <a:bodyPr wrap="square">
            <a:spAutoFit/>
          </a:bodyPr>
          <a:lstStyle/>
          <a:p>
            <a:r>
              <a:rPr sz="2000" b="1">
                <a:solidFill>
                  <a:srgbClr val="1B5E6B"/>
                </a:solidFill>
                <a:latin typeface="Bricolage Grotesque"/>
              </a:rPr>
              <a:t>1.  Cliquez sur l'image pour l'ouvrir en grand.</a:t>
            </a:r>
          </a:p>
        </p:txBody>
      </p:sp>
      <p:sp>
        <p:nvSpPr>
          <p:cNvPr id="7" name="TextBox 6"/>
          <p:cNvSpPr txBox="1"/>
          <p:nvPr/>
        </p:nvSpPr>
        <p:spPr>
          <a:xfrm>
            <a:off x="640080" y="2852928"/>
            <a:ext cx="10881360" cy="411480"/>
          </a:xfrm>
          <a:prstGeom prst="rect">
            <a:avLst/>
          </a:prstGeom>
          <a:noFill/>
        </p:spPr>
        <p:txBody>
          <a:bodyPr wrap="square">
            <a:spAutoFit/>
          </a:bodyPr>
          <a:lstStyle/>
          <a:p>
            <a:r>
              <a:rPr sz="2000" b="1">
                <a:solidFill>
                  <a:srgbClr val="1B5E6B"/>
                </a:solidFill>
                <a:latin typeface="Bricolage Grotesque"/>
              </a:rPr>
              <a:t>2.  Sélectionnez la zone (pinceau), ou posez un commentaire dessus.</a:t>
            </a:r>
          </a:p>
        </p:txBody>
      </p:sp>
      <p:sp>
        <p:nvSpPr>
          <p:cNvPr id="8" name="TextBox 7"/>
          <p:cNvSpPr txBox="1"/>
          <p:nvPr/>
        </p:nvSpPr>
        <p:spPr>
          <a:xfrm>
            <a:off x="640080" y="3374136"/>
            <a:ext cx="10881360" cy="411480"/>
          </a:xfrm>
          <a:prstGeom prst="rect">
            <a:avLst/>
          </a:prstGeom>
          <a:noFill/>
        </p:spPr>
        <p:txBody>
          <a:bodyPr wrap="square">
            <a:spAutoFit/>
          </a:bodyPr>
          <a:lstStyle/>
          <a:p>
            <a:r>
              <a:rPr sz="2000" b="1">
                <a:solidFill>
                  <a:srgbClr val="1B5E6B"/>
                </a:solidFill>
                <a:latin typeface="Bricolage Grotesque"/>
              </a:rPr>
              <a:t>3.  Décrivez le changement, puis ce qui reste identique.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La retouche ciblée dans ChatGPT</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Quatre gestes</a:t>
            </a:r>
          </a:p>
        </p:txBody>
      </p:sp>
      <p:sp>
        <p:nvSpPr>
          <p:cNvPr id="6" name="TextBox 5"/>
          <p:cNvSpPr txBox="1"/>
          <p:nvPr/>
        </p:nvSpPr>
        <p:spPr>
          <a:xfrm>
            <a:off x="640080" y="2331720"/>
            <a:ext cx="10881360" cy="411480"/>
          </a:xfrm>
          <a:prstGeom prst="rect">
            <a:avLst/>
          </a:prstGeom>
          <a:noFill/>
        </p:spPr>
        <p:txBody>
          <a:bodyPr wrap="square">
            <a:spAutoFit/>
          </a:bodyPr>
          <a:lstStyle/>
          <a:p>
            <a:r>
              <a:rPr sz="2000" b="1">
                <a:solidFill>
                  <a:srgbClr val="1B5E6B"/>
                </a:solidFill>
                <a:latin typeface="Bricolage Grotesque"/>
              </a:rPr>
              <a:t>1.  Cliquez sur l'image pour l'ouvrir en grand.</a:t>
            </a:r>
          </a:p>
        </p:txBody>
      </p:sp>
      <p:sp>
        <p:nvSpPr>
          <p:cNvPr id="7" name="TextBox 6"/>
          <p:cNvSpPr txBox="1"/>
          <p:nvPr/>
        </p:nvSpPr>
        <p:spPr>
          <a:xfrm>
            <a:off x="640080" y="2852928"/>
            <a:ext cx="10881360" cy="411480"/>
          </a:xfrm>
          <a:prstGeom prst="rect">
            <a:avLst/>
          </a:prstGeom>
          <a:noFill/>
        </p:spPr>
        <p:txBody>
          <a:bodyPr wrap="square">
            <a:spAutoFit/>
          </a:bodyPr>
          <a:lstStyle/>
          <a:p>
            <a:r>
              <a:rPr sz="2000" b="1">
                <a:solidFill>
                  <a:srgbClr val="1B5E6B"/>
                </a:solidFill>
                <a:latin typeface="Bricolage Grotesque"/>
              </a:rPr>
              <a:t>2.  Sélectionnez la zone (pinceau), ou posez un commentaire dessus.</a:t>
            </a:r>
          </a:p>
        </p:txBody>
      </p:sp>
      <p:sp>
        <p:nvSpPr>
          <p:cNvPr id="8" name="TextBox 7"/>
          <p:cNvSpPr txBox="1"/>
          <p:nvPr/>
        </p:nvSpPr>
        <p:spPr>
          <a:xfrm>
            <a:off x="640080" y="3374136"/>
            <a:ext cx="10881360" cy="411480"/>
          </a:xfrm>
          <a:prstGeom prst="rect">
            <a:avLst/>
          </a:prstGeom>
          <a:noFill/>
        </p:spPr>
        <p:txBody>
          <a:bodyPr wrap="square">
            <a:spAutoFit/>
          </a:bodyPr>
          <a:lstStyle/>
          <a:p>
            <a:r>
              <a:rPr sz="2000" b="1">
                <a:solidFill>
                  <a:srgbClr val="1B5E6B"/>
                </a:solidFill>
                <a:latin typeface="Bricolage Grotesque"/>
              </a:rPr>
              <a:t>3.  Décrivez le changement, puis ce qui reste identique.</a:t>
            </a:r>
          </a:p>
        </p:txBody>
      </p:sp>
      <p:sp>
        <p:nvSpPr>
          <p:cNvPr id="9" name="TextBox 8"/>
          <p:cNvSpPr txBox="1"/>
          <p:nvPr/>
        </p:nvSpPr>
        <p:spPr>
          <a:xfrm>
            <a:off x="640080" y="4133088"/>
            <a:ext cx="10881360" cy="411480"/>
          </a:xfrm>
          <a:prstGeom prst="rect">
            <a:avLst/>
          </a:prstGeom>
          <a:noFill/>
        </p:spPr>
        <p:txBody>
          <a:bodyPr wrap="square">
            <a:spAutoFit/>
          </a:bodyPr>
          <a:lstStyle/>
          <a:p>
            <a:r>
              <a:rPr sz="2000" b="1">
                <a:solidFill>
                  <a:srgbClr val="1B5E6B"/>
                </a:solidFill>
                <a:latin typeface="Bricolage Grotesque"/>
              </a:rPr>
              <a:t>4.  Vérifiez HORS de la zone : visages, texte, bords.</a:t>
            </a:r>
          </a:p>
        </p:txBody>
      </p:sp>
      <p:sp>
        <p:nvSpPr>
          <p:cNvPr id="10" name="TextBox 9"/>
          <p:cNvSpPr txBox="1"/>
          <p:nvPr/>
        </p:nvSpPr>
        <p:spPr>
          <a:xfrm>
            <a:off x="640080" y="4654296"/>
            <a:ext cx="10881360" cy="411480"/>
          </a:xfrm>
          <a:prstGeom prst="rect">
            <a:avLst/>
          </a:prstGeom>
          <a:noFill/>
        </p:spPr>
        <p:txBody>
          <a:bodyPr wrap="square">
            <a:spAutoFit/>
          </a:bodyPr>
          <a:lstStyle/>
          <a:p>
            <a:r>
              <a:rPr sz="2000" b="0">
                <a:solidFill>
                  <a:srgbClr val="333333"/>
                </a:solidFill>
                <a:latin typeface="Bricolage Grotesque"/>
              </a:rPr>
              <a:t>L'outil régénère l'image entière : le reste peut bouger un peu.</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Image plate ou design en calques ?</a:t>
            </a:r>
          </a:p>
        </p:txBody>
      </p:sp>
      <p:sp>
        <p:nvSpPr>
          <p:cNvPr id="5" name="TextBox 4"/>
          <p:cNvSpPr txBox="1"/>
          <p:nvPr/>
        </p:nvSpPr>
        <p:spPr>
          <a:xfrm>
            <a:off x="640080" y="1554480"/>
            <a:ext cx="10881360" cy="411480"/>
          </a:xfrm>
          <a:prstGeom prst="rect">
            <a:avLst/>
          </a:prstGeom>
          <a:noFill/>
        </p:spPr>
        <p:txBody>
          <a:bodyPr wrap="square">
            <a:spAutoFit/>
          </a:bodyPr>
          <a:lstStyle/>
          <a:p>
            <a:r>
              <a:rPr sz="2000" b="1">
                <a:solidFill>
                  <a:srgbClr val="1B5E6B"/>
                </a:solidFill>
                <a:latin typeface="Bricolage Grotesque"/>
              </a:rPr>
              <a:t>ChatGPT, Gemini : une image « plate », le texte fait partie du dessin.</a:t>
            </a:r>
          </a:p>
        </p:txBody>
      </p:sp>
      <p:sp>
        <p:nvSpPr>
          <p:cNvPr id="6" name="TextBox 5"/>
          <p:cNvSpPr txBox="1"/>
          <p:nvPr/>
        </p:nvSpPr>
        <p:spPr>
          <a:xfrm>
            <a:off x="640080" y="2075688"/>
            <a:ext cx="10881360" cy="411480"/>
          </a:xfrm>
          <a:prstGeom prst="rect">
            <a:avLst/>
          </a:prstGeom>
          <a:noFill/>
        </p:spPr>
        <p:txBody>
          <a:bodyPr wrap="square">
            <a:spAutoFit/>
          </a:bodyPr>
          <a:lstStyle/>
          <a:p>
            <a:r>
              <a:rPr sz="2000" b="0">
                <a:solidFill>
                  <a:srgbClr val="333333"/>
                </a:solidFill>
                <a:latin typeface="Bricolage Grotesque"/>
              </a:rPr>
              <a:t>Fautes possibles, et rien n'est modifiable après coup.</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Image plate ou design en calques ?</a:t>
            </a:r>
          </a:p>
        </p:txBody>
      </p:sp>
      <p:sp>
        <p:nvSpPr>
          <p:cNvPr id="5" name="TextBox 4"/>
          <p:cNvSpPr txBox="1"/>
          <p:nvPr/>
        </p:nvSpPr>
        <p:spPr>
          <a:xfrm>
            <a:off x="640080" y="1554480"/>
            <a:ext cx="10881360" cy="411480"/>
          </a:xfrm>
          <a:prstGeom prst="rect">
            <a:avLst/>
          </a:prstGeom>
          <a:noFill/>
        </p:spPr>
        <p:txBody>
          <a:bodyPr wrap="square">
            <a:spAutoFit/>
          </a:bodyPr>
          <a:lstStyle/>
          <a:p>
            <a:r>
              <a:rPr sz="2000" b="1">
                <a:solidFill>
                  <a:srgbClr val="1B5E6B"/>
                </a:solidFill>
                <a:latin typeface="Bricolage Grotesque"/>
              </a:rPr>
              <a:t>ChatGPT, Gemini : une image « plate », le texte fait partie du dessin.</a:t>
            </a:r>
          </a:p>
        </p:txBody>
      </p:sp>
      <p:sp>
        <p:nvSpPr>
          <p:cNvPr id="6" name="TextBox 5"/>
          <p:cNvSpPr txBox="1"/>
          <p:nvPr/>
        </p:nvSpPr>
        <p:spPr>
          <a:xfrm>
            <a:off x="640080" y="2075688"/>
            <a:ext cx="10881360" cy="411480"/>
          </a:xfrm>
          <a:prstGeom prst="rect">
            <a:avLst/>
          </a:prstGeom>
          <a:noFill/>
        </p:spPr>
        <p:txBody>
          <a:bodyPr wrap="square">
            <a:spAutoFit/>
          </a:bodyPr>
          <a:lstStyle/>
          <a:p>
            <a:r>
              <a:rPr sz="2000" b="0">
                <a:solidFill>
                  <a:srgbClr val="333333"/>
                </a:solidFill>
                <a:latin typeface="Bricolage Grotesque"/>
              </a:rPr>
              <a:t>Fautes possibles, et rien n'est modifiable après coup.</a:t>
            </a:r>
          </a:p>
        </p:txBody>
      </p:sp>
      <p:sp>
        <p:nvSpPr>
          <p:cNvPr id="7" name="TextBox 6"/>
          <p:cNvSpPr txBox="1"/>
          <p:nvPr/>
        </p:nvSpPr>
        <p:spPr>
          <a:xfrm>
            <a:off x="640080" y="2834640"/>
            <a:ext cx="10881360" cy="411480"/>
          </a:xfrm>
          <a:prstGeom prst="rect">
            <a:avLst/>
          </a:prstGeom>
          <a:noFill/>
        </p:spPr>
        <p:txBody>
          <a:bodyPr wrap="square">
            <a:spAutoFit/>
          </a:bodyPr>
          <a:lstStyle/>
          <a:p>
            <a:r>
              <a:rPr sz="2000" b="1">
                <a:solidFill>
                  <a:srgbClr val="1B5E6B"/>
                </a:solidFill>
                <a:latin typeface="Bricolage Grotesque"/>
              </a:rPr>
              <a:t>Canva AI, plugin Canva : un design en calques, le texte reste du texte.</a:t>
            </a:r>
          </a:p>
        </p:txBody>
      </p:sp>
      <p:sp>
        <p:nvSpPr>
          <p:cNvPr id="8" name="TextBox 7"/>
          <p:cNvSpPr txBox="1"/>
          <p:nvPr/>
        </p:nvSpPr>
        <p:spPr>
          <a:xfrm>
            <a:off x="640080" y="3355848"/>
            <a:ext cx="10881360" cy="411480"/>
          </a:xfrm>
          <a:prstGeom prst="rect">
            <a:avLst/>
          </a:prstGeom>
          <a:noFill/>
        </p:spPr>
        <p:txBody>
          <a:bodyPr wrap="square">
            <a:spAutoFit/>
          </a:bodyPr>
          <a:lstStyle/>
          <a:p>
            <a:r>
              <a:rPr sz="2000" b="0">
                <a:solidFill>
                  <a:srgbClr val="333333"/>
                </a:solidFill>
                <a:latin typeface="Bricolage Grotesque"/>
              </a:rPr>
              <a:t>Titre, date, lieu : modifiables à la main, à tout moment.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Image plate ou design en calques ?</a:t>
            </a:r>
          </a:p>
        </p:txBody>
      </p:sp>
      <p:sp>
        <p:nvSpPr>
          <p:cNvPr id="5" name="TextBox 4"/>
          <p:cNvSpPr txBox="1"/>
          <p:nvPr/>
        </p:nvSpPr>
        <p:spPr>
          <a:xfrm>
            <a:off x="640080" y="1554480"/>
            <a:ext cx="10881360" cy="411480"/>
          </a:xfrm>
          <a:prstGeom prst="rect">
            <a:avLst/>
          </a:prstGeom>
          <a:noFill/>
        </p:spPr>
        <p:txBody>
          <a:bodyPr wrap="square">
            <a:spAutoFit/>
          </a:bodyPr>
          <a:lstStyle/>
          <a:p>
            <a:r>
              <a:rPr sz="2000" b="1">
                <a:solidFill>
                  <a:srgbClr val="1B5E6B"/>
                </a:solidFill>
                <a:latin typeface="Bricolage Grotesque"/>
              </a:rPr>
              <a:t>ChatGPT, Gemini : une image « plate », le texte fait partie du dessin.</a:t>
            </a:r>
          </a:p>
        </p:txBody>
      </p:sp>
      <p:sp>
        <p:nvSpPr>
          <p:cNvPr id="6" name="TextBox 5"/>
          <p:cNvSpPr txBox="1"/>
          <p:nvPr/>
        </p:nvSpPr>
        <p:spPr>
          <a:xfrm>
            <a:off x="640080" y="2075688"/>
            <a:ext cx="10881360" cy="411480"/>
          </a:xfrm>
          <a:prstGeom prst="rect">
            <a:avLst/>
          </a:prstGeom>
          <a:noFill/>
        </p:spPr>
        <p:txBody>
          <a:bodyPr wrap="square">
            <a:spAutoFit/>
          </a:bodyPr>
          <a:lstStyle/>
          <a:p>
            <a:r>
              <a:rPr sz="2000" b="0">
                <a:solidFill>
                  <a:srgbClr val="333333"/>
                </a:solidFill>
                <a:latin typeface="Bricolage Grotesque"/>
              </a:rPr>
              <a:t>Fautes possibles, et rien n'est modifiable après coup.</a:t>
            </a:r>
          </a:p>
        </p:txBody>
      </p:sp>
      <p:sp>
        <p:nvSpPr>
          <p:cNvPr id="7" name="TextBox 6"/>
          <p:cNvSpPr txBox="1"/>
          <p:nvPr/>
        </p:nvSpPr>
        <p:spPr>
          <a:xfrm>
            <a:off x="640080" y="2834640"/>
            <a:ext cx="10881360" cy="411480"/>
          </a:xfrm>
          <a:prstGeom prst="rect">
            <a:avLst/>
          </a:prstGeom>
          <a:noFill/>
        </p:spPr>
        <p:txBody>
          <a:bodyPr wrap="square">
            <a:spAutoFit/>
          </a:bodyPr>
          <a:lstStyle/>
          <a:p>
            <a:r>
              <a:rPr sz="2000" b="1">
                <a:solidFill>
                  <a:srgbClr val="1B5E6B"/>
                </a:solidFill>
                <a:latin typeface="Bricolage Grotesque"/>
              </a:rPr>
              <a:t>Canva AI, plugin Canva : un design en calques, le texte reste du texte.</a:t>
            </a:r>
          </a:p>
        </p:txBody>
      </p:sp>
      <p:sp>
        <p:nvSpPr>
          <p:cNvPr id="8" name="TextBox 7"/>
          <p:cNvSpPr txBox="1"/>
          <p:nvPr/>
        </p:nvSpPr>
        <p:spPr>
          <a:xfrm>
            <a:off x="640080" y="3355848"/>
            <a:ext cx="10881360" cy="411480"/>
          </a:xfrm>
          <a:prstGeom prst="rect">
            <a:avLst/>
          </a:prstGeom>
          <a:noFill/>
        </p:spPr>
        <p:txBody>
          <a:bodyPr wrap="square">
            <a:spAutoFit/>
          </a:bodyPr>
          <a:lstStyle/>
          <a:p>
            <a:r>
              <a:rPr sz="2000" b="0">
                <a:solidFill>
                  <a:srgbClr val="333333"/>
                </a:solidFill>
                <a:latin typeface="Bricolage Grotesque"/>
              </a:rPr>
              <a:t>Titre, date, lieu : modifiables à la main, à tout moment.</a:t>
            </a:r>
          </a:p>
        </p:txBody>
      </p:sp>
      <p:sp>
        <p:nvSpPr>
          <p:cNvPr id="9" name="TextBox 8"/>
          <p:cNvSpPr txBox="1"/>
          <p:nvPr/>
        </p:nvSpPr>
        <p:spPr>
          <a:xfrm>
            <a:off x="640080" y="4114800"/>
            <a:ext cx="10881360" cy="411480"/>
          </a:xfrm>
          <a:prstGeom prst="rect">
            <a:avLst/>
          </a:prstGeom>
          <a:noFill/>
        </p:spPr>
        <p:txBody>
          <a:bodyPr wrap="square">
            <a:spAutoFit/>
          </a:bodyPr>
          <a:lstStyle/>
          <a:p>
            <a:r>
              <a:rPr sz="2000" b="1">
                <a:solidFill>
                  <a:srgbClr val="1B5E6B"/>
                </a:solidFill>
                <a:latin typeface="Bricolage Grotesque"/>
              </a:rPr>
              <a:t>Donc : le visuel où vous voulez, le texte toujours dans Canva.</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Canva : deux façons d'utiliser l'IA</a:t>
            </a:r>
          </a:p>
        </p:txBody>
      </p:sp>
      <p:sp>
        <p:nvSpPr>
          <p:cNvPr id="5" name="Rectangle 4"/>
          <p:cNvSpPr/>
          <p:nvPr/>
        </p:nvSpPr>
        <p:spPr>
          <a:xfrm>
            <a:off x="5897880" y="1554480"/>
            <a:ext cx="27432" cy="2926080"/>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54480"/>
            <a:ext cx="5029200" cy="411480"/>
          </a:xfrm>
          <a:prstGeom prst="rect">
            <a:avLst/>
          </a:prstGeom>
          <a:noFill/>
        </p:spPr>
        <p:txBody>
          <a:bodyPr wrap="square">
            <a:spAutoFit/>
          </a:bodyPr>
          <a:lstStyle/>
          <a:p>
            <a:pPr algn="l"/>
            <a:r>
              <a:rPr sz="2100" b="1">
                <a:solidFill>
                  <a:srgbClr val="1B5E6B"/>
                </a:solidFill>
                <a:latin typeface="Bricolage Grotesque"/>
              </a:rPr>
              <a:t>Canva AI, dans Canva</a:t>
            </a:r>
          </a:p>
        </p:txBody>
      </p:sp>
      <p:sp>
        <p:nvSpPr>
          <p:cNvPr id="7" name="TextBox 6"/>
          <p:cNvSpPr txBox="1"/>
          <p:nvPr/>
        </p:nvSpPr>
        <p:spPr>
          <a:xfrm>
            <a:off x="640080" y="2148840"/>
            <a:ext cx="5120640" cy="384048"/>
          </a:xfrm>
          <a:prstGeom prst="rect">
            <a:avLst/>
          </a:prstGeom>
          <a:noFill/>
        </p:spPr>
        <p:txBody>
          <a:bodyPr wrap="square">
            <a:spAutoFit/>
          </a:bodyPr>
          <a:lstStyle/>
          <a:p>
            <a:pPr algn="l"/>
            <a:r>
              <a:rPr sz="1800" b="0">
                <a:solidFill>
                  <a:srgbClr val="333333"/>
                </a:solidFill>
                <a:latin typeface="Bricolage Grotesque"/>
              </a:rPr>
              <a:t>Bouton « Canva AI » dans l'éditeur</a:t>
            </a:r>
          </a:p>
        </p:txBody>
      </p:sp>
      <p:sp>
        <p:nvSpPr>
          <p:cNvPr id="8" name="TextBox 7"/>
          <p:cNvSpPr txBox="1"/>
          <p:nvPr/>
        </p:nvSpPr>
        <p:spPr>
          <a:xfrm>
            <a:off x="640080" y="2624328"/>
            <a:ext cx="5120640" cy="384048"/>
          </a:xfrm>
          <a:prstGeom prst="rect">
            <a:avLst/>
          </a:prstGeom>
          <a:noFill/>
        </p:spPr>
        <p:txBody>
          <a:bodyPr wrap="square">
            <a:spAutoFit/>
          </a:bodyPr>
          <a:lstStyle/>
          <a:p>
            <a:pPr algn="l"/>
            <a:r>
              <a:rPr sz="1800" b="0">
                <a:solidFill>
                  <a:srgbClr val="333333"/>
                </a:solidFill>
                <a:latin typeface="Bricolage Grotesque"/>
              </a:rPr>
              <a:t>Décrivez l'affiche : il la compose</a:t>
            </a:r>
          </a:p>
        </p:txBody>
      </p:sp>
      <p:sp>
        <p:nvSpPr>
          <p:cNvPr id="9" name="TextBox 8"/>
          <p:cNvSpPr txBox="1"/>
          <p:nvPr/>
        </p:nvSpPr>
        <p:spPr>
          <a:xfrm>
            <a:off x="640080" y="3099816"/>
            <a:ext cx="5120640" cy="384048"/>
          </a:xfrm>
          <a:prstGeom prst="rect">
            <a:avLst/>
          </a:prstGeom>
          <a:noFill/>
        </p:spPr>
        <p:txBody>
          <a:bodyPr wrap="square">
            <a:spAutoFit/>
          </a:bodyPr>
          <a:lstStyle/>
          <a:p>
            <a:pPr algn="l"/>
            <a:r>
              <a:rPr sz="1800" b="0">
                <a:solidFill>
                  <a:srgbClr val="333333"/>
                </a:solidFill>
                <a:latin typeface="Bricolage Grotesque"/>
              </a:rPr>
              <a:t>Textes et images en calques séparés</a:t>
            </a:r>
          </a:p>
        </p:txBody>
      </p:sp>
      <p:sp>
        <p:nvSpPr>
          <p:cNvPr id="10" name="TextBox 9"/>
          <p:cNvSpPr txBox="1"/>
          <p:nvPr/>
        </p:nvSpPr>
        <p:spPr>
          <a:xfrm>
            <a:off x="640080" y="3575304"/>
            <a:ext cx="5120640" cy="384048"/>
          </a:xfrm>
          <a:prstGeom prst="rect">
            <a:avLst/>
          </a:prstGeom>
          <a:noFill/>
        </p:spPr>
        <p:txBody>
          <a:bodyPr wrap="square">
            <a:spAutoFit/>
          </a:bodyPr>
          <a:lstStyle/>
          <a:p>
            <a:pPr algn="l"/>
            <a:r>
              <a:rPr sz="1800" b="0">
                <a:solidFill>
                  <a:srgbClr val="333333"/>
                </a:solidFill>
                <a:latin typeface="Bricolage Grotesque"/>
              </a:rPr>
              <a:t>« Change le titre » : seul le titre bouge</a:t>
            </a:r>
          </a:p>
        </p:txBody>
      </p:sp>
      <p:sp>
        <p:nvSpPr>
          <p:cNvPr id="11" name="TextBox 10"/>
          <p:cNvSpPr txBox="1"/>
          <p:nvPr/>
        </p:nvSpPr>
        <p:spPr>
          <a:xfrm>
            <a:off x="640080" y="4050791"/>
            <a:ext cx="5120640" cy="384048"/>
          </a:xfrm>
          <a:prstGeom prst="rect">
            <a:avLst/>
          </a:prstGeom>
          <a:noFill/>
        </p:spPr>
        <p:txBody>
          <a:bodyPr wrap="square">
            <a:spAutoFit/>
          </a:bodyPr>
          <a:lstStyle/>
          <a:p>
            <a:pPr algn="l"/>
            <a:r>
              <a:rPr sz="1800" b="0">
                <a:solidFill>
                  <a:srgbClr val="333333"/>
                </a:solidFill>
                <a:latin typeface="Bricolage Grotesque"/>
              </a:rPr>
              <a:t>Gratuit : nombre d'usages IA limité</a:t>
            </a:r>
          </a:p>
        </p:txBody>
      </p:sp>
      <p:sp>
        <p:nvSpPr>
          <p:cNvPr id="12" name="TextBox 11"/>
          <p:cNvSpPr txBox="1"/>
          <p:nvPr/>
        </p:nvSpPr>
        <p:spPr>
          <a:xfrm>
            <a:off x="6172200" y="1554480"/>
            <a:ext cx="5029200" cy="411480"/>
          </a:xfrm>
          <a:prstGeom prst="rect">
            <a:avLst/>
          </a:prstGeom>
          <a:noFill/>
        </p:spPr>
        <p:txBody>
          <a:bodyPr wrap="square">
            <a:spAutoFit/>
          </a:bodyPr>
          <a:lstStyle/>
          <a:p>
            <a:pPr algn="l"/>
            <a:r>
              <a:rPr sz="2100" b="1">
                <a:solidFill>
                  <a:srgbClr val="1B5E6B"/>
                </a:solidFill>
                <a:latin typeface="Bricolage Grotesque"/>
              </a:rPr>
              <a:t>Le plugin Canva, dans ChatGPT</a:t>
            </a:r>
          </a:p>
        </p:txBody>
      </p:sp>
      <p:sp>
        <p:nvSpPr>
          <p:cNvPr id="13" name="TextBox 12"/>
          <p:cNvSpPr txBox="1"/>
          <p:nvPr/>
        </p:nvSpPr>
        <p:spPr>
          <a:xfrm>
            <a:off x="6172200" y="2148840"/>
            <a:ext cx="5120640" cy="384048"/>
          </a:xfrm>
          <a:prstGeom prst="rect">
            <a:avLst/>
          </a:prstGeom>
          <a:noFill/>
        </p:spPr>
        <p:txBody>
          <a:bodyPr wrap="square">
            <a:spAutoFit/>
          </a:bodyPr>
          <a:lstStyle/>
          <a:p>
            <a:pPr algn="l"/>
            <a:r>
              <a:rPr sz="1800" b="0">
                <a:solidFill>
                  <a:srgbClr val="333333"/>
                </a:solidFill>
                <a:latin typeface="Bricolage Grotesque"/>
              </a:rPr>
              <a:t>Connecté une fois à votre compte Canva</a:t>
            </a:r>
          </a:p>
        </p:txBody>
      </p:sp>
      <p:sp>
        <p:nvSpPr>
          <p:cNvPr id="14" name="TextBox 13"/>
          <p:cNvSpPr txBox="1"/>
          <p:nvPr/>
        </p:nvSpPr>
        <p:spPr>
          <a:xfrm>
            <a:off x="6172200" y="2624328"/>
            <a:ext cx="5120640" cy="384048"/>
          </a:xfrm>
          <a:prstGeom prst="rect">
            <a:avLst/>
          </a:prstGeom>
          <a:noFill/>
        </p:spPr>
        <p:txBody>
          <a:bodyPr wrap="square">
            <a:spAutoFit/>
          </a:bodyPr>
          <a:lstStyle/>
          <a:p>
            <a:pPr algn="l"/>
            <a:r>
              <a:rPr sz="1800" b="0">
                <a:solidFill>
                  <a:srgbClr val="333333"/>
                </a:solidFill>
                <a:latin typeface="Bricolage Grotesque"/>
              </a:rPr>
              <a:t>« Canva, crée un flyer A5 pour… »</a:t>
            </a:r>
          </a:p>
        </p:txBody>
      </p:sp>
      <p:sp>
        <p:nvSpPr>
          <p:cNvPr id="15" name="TextBox 14"/>
          <p:cNvSpPr txBox="1"/>
          <p:nvPr/>
        </p:nvSpPr>
        <p:spPr>
          <a:xfrm>
            <a:off x="6172200" y="3099816"/>
            <a:ext cx="5120640" cy="384048"/>
          </a:xfrm>
          <a:prstGeom prst="rect">
            <a:avLst/>
          </a:prstGeom>
          <a:noFill/>
        </p:spPr>
        <p:txBody>
          <a:bodyPr wrap="square">
            <a:spAutoFit/>
          </a:bodyPr>
          <a:lstStyle/>
          <a:p>
            <a:pPr algn="l"/>
            <a:r>
              <a:rPr sz="1800" b="0">
                <a:solidFill>
                  <a:srgbClr val="333333"/>
                </a:solidFill>
                <a:latin typeface="Bricolage Grotesque"/>
              </a:rPr>
              <a:t>Un vrai design Canva, dans le chat</a:t>
            </a:r>
          </a:p>
        </p:txBody>
      </p:sp>
      <p:sp>
        <p:nvSpPr>
          <p:cNvPr id="16" name="TextBox 15"/>
          <p:cNvSpPr txBox="1"/>
          <p:nvPr/>
        </p:nvSpPr>
        <p:spPr>
          <a:xfrm>
            <a:off x="6172200" y="3575304"/>
            <a:ext cx="5120640" cy="384048"/>
          </a:xfrm>
          <a:prstGeom prst="rect">
            <a:avLst/>
          </a:prstGeom>
          <a:noFill/>
        </p:spPr>
        <p:txBody>
          <a:bodyPr wrap="square">
            <a:spAutoFit/>
          </a:bodyPr>
          <a:lstStyle/>
          <a:p>
            <a:pPr algn="l"/>
            <a:r>
              <a:rPr sz="1800" b="0">
                <a:solidFill>
                  <a:srgbClr val="333333"/>
                </a:solidFill>
                <a:latin typeface="Bricolage Grotesque"/>
              </a:rPr>
              <a:t>Textes modifiés en dialoguant</a:t>
            </a:r>
          </a:p>
        </p:txBody>
      </p:sp>
      <p:sp>
        <p:nvSpPr>
          <p:cNvPr id="17" name="TextBox 16"/>
          <p:cNvSpPr txBox="1"/>
          <p:nvPr/>
        </p:nvSpPr>
        <p:spPr>
          <a:xfrm>
            <a:off x="6172200" y="4050791"/>
            <a:ext cx="5120640" cy="384048"/>
          </a:xfrm>
          <a:prstGeom prst="rect">
            <a:avLst/>
          </a:prstGeom>
          <a:noFill/>
        </p:spPr>
        <p:txBody>
          <a:bodyPr wrap="square">
            <a:spAutoFit/>
          </a:bodyPr>
          <a:lstStyle/>
          <a:p>
            <a:pPr algn="l"/>
            <a:r>
              <a:rPr sz="1800" b="0">
                <a:solidFill>
                  <a:srgbClr val="333333"/>
                </a:solidFill>
                <a:latin typeface="Bricolage Grotesque"/>
              </a:rPr>
              <a:t>« Ouvrir dans Canva » pour exporter</a:t>
            </a:r>
          </a:p>
        </p:txBody>
      </p:sp>
      <p:sp>
        <p:nvSpPr>
          <p:cNvPr id="18" name="TextBox 17"/>
          <p:cNvSpPr txBox="1"/>
          <p:nvPr/>
        </p:nvSpPr>
        <p:spPr>
          <a:xfrm>
            <a:off x="640080" y="4663440"/>
            <a:ext cx="10881360" cy="411480"/>
          </a:xfrm>
          <a:prstGeom prst="rect">
            <a:avLst/>
          </a:prstGeom>
          <a:noFill/>
        </p:spPr>
        <p:txBody>
          <a:bodyPr wrap="square">
            <a:spAutoFit/>
          </a:bodyPr>
          <a:lstStyle/>
          <a:p>
            <a:pPr algn="l"/>
            <a:r>
              <a:rPr sz="1800" b="1">
                <a:solidFill>
                  <a:srgbClr val="E8A000"/>
                </a:solidFill>
                <a:latin typeface="Bricolage Grotesque"/>
              </a:rPr>
              <a:t>Dans les deux cas, le texte reste du vrai texte : on le corrige à la main.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La chaîne complète</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De l'idée au support prêt à diffuser</a:t>
            </a:r>
          </a:p>
        </p:txBody>
      </p:sp>
      <p:sp>
        <p:nvSpPr>
          <p:cNvPr id="6" name="Rounded Rectangle 5"/>
          <p:cNvSpPr/>
          <p:nvPr/>
        </p:nvSpPr>
        <p:spPr>
          <a:xfrm>
            <a:off x="640080" y="2743200"/>
            <a:ext cx="2331720" cy="77724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907792"/>
            <a:ext cx="2148840" cy="502920"/>
          </a:xfrm>
          <a:prstGeom prst="rect">
            <a:avLst/>
          </a:prstGeom>
          <a:noFill/>
        </p:spPr>
        <p:txBody>
          <a:bodyPr wrap="square">
            <a:spAutoFit/>
          </a:bodyPr>
          <a:lstStyle/>
          <a:p>
            <a:pPr algn="ctr"/>
            <a:r>
              <a:rPr sz="1400" b="1">
                <a:solidFill>
                  <a:srgbClr val="FFFFFF"/>
                </a:solidFill>
                <a:latin typeface="Bricolage Grotesque"/>
              </a:rPr>
              <a:t>1. Brief
message, public</a:t>
            </a:r>
          </a:p>
        </p:txBody>
      </p:sp>
      <p:sp>
        <p:nvSpPr>
          <p:cNvPr id="8" name="TextBox 7"/>
          <p:cNvSpPr txBox="1"/>
          <p:nvPr/>
        </p:nvSpPr>
        <p:spPr>
          <a:xfrm>
            <a:off x="3008376" y="292608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9" name="Rounded Rectangle 8"/>
          <p:cNvSpPr/>
          <p:nvPr/>
        </p:nvSpPr>
        <p:spPr>
          <a:xfrm>
            <a:off x="3355848" y="2743200"/>
            <a:ext cx="2331720" cy="777240"/>
          </a:xfrm>
          <a:prstGeom prst="roundRect">
            <a:avLst/>
          </a:prstGeom>
          <a:solidFill>
            <a:srgbClr val="1E5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47288" y="2907792"/>
            <a:ext cx="2148840" cy="502920"/>
          </a:xfrm>
          <a:prstGeom prst="rect">
            <a:avLst/>
          </a:prstGeom>
          <a:noFill/>
        </p:spPr>
        <p:txBody>
          <a:bodyPr wrap="square">
            <a:spAutoFit/>
          </a:bodyPr>
          <a:lstStyle/>
          <a:p>
            <a:pPr algn="ctr"/>
            <a:r>
              <a:rPr sz="1400" b="1">
                <a:solidFill>
                  <a:srgbClr val="FFFFFF"/>
                </a:solidFill>
                <a:latin typeface="Bricolage Grotesque"/>
              </a:rPr>
              <a:t>2. Générer
sans texte</a:t>
            </a:r>
          </a:p>
        </p:txBody>
      </p:sp>
      <p:sp>
        <p:nvSpPr>
          <p:cNvPr id="11" name="TextBox 10"/>
          <p:cNvSpPr txBox="1"/>
          <p:nvPr/>
        </p:nvSpPr>
        <p:spPr>
          <a:xfrm>
            <a:off x="5724144" y="292608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12" name="Rounded Rectangle 11"/>
          <p:cNvSpPr/>
          <p:nvPr/>
        </p:nvSpPr>
        <p:spPr>
          <a:xfrm>
            <a:off x="6071616" y="2743200"/>
            <a:ext cx="2331720" cy="77724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63056" y="2907792"/>
            <a:ext cx="2148840" cy="502920"/>
          </a:xfrm>
          <a:prstGeom prst="rect">
            <a:avLst/>
          </a:prstGeom>
          <a:noFill/>
        </p:spPr>
        <p:txBody>
          <a:bodyPr wrap="square">
            <a:spAutoFit/>
          </a:bodyPr>
          <a:lstStyle/>
          <a:p>
            <a:pPr algn="ctr"/>
            <a:r>
              <a:rPr sz="1400" b="1">
                <a:solidFill>
                  <a:srgbClr val="FFFFFF"/>
                </a:solidFill>
                <a:latin typeface="Bricolage Grotesque"/>
              </a:rPr>
              <a:t>3. Retoucher
une zone à la fois</a:t>
            </a:r>
          </a:p>
        </p:txBody>
      </p:sp>
      <p:sp>
        <p:nvSpPr>
          <p:cNvPr id="14" name="TextBox 13"/>
          <p:cNvSpPr txBox="1"/>
          <p:nvPr/>
        </p:nvSpPr>
        <p:spPr>
          <a:xfrm>
            <a:off x="8439912" y="292608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15" name="Rounded Rectangle 14"/>
          <p:cNvSpPr/>
          <p:nvPr/>
        </p:nvSpPr>
        <p:spPr>
          <a:xfrm>
            <a:off x="8787384" y="2743200"/>
            <a:ext cx="2331720" cy="777240"/>
          </a:xfrm>
          <a:prstGeom prst="roundRect">
            <a:avLst/>
          </a:prstGeom>
          <a:solidFill>
            <a:srgbClr val="1E5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78824" y="2907792"/>
            <a:ext cx="2148840" cy="502920"/>
          </a:xfrm>
          <a:prstGeom prst="rect">
            <a:avLst/>
          </a:prstGeom>
          <a:noFill/>
        </p:spPr>
        <p:txBody>
          <a:bodyPr wrap="square">
            <a:spAutoFit/>
          </a:bodyPr>
          <a:lstStyle/>
          <a:p>
            <a:pPr algn="ctr"/>
            <a:r>
              <a:rPr sz="1400" b="1">
                <a:solidFill>
                  <a:srgbClr val="FFFFFF"/>
                </a:solidFill>
                <a:latin typeface="Bricolage Grotesque"/>
              </a:rPr>
              <a:t>4. Canva
texte en calques</a:t>
            </a:r>
          </a:p>
        </p:txBody>
      </p:sp>
      <p:sp>
        <p:nvSpPr>
          <p:cNvPr id="17" name="Rounded Rectangle 16"/>
          <p:cNvSpPr/>
          <p:nvPr/>
        </p:nvSpPr>
        <p:spPr>
          <a:xfrm>
            <a:off x="640080" y="4160520"/>
            <a:ext cx="2331720" cy="77724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325112"/>
            <a:ext cx="2148840" cy="502920"/>
          </a:xfrm>
          <a:prstGeom prst="rect">
            <a:avLst/>
          </a:prstGeom>
          <a:noFill/>
        </p:spPr>
        <p:txBody>
          <a:bodyPr wrap="square">
            <a:spAutoFit/>
          </a:bodyPr>
          <a:lstStyle/>
          <a:p>
            <a:pPr algn="ctr"/>
            <a:r>
              <a:rPr sz="1400" b="1">
                <a:solidFill>
                  <a:srgbClr val="FFFFFF"/>
                </a:solidFill>
                <a:latin typeface="Bricolage Grotesque"/>
              </a:rPr>
              <a:t>5. Décliner
A4, carré, story</a:t>
            </a:r>
          </a:p>
        </p:txBody>
      </p:sp>
      <p:sp>
        <p:nvSpPr>
          <p:cNvPr id="19" name="TextBox 18"/>
          <p:cNvSpPr txBox="1"/>
          <p:nvPr/>
        </p:nvSpPr>
        <p:spPr>
          <a:xfrm>
            <a:off x="3008376" y="434340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20" name="Rounded Rectangle 19"/>
          <p:cNvSpPr/>
          <p:nvPr/>
        </p:nvSpPr>
        <p:spPr>
          <a:xfrm>
            <a:off x="3355848" y="4160520"/>
            <a:ext cx="2331720" cy="777240"/>
          </a:xfrm>
          <a:prstGeom prst="roundRect">
            <a:avLst/>
          </a:prstGeom>
          <a:solidFill>
            <a:srgbClr val="1E5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47288" y="4325112"/>
            <a:ext cx="2148840" cy="502920"/>
          </a:xfrm>
          <a:prstGeom prst="rect">
            <a:avLst/>
          </a:prstGeom>
          <a:noFill/>
        </p:spPr>
        <p:txBody>
          <a:bodyPr wrap="square">
            <a:spAutoFit/>
          </a:bodyPr>
          <a:lstStyle/>
          <a:p>
            <a:pPr algn="ctr"/>
            <a:r>
              <a:rPr sz="1400" b="1">
                <a:solidFill>
                  <a:srgbClr val="FFFFFF"/>
                </a:solidFill>
                <a:latin typeface="Bricolage Grotesque"/>
              </a:rPr>
              <a:t>6. Vérifier
vos critères</a:t>
            </a:r>
          </a:p>
        </p:txBody>
      </p:sp>
      <p:sp>
        <p:nvSpPr>
          <p:cNvPr id="22" name="TextBox 21"/>
          <p:cNvSpPr txBox="1"/>
          <p:nvPr/>
        </p:nvSpPr>
        <p:spPr>
          <a:xfrm>
            <a:off x="640080" y="5029200"/>
            <a:ext cx="10972800" cy="411480"/>
          </a:xfrm>
          <a:prstGeom prst="rect">
            <a:avLst/>
          </a:prstGeom>
          <a:noFill/>
        </p:spPr>
        <p:txBody>
          <a:bodyPr wrap="square">
            <a:spAutoFit/>
          </a:bodyPr>
          <a:lstStyle/>
          <a:p>
            <a:pPr algn="l"/>
            <a:r>
              <a:rPr sz="1800" b="1">
                <a:solidFill>
                  <a:srgbClr val="1B5E6B"/>
                </a:solidFill>
                <a:latin typeface="Bricolage Grotesque"/>
              </a:rPr>
              <a:t>Chaque étape se valide avant la suivante.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914400"/>
            <a:ext cx="10515600" cy="731520"/>
          </a:xfrm>
          <a:prstGeom prst="rect">
            <a:avLst/>
          </a:prstGeom>
          <a:noFill/>
        </p:spPr>
        <p:txBody>
          <a:bodyPr wrap="square">
            <a:spAutoFit/>
          </a:bodyPr>
          <a:lstStyle/>
          <a:p>
            <a:pPr algn="l"/>
            <a:r>
              <a:rPr sz="3600" b="1">
                <a:solidFill>
                  <a:srgbClr val="E8A000"/>
                </a:solidFill>
                <a:latin typeface="Bricolage Grotesque"/>
              </a:rPr>
              <a:t>À retenir</a:t>
            </a:r>
          </a:p>
        </p:txBody>
      </p:sp>
      <p:sp>
        <p:nvSpPr>
          <p:cNvPr id="4" name="TextBox 3"/>
          <p:cNvSpPr txBox="1"/>
          <p:nvPr/>
        </p:nvSpPr>
        <p:spPr>
          <a:xfrm>
            <a:off x="640080" y="1645920"/>
            <a:ext cx="10515600" cy="548640"/>
          </a:xfrm>
          <a:prstGeom prst="rect">
            <a:avLst/>
          </a:prstGeom>
          <a:noFill/>
        </p:spPr>
        <p:txBody>
          <a:bodyPr wrap="square">
            <a:spAutoFit/>
          </a:bodyPr>
          <a:lstStyle/>
          <a:p>
            <a:pPr algn="l"/>
            <a:r>
              <a:rPr sz="1800" b="0">
                <a:solidFill>
                  <a:srgbClr val="5A8A8F"/>
                </a:solidFill>
                <a:latin typeface="Bricolage Grotesque"/>
              </a:rPr>
              <a:t>Les visuels</a:t>
            </a:r>
          </a:p>
        </p:txBody>
      </p:sp>
      <p:sp>
        <p:nvSpPr>
          <p:cNvPr id="5" name="Rectangle 4"/>
          <p:cNvSpPr/>
          <p:nvPr/>
        </p:nvSpPr>
        <p:spPr>
          <a:xfrm>
            <a:off x="640080" y="2286000"/>
            <a:ext cx="2743200" cy="27432"/>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651760"/>
            <a:ext cx="10881360" cy="3383280"/>
          </a:xfrm>
          <a:prstGeom prst="rect">
            <a:avLst/>
          </a:prstGeom>
          <a:noFill/>
        </p:spPr>
        <p:txBody>
          <a:bodyPr wrap="square">
            <a:spAutoFit/>
          </a:bodyPr>
          <a:lstStyle/>
          <a:p>
            <a:pPr>
              <a:spcBef>
                <a:spcPts val="1200"/>
              </a:spcBef>
            </a:pPr>
            <a:r>
              <a:rPr sz="2000">
                <a:solidFill>
                  <a:srgbClr val="FFFFFF"/>
                </a:solidFill>
                <a:latin typeface="Bricolage Grotesque"/>
              </a:rPr>
              <a:t>1.  Un prompt d'image décrit une scène : sujet, style, composition, ambiance, format.</a:t>
            </a:r>
          </a:p>
          <a:p>
            <a:pPr>
              <a:spcBef>
                <a:spcPts val="1200"/>
              </a:spcBef>
            </a:pPr>
            <a:r>
              <a:rPr sz="2000">
                <a:solidFill>
                  <a:srgbClr val="FFFFFF"/>
                </a:solidFill>
                <a:latin typeface="Bricolage Grotesque"/>
              </a:rPr>
              <a:t>2.  Retoucher, ce n'est pas regénérer : dire ce qui change et ce qui reste.</a:t>
            </a:r>
          </a:p>
          <a:p>
            <a:pPr>
              <a:spcBef>
                <a:spcPts val="1200"/>
              </a:spcBef>
            </a:pPr>
            <a:r>
              <a:rPr sz="2000">
                <a:solidFill>
                  <a:srgbClr val="FFFFFF"/>
                </a:solidFill>
                <a:latin typeface="Bricolage Grotesque"/>
              </a:rPr>
              <a:t>3.  Après chaque retouche, on vérifie hors de la zone.</a:t>
            </a:r>
          </a:p>
          <a:p>
            <a:pPr>
              <a:spcBef>
                <a:spcPts val="1200"/>
              </a:spcBef>
            </a:pPr>
            <a:r>
              <a:rPr sz="2000">
                <a:solidFill>
                  <a:srgbClr val="FFFFFF"/>
                </a:solidFill>
                <a:latin typeface="Bricolage Grotesque"/>
              </a:rPr>
              <a:t>4.  Le visuel dans ChatGPT ou Gemini, le texte dans Canva, en calques.</a:t>
            </a:r>
          </a:p>
          <a:p>
            <a:pPr>
              <a:spcBef>
                <a:spcPts val="1200"/>
              </a:spcBef>
            </a:pPr>
            <a:r>
              <a:rPr sz="2000">
                <a:solidFill>
                  <a:srgbClr val="FFFFFF"/>
                </a:solidFill>
                <a:latin typeface="Bricolage Grotesque"/>
              </a:rPr>
              <a:t>5.  Canva AI et le plugin Canva composent un design modifiable.</a:t>
            </a:r>
          </a:p>
          <a:p>
            <a:pPr>
              <a:spcBef>
                <a:spcPts val="1200"/>
              </a:spcBef>
            </a:pPr>
            <a:r>
              <a:rPr sz="2000">
                <a:solidFill>
                  <a:srgbClr val="FFFFFF"/>
                </a:solidFill>
                <a:latin typeface="Bricolage Grotesque"/>
              </a:rPr>
              <a:t>6.  Pas besoin de Midjourney pour vos supports.</a:t>
            </a:r>
          </a:p>
        </p:txBody>
      </p:sp>
      <p:pic>
        <p:nvPicPr>
          <p:cNvPr id="7" name="Picture 6" descr="ia-round.png"/>
          <p:cNvPicPr>
            <a:picLocks noChangeAspect="1"/>
          </p:cNvPicPr>
          <p:nvPr/>
        </p:nvPicPr>
        <p:blipFill>
          <a:blip r:embed="rId2"/>
          <a:stretch>
            <a:fillRect/>
          </a:stretch>
        </p:blipFill>
        <p:spPr>
          <a:xfrm>
            <a:off x="457200" y="6355080"/>
            <a:ext cx="320040" cy="320040"/>
          </a:xfrm>
          <a:prstGeom prst="rect">
            <a:avLst/>
          </a:prstGeom>
        </p:spPr>
      </p:pic>
      <p:sp>
        <p:nvSpPr>
          <p:cNvPr id="8" name="TextBox 7"/>
          <p:cNvSpPr txBox="1"/>
          <p:nvPr/>
        </p:nvSpPr>
        <p:spPr>
          <a:xfrm>
            <a:off x="868680" y="6336792"/>
            <a:ext cx="3657600" cy="365760"/>
          </a:xfrm>
          <a:prstGeom prst="rect">
            <a:avLst/>
          </a:prstGeom>
          <a:noFill/>
        </p:spPr>
        <p:txBody>
          <a:bodyPr wrap="square">
            <a:spAutoFit/>
          </a:bodyPr>
          <a:lstStyle/>
          <a:p>
            <a:pPr algn="l"/>
            <a:r>
              <a:rPr sz="1400" b="0">
                <a:solidFill>
                  <a:srgbClr val="FFFFFF"/>
                </a:solidFill>
                <a:latin typeface="Bricolage Grotesque"/>
              </a:rPr>
              <a:t>intelligence academy</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965960"/>
            <a:ext cx="2743200" cy="36576"/>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515600" cy="731520"/>
          </a:xfrm>
          <a:prstGeom prst="rect">
            <a:avLst/>
          </a:prstGeom>
          <a:noFill/>
        </p:spPr>
        <p:txBody>
          <a:bodyPr wrap="square">
            <a:spAutoFit/>
          </a:bodyPr>
          <a:lstStyle/>
          <a:p>
            <a:pPr algn="l"/>
            <a:r>
              <a:rPr sz="2200" b="1">
                <a:solidFill>
                  <a:srgbClr val="E8A000"/>
                </a:solidFill>
                <a:latin typeface="Bricolage Grotesque"/>
              </a:rPr>
              <a:t>Séquence 5</a:t>
            </a:r>
          </a:p>
        </p:txBody>
      </p:sp>
      <p:sp>
        <p:nvSpPr>
          <p:cNvPr id="5" name="TextBox 4"/>
          <p:cNvSpPr txBox="1"/>
          <p:nvPr/>
        </p:nvSpPr>
        <p:spPr>
          <a:xfrm>
            <a:off x="640080" y="2286000"/>
            <a:ext cx="10698480" cy="1645920"/>
          </a:xfrm>
          <a:prstGeom prst="rect">
            <a:avLst/>
          </a:prstGeom>
          <a:noFill/>
        </p:spPr>
        <p:txBody>
          <a:bodyPr wrap="square">
            <a:spAutoFit/>
          </a:bodyPr>
          <a:lstStyle/>
          <a:p>
            <a:pPr algn="l"/>
            <a:r>
              <a:rPr sz="4200" b="1">
                <a:solidFill>
                  <a:srgbClr val="FFFFFF"/>
                </a:solidFill>
                <a:latin typeface="Bricolage Grotesque"/>
              </a:rPr>
              <a:t>La pratique</a:t>
            </a:r>
          </a:p>
        </p:txBody>
      </p:sp>
      <p:sp>
        <p:nvSpPr>
          <p:cNvPr id="6" name="TextBox 5"/>
          <p:cNvSpPr txBox="1"/>
          <p:nvPr/>
        </p:nvSpPr>
        <p:spPr>
          <a:xfrm>
            <a:off x="640080" y="4023360"/>
            <a:ext cx="10515600" cy="731520"/>
          </a:xfrm>
          <a:prstGeom prst="rect">
            <a:avLst/>
          </a:prstGeom>
          <a:noFill/>
        </p:spPr>
        <p:txBody>
          <a:bodyPr wrap="square">
            <a:spAutoFit/>
          </a:bodyPr>
          <a:lstStyle/>
          <a:p>
            <a:pPr algn="l"/>
            <a:r>
              <a:rPr sz="2000" b="0">
                <a:solidFill>
                  <a:srgbClr val="5A8A8F"/>
                </a:solidFill>
                <a:latin typeface="Bricolage Grotesque"/>
              </a:rPr>
              <a:t>Partage d'écran : vous faites, je montre</a:t>
            </a:r>
          </a:p>
        </p:txBody>
      </p:sp>
      <p:pic>
        <p:nvPicPr>
          <p:cNvPr id="7" name="Picture 6" descr="ia-round.png"/>
          <p:cNvPicPr>
            <a:picLocks noChangeAspect="1"/>
          </p:cNvPicPr>
          <p:nvPr/>
        </p:nvPicPr>
        <p:blipFill>
          <a:blip r:embed="rId2"/>
          <a:stretch>
            <a:fillRect/>
          </a:stretch>
        </p:blipFill>
        <p:spPr>
          <a:xfrm>
            <a:off x="457200" y="6217920"/>
            <a:ext cx="320040" cy="320040"/>
          </a:xfrm>
          <a:prstGeom prst="rect">
            <a:avLst/>
          </a:prstGeom>
        </p:spPr>
      </p:pic>
      <p:sp>
        <p:nvSpPr>
          <p:cNvPr id="8" name="TextBox 7"/>
          <p:cNvSpPr txBox="1"/>
          <p:nvPr/>
        </p:nvSpPr>
        <p:spPr>
          <a:xfrm>
            <a:off x="868680" y="6199632"/>
            <a:ext cx="3657600" cy="365760"/>
          </a:xfrm>
          <a:prstGeom prst="rect">
            <a:avLst/>
          </a:prstGeom>
          <a:noFill/>
        </p:spPr>
        <p:txBody>
          <a:bodyPr wrap="square">
            <a:spAutoFit/>
          </a:bodyPr>
          <a:lstStyle/>
          <a:p>
            <a:pPr algn="l"/>
            <a:r>
              <a:rPr sz="1400" b="0">
                <a:solidFill>
                  <a:srgbClr val="FFFFFF"/>
                </a:solidFill>
                <a:latin typeface="Bricolage Grotesque"/>
              </a:rPr>
              <a:t>intelligence academy</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Exercice 1 · Partie A : retoucher</a:t>
            </a:r>
          </a:p>
        </p:txBody>
      </p:sp>
      <p:sp>
        <p:nvSpPr>
          <p:cNvPr id="5" name="Rounded Rectangle 4"/>
          <p:cNvSpPr/>
          <p:nvPr/>
        </p:nvSpPr>
        <p:spPr>
          <a:xfrm>
            <a:off x="640080" y="1417320"/>
            <a:ext cx="10881360" cy="1143000"/>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08760"/>
            <a:ext cx="4023359" cy="320040"/>
          </a:xfrm>
          <a:prstGeom prst="rect">
            <a:avLst/>
          </a:prstGeom>
          <a:noFill/>
        </p:spPr>
        <p:txBody>
          <a:bodyPr wrap="square">
            <a:spAutoFit/>
          </a:bodyPr>
          <a:lstStyle/>
          <a:p>
            <a:pPr algn="l"/>
            <a:r>
              <a:rPr sz="1400" b="1">
                <a:solidFill>
                  <a:srgbClr val="E8A000"/>
                </a:solidFill>
                <a:latin typeface="Bricolage Grotesque"/>
              </a:rPr>
              <a:t>OBJECTIF</a:t>
            </a:r>
          </a:p>
        </p:txBody>
      </p:sp>
      <p:sp>
        <p:nvSpPr>
          <p:cNvPr id="7" name="TextBox 6"/>
          <p:cNvSpPr txBox="1"/>
          <p:nvPr/>
        </p:nvSpPr>
        <p:spPr>
          <a:xfrm>
            <a:off x="868680" y="1810512"/>
            <a:ext cx="4023359" cy="685800"/>
          </a:xfrm>
          <a:prstGeom prst="rect">
            <a:avLst/>
          </a:prstGeom>
          <a:noFill/>
        </p:spPr>
        <p:txBody>
          <a:bodyPr wrap="square">
            <a:spAutoFit/>
          </a:bodyPr>
          <a:lstStyle/>
          <a:p>
            <a:pPr algn="l"/>
            <a:r>
              <a:rPr sz="1600" b="0">
                <a:solidFill>
                  <a:srgbClr val="1A1A1A"/>
                </a:solidFill>
                <a:latin typeface="Bricolage Grotesque"/>
              </a:rPr>
              <a:t>Améliorer votre affiche du week-end sans repartir de zéro</a:t>
            </a:r>
          </a:p>
        </p:txBody>
      </p:sp>
      <p:sp>
        <p:nvSpPr>
          <p:cNvPr id="8" name="TextBox 7"/>
          <p:cNvSpPr txBox="1"/>
          <p:nvPr/>
        </p:nvSpPr>
        <p:spPr>
          <a:xfrm>
            <a:off x="5074920" y="1508760"/>
            <a:ext cx="4389120" cy="320040"/>
          </a:xfrm>
          <a:prstGeom prst="rect">
            <a:avLst/>
          </a:prstGeom>
          <a:noFill/>
        </p:spPr>
        <p:txBody>
          <a:bodyPr wrap="square">
            <a:spAutoFit/>
          </a:bodyPr>
          <a:lstStyle/>
          <a:p>
            <a:pPr algn="l"/>
            <a:r>
              <a:rPr sz="1400" b="1">
                <a:solidFill>
                  <a:srgbClr val="E8A000"/>
                </a:solidFill>
                <a:latin typeface="Bricolage Grotesque"/>
              </a:rPr>
              <a:t>LIVRABLE</a:t>
            </a:r>
          </a:p>
        </p:txBody>
      </p:sp>
      <p:sp>
        <p:nvSpPr>
          <p:cNvPr id="9" name="TextBox 8"/>
          <p:cNvSpPr txBox="1"/>
          <p:nvPr/>
        </p:nvSpPr>
        <p:spPr>
          <a:xfrm>
            <a:off x="5074920" y="1810512"/>
            <a:ext cx="4389120" cy="685800"/>
          </a:xfrm>
          <a:prstGeom prst="rect">
            <a:avLst/>
          </a:prstGeom>
          <a:noFill/>
        </p:spPr>
        <p:txBody>
          <a:bodyPr wrap="square">
            <a:spAutoFit/>
          </a:bodyPr>
          <a:lstStyle/>
          <a:p>
            <a:pPr algn="l"/>
            <a:r>
              <a:rPr sz="1600" b="0">
                <a:solidFill>
                  <a:srgbClr val="1A1A1A"/>
                </a:solidFill>
                <a:latin typeface="Bricolage Grotesque"/>
              </a:rPr>
              <a:t>Une version retouchée, validée sur vos critères</a:t>
            </a:r>
          </a:p>
        </p:txBody>
      </p:sp>
      <p:sp>
        <p:nvSpPr>
          <p:cNvPr id="10" name="TextBox 9"/>
          <p:cNvSpPr txBox="1"/>
          <p:nvPr/>
        </p:nvSpPr>
        <p:spPr>
          <a:xfrm>
            <a:off x="9646920" y="1508760"/>
            <a:ext cx="1554480" cy="320040"/>
          </a:xfrm>
          <a:prstGeom prst="rect">
            <a:avLst/>
          </a:prstGeom>
          <a:noFill/>
        </p:spPr>
        <p:txBody>
          <a:bodyPr wrap="square">
            <a:spAutoFit/>
          </a:bodyPr>
          <a:lstStyle/>
          <a:p>
            <a:pPr algn="l"/>
            <a:r>
              <a:rPr sz="1400" b="1">
                <a:solidFill>
                  <a:srgbClr val="E8A000"/>
                </a:solidFill>
                <a:latin typeface="Bricolage Grotesque"/>
              </a:rPr>
              <a:t>DURÉE</a:t>
            </a:r>
          </a:p>
        </p:txBody>
      </p:sp>
      <p:sp>
        <p:nvSpPr>
          <p:cNvPr id="11" name="TextBox 10"/>
          <p:cNvSpPr txBox="1"/>
          <p:nvPr/>
        </p:nvSpPr>
        <p:spPr>
          <a:xfrm>
            <a:off x="9646920" y="1810512"/>
            <a:ext cx="1554480" cy="685800"/>
          </a:xfrm>
          <a:prstGeom prst="rect">
            <a:avLst/>
          </a:prstGeom>
          <a:noFill/>
        </p:spPr>
        <p:txBody>
          <a:bodyPr wrap="square">
            <a:spAutoFit/>
          </a:bodyPr>
          <a:lstStyle/>
          <a:p>
            <a:pPr algn="l"/>
            <a:r>
              <a:rPr sz="1600" b="0">
                <a:solidFill>
                  <a:srgbClr val="1A1A1A"/>
                </a:solidFill>
                <a:latin typeface="Bricolage Grotesque"/>
              </a:rPr>
              <a:t>20 min</a:t>
            </a:r>
          </a:p>
        </p:txBody>
      </p:sp>
      <p:sp>
        <p:nvSpPr>
          <p:cNvPr id="12" name="TextBox 11"/>
          <p:cNvSpPr txBox="1"/>
          <p:nvPr/>
        </p:nvSpPr>
        <p:spPr>
          <a:xfrm>
            <a:off x="640080" y="2834640"/>
            <a:ext cx="10881360" cy="411480"/>
          </a:xfrm>
          <a:prstGeom prst="rect">
            <a:avLst/>
          </a:prstGeom>
          <a:noFill/>
        </p:spPr>
        <p:txBody>
          <a:bodyPr wrap="square">
            <a:spAutoFit/>
          </a:bodyPr>
          <a:lstStyle/>
          <a:p>
            <a:r>
              <a:rPr sz="1900" b="1">
                <a:solidFill>
                  <a:srgbClr val="1B5E6B"/>
                </a:solidFill>
                <a:latin typeface="Bricolage Grotesque"/>
              </a:rPr>
              <a:t>1.  </a:t>
            </a:r>
            <a:r>
              <a:rPr sz="1900">
                <a:solidFill>
                  <a:srgbClr val="333333"/>
                </a:solidFill>
                <a:latin typeface="Bricolage Grotesque"/>
              </a:rPr>
              <a:t>Partagez l'écran : l'affiche, et ce qui vous gêne encore (3 points max).</a:t>
            </a:r>
          </a:p>
        </p:txBody>
      </p:sp>
      <p:sp>
        <p:nvSpPr>
          <p:cNvPr id="13" name="TextBox 12"/>
          <p:cNvSpPr txBox="1"/>
          <p:nvPr/>
        </p:nvSpPr>
        <p:spPr>
          <a:xfrm>
            <a:off x="640080" y="3355848"/>
            <a:ext cx="10881360" cy="411480"/>
          </a:xfrm>
          <a:prstGeom prst="rect">
            <a:avLst/>
          </a:prstGeom>
          <a:noFill/>
        </p:spPr>
        <p:txBody>
          <a:bodyPr wrap="square">
            <a:spAutoFit/>
          </a:bodyPr>
          <a:lstStyle/>
          <a:p>
            <a:r>
              <a:rPr sz="1900" b="1">
                <a:solidFill>
                  <a:srgbClr val="1B5E6B"/>
                </a:solidFill>
                <a:latin typeface="Bricolage Grotesque"/>
              </a:rPr>
              <a:t>2.  </a:t>
            </a:r>
            <a:r>
              <a:rPr sz="1900">
                <a:solidFill>
                  <a:srgbClr val="333333"/>
                </a:solidFill>
                <a:latin typeface="Bricolage Grotesque"/>
              </a:rPr>
              <a:t>Projet Créations graphiques › nouvelle conversation › importez l'affiche.</a:t>
            </a:r>
          </a:p>
        </p:txBody>
      </p:sp>
      <p:sp>
        <p:nvSpPr>
          <p:cNvPr id="14" name="TextBox 13"/>
          <p:cNvSpPr txBox="1"/>
          <p:nvPr/>
        </p:nvSpPr>
        <p:spPr>
          <a:xfrm>
            <a:off x="640080" y="3877056"/>
            <a:ext cx="10881360" cy="411480"/>
          </a:xfrm>
          <a:prstGeom prst="rect">
            <a:avLst/>
          </a:prstGeom>
          <a:noFill/>
        </p:spPr>
        <p:txBody>
          <a:bodyPr wrap="square">
            <a:spAutoFit/>
          </a:bodyPr>
          <a:lstStyle/>
          <a:p>
            <a:r>
              <a:rPr sz="1900" b="1">
                <a:solidFill>
                  <a:srgbClr val="1B5E6B"/>
                </a:solidFill>
                <a:latin typeface="Bricolage Grotesque"/>
              </a:rPr>
              <a:t>3.  </a:t>
            </a:r>
            <a:r>
              <a:rPr sz="1900">
                <a:solidFill>
                  <a:srgbClr val="333333"/>
                </a:solidFill>
                <a:latin typeface="Bricolage Grotesque"/>
              </a:rPr>
              <a:t>Point 1 : sélectionnez la zone, décrivez le changement et ce qui reste.</a:t>
            </a:r>
          </a:p>
        </p:txBody>
      </p:sp>
      <p:sp>
        <p:nvSpPr>
          <p:cNvPr id="15" name="TextBox 14"/>
          <p:cNvSpPr txBox="1"/>
          <p:nvPr/>
        </p:nvSpPr>
        <p:spPr>
          <a:xfrm>
            <a:off x="640080" y="4398264"/>
            <a:ext cx="10881360" cy="411480"/>
          </a:xfrm>
          <a:prstGeom prst="rect">
            <a:avLst/>
          </a:prstGeom>
          <a:noFill/>
        </p:spPr>
        <p:txBody>
          <a:bodyPr wrap="square">
            <a:spAutoFit/>
          </a:bodyPr>
          <a:lstStyle/>
          <a:p>
            <a:r>
              <a:rPr sz="1900" b="1">
                <a:solidFill>
                  <a:srgbClr val="1B5E6B"/>
                </a:solidFill>
                <a:latin typeface="Bricolage Grotesque"/>
              </a:rPr>
              <a:t>4.  </a:t>
            </a:r>
            <a:r>
              <a:rPr sz="1900">
                <a:solidFill>
                  <a:srgbClr val="333333"/>
                </a:solidFill>
                <a:latin typeface="Bricolage Grotesque"/>
              </a:rPr>
              <a:t>Vérifiez hors de la zone. Puis point 2, puis point 3 : un par message.</a:t>
            </a:r>
          </a:p>
        </p:txBody>
      </p:sp>
      <p:sp>
        <p:nvSpPr>
          <p:cNvPr id="16" name="TextBox 15"/>
          <p:cNvSpPr txBox="1"/>
          <p:nvPr/>
        </p:nvSpPr>
        <p:spPr>
          <a:xfrm>
            <a:off x="640080" y="4919472"/>
            <a:ext cx="10881360" cy="411480"/>
          </a:xfrm>
          <a:prstGeom prst="rect">
            <a:avLst/>
          </a:prstGeom>
          <a:noFill/>
        </p:spPr>
        <p:txBody>
          <a:bodyPr wrap="square">
            <a:spAutoFit/>
          </a:bodyPr>
          <a:lstStyle/>
          <a:p>
            <a:r>
              <a:rPr sz="1900" b="1">
                <a:solidFill>
                  <a:srgbClr val="1B5E6B"/>
                </a:solidFill>
                <a:latin typeface="Bricolage Grotesque"/>
              </a:rPr>
              <a:t>5.  </a:t>
            </a:r>
            <a:r>
              <a:rPr sz="1900">
                <a:solidFill>
                  <a:srgbClr val="333333"/>
                </a:solidFill>
                <a:latin typeface="Bricolage Grotesque"/>
              </a:rPr>
              <a:t>Gardez la meilleure version : téléchargez-la.</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Les phrases à adapter</a:t>
            </a:r>
          </a:p>
        </p:txBody>
      </p:sp>
      <p:sp>
        <p:nvSpPr>
          <p:cNvPr id="5" name="TextBox 4"/>
          <p:cNvSpPr txBox="1"/>
          <p:nvPr/>
        </p:nvSpPr>
        <p:spPr>
          <a:xfrm>
            <a:off x="640080" y="1554480"/>
            <a:ext cx="10881360" cy="411480"/>
          </a:xfrm>
          <a:prstGeom prst="rect">
            <a:avLst/>
          </a:prstGeom>
          <a:noFill/>
        </p:spPr>
        <p:txBody>
          <a:bodyPr wrap="square">
            <a:spAutoFit/>
          </a:bodyPr>
          <a:lstStyle/>
          <a:p>
            <a:r>
              <a:rPr sz="2000" b="0">
                <a:solidFill>
                  <a:srgbClr val="0F2B3A"/>
                </a:solidFill>
                <a:latin typeface="Consolas"/>
              </a:rPr>
              <a:t>Dans la zone sélectionnée, [le changement]. Ne modifie rien</a:t>
            </a:r>
          </a:p>
        </p:txBody>
      </p:sp>
      <p:sp>
        <p:nvSpPr>
          <p:cNvPr id="6" name="TextBox 5"/>
          <p:cNvSpPr txBox="1"/>
          <p:nvPr/>
        </p:nvSpPr>
        <p:spPr>
          <a:xfrm>
            <a:off x="640080" y="2075688"/>
            <a:ext cx="10881360" cy="411480"/>
          </a:xfrm>
          <a:prstGeom prst="rect">
            <a:avLst/>
          </a:prstGeom>
          <a:noFill/>
        </p:spPr>
        <p:txBody>
          <a:bodyPr wrap="square">
            <a:spAutoFit/>
          </a:bodyPr>
          <a:lstStyle/>
          <a:p>
            <a:r>
              <a:rPr sz="2000" b="0">
                <a:solidFill>
                  <a:srgbClr val="0F2B3A"/>
                </a:solidFill>
                <a:latin typeface="Consolas"/>
              </a:rPr>
              <a:t>d'autre : ni les couleurs, ni le cadrage, ni le texte.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Les phrases à adapter</a:t>
            </a:r>
          </a:p>
        </p:txBody>
      </p:sp>
      <p:sp>
        <p:nvSpPr>
          <p:cNvPr id="5" name="TextBox 4"/>
          <p:cNvSpPr txBox="1"/>
          <p:nvPr/>
        </p:nvSpPr>
        <p:spPr>
          <a:xfrm>
            <a:off x="640080" y="1554480"/>
            <a:ext cx="10881360" cy="411480"/>
          </a:xfrm>
          <a:prstGeom prst="rect">
            <a:avLst/>
          </a:prstGeom>
          <a:noFill/>
        </p:spPr>
        <p:txBody>
          <a:bodyPr wrap="square">
            <a:spAutoFit/>
          </a:bodyPr>
          <a:lstStyle/>
          <a:p>
            <a:r>
              <a:rPr sz="2000" b="0">
                <a:solidFill>
                  <a:srgbClr val="0F2B3A"/>
                </a:solidFill>
                <a:latin typeface="Consolas"/>
              </a:rPr>
              <a:t>Dans la zone sélectionnée, [le changement]. Ne modifie rien</a:t>
            </a:r>
          </a:p>
        </p:txBody>
      </p:sp>
      <p:sp>
        <p:nvSpPr>
          <p:cNvPr id="6" name="TextBox 5"/>
          <p:cNvSpPr txBox="1"/>
          <p:nvPr/>
        </p:nvSpPr>
        <p:spPr>
          <a:xfrm>
            <a:off x="640080" y="2075688"/>
            <a:ext cx="10881360" cy="411480"/>
          </a:xfrm>
          <a:prstGeom prst="rect">
            <a:avLst/>
          </a:prstGeom>
          <a:noFill/>
        </p:spPr>
        <p:txBody>
          <a:bodyPr wrap="square">
            <a:spAutoFit/>
          </a:bodyPr>
          <a:lstStyle/>
          <a:p>
            <a:r>
              <a:rPr sz="2000" b="0">
                <a:solidFill>
                  <a:srgbClr val="0F2B3A"/>
                </a:solidFill>
                <a:latin typeface="Consolas"/>
              </a:rPr>
              <a:t>d'autre : ni les couleurs, ni le cadrage, ni le texte.</a:t>
            </a:r>
          </a:p>
        </p:txBody>
      </p:sp>
      <p:sp>
        <p:nvSpPr>
          <p:cNvPr id="7" name="TextBox 6"/>
          <p:cNvSpPr txBox="1"/>
          <p:nvPr/>
        </p:nvSpPr>
        <p:spPr>
          <a:xfrm>
            <a:off x="640080" y="2834640"/>
            <a:ext cx="10881360" cy="411480"/>
          </a:xfrm>
          <a:prstGeom prst="rect">
            <a:avLst/>
          </a:prstGeom>
          <a:noFill/>
        </p:spPr>
        <p:txBody>
          <a:bodyPr wrap="square">
            <a:spAutoFit/>
          </a:bodyPr>
          <a:lstStyle/>
          <a:p>
            <a:r>
              <a:rPr sz="2000" b="0">
                <a:solidFill>
                  <a:srgbClr val="0F2B3A"/>
                </a:solidFill>
                <a:latin typeface="Consolas"/>
              </a:rPr>
              <a:t>Recrée exactement ce visuel sans aucun texte, en gardant</a:t>
            </a:r>
          </a:p>
        </p:txBody>
      </p:sp>
      <p:sp>
        <p:nvSpPr>
          <p:cNvPr id="8" name="TextBox 7"/>
          <p:cNvSpPr txBox="1"/>
          <p:nvPr/>
        </p:nvSpPr>
        <p:spPr>
          <a:xfrm>
            <a:off x="640080" y="3355848"/>
            <a:ext cx="10881360" cy="411480"/>
          </a:xfrm>
          <a:prstGeom prst="rect">
            <a:avLst/>
          </a:prstGeom>
          <a:noFill/>
        </p:spPr>
        <p:txBody>
          <a:bodyPr wrap="square">
            <a:spAutoFit/>
          </a:bodyPr>
          <a:lstStyle/>
          <a:p>
            <a:r>
              <a:rPr sz="2000" b="0">
                <a:solidFill>
                  <a:srgbClr val="0F2B3A"/>
                </a:solidFill>
                <a:latin typeface="Consolas"/>
              </a:rPr>
              <a:t>le haut de l'image dégagé pour le titre.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Les phrases à adapter</a:t>
            </a:r>
          </a:p>
        </p:txBody>
      </p:sp>
      <p:sp>
        <p:nvSpPr>
          <p:cNvPr id="5" name="TextBox 4"/>
          <p:cNvSpPr txBox="1"/>
          <p:nvPr/>
        </p:nvSpPr>
        <p:spPr>
          <a:xfrm>
            <a:off x="640080" y="1554480"/>
            <a:ext cx="10881360" cy="411480"/>
          </a:xfrm>
          <a:prstGeom prst="rect">
            <a:avLst/>
          </a:prstGeom>
          <a:noFill/>
        </p:spPr>
        <p:txBody>
          <a:bodyPr wrap="square">
            <a:spAutoFit/>
          </a:bodyPr>
          <a:lstStyle/>
          <a:p>
            <a:r>
              <a:rPr sz="2000" b="0">
                <a:solidFill>
                  <a:srgbClr val="0F2B3A"/>
                </a:solidFill>
                <a:latin typeface="Consolas"/>
              </a:rPr>
              <a:t>Dans la zone sélectionnée, [le changement]. Ne modifie rien</a:t>
            </a:r>
          </a:p>
        </p:txBody>
      </p:sp>
      <p:sp>
        <p:nvSpPr>
          <p:cNvPr id="6" name="TextBox 5"/>
          <p:cNvSpPr txBox="1"/>
          <p:nvPr/>
        </p:nvSpPr>
        <p:spPr>
          <a:xfrm>
            <a:off x="640080" y="2075688"/>
            <a:ext cx="10881360" cy="411480"/>
          </a:xfrm>
          <a:prstGeom prst="rect">
            <a:avLst/>
          </a:prstGeom>
          <a:noFill/>
        </p:spPr>
        <p:txBody>
          <a:bodyPr wrap="square">
            <a:spAutoFit/>
          </a:bodyPr>
          <a:lstStyle/>
          <a:p>
            <a:r>
              <a:rPr sz="2000" b="0">
                <a:solidFill>
                  <a:srgbClr val="0F2B3A"/>
                </a:solidFill>
                <a:latin typeface="Consolas"/>
              </a:rPr>
              <a:t>d'autre : ni les couleurs, ni le cadrage, ni le texte.</a:t>
            </a:r>
          </a:p>
        </p:txBody>
      </p:sp>
      <p:sp>
        <p:nvSpPr>
          <p:cNvPr id="7" name="TextBox 6"/>
          <p:cNvSpPr txBox="1"/>
          <p:nvPr/>
        </p:nvSpPr>
        <p:spPr>
          <a:xfrm>
            <a:off x="640080" y="2834640"/>
            <a:ext cx="10881360" cy="411480"/>
          </a:xfrm>
          <a:prstGeom prst="rect">
            <a:avLst/>
          </a:prstGeom>
          <a:noFill/>
        </p:spPr>
        <p:txBody>
          <a:bodyPr wrap="square">
            <a:spAutoFit/>
          </a:bodyPr>
          <a:lstStyle/>
          <a:p>
            <a:r>
              <a:rPr sz="2000" b="0">
                <a:solidFill>
                  <a:srgbClr val="0F2B3A"/>
                </a:solidFill>
                <a:latin typeface="Consolas"/>
              </a:rPr>
              <a:t>Recrée exactement ce visuel sans aucun texte, en gardant</a:t>
            </a:r>
          </a:p>
        </p:txBody>
      </p:sp>
      <p:sp>
        <p:nvSpPr>
          <p:cNvPr id="8" name="TextBox 7"/>
          <p:cNvSpPr txBox="1"/>
          <p:nvPr/>
        </p:nvSpPr>
        <p:spPr>
          <a:xfrm>
            <a:off x="640080" y="3355848"/>
            <a:ext cx="10881360" cy="411480"/>
          </a:xfrm>
          <a:prstGeom prst="rect">
            <a:avLst/>
          </a:prstGeom>
          <a:noFill/>
        </p:spPr>
        <p:txBody>
          <a:bodyPr wrap="square">
            <a:spAutoFit/>
          </a:bodyPr>
          <a:lstStyle/>
          <a:p>
            <a:r>
              <a:rPr sz="2000" b="0">
                <a:solidFill>
                  <a:srgbClr val="0F2B3A"/>
                </a:solidFill>
                <a:latin typeface="Consolas"/>
              </a:rPr>
              <a:t>le haut de l'image dégagé pour le titre.</a:t>
            </a:r>
          </a:p>
        </p:txBody>
      </p:sp>
      <p:sp>
        <p:nvSpPr>
          <p:cNvPr id="9" name="TextBox 8"/>
          <p:cNvSpPr txBox="1"/>
          <p:nvPr/>
        </p:nvSpPr>
        <p:spPr>
          <a:xfrm>
            <a:off x="640080" y="4114800"/>
            <a:ext cx="10881360" cy="411480"/>
          </a:xfrm>
          <a:prstGeom prst="rect">
            <a:avLst/>
          </a:prstGeom>
          <a:noFill/>
        </p:spPr>
        <p:txBody>
          <a:bodyPr wrap="square">
            <a:spAutoFit/>
          </a:bodyPr>
          <a:lstStyle/>
          <a:p>
            <a:r>
              <a:rPr sz="2000" b="0">
                <a:solidFill>
                  <a:srgbClr val="0F2B3A"/>
                </a:solidFill>
                <a:latin typeface="Consolas"/>
              </a:rPr>
              <a:t>Décline ce visuel au format carré 1:1 pour une publication :</a:t>
            </a:r>
          </a:p>
        </p:txBody>
      </p:sp>
      <p:sp>
        <p:nvSpPr>
          <p:cNvPr id="10" name="TextBox 9"/>
          <p:cNvSpPr txBox="1"/>
          <p:nvPr/>
        </p:nvSpPr>
        <p:spPr>
          <a:xfrm>
            <a:off x="640080" y="4636008"/>
            <a:ext cx="10881360" cy="411480"/>
          </a:xfrm>
          <a:prstGeom prst="rect">
            <a:avLst/>
          </a:prstGeom>
          <a:noFill/>
        </p:spPr>
        <p:txBody>
          <a:bodyPr wrap="square">
            <a:spAutoFit/>
          </a:bodyPr>
          <a:lstStyle/>
          <a:p>
            <a:r>
              <a:rPr sz="2000" b="0">
                <a:solidFill>
                  <a:srgbClr val="0F2B3A"/>
                </a:solidFill>
                <a:latin typeface="Consolas"/>
              </a:rPr>
              <a:t>même style, même palette, aucun texte.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Exercice 1 · Partie B : texte et formats</a:t>
            </a:r>
          </a:p>
        </p:txBody>
      </p:sp>
      <p:sp>
        <p:nvSpPr>
          <p:cNvPr id="5" name="Rounded Rectangle 4"/>
          <p:cNvSpPr/>
          <p:nvPr/>
        </p:nvSpPr>
        <p:spPr>
          <a:xfrm>
            <a:off x="640080" y="1417320"/>
            <a:ext cx="10881360" cy="1143000"/>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08760"/>
            <a:ext cx="4023359" cy="320040"/>
          </a:xfrm>
          <a:prstGeom prst="rect">
            <a:avLst/>
          </a:prstGeom>
          <a:noFill/>
        </p:spPr>
        <p:txBody>
          <a:bodyPr wrap="square">
            <a:spAutoFit/>
          </a:bodyPr>
          <a:lstStyle/>
          <a:p>
            <a:pPr algn="l"/>
            <a:r>
              <a:rPr sz="1400" b="1">
                <a:solidFill>
                  <a:srgbClr val="E8A000"/>
                </a:solidFill>
                <a:latin typeface="Bricolage Grotesque"/>
              </a:rPr>
              <a:t>OBJECTIF</a:t>
            </a:r>
          </a:p>
        </p:txBody>
      </p:sp>
      <p:sp>
        <p:nvSpPr>
          <p:cNvPr id="7" name="TextBox 6"/>
          <p:cNvSpPr txBox="1"/>
          <p:nvPr/>
        </p:nvSpPr>
        <p:spPr>
          <a:xfrm>
            <a:off x="868680" y="1810512"/>
            <a:ext cx="4023359" cy="685800"/>
          </a:xfrm>
          <a:prstGeom prst="rect">
            <a:avLst/>
          </a:prstGeom>
          <a:noFill/>
        </p:spPr>
        <p:txBody>
          <a:bodyPr wrap="square">
            <a:spAutoFit/>
          </a:bodyPr>
          <a:lstStyle/>
          <a:p>
            <a:pPr algn="l"/>
            <a:r>
              <a:rPr sz="1600" b="0">
                <a:solidFill>
                  <a:srgbClr val="1A1A1A"/>
                </a:solidFill>
                <a:latin typeface="Bricolage Grotesque"/>
              </a:rPr>
              <a:t>Un support propre, texte fiable, en deux formats</a:t>
            </a:r>
          </a:p>
        </p:txBody>
      </p:sp>
      <p:sp>
        <p:nvSpPr>
          <p:cNvPr id="8" name="TextBox 7"/>
          <p:cNvSpPr txBox="1"/>
          <p:nvPr/>
        </p:nvSpPr>
        <p:spPr>
          <a:xfrm>
            <a:off x="5074920" y="1508760"/>
            <a:ext cx="4389120" cy="320040"/>
          </a:xfrm>
          <a:prstGeom prst="rect">
            <a:avLst/>
          </a:prstGeom>
          <a:noFill/>
        </p:spPr>
        <p:txBody>
          <a:bodyPr wrap="square">
            <a:spAutoFit/>
          </a:bodyPr>
          <a:lstStyle/>
          <a:p>
            <a:pPr algn="l"/>
            <a:r>
              <a:rPr sz="1400" b="1">
                <a:solidFill>
                  <a:srgbClr val="E8A000"/>
                </a:solidFill>
                <a:latin typeface="Bricolage Grotesque"/>
              </a:rPr>
              <a:t>LIVRABLE</a:t>
            </a:r>
          </a:p>
        </p:txBody>
      </p:sp>
      <p:sp>
        <p:nvSpPr>
          <p:cNvPr id="9" name="TextBox 8"/>
          <p:cNvSpPr txBox="1"/>
          <p:nvPr/>
        </p:nvSpPr>
        <p:spPr>
          <a:xfrm>
            <a:off x="5074920" y="1810512"/>
            <a:ext cx="4389120" cy="685800"/>
          </a:xfrm>
          <a:prstGeom prst="rect">
            <a:avLst/>
          </a:prstGeom>
          <a:noFill/>
        </p:spPr>
        <p:txBody>
          <a:bodyPr wrap="square">
            <a:spAutoFit/>
          </a:bodyPr>
          <a:lstStyle/>
          <a:p>
            <a:pPr algn="l"/>
            <a:r>
              <a:rPr sz="1600" b="0">
                <a:solidFill>
                  <a:srgbClr val="1A1A1A"/>
                </a:solidFill>
                <a:latin typeface="Bricolage Grotesque"/>
              </a:rPr>
              <a:t>Affiche A4 et publication carrée, prêtes à diffuser</a:t>
            </a:r>
          </a:p>
        </p:txBody>
      </p:sp>
      <p:sp>
        <p:nvSpPr>
          <p:cNvPr id="10" name="TextBox 9"/>
          <p:cNvSpPr txBox="1"/>
          <p:nvPr/>
        </p:nvSpPr>
        <p:spPr>
          <a:xfrm>
            <a:off x="9646920" y="1508760"/>
            <a:ext cx="1554480" cy="320040"/>
          </a:xfrm>
          <a:prstGeom prst="rect">
            <a:avLst/>
          </a:prstGeom>
          <a:noFill/>
        </p:spPr>
        <p:txBody>
          <a:bodyPr wrap="square">
            <a:spAutoFit/>
          </a:bodyPr>
          <a:lstStyle/>
          <a:p>
            <a:pPr algn="l"/>
            <a:r>
              <a:rPr sz="1400" b="1">
                <a:solidFill>
                  <a:srgbClr val="E8A000"/>
                </a:solidFill>
                <a:latin typeface="Bricolage Grotesque"/>
              </a:rPr>
              <a:t>DURÉE</a:t>
            </a:r>
          </a:p>
        </p:txBody>
      </p:sp>
      <p:sp>
        <p:nvSpPr>
          <p:cNvPr id="11" name="TextBox 10"/>
          <p:cNvSpPr txBox="1"/>
          <p:nvPr/>
        </p:nvSpPr>
        <p:spPr>
          <a:xfrm>
            <a:off x="9646920" y="1810512"/>
            <a:ext cx="1554480" cy="685800"/>
          </a:xfrm>
          <a:prstGeom prst="rect">
            <a:avLst/>
          </a:prstGeom>
          <a:noFill/>
        </p:spPr>
        <p:txBody>
          <a:bodyPr wrap="square">
            <a:spAutoFit/>
          </a:bodyPr>
          <a:lstStyle/>
          <a:p>
            <a:pPr algn="l"/>
            <a:r>
              <a:rPr sz="1600" b="0">
                <a:solidFill>
                  <a:srgbClr val="1A1A1A"/>
                </a:solidFill>
                <a:latin typeface="Bricolage Grotesque"/>
              </a:rPr>
              <a:t>15 min</a:t>
            </a:r>
          </a:p>
        </p:txBody>
      </p:sp>
      <p:sp>
        <p:nvSpPr>
          <p:cNvPr id="12" name="TextBox 11"/>
          <p:cNvSpPr txBox="1"/>
          <p:nvPr/>
        </p:nvSpPr>
        <p:spPr>
          <a:xfrm>
            <a:off x="640080" y="2834640"/>
            <a:ext cx="10881360" cy="411480"/>
          </a:xfrm>
          <a:prstGeom prst="rect">
            <a:avLst/>
          </a:prstGeom>
          <a:noFill/>
        </p:spPr>
        <p:txBody>
          <a:bodyPr wrap="square">
            <a:spAutoFit/>
          </a:bodyPr>
          <a:lstStyle/>
          <a:p>
            <a:r>
              <a:rPr sz="1900" b="1">
                <a:solidFill>
                  <a:srgbClr val="1B5E6B"/>
                </a:solidFill>
                <a:latin typeface="Bricolage Grotesque"/>
              </a:rPr>
              <a:t>1.  </a:t>
            </a:r>
            <a:r>
              <a:rPr sz="1900">
                <a:solidFill>
                  <a:srgbClr val="333333"/>
                </a:solidFill>
                <a:latin typeface="Bricolage Grotesque"/>
              </a:rPr>
              <a:t>Demandez à ChatGPT la version sans texte, puis téléchargez-la.</a:t>
            </a:r>
          </a:p>
        </p:txBody>
      </p:sp>
      <p:sp>
        <p:nvSpPr>
          <p:cNvPr id="13" name="TextBox 12"/>
          <p:cNvSpPr txBox="1"/>
          <p:nvPr/>
        </p:nvSpPr>
        <p:spPr>
          <a:xfrm>
            <a:off x="640080" y="3355848"/>
            <a:ext cx="10881360" cy="411480"/>
          </a:xfrm>
          <a:prstGeom prst="rect">
            <a:avLst/>
          </a:prstGeom>
          <a:noFill/>
        </p:spPr>
        <p:txBody>
          <a:bodyPr wrap="square">
            <a:spAutoFit/>
          </a:bodyPr>
          <a:lstStyle/>
          <a:p>
            <a:r>
              <a:rPr sz="1900" b="1">
                <a:solidFill>
                  <a:srgbClr val="1B5E6B"/>
                </a:solidFill>
                <a:latin typeface="Bricolage Grotesque"/>
              </a:rPr>
              <a:t>2.  </a:t>
            </a:r>
            <a:r>
              <a:rPr sz="1900">
                <a:solidFill>
                  <a:srgbClr val="333333"/>
                </a:solidFill>
                <a:latin typeface="Bricolage Grotesque"/>
              </a:rPr>
              <a:t>Canva › nouveau design A4 › importez l'image en fond.</a:t>
            </a:r>
          </a:p>
        </p:txBody>
      </p:sp>
      <p:sp>
        <p:nvSpPr>
          <p:cNvPr id="14" name="TextBox 13"/>
          <p:cNvSpPr txBox="1"/>
          <p:nvPr/>
        </p:nvSpPr>
        <p:spPr>
          <a:xfrm>
            <a:off x="640080" y="3877056"/>
            <a:ext cx="10881360" cy="411480"/>
          </a:xfrm>
          <a:prstGeom prst="rect">
            <a:avLst/>
          </a:prstGeom>
          <a:noFill/>
        </p:spPr>
        <p:txBody>
          <a:bodyPr wrap="square">
            <a:spAutoFit/>
          </a:bodyPr>
          <a:lstStyle/>
          <a:p>
            <a:r>
              <a:rPr sz="1900" b="1">
                <a:solidFill>
                  <a:srgbClr val="1B5E6B"/>
                </a:solidFill>
                <a:latin typeface="Bricolage Grotesque"/>
              </a:rPr>
              <a:t>3.  </a:t>
            </a:r>
            <a:r>
              <a:rPr sz="1900">
                <a:solidFill>
                  <a:srgbClr val="333333"/>
                </a:solidFill>
                <a:latin typeface="Bricolage Grotesque"/>
              </a:rPr>
              <a:t>Canva AI : « Ajoute titre, date, heure et lieu, lisibles de loin. »</a:t>
            </a:r>
          </a:p>
        </p:txBody>
      </p:sp>
      <p:sp>
        <p:nvSpPr>
          <p:cNvPr id="15" name="TextBox 14"/>
          <p:cNvSpPr txBox="1"/>
          <p:nvPr/>
        </p:nvSpPr>
        <p:spPr>
          <a:xfrm>
            <a:off x="640080" y="4398264"/>
            <a:ext cx="10881360" cy="411480"/>
          </a:xfrm>
          <a:prstGeom prst="rect">
            <a:avLst/>
          </a:prstGeom>
          <a:noFill/>
        </p:spPr>
        <p:txBody>
          <a:bodyPr wrap="square">
            <a:spAutoFit/>
          </a:bodyPr>
          <a:lstStyle/>
          <a:p>
            <a:r>
              <a:rPr sz="1900" b="1">
                <a:solidFill>
                  <a:srgbClr val="1B5E6B"/>
                </a:solidFill>
                <a:latin typeface="Bricolage Grotesque"/>
              </a:rPr>
              <a:t>4.  </a:t>
            </a:r>
            <a:r>
              <a:rPr sz="1900">
                <a:solidFill>
                  <a:srgbClr val="333333"/>
                </a:solidFill>
                <a:latin typeface="Bricolage Grotesque"/>
              </a:rPr>
              <a:t>Vérifiez : chaque texte est un calque, corrigez à la main si besoin.</a:t>
            </a:r>
          </a:p>
        </p:txBody>
      </p:sp>
      <p:sp>
        <p:nvSpPr>
          <p:cNvPr id="16" name="TextBox 15"/>
          <p:cNvSpPr txBox="1"/>
          <p:nvPr/>
        </p:nvSpPr>
        <p:spPr>
          <a:xfrm>
            <a:off x="640080" y="4919472"/>
            <a:ext cx="10881360" cy="411480"/>
          </a:xfrm>
          <a:prstGeom prst="rect">
            <a:avLst/>
          </a:prstGeom>
          <a:noFill/>
        </p:spPr>
        <p:txBody>
          <a:bodyPr wrap="square">
            <a:spAutoFit/>
          </a:bodyPr>
          <a:lstStyle/>
          <a:p>
            <a:r>
              <a:rPr sz="1900" b="1">
                <a:solidFill>
                  <a:srgbClr val="1B5E6B"/>
                </a:solidFill>
                <a:latin typeface="Bricolage Grotesque"/>
              </a:rPr>
              <a:t>5.  </a:t>
            </a:r>
            <a:r>
              <a:rPr sz="1900">
                <a:solidFill>
                  <a:srgbClr val="333333"/>
                </a:solidFill>
                <a:latin typeface="Bricolage Grotesque"/>
              </a:rPr>
              <a:t>Canva AI : « Décline ce design en publication carrée. »</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Avant de valider : vos critères</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Tirés de vos propres instructions graphiques</a:t>
            </a:r>
          </a:p>
        </p:txBody>
      </p:sp>
      <p:sp>
        <p:nvSpPr>
          <p:cNvPr id="6" name="TextBox 5"/>
          <p:cNvSpPr txBox="1"/>
          <p:nvPr/>
        </p:nvSpPr>
        <p:spPr>
          <a:xfrm>
            <a:off x="640080" y="2331720"/>
            <a:ext cx="10881360" cy="411480"/>
          </a:xfrm>
          <a:prstGeom prst="rect">
            <a:avLst/>
          </a:prstGeom>
          <a:noFill/>
        </p:spPr>
        <p:txBody>
          <a:bodyPr wrap="square">
            <a:spAutoFit/>
          </a:bodyPr>
          <a:lstStyle/>
          <a:p>
            <a:r>
              <a:rPr sz="2000" b="1">
                <a:solidFill>
                  <a:srgbClr val="1B5E6B"/>
                </a:solidFill>
                <a:latin typeface="Bricolage Grotesque"/>
              </a:rPr>
              <a:t>☐  La hiérarchie : on lit d'abord quoi, puis quand, puis où.</a:t>
            </a:r>
          </a:p>
        </p:txBody>
      </p:sp>
      <p:sp>
        <p:nvSpPr>
          <p:cNvPr id="7" name="TextBox 6"/>
          <p:cNvSpPr txBox="1"/>
          <p:nvPr/>
        </p:nvSpPr>
        <p:spPr>
          <a:xfrm>
            <a:off x="640080" y="2852928"/>
            <a:ext cx="10881360" cy="411480"/>
          </a:xfrm>
          <a:prstGeom prst="rect">
            <a:avLst/>
          </a:prstGeom>
          <a:noFill/>
        </p:spPr>
        <p:txBody>
          <a:bodyPr wrap="square">
            <a:spAutoFit/>
          </a:bodyPr>
          <a:lstStyle/>
          <a:p>
            <a:r>
              <a:rPr sz="2000" b="1">
                <a:solidFill>
                  <a:srgbClr val="1B5E6B"/>
                </a:solidFill>
                <a:latin typeface="Bricolage Grotesque"/>
              </a:rPr>
              <a:t>☐  Les textes exacts : date, heure, lieu, contact, relus un par un.</a:t>
            </a:r>
          </a:p>
        </p:txBody>
      </p:sp>
      <p:sp>
        <p:nvSpPr>
          <p:cNvPr id="8" name="TextBox 7"/>
          <p:cNvSpPr txBox="1"/>
          <p:nvPr/>
        </p:nvSpPr>
        <p:spPr>
          <a:xfrm>
            <a:off x="640080" y="3374136"/>
            <a:ext cx="10881360" cy="411480"/>
          </a:xfrm>
          <a:prstGeom prst="rect">
            <a:avLst/>
          </a:prstGeom>
          <a:noFill/>
        </p:spPr>
        <p:txBody>
          <a:bodyPr wrap="square">
            <a:spAutoFit/>
          </a:bodyPr>
          <a:lstStyle/>
          <a:p>
            <a:r>
              <a:rPr sz="2000" b="1">
                <a:solidFill>
                  <a:srgbClr val="1B5E6B"/>
                </a:solidFill>
                <a:latin typeface="Bricolage Grotesque"/>
              </a:rPr>
              <a:t>☐  Le blanc tournant : des marges, de l'air, rien de collé au bord.</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Avant de valider : vos critères</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Tirés de vos propres instructions graphiques</a:t>
            </a:r>
          </a:p>
        </p:txBody>
      </p:sp>
      <p:sp>
        <p:nvSpPr>
          <p:cNvPr id="6" name="TextBox 5"/>
          <p:cNvSpPr txBox="1"/>
          <p:nvPr/>
        </p:nvSpPr>
        <p:spPr>
          <a:xfrm>
            <a:off x="640080" y="2331720"/>
            <a:ext cx="10881360" cy="411480"/>
          </a:xfrm>
          <a:prstGeom prst="rect">
            <a:avLst/>
          </a:prstGeom>
          <a:noFill/>
        </p:spPr>
        <p:txBody>
          <a:bodyPr wrap="square">
            <a:spAutoFit/>
          </a:bodyPr>
          <a:lstStyle/>
          <a:p>
            <a:r>
              <a:rPr sz="2000" b="1">
                <a:solidFill>
                  <a:srgbClr val="1B5E6B"/>
                </a:solidFill>
                <a:latin typeface="Bricolage Grotesque"/>
              </a:rPr>
              <a:t>☐  La hiérarchie : on lit d'abord quoi, puis quand, puis où.</a:t>
            </a:r>
          </a:p>
        </p:txBody>
      </p:sp>
      <p:sp>
        <p:nvSpPr>
          <p:cNvPr id="7" name="TextBox 6"/>
          <p:cNvSpPr txBox="1"/>
          <p:nvPr/>
        </p:nvSpPr>
        <p:spPr>
          <a:xfrm>
            <a:off x="640080" y="2852928"/>
            <a:ext cx="10881360" cy="411480"/>
          </a:xfrm>
          <a:prstGeom prst="rect">
            <a:avLst/>
          </a:prstGeom>
          <a:noFill/>
        </p:spPr>
        <p:txBody>
          <a:bodyPr wrap="square">
            <a:spAutoFit/>
          </a:bodyPr>
          <a:lstStyle/>
          <a:p>
            <a:r>
              <a:rPr sz="2000" b="1">
                <a:solidFill>
                  <a:srgbClr val="1B5E6B"/>
                </a:solidFill>
                <a:latin typeface="Bricolage Grotesque"/>
              </a:rPr>
              <a:t>☐  Les textes exacts : date, heure, lieu, contact, relus un par un.</a:t>
            </a:r>
          </a:p>
        </p:txBody>
      </p:sp>
      <p:sp>
        <p:nvSpPr>
          <p:cNvPr id="8" name="TextBox 7"/>
          <p:cNvSpPr txBox="1"/>
          <p:nvPr/>
        </p:nvSpPr>
        <p:spPr>
          <a:xfrm>
            <a:off x="640080" y="3374136"/>
            <a:ext cx="10881360" cy="411480"/>
          </a:xfrm>
          <a:prstGeom prst="rect">
            <a:avLst/>
          </a:prstGeom>
          <a:noFill/>
        </p:spPr>
        <p:txBody>
          <a:bodyPr wrap="square">
            <a:spAutoFit/>
          </a:bodyPr>
          <a:lstStyle/>
          <a:p>
            <a:r>
              <a:rPr sz="2000" b="1">
                <a:solidFill>
                  <a:srgbClr val="1B5E6B"/>
                </a:solidFill>
                <a:latin typeface="Bricolage Grotesque"/>
              </a:rPr>
              <a:t>☐  Le blanc tournant : des marges, de l'air, rien de collé au bord.</a:t>
            </a:r>
          </a:p>
        </p:txBody>
      </p:sp>
      <p:sp>
        <p:nvSpPr>
          <p:cNvPr id="9" name="TextBox 8"/>
          <p:cNvSpPr txBox="1"/>
          <p:nvPr/>
        </p:nvSpPr>
        <p:spPr>
          <a:xfrm>
            <a:off x="640080" y="4133088"/>
            <a:ext cx="10881360" cy="411480"/>
          </a:xfrm>
          <a:prstGeom prst="rect">
            <a:avLst/>
          </a:prstGeom>
          <a:noFill/>
        </p:spPr>
        <p:txBody>
          <a:bodyPr wrap="square">
            <a:spAutoFit/>
          </a:bodyPr>
          <a:lstStyle/>
          <a:p>
            <a:r>
              <a:rPr sz="2000" b="1">
                <a:solidFill>
                  <a:srgbClr val="1B5E6B"/>
                </a:solidFill>
                <a:latin typeface="Bricolage Grotesque"/>
              </a:rPr>
              <a:t>☐  Pas d'élément décoratif qui n'apporte rien (pictos, effets).</a:t>
            </a:r>
          </a:p>
        </p:txBody>
      </p:sp>
      <p:sp>
        <p:nvSpPr>
          <p:cNvPr id="10" name="TextBox 9"/>
          <p:cNvSpPr txBox="1"/>
          <p:nvPr/>
        </p:nvSpPr>
        <p:spPr>
          <a:xfrm>
            <a:off x="640080" y="4654296"/>
            <a:ext cx="10881360" cy="411480"/>
          </a:xfrm>
          <a:prstGeom prst="rect">
            <a:avLst/>
          </a:prstGeom>
          <a:noFill/>
        </p:spPr>
        <p:txBody>
          <a:bodyPr wrap="square">
            <a:spAutoFit/>
          </a:bodyPr>
          <a:lstStyle/>
          <a:p>
            <a:r>
              <a:rPr sz="2000" b="1">
                <a:solidFill>
                  <a:srgbClr val="1B5E6B"/>
                </a:solidFill>
                <a:latin typeface="Bricolage Grotesque"/>
              </a:rPr>
              <a:t>☐  Lisible de loin pour l'affiche, sur un téléphone pour la publication.</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Bonus · Votre flyer piano, depuis ChatGPT</a:t>
            </a:r>
          </a:p>
        </p:txBody>
      </p:sp>
      <p:sp>
        <p:nvSpPr>
          <p:cNvPr id="5" name="Rounded Rectangle 4"/>
          <p:cNvSpPr/>
          <p:nvPr/>
        </p:nvSpPr>
        <p:spPr>
          <a:xfrm>
            <a:off x="640080" y="1417320"/>
            <a:ext cx="10881360" cy="1143000"/>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08760"/>
            <a:ext cx="4023359" cy="320040"/>
          </a:xfrm>
          <a:prstGeom prst="rect">
            <a:avLst/>
          </a:prstGeom>
          <a:noFill/>
        </p:spPr>
        <p:txBody>
          <a:bodyPr wrap="square">
            <a:spAutoFit/>
          </a:bodyPr>
          <a:lstStyle/>
          <a:p>
            <a:pPr algn="l"/>
            <a:r>
              <a:rPr sz="1400" b="1">
                <a:solidFill>
                  <a:srgbClr val="E8A000"/>
                </a:solidFill>
                <a:latin typeface="Bricolage Grotesque"/>
              </a:rPr>
              <a:t>OBJECTIF</a:t>
            </a:r>
          </a:p>
        </p:txBody>
      </p:sp>
      <p:sp>
        <p:nvSpPr>
          <p:cNvPr id="7" name="TextBox 6"/>
          <p:cNvSpPr txBox="1"/>
          <p:nvPr/>
        </p:nvSpPr>
        <p:spPr>
          <a:xfrm>
            <a:off x="868680" y="1810512"/>
            <a:ext cx="4023359" cy="685800"/>
          </a:xfrm>
          <a:prstGeom prst="rect">
            <a:avLst/>
          </a:prstGeom>
          <a:noFill/>
        </p:spPr>
        <p:txBody>
          <a:bodyPr wrap="square">
            <a:spAutoFit/>
          </a:bodyPr>
          <a:lstStyle/>
          <a:p>
            <a:pPr algn="l"/>
            <a:r>
              <a:rPr sz="1600" b="0">
                <a:solidFill>
                  <a:srgbClr val="1A1A1A"/>
                </a:solidFill>
                <a:latin typeface="Bricolage Grotesque"/>
              </a:rPr>
              <a:t>Tester le plugin Canva dans ChatGPT sur un vrai support</a:t>
            </a:r>
          </a:p>
        </p:txBody>
      </p:sp>
      <p:sp>
        <p:nvSpPr>
          <p:cNvPr id="8" name="TextBox 7"/>
          <p:cNvSpPr txBox="1"/>
          <p:nvPr/>
        </p:nvSpPr>
        <p:spPr>
          <a:xfrm>
            <a:off x="5074920" y="1508760"/>
            <a:ext cx="4389120" cy="320040"/>
          </a:xfrm>
          <a:prstGeom prst="rect">
            <a:avLst/>
          </a:prstGeom>
          <a:noFill/>
        </p:spPr>
        <p:txBody>
          <a:bodyPr wrap="square">
            <a:spAutoFit/>
          </a:bodyPr>
          <a:lstStyle/>
          <a:p>
            <a:pPr algn="l"/>
            <a:r>
              <a:rPr sz="1400" b="1">
                <a:solidFill>
                  <a:srgbClr val="E8A000"/>
                </a:solidFill>
                <a:latin typeface="Bricolage Grotesque"/>
              </a:rPr>
              <a:t>LIVRABLE</a:t>
            </a:r>
          </a:p>
        </p:txBody>
      </p:sp>
      <p:sp>
        <p:nvSpPr>
          <p:cNvPr id="9" name="TextBox 8"/>
          <p:cNvSpPr txBox="1"/>
          <p:nvPr/>
        </p:nvSpPr>
        <p:spPr>
          <a:xfrm>
            <a:off x="5074920" y="1810512"/>
            <a:ext cx="4389120" cy="685800"/>
          </a:xfrm>
          <a:prstGeom prst="rect">
            <a:avLst/>
          </a:prstGeom>
          <a:noFill/>
        </p:spPr>
        <p:txBody>
          <a:bodyPr wrap="square">
            <a:spAutoFit/>
          </a:bodyPr>
          <a:lstStyle/>
          <a:p>
            <a:pPr algn="l"/>
            <a:r>
              <a:rPr sz="1600" b="0">
                <a:solidFill>
                  <a:srgbClr val="1A1A1A"/>
                </a:solidFill>
                <a:latin typeface="Bricolage Grotesque"/>
              </a:rPr>
              <a:t>Un flyer modifiable dans Canva, prêt à finir</a:t>
            </a:r>
          </a:p>
        </p:txBody>
      </p:sp>
      <p:sp>
        <p:nvSpPr>
          <p:cNvPr id="10" name="TextBox 9"/>
          <p:cNvSpPr txBox="1"/>
          <p:nvPr/>
        </p:nvSpPr>
        <p:spPr>
          <a:xfrm>
            <a:off x="9646920" y="1508760"/>
            <a:ext cx="1554480" cy="320040"/>
          </a:xfrm>
          <a:prstGeom prst="rect">
            <a:avLst/>
          </a:prstGeom>
          <a:noFill/>
        </p:spPr>
        <p:txBody>
          <a:bodyPr wrap="square">
            <a:spAutoFit/>
          </a:bodyPr>
          <a:lstStyle/>
          <a:p>
            <a:pPr algn="l"/>
            <a:r>
              <a:rPr sz="1400" b="1">
                <a:solidFill>
                  <a:srgbClr val="E8A000"/>
                </a:solidFill>
                <a:latin typeface="Bricolage Grotesque"/>
              </a:rPr>
              <a:t>DURÉE</a:t>
            </a:r>
          </a:p>
        </p:txBody>
      </p:sp>
      <p:sp>
        <p:nvSpPr>
          <p:cNvPr id="11" name="TextBox 10"/>
          <p:cNvSpPr txBox="1"/>
          <p:nvPr/>
        </p:nvSpPr>
        <p:spPr>
          <a:xfrm>
            <a:off x="9646920" y="1810512"/>
            <a:ext cx="1554480" cy="685800"/>
          </a:xfrm>
          <a:prstGeom prst="rect">
            <a:avLst/>
          </a:prstGeom>
          <a:noFill/>
        </p:spPr>
        <p:txBody>
          <a:bodyPr wrap="square">
            <a:spAutoFit/>
          </a:bodyPr>
          <a:lstStyle/>
          <a:p>
            <a:pPr algn="l"/>
            <a:r>
              <a:rPr sz="1600" b="0">
                <a:solidFill>
                  <a:srgbClr val="1A1A1A"/>
                </a:solidFill>
                <a:latin typeface="Bricolage Grotesque"/>
              </a:rPr>
              <a:t>10 min</a:t>
            </a:r>
          </a:p>
        </p:txBody>
      </p:sp>
      <p:sp>
        <p:nvSpPr>
          <p:cNvPr id="12" name="TextBox 11"/>
          <p:cNvSpPr txBox="1"/>
          <p:nvPr/>
        </p:nvSpPr>
        <p:spPr>
          <a:xfrm>
            <a:off x="640080" y="2834640"/>
            <a:ext cx="10881360" cy="411480"/>
          </a:xfrm>
          <a:prstGeom prst="rect">
            <a:avLst/>
          </a:prstGeom>
          <a:noFill/>
        </p:spPr>
        <p:txBody>
          <a:bodyPr wrap="square">
            <a:spAutoFit/>
          </a:bodyPr>
          <a:lstStyle/>
          <a:p>
            <a:r>
              <a:rPr sz="1900" b="1">
                <a:solidFill>
                  <a:srgbClr val="1B5E6B"/>
                </a:solidFill>
                <a:latin typeface="Bricolage Grotesque"/>
              </a:rPr>
              <a:t>1.  </a:t>
            </a:r>
            <a:r>
              <a:rPr sz="1900">
                <a:solidFill>
                  <a:srgbClr val="333333"/>
                </a:solidFill>
                <a:latin typeface="Bricolage Grotesque"/>
              </a:rPr>
              <a:t>Dans ChatGPT, connectez Canva à votre compte (une seule fois).</a:t>
            </a:r>
          </a:p>
        </p:txBody>
      </p:sp>
      <p:sp>
        <p:nvSpPr>
          <p:cNvPr id="13" name="TextBox 12"/>
          <p:cNvSpPr txBox="1"/>
          <p:nvPr/>
        </p:nvSpPr>
        <p:spPr>
          <a:xfrm>
            <a:off x="640080" y="3355848"/>
            <a:ext cx="10881360" cy="411480"/>
          </a:xfrm>
          <a:prstGeom prst="rect">
            <a:avLst/>
          </a:prstGeom>
          <a:noFill/>
        </p:spPr>
        <p:txBody>
          <a:bodyPr wrap="square">
            <a:spAutoFit/>
          </a:bodyPr>
          <a:lstStyle/>
          <a:p>
            <a:r>
              <a:rPr sz="1900" b="1">
                <a:solidFill>
                  <a:srgbClr val="1B5E6B"/>
                </a:solidFill>
                <a:latin typeface="Bricolage Grotesque"/>
              </a:rPr>
              <a:t>2.  </a:t>
            </a:r>
            <a:r>
              <a:rPr sz="1900">
                <a:solidFill>
                  <a:srgbClr val="333333"/>
                </a:solidFill>
                <a:latin typeface="Bricolage Grotesque"/>
              </a:rPr>
              <a:t>Écrivez : « Canva, crée un flyer A5 avec ce texte : [titre, date, lieu] »</a:t>
            </a:r>
          </a:p>
        </p:txBody>
      </p:sp>
      <p:sp>
        <p:nvSpPr>
          <p:cNvPr id="14" name="TextBox 13"/>
          <p:cNvSpPr txBox="1"/>
          <p:nvPr/>
        </p:nvSpPr>
        <p:spPr>
          <a:xfrm>
            <a:off x="640080" y="3877056"/>
            <a:ext cx="10881360" cy="411480"/>
          </a:xfrm>
          <a:prstGeom prst="rect">
            <a:avLst/>
          </a:prstGeom>
          <a:noFill/>
        </p:spPr>
        <p:txBody>
          <a:bodyPr wrap="square">
            <a:spAutoFit/>
          </a:bodyPr>
          <a:lstStyle/>
          <a:p>
            <a:r>
              <a:rPr sz="1900" b="1">
                <a:solidFill>
                  <a:srgbClr val="1B5E6B"/>
                </a:solidFill>
                <a:latin typeface="Bricolage Grotesque"/>
              </a:rPr>
              <a:t>3.  </a:t>
            </a:r>
            <a:r>
              <a:rPr sz="1900">
                <a:solidFill>
                  <a:srgbClr val="333333"/>
                </a:solidFill>
                <a:latin typeface="Bricolage Grotesque"/>
              </a:rPr>
              <a:t>Ajustez en dialoguant : « titre plus court », « date plus visible ».</a:t>
            </a:r>
          </a:p>
        </p:txBody>
      </p:sp>
      <p:sp>
        <p:nvSpPr>
          <p:cNvPr id="15" name="TextBox 14"/>
          <p:cNvSpPr txBox="1"/>
          <p:nvPr/>
        </p:nvSpPr>
        <p:spPr>
          <a:xfrm>
            <a:off x="640080" y="4398264"/>
            <a:ext cx="10881360" cy="411480"/>
          </a:xfrm>
          <a:prstGeom prst="rect">
            <a:avLst/>
          </a:prstGeom>
          <a:noFill/>
        </p:spPr>
        <p:txBody>
          <a:bodyPr wrap="square">
            <a:spAutoFit/>
          </a:bodyPr>
          <a:lstStyle/>
          <a:p>
            <a:r>
              <a:rPr sz="1900" b="1">
                <a:solidFill>
                  <a:srgbClr val="1B5E6B"/>
                </a:solidFill>
                <a:latin typeface="Bricolage Grotesque"/>
              </a:rPr>
              <a:t>4.  </a:t>
            </a:r>
            <a:r>
              <a:rPr sz="1900">
                <a:solidFill>
                  <a:srgbClr val="333333"/>
                </a:solidFill>
                <a:latin typeface="Bricolage Grotesque"/>
              </a:rPr>
              <a:t>Ouvrez dans Canva pour finir et exporter. Comparez avec l'exercice 1.</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965960"/>
            <a:ext cx="2743200" cy="36576"/>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515600" cy="731520"/>
          </a:xfrm>
          <a:prstGeom prst="rect">
            <a:avLst/>
          </a:prstGeom>
          <a:noFill/>
        </p:spPr>
        <p:txBody>
          <a:bodyPr wrap="square">
            <a:spAutoFit/>
          </a:bodyPr>
          <a:lstStyle/>
          <a:p>
            <a:pPr algn="l"/>
            <a:r>
              <a:rPr sz="2200" b="1">
                <a:solidFill>
                  <a:srgbClr val="E8A000"/>
                </a:solidFill>
                <a:latin typeface="Bricolage Grotesque"/>
              </a:rPr>
              <a:t>Séquence 6</a:t>
            </a:r>
          </a:p>
        </p:txBody>
      </p:sp>
      <p:sp>
        <p:nvSpPr>
          <p:cNvPr id="5" name="TextBox 4"/>
          <p:cNvSpPr txBox="1"/>
          <p:nvPr/>
        </p:nvSpPr>
        <p:spPr>
          <a:xfrm>
            <a:off x="640080" y="2286000"/>
            <a:ext cx="10698480" cy="1645920"/>
          </a:xfrm>
          <a:prstGeom prst="rect">
            <a:avLst/>
          </a:prstGeom>
          <a:noFill/>
        </p:spPr>
        <p:txBody>
          <a:bodyPr wrap="square">
            <a:spAutoFit/>
          </a:bodyPr>
          <a:lstStyle/>
          <a:p>
            <a:pPr algn="l"/>
            <a:r>
              <a:rPr sz="4200" b="1">
                <a:solidFill>
                  <a:srgbClr val="FFFFFF"/>
                </a:solidFill>
                <a:latin typeface="Bricolage Grotesque"/>
              </a:rPr>
              <a:t>Les devoirs</a:t>
            </a:r>
          </a:p>
        </p:txBody>
      </p:sp>
      <p:sp>
        <p:nvSpPr>
          <p:cNvPr id="6" name="TextBox 5"/>
          <p:cNvSpPr txBox="1"/>
          <p:nvPr/>
        </p:nvSpPr>
        <p:spPr>
          <a:xfrm>
            <a:off x="640080" y="4023360"/>
            <a:ext cx="10515600" cy="731520"/>
          </a:xfrm>
          <a:prstGeom prst="rect">
            <a:avLst/>
          </a:prstGeom>
          <a:noFill/>
        </p:spPr>
        <p:txBody>
          <a:bodyPr wrap="square">
            <a:spAutoFit/>
          </a:bodyPr>
          <a:lstStyle/>
          <a:p>
            <a:pPr algn="l"/>
            <a:r>
              <a:rPr sz="2000" b="0">
                <a:solidFill>
                  <a:srgbClr val="5A8A8F"/>
                </a:solidFill>
                <a:latin typeface="Bricolage Grotesque"/>
              </a:rPr>
              <a:t>Pour la séance 3, mardi 20 octobre</a:t>
            </a:r>
          </a:p>
        </p:txBody>
      </p:sp>
      <p:pic>
        <p:nvPicPr>
          <p:cNvPr id="7" name="Picture 6" descr="ia-round.png"/>
          <p:cNvPicPr>
            <a:picLocks noChangeAspect="1"/>
          </p:cNvPicPr>
          <p:nvPr/>
        </p:nvPicPr>
        <p:blipFill>
          <a:blip r:embed="rId2"/>
          <a:stretch>
            <a:fillRect/>
          </a:stretch>
        </p:blipFill>
        <p:spPr>
          <a:xfrm>
            <a:off x="457200" y="6217920"/>
            <a:ext cx="320040" cy="320040"/>
          </a:xfrm>
          <a:prstGeom prst="rect">
            <a:avLst/>
          </a:prstGeom>
        </p:spPr>
      </p:pic>
      <p:sp>
        <p:nvSpPr>
          <p:cNvPr id="8" name="TextBox 7"/>
          <p:cNvSpPr txBox="1"/>
          <p:nvPr/>
        </p:nvSpPr>
        <p:spPr>
          <a:xfrm>
            <a:off x="868680" y="6199632"/>
            <a:ext cx="3657600" cy="365760"/>
          </a:xfrm>
          <a:prstGeom prst="rect">
            <a:avLst/>
          </a:prstGeom>
          <a:noFill/>
        </p:spPr>
        <p:txBody>
          <a:bodyPr wrap="square">
            <a:spAutoFit/>
          </a:bodyPr>
          <a:lstStyle/>
          <a:p>
            <a:pPr algn="l"/>
            <a:r>
              <a:rPr sz="1400" b="0">
                <a:solidFill>
                  <a:srgbClr val="FFFFFF"/>
                </a:solidFill>
                <a:latin typeface="Bricolage Grotesque"/>
              </a:rPr>
              <a:t>intelligence academy</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Devoirs · à produire</a:t>
            </a:r>
          </a:p>
        </p:txBody>
      </p:sp>
      <p:sp>
        <p:nvSpPr>
          <p:cNvPr id="5" name="TextBox 4"/>
          <p:cNvSpPr txBox="1"/>
          <p:nvPr/>
        </p:nvSpPr>
        <p:spPr>
          <a:xfrm>
            <a:off x="640080" y="1554480"/>
            <a:ext cx="10881360" cy="411480"/>
          </a:xfrm>
          <a:prstGeom prst="rect">
            <a:avLst/>
          </a:prstGeom>
          <a:noFill/>
        </p:spPr>
        <p:txBody>
          <a:bodyPr wrap="square">
            <a:spAutoFit/>
          </a:bodyPr>
          <a:lstStyle/>
          <a:p>
            <a:r>
              <a:rPr sz="2000" b="1">
                <a:solidFill>
                  <a:srgbClr val="1B5E6B"/>
                </a:solidFill>
                <a:latin typeface="Bricolage Grotesque"/>
              </a:rPr>
              <a:t>1.  Finir l'affiche et sa version publication, avec le prompt utilisé</a:t>
            </a:r>
          </a:p>
        </p:txBody>
      </p:sp>
      <p:sp>
        <p:nvSpPr>
          <p:cNvPr id="6" name="TextBox 5"/>
          <p:cNvSpPr txBox="1"/>
          <p:nvPr/>
        </p:nvSpPr>
        <p:spPr>
          <a:xfrm>
            <a:off x="640080" y="2075688"/>
            <a:ext cx="10881360" cy="411480"/>
          </a:xfrm>
          <a:prstGeom prst="rect">
            <a:avLst/>
          </a:prstGeom>
          <a:noFill/>
        </p:spPr>
        <p:txBody>
          <a:bodyPr wrap="square">
            <a:spAutoFit/>
          </a:bodyPr>
          <a:lstStyle/>
          <a:p>
            <a:r>
              <a:rPr sz="2000" b="1">
                <a:solidFill>
                  <a:srgbClr val="1B5E6B"/>
                </a:solidFill>
                <a:latin typeface="Bricolage Grotesque"/>
              </a:rPr>
              <a:t>2.  Le flyer piano complet : visuel IA et texte posé dans Canva</a:t>
            </a:r>
          </a:p>
        </p:txBody>
      </p:sp>
      <p:sp>
        <p:nvSpPr>
          <p:cNvPr id="7" name="TextBox 6"/>
          <p:cNvSpPr txBox="1"/>
          <p:nvPr/>
        </p:nvSpPr>
        <p:spPr>
          <a:xfrm>
            <a:off x="640080" y="2596896"/>
            <a:ext cx="10881360" cy="411480"/>
          </a:xfrm>
          <a:prstGeom prst="rect">
            <a:avLst/>
          </a:prstGeom>
          <a:noFill/>
        </p:spPr>
        <p:txBody>
          <a:bodyPr wrap="square">
            <a:spAutoFit/>
          </a:bodyPr>
          <a:lstStyle/>
          <a:p>
            <a:r>
              <a:rPr sz="2000" b="1">
                <a:solidFill>
                  <a:srgbClr val="1B5E6B"/>
                </a:solidFill>
                <a:latin typeface="Bricolage Grotesque"/>
              </a:rPr>
              <a:t>3.  Ranger vos projets ChatGPT : trois, instructions de 10 lignes max</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Devoirs · à produire</a:t>
            </a:r>
          </a:p>
        </p:txBody>
      </p:sp>
      <p:sp>
        <p:nvSpPr>
          <p:cNvPr id="5" name="TextBox 4"/>
          <p:cNvSpPr txBox="1"/>
          <p:nvPr/>
        </p:nvSpPr>
        <p:spPr>
          <a:xfrm>
            <a:off x="640080" y="1554480"/>
            <a:ext cx="10881360" cy="411480"/>
          </a:xfrm>
          <a:prstGeom prst="rect">
            <a:avLst/>
          </a:prstGeom>
          <a:noFill/>
        </p:spPr>
        <p:txBody>
          <a:bodyPr wrap="square">
            <a:spAutoFit/>
          </a:bodyPr>
          <a:lstStyle/>
          <a:p>
            <a:r>
              <a:rPr sz="2000" b="1">
                <a:solidFill>
                  <a:srgbClr val="1B5E6B"/>
                </a:solidFill>
                <a:latin typeface="Bricolage Grotesque"/>
              </a:rPr>
              <a:t>1.  Finir l'affiche et sa version publication, avec le prompt utilisé</a:t>
            </a:r>
          </a:p>
        </p:txBody>
      </p:sp>
      <p:sp>
        <p:nvSpPr>
          <p:cNvPr id="6" name="TextBox 5"/>
          <p:cNvSpPr txBox="1"/>
          <p:nvPr/>
        </p:nvSpPr>
        <p:spPr>
          <a:xfrm>
            <a:off x="640080" y="2075688"/>
            <a:ext cx="10881360" cy="411480"/>
          </a:xfrm>
          <a:prstGeom prst="rect">
            <a:avLst/>
          </a:prstGeom>
          <a:noFill/>
        </p:spPr>
        <p:txBody>
          <a:bodyPr wrap="square">
            <a:spAutoFit/>
          </a:bodyPr>
          <a:lstStyle/>
          <a:p>
            <a:r>
              <a:rPr sz="2000" b="1">
                <a:solidFill>
                  <a:srgbClr val="1B5E6B"/>
                </a:solidFill>
                <a:latin typeface="Bricolage Grotesque"/>
              </a:rPr>
              <a:t>2.  Le flyer piano complet : visuel IA et texte posé dans Canva</a:t>
            </a:r>
          </a:p>
        </p:txBody>
      </p:sp>
      <p:sp>
        <p:nvSpPr>
          <p:cNvPr id="7" name="TextBox 6"/>
          <p:cNvSpPr txBox="1"/>
          <p:nvPr/>
        </p:nvSpPr>
        <p:spPr>
          <a:xfrm>
            <a:off x="640080" y="2596896"/>
            <a:ext cx="10881360" cy="411480"/>
          </a:xfrm>
          <a:prstGeom prst="rect">
            <a:avLst/>
          </a:prstGeom>
          <a:noFill/>
        </p:spPr>
        <p:txBody>
          <a:bodyPr wrap="square">
            <a:spAutoFit/>
          </a:bodyPr>
          <a:lstStyle/>
          <a:p>
            <a:r>
              <a:rPr sz="2000" b="1">
                <a:solidFill>
                  <a:srgbClr val="1B5E6B"/>
                </a:solidFill>
                <a:latin typeface="Bricolage Grotesque"/>
              </a:rPr>
              <a:t>3.  Ranger vos projets ChatGPT : trois, instructions de 10 lignes max</a:t>
            </a:r>
          </a:p>
        </p:txBody>
      </p:sp>
      <p:sp>
        <p:nvSpPr>
          <p:cNvPr id="8" name="TextBox 7"/>
          <p:cNvSpPr txBox="1"/>
          <p:nvPr/>
        </p:nvSpPr>
        <p:spPr>
          <a:xfrm>
            <a:off x="640080" y="3355848"/>
            <a:ext cx="10881360" cy="411480"/>
          </a:xfrm>
          <a:prstGeom prst="rect">
            <a:avLst/>
          </a:prstGeom>
          <a:noFill/>
        </p:spPr>
        <p:txBody>
          <a:bodyPr wrap="square">
            <a:spAutoFit/>
          </a:bodyPr>
          <a:lstStyle/>
          <a:p>
            <a:r>
              <a:rPr sz="2000" b="1">
                <a:solidFill>
                  <a:srgbClr val="1B5E6B"/>
                </a:solidFill>
                <a:latin typeface="Bricolage Grotesque"/>
              </a:rPr>
              <a:t>À m'envoyer d'ici le lundi 19 octobre, dans un seul fichier.</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Devoirs · e-learning et séance 3</a:t>
            </a:r>
          </a:p>
        </p:txBody>
      </p:sp>
      <p:sp>
        <p:nvSpPr>
          <p:cNvPr id="5" name="TextBox 4"/>
          <p:cNvSpPr txBox="1"/>
          <p:nvPr/>
        </p:nvSpPr>
        <p:spPr>
          <a:xfrm>
            <a:off x="640080" y="1554480"/>
            <a:ext cx="10881360" cy="411480"/>
          </a:xfrm>
          <a:prstGeom prst="rect">
            <a:avLst/>
          </a:prstGeom>
          <a:noFill/>
        </p:spPr>
        <p:txBody>
          <a:bodyPr wrap="square">
            <a:spAutoFit/>
          </a:bodyPr>
          <a:lstStyle/>
          <a:p>
            <a:r>
              <a:rPr sz="2000" b="1">
                <a:solidFill>
                  <a:srgbClr val="1B5E6B"/>
                </a:solidFill>
                <a:latin typeface="Bricolage Grotesque"/>
              </a:rPr>
              <a:t>1.  « Claude : les fondamentaux » (votre compte est prêt)</a:t>
            </a:r>
          </a:p>
        </p:txBody>
      </p:sp>
      <p:sp>
        <p:nvSpPr>
          <p:cNvPr id="6" name="TextBox 5"/>
          <p:cNvSpPr txBox="1"/>
          <p:nvPr/>
        </p:nvSpPr>
        <p:spPr>
          <a:xfrm>
            <a:off x="640080" y="2075688"/>
            <a:ext cx="10881360" cy="411480"/>
          </a:xfrm>
          <a:prstGeom prst="rect">
            <a:avLst/>
          </a:prstGeom>
          <a:noFill/>
        </p:spPr>
        <p:txBody>
          <a:bodyPr wrap="square">
            <a:spAutoFit/>
          </a:bodyPr>
          <a:lstStyle/>
          <a:p>
            <a:r>
              <a:rPr sz="2000" b="1">
                <a:solidFill>
                  <a:srgbClr val="1B5E6B"/>
                </a:solidFill>
                <a:latin typeface="Bricolage Grotesque"/>
              </a:rPr>
              <a:t>2.  « Claude pour Excel » : la séance 3 parle des tableaux</a:t>
            </a:r>
          </a:p>
        </p:txBody>
      </p:sp>
      <p:sp>
        <p:nvSpPr>
          <p:cNvPr id="7" name="TextBox 6"/>
          <p:cNvSpPr txBox="1"/>
          <p:nvPr/>
        </p:nvSpPr>
        <p:spPr>
          <a:xfrm>
            <a:off x="640080" y="2596896"/>
            <a:ext cx="10881360" cy="411480"/>
          </a:xfrm>
          <a:prstGeom prst="rect">
            <a:avLst/>
          </a:prstGeom>
          <a:noFill/>
        </p:spPr>
        <p:txBody>
          <a:bodyPr wrap="square">
            <a:spAutoFit/>
          </a:bodyPr>
          <a:lstStyle/>
          <a:p>
            <a:r>
              <a:rPr sz="2000" b="1">
                <a:solidFill>
                  <a:srgbClr val="1B5E6B"/>
                </a:solidFill>
                <a:latin typeface="Bricolage Grotesque"/>
              </a:rPr>
              <a:t>3.  « Focus Midjourney &amp; Nano Banana » : les vidéos Nano Banana</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Devoirs · e-learning et séance 3</a:t>
            </a:r>
          </a:p>
        </p:txBody>
      </p:sp>
      <p:sp>
        <p:nvSpPr>
          <p:cNvPr id="5" name="TextBox 4"/>
          <p:cNvSpPr txBox="1"/>
          <p:nvPr/>
        </p:nvSpPr>
        <p:spPr>
          <a:xfrm>
            <a:off x="640080" y="1554480"/>
            <a:ext cx="10881360" cy="411480"/>
          </a:xfrm>
          <a:prstGeom prst="rect">
            <a:avLst/>
          </a:prstGeom>
          <a:noFill/>
        </p:spPr>
        <p:txBody>
          <a:bodyPr wrap="square">
            <a:spAutoFit/>
          </a:bodyPr>
          <a:lstStyle/>
          <a:p>
            <a:r>
              <a:rPr sz="2000" b="1">
                <a:solidFill>
                  <a:srgbClr val="1B5E6B"/>
                </a:solidFill>
                <a:latin typeface="Bricolage Grotesque"/>
              </a:rPr>
              <a:t>1.  « Claude : les fondamentaux » (votre compte est prêt)</a:t>
            </a:r>
          </a:p>
        </p:txBody>
      </p:sp>
      <p:sp>
        <p:nvSpPr>
          <p:cNvPr id="6" name="TextBox 5"/>
          <p:cNvSpPr txBox="1"/>
          <p:nvPr/>
        </p:nvSpPr>
        <p:spPr>
          <a:xfrm>
            <a:off x="640080" y="2075688"/>
            <a:ext cx="10881360" cy="411480"/>
          </a:xfrm>
          <a:prstGeom prst="rect">
            <a:avLst/>
          </a:prstGeom>
          <a:noFill/>
        </p:spPr>
        <p:txBody>
          <a:bodyPr wrap="square">
            <a:spAutoFit/>
          </a:bodyPr>
          <a:lstStyle/>
          <a:p>
            <a:r>
              <a:rPr sz="2000" b="1">
                <a:solidFill>
                  <a:srgbClr val="1B5E6B"/>
                </a:solidFill>
                <a:latin typeface="Bricolage Grotesque"/>
              </a:rPr>
              <a:t>2.  « Claude pour Excel » : la séance 3 parle des tableaux</a:t>
            </a:r>
          </a:p>
        </p:txBody>
      </p:sp>
      <p:sp>
        <p:nvSpPr>
          <p:cNvPr id="7" name="TextBox 6"/>
          <p:cNvSpPr txBox="1"/>
          <p:nvPr/>
        </p:nvSpPr>
        <p:spPr>
          <a:xfrm>
            <a:off x="640080" y="2596896"/>
            <a:ext cx="10881360" cy="411480"/>
          </a:xfrm>
          <a:prstGeom prst="rect">
            <a:avLst/>
          </a:prstGeom>
          <a:noFill/>
        </p:spPr>
        <p:txBody>
          <a:bodyPr wrap="square">
            <a:spAutoFit/>
          </a:bodyPr>
          <a:lstStyle/>
          <a:p>
            <a:r>
              <a:rPr sz="2000" b="1">
                <a:solidFill>
                  <a:srgbClr val="1B5E6B"/>
                </a:solidFill>
                <a:latin typeface="Bricolage Grotesque"/>
              </a:rPr>
              <a:t>3.  « Focus Midjourney &amp; Nano Banana » : les vidéos Nano Banana</a:t>
            </a:r>
          </a:p>
        </p:txBody>
      </p:sp>
      <p:sp>
        <p:nvSpPr>
          <p:cNvPr id="8" name="TextBox 7"/>
          <p:cNvSpPr txBox="1"/>
          <p:nvPr/>
        </p:nvSpPr>
        <p:spPr>
          <a:xfrm>
            <a:off x="640080" y="3355848"/>
            <a:ext cx="10881360" cy="411480"/>
          </a:xfrm>
          <a:prstGeom prst="rect">
            <a:avLst/>
          </a:prstGeom>
          <a:noFill/>
        </p:spPr>
        <p:txBody>
          <a:bodyPr wrap="square">
            <a:spAutoFit/>
          </a:bodyPr>
          <a:lstStyle/>
          <a:p>
            <a:r>
              <a:rPr sz="2000" b="1">
                <a:solidFill>
                  <a:srgbClr val="1B5E6B"/>
                </a:solidFill>
                <a:latin typeface="Bricolage Grotesque"/>
              </a:rPr>
              <a:t>Pour la S3 : un vrai cas d'écrit (courrier, candidature) anonymisé,</a:t>
            </a:r>
          </a:p>
        </p:txBody>
      </p:sp>
      <p:sp>
        <p:nvSpPr>
          <p:cNvPr id="9" name="TextBox 8"/>
          <p:cNvSpPr txBox="1"/>
          <p:nvPr/>
        </p:nvSpPr>
        <p:spPr>
          <a:xfrm>
            <a:off x="640080" y="3877056"/>
            <a:ext cx="10881360" cy="411480"/>
          </a:xfrm>
          <a:prstGeom prst="rect">
            <a:avLst/>
          </a:prstGeom>
          <a:noFill/>
        </p:spPr>
        <p:txBody>
          <a:bodyPr wrap="square">
            <a:spAutoFit/>
          </a:bodyPr>
          <a:lstStyle/>
          <a:p>
            <a:r>
              <a:rPr sz="2000" b="1">
                <a:solidFill>
                  <a:srgbClr val="1B5E6B"/>
                </a:solidFill>
                <a:latin typeface="Bricolage Grotesque"/>
              </a:rPr>
              <a:t>et un tableau de suivi que vous tenez ou aimeriez tenir.</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Devoirs · e-learning et séance 3</a:t>
            </a:r>
          </a:p>
        </p:txBody>
      </p:sp>
      <p:sp>
        <p:nvSpPr>
          <p:cNvPr id="5" name="TextBox 4"/>
          <p:cNvSpPr txBox="1"/>
          <p:nvPr/>
        </p:nvSpPr>
        <p:spPr>
          <a:xfrm>
            <a:off x="640080" y="1554480"/>
            <a:ext cx="10881360" cy="411480"/>
          </a:xfrm>
          <a:prstGeom prst="rect">
            <a:avLst/>
          </a:prstGeom>
          <a:noFill/>
        </p:spPr>
        <p:txBody>
          <a:bodyPr wrap="square">
            <a:spAutoFit/>
          </a:bodyPr>
          <a:lstStyle/>
          <a:p>
            <a:r>
              <a:rPr sz="2000" b="1">
                <a:solidFill>
                  <a:srgbClr val="1B5E6B"/>
                </a:solidFill>
                <a:latin typeface="Bricolage Grotesque"/>
              </a:rPr>
              <a:t>1.  « Claude : les fondamentaux » (votre compte est prêt)</a:t>
            </a:r>
          </a:p>
        </p:txBody>
      </p:sp>
      <p:sp>
        <p:nvSpPr>
          <p:cNvPr id="6" name="TextBox 5"/>
          <p:cNvSpPr txBox="1"/>
          <p:nvPr/>
        </p:nvSpPr>
        <p:spPr>
          <a:xfrm>
            <a:off x="640080" y="2075688"/>
            <a:ext cx="10881360" cy="411480"/>
          </a:xfrm>
          <a:prstGeom prst="rect">
            <a:avLst/>
          </a:prstGeom>
          <a:noFill/>
        </p:spPr>
        <p:txBody>
          <a:bodyPr wrap="square">
            <a:spAutoFit/>
          </a:bodyPr>
          <a:lstStyle/>
          <a:p>
            <a:r>
              <a:rPr sz="2000" b="1">
                <a:solidFill>
                  <a:srgbClr val="1B5E6B"/>
                </a:solidFill>
                <a:latin typeface="Bricolage Grotesque"/>
              </a:rPr>
              <a:t>2.  « Claude pour Excel » : la séance 3 parle des tableaux</a:t>
            </a:r>
          </a:p>
        </p:txBody>
      </p:sp>
      <p:sp>
        <p:nvSpPr>
          <p:cNvPr id="7" name="TextBox 6"/>
          <p:cNvSpPr txBox="1"/>
          <p:nvPr/>
        </p:nvSpPr>
        <p:spPr>
          <a:xfrm>
            <a:off x="640080" y="2596896"/>
            <a:ext cx="10881360" cy="411480"/>
          </a:xfrm>
          <a:prstGeom prst="rect">
            <a:avLst/>
          </a:prstGeom>
          <a:noFill/>
        </p:spPr>
        <p:txBody>
          <a:bodyPr wrap="square">
            <a:spAutoFit/>
          </a:bodyPr>
          <a:lstStyle/>
          <a:p>
            <a:r>
              <a:rPr sz="2000" b="1">
                <a:solidFill>
                  <a:srgbClr val="1B5E6B"/>
                </a:solidFill>
                <a:latin typeface="Bricolage Grotesque"/>
              </a:rPr>
              <a:t>3.  « Focus Midjourney &amp; Nano Banana » : les vidéos Nano Banana</a:t>
            </a:r>
          </a:p>
        </p:txBody>
      </p:sp>
      <p:sp>
        <p:nvSpPr>
          <p:cNvPr id="8" name="TextBox 7"/>
          <p:cNvSpPr txBox="1"/>
          <p:nvPr/>
        </p:nvSpPr>
        <p:spPr>
          <a:xfrm>
            <a:off x="640080" y="3355848"/>
            <a:ext cx="10881360" cy="411480"/>
          </a:xfrm>
          <a:prstGeom prst="rect">
            <a:avLst/>
          </a:prstGeom>
          <a:noFill/>
        </p:spPr>
        <p:txBody>
          <a:bodyPr wrap="square">
            <a:spAutoFit/>
          </a:bodyPr>
          <a:lstStyle/>
          <a:p>
            <a:r>
              <a:rPr sz="2000" b="1">
                <a:solidFill>
                  <a:srgbClr val="1B5E6B"/>
                </a:solidFill>
                <a:latin typeface="Bricolage Grotesque"/>
              </a:rPr>
              <a:t>Pour la S3 : un vrai cas d'écrit (courrier, candidature) anonymisé,</a:t>
            </a:r>
          </a:p>
        </p:txBody>
      </p:sp>
      <p:sp>
        <p:nvSpPr>
          <p:cNvPr id="9" name="TextBox 8"/>
          <p:cNvSpPr txBox="1"/>
          <p:nvPr/>
        </p:nvSpPr>
        <p:spPr>
          <a:xfrm>
            <a:off x="640080" y="3877056"/>
            <a:ext cx="10881360" cy="411480"/>
          </a:xfrm>
          <a:prstGeom prst="rect">
            <a:avLst/>
          </a:prstGeom>
          <a:noFill/>
        </p:spPr>
        <p:txBody>
          <a:bodyPr wrap="square">
            <a:spAutoFit/>
          </a:bodyPr>
          <a:lstStyle/>
          <a:p>
            <a:r>
              <a:rPr sz="2000" b="1">
                <a:solidFill>
                  <a:srgbClr val="1B5E6B"/>
                </a:solidFill>
                <a:latin typeface="Bricolage Grotesque"/>
              </a:rPr>
              <a:t>et un tableau de suivi que vous tenez ou aimeriez tenir.</a:t>
            </a:r>
          </a:p>
        </p:txBody>
      </p:sp>
      <p:sp>
        <p:nvSpPr>
          <p:cNvPr id="10" name="TextBox 9"/>
          <p:cNvSpPr txBox="1"/>
          <p:nvPr/>
        </p:nvSpPr>
        <p:spPr>
          <a:xfrm>
            <a:off x="640080" y="4636008"/>
            <a:ext cx="10881360" cy="411480"/>
          </a:xfrm>
          <a:prstGeom prst="rect">
            <a:avLst/>
          </a:prstGeom>
          <a:noFill/>
        </p:spPr>
        <p:txBody>
          <a:bodyPr wrap="square">
            <a:spAutoFit/>
          </a:bodyPr>
          <a:lstStyle/>
          <a:p>
            <a:r>
              <a:rPr sz="2000" b="0">
                <a:solidFill>
                  <a:srgbClr val="333333"/>
                </a:solidFill>
                <a:latin typeface="Bricolage Grotesque"/>
              </a:rPr>
              <a:t>Certification : pas encore d'information, je vous tiens au courant.</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2560320"/>
            <a:ext cx="12191695" cy="1828800"/>
          </a:xfrm>
          <a:prstGeom prst="rect">
            <a:avLst/>
          </a:prstGeom>
          <a:noFill/>
        </p:spPr>
        <p:txBody>
          <a:bodyPr wrap="square">
            <a:spAutoFit/>
          </a:bodyPr>
          <a:lstStyle/>
          <a:p>
            <a:pPr algn="ctr"/>
            <a:r>
              <a:rPr sz="6400" b="1">
                <a:solidFill>
                  <a:srgbClr val="FFFFFF"/>
                </a:solidFill>
                <a:latin typeface="Bricolage Grotesque"/>
              </a:rPr>
              <a:t>Des questions ?</a:t>
            </a:r>
          </a:p>
        </p:txBody>
      </p:sp>
      <p:pic>
        <p:nvPicPr>
          <p:cNvPr id="4" name="Picture 3" descr="ia-round.png"/>
          <p:cNvPicPr>
            <a:picLocks noChangeAspect="1"/>
          </p:cNvPicPr>
          <p:nvPr/>
        </p:nvPicPr>
        <p:blipFill>
          <a:blip r:embed="rId2"/>
          <a:stretch>
            <a:fillRect/>
          </a:stretch>
        </p:blipFill>
        <p:spPr>
          <a:xfrm>
            <a:off x="4846320" y="4754880"/>
            <a:ext cx="320040" cy="320040"/>
          </a:xfrm>
          <a:prstGeom prst="rect">
            <a:avLst/>
          </a:prstGeom>
        </p:spPr>
      </p:pic>
      <p:sp>
        <p:nvSpPr>
          <p:cNvPr id="5" name="TextBox 4"/>
          <p:cNvSpPr txBox="1"/>
          <p:nvPr/>
        </p:nvSpPr>
        <p:spPr>
          <a:xfrm>
            <a:off x="5257800" y="4736592"/>
            <a:ext cx="3657600" cy="365760"/>
          </a:xfrm>
          <a:prstGeom prst="rect">
            <a:avLst/>
          </a:prstGeom>
          <a:noFill/>
        </p:spPr>
        <p:txBody>
          <a:bodyPr wrap="square">
            <a:spAutoFit/>
          </a:bodyPr>
          <a:lstStyle/>
          <a:p>
            <a:pPr algn="l"/>
            <a:r>
              <a:rPr sz="1400" b="0">
                <a:solidFill>
                  <a:srgbClr val="FFFFFF"/>
                </a:solidFill>
                <a:latin typeface="Bricolage Grotesque"/>
              </a:rPr>
              <a:t>intelligence academy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