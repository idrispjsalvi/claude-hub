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960120"/>
            <a:ext cx="219456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A000"/>
                </a:solidFill>
                <a:latin typeface="Bricolage Grotesque"/>
              </a:rPr>
              <a:t>SÉANCE 1 / 4 · LAURENCE SAULAIS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881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>
                <a:solidFill>
                  <a:srgbClr val="FFFFFF"/>
                </a:solidFill>
                <a:latin typeface="Bricolage Grotesque"/>
              </a:rPr>
              <a:t>Les fondamentaux, en profondeur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E8A000"/>
                </a:solidFill>
                <a:latin typeface="Bricolage Grotesque"/>
              </a:rPr>
              <a:t>Comprendre, cadrer, garder la 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Vendredi 2 octobre 2026 · 9h-11h · Idris Salvi</a:t>
            </a:r>
          </a:p>
        </p:txBody>
      </p:sp>
      <p:pic>
        <p:nvPicPr>
          <p:cNvPr id="9" name="Picture 8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parcours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Quatre séances, dans l'ordre de la proposition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S1 · 2 oct.
Fondamentaux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8376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S2 · 13 oct.
Visuels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4144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S3 · 16 oct.
Écrits, tableaux, 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7384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78824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S4 · 20 oct.
Projet de bout en bout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Avant chaque séance : le e-learning. Pendant la séance : la pratique sur votre cas.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e-learning, remis dans l'ordre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Avant S1 :  Comprendre l'IA sans jargon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Avant S2 :  Focus Midjourney &amp; Nano Banana, puis Claude — Les fondamentaux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e-learning, remis dans l'ordre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Avant S1 :  Comprendre l'IA sans jargon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Avant S2 :  Focus Midjourney &amp; Nano Banana, puis Claude — Les fondamentaux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Avant S3 :  Claude pour Excel, puis Claude Cowork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Avant S4 :  Claude for Chrome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e-learning, remis dans l'ordre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Avant S1 :  Comprendre l'IA sans jargon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Avant S2 :  Focus Midjourney &amp; Nano Banana, puis Claude — Les fondamentaux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Avant S3 :  Claude pour Excel, puis Claude Cowork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Avant S4 :  Claude for Chrome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1480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Chaque module se trouve juste avant la séance qui en parle.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Ce qu'on a clarifié par 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Les « jours » du programme : un regroupement automatique par heures.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ChatGPT : gardez votre version, tout modèle récent convient.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Ce qu'on a clarifié par 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Les « jours » du programme : un regroupement automatique par heures.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ChatGPT : gardez votre version, tout modèle récent convient.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Claude : on crée et on configure votre compte ensemble, aujourd'hui.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Les exercices « Spécifiquement pour toi » : repris après le quiz.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déroulé de ce matin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Quiz (10 min), puis vos exercices du e-learning (10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Les fondamentaux (35 min) : mots, outils, méthode, données, limites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déroulé de ce matin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Quiz (10 min), puis vos exercices du e-learning (10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Les fondamentaux (35 min) : mots, outils, méthode, données, limites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La pratique (50 min) : votre méthode et votre cadre, sur un support réel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Les devoirs (10 min)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Quiz d'ouverture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Cinq questions sur le e-learning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 LLM, au fond, ça fait quoi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A.  Il cherche la bonne réponse dans une base de données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B.  Il prédit le mot le plus probable, en tenant compte du contexte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C.  Il comprend le sens comme un humain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Un LLM, au fond, ça fait quoi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A.  Il cherche la bonne réponse dans une base de données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B.  Il prédit le mot le plus probable, en tenant compte du contexte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C.  Il comprend le sens comme un humain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Réponse B : un « autocomplete très avancé », qui calcule les liens entre mots.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 modèle apprend en devinant des mots cachés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« Le chat boit du ___ » : comment s'appelle cette phase d'entraînement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A.  Le pre-training      B.  Le system prompt      C.  La multimodalité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 modèle apprend en devinant des mots cachés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« Le chat boit du ___ » : comment s'appelle cette phase d'entraînement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A.  Le pre-training      B.  Le system prompt      C.  La multimodalité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Réponse A : le pré-entraînement, sur des milliards d'exemples.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 system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Quand vous écrivez à ChatGPT, qu'est-ce qui arrive au modèle en premier 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 system prompt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Quand vous écrivez à ChatGPT, qu'est-ce qui arrive au modèle en premier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906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Les instructions cachées d'OpenAI, puis votre demande à la suite.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C'est l'une des raisons pour lesquelles il est toujours d'accord avec vous.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Faire mieux réfléchir l'IA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Vrai ou faux : un modèle qui raisonne répond aussi vite qu'un autre.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Faire mieux réfléchir l'IA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Vrai ou faux : un modèle qui raisonne répond aussi vite qu'un autre.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906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Faux : il « réfléchit » avant de répondre. Plus lent, plus fiable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sur les tâches complexes. Inutile pour reformuler un mail.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Bonus, si vous avez vu les dernières vidéos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La fenêtre de contexte, c'est quoi 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Quiz · Question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Bonus, si vous avez vu les dernières vidéos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La fenêtre de contexte, c'est quoi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90672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Ce que le modèle peut lire d'un coup : vos prompts, l'historique,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les pièces jointes et sa réponse. Au-delà, il « oublie » le début.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Vos exercices du e-learning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« Spécifiquement pour toi » : on les fait 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Ouvrez à l'écran l'exercice qui vous a bloquée.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On lit la consigne, vous le faites, je reprends la main si besoin.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Vos exercices du e-learning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« Spécifiquement pour toi » : on les fait ensemble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Ouvrez à l'écran l'exercice qui vous a bloquée.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On lit la consigne, vous le faites, je reprends la main si besoin.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Ce qu'on en retient : comment aborder seule les suivants.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Les fondamentaux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Ce que la séance ajoute au e-learning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Les mots, avec vos exemples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qui se cache derrière le 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IA générative : produit du texte, des images, du son à partir d'une demande.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Modèle : le « moteur » (GPT, Claude, Gemini). L'appli n'est que la vitrine.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Les mots, avec vos exemples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qui se cache derrière le vocabulaire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IA générative : produit du texte, des images, du son à partir d'une demande.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Modèle : le « moteur » (GPT, Claude, Gemini). L'appli n'est que la vitrine.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Agent : un modèle qui enchaîne des actions seul (chercher, trier, écrire).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Ex. : veiller sur les appels à projets et vous en faire la synthèse.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Les mots, avec vos exemples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L'hallucination : faux, mais dit avec aplomb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Votre croisière : une réponse fausse, énoncée avec assurance.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Le modèle ne ment pas. Il produit toujours une suite, vraie ou non.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Les mots, avec vos exemples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L'hallucination : faux, mais dit avec aplomb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Votre croisière : une réponse fausse, énoncée avec assurance.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Le modèle ne ment pas. Il produit toujours une suite, vraie ou non.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Les parades : vérifier les faits importants, exiger les sources,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demander « Es-tu certain ? Qu'est-ce qui pourrait être faux ? »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panorama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Quel outil pour quel usage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ChatGPT : polyvalent, ce que vous connaissez déjà.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Claude : rédaction longue, documents, projets de travail.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Gemini : écosystème Google, lecture de vidéos.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panorama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Quel outil pour quel usage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ChatGPT : polyvalent, ce que vous connaissez déjà.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Claude : rédaction longue, documents, projets de travail.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7413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Gemini : écosystème Google, lecture de vidéos.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Midjourney et Nano Banana : générer et retoucher des images (S2).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542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Canva : mettre en page ce que l'IA a généré.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Une méthode de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Quatre temps, à écrire une fois, à réutiliser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1. Contexte
qui je suis, pour qui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8376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2. Consigne
ce que j'attends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4144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3. Format
longueur, ton,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7384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78824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4. Vérification
ce que je contrôle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Ce que vous faites déjà d'instinct, rendu explicite et réutilisable.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cadre de vos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qui entre dans un outil, et ce qui n'y entre jamais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Jamais : nom, adresse, santé, situation sociale d'une personne réelle.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Toujours : anonymiser (« Mme A., 82 ans, seule ») ou passer au fictif.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cadre de vos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qui entre dans un outil, et ce qui n'y entre jamais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Jamais : nom, adresse, santé, situation sociale d'une personne réelle.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Toujours : anonymiser (« Mme A., 82 ans, seule ») ou passer au fictif.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Deux réglages à maîtriser : l'entraînement et la mémoire.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Garder une trace : ce que vous avez validé, et quand.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cadre de vos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Pourquoi c'est votre compétence, pas un détail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Dans le médico-social, c'est le cadre que vous aurez à poser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dans une structure, pour une équipe.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Le cadre de vos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Pourquoi c'est votre compétence, pas un détail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Dans le médico-social, c'est le cadre que vous aurez à poser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dans une structure, pour une équipe.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Distinguer : une donnée publique (un appel à projets)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et une situation nominative (une personne accompagnée).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Vos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L'entraînement : au cas par cas, comme vous le souhaitez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Par défaut : vous contribuez à améliorer le modèle. C'est un choix légitime.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Dossier innovant : une conversation temporaire, exclue de l'entraînement.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Vos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L'entraînement : au cas par cas, comme vous le souhaitez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Par défaut : vous contribuez à améliorer le modèle. C'est un choix légitime.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Dossier innovant : une conversation temporaire, exclue de l'entraînement.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Ou le réglage global : Paramètres › Contrôles des données.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Coupé, il vaut pour toutes vos conversations, jusqu'à le réactiver.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Vos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que l'outil retient de votre quotidien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La mémoire : ChatGPT retient des faits sur vous, d'un échange à l'autre.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Paramètres › Personnalisation : la consulter, l'effacer, la couper.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Vos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Ce que l'outil retient de votre quotidien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La mémoire : ChatGPT retient des faits sur vous, d'un échange à l'autre.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Paramètres › Personnalisation : la consulter, l'effacer, la couper.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Mémoire et entraînement sont deux réglages distincts.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La conversation temporaire n'utilise ni ne crée de souvenirs.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Vos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En situation professionnelle : le cadre de l'établissement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La charte informatique et le DPO de la structure fixent la règle.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Santé, situation sociale : des données sensibles au sens du RGPD.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Vos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En situation professionnelle : le cadre de l'établissement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La charte informatique et le DPO de la structure fixent la règle.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Santé, situation sociale : des données sensibles au sens du RGPD.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Un compte personnel n'est pas un outil validé par l'établissement.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Offres pro (Business, Enterprise) : pas d'entraînement par défaut, contrat.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Vos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Avant d'envoyer, quatre questions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Nominatif ?
→ anonymiser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8376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47288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Dossier innovant ?
→ temporaire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24144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71616" y="2743200"/>
            <a:ext cx="2331720" cy="777240"/>
          </a:xfrm>
          <a:prstGeom prst="roundRect">
            <a:avLst/>
          </a:prstGeom>
          <a:solidFill>
            <a:srgbClr val="1B5E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63056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Cadre pro ?
→ outil validé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912" y="2926080"/>
            <a:ext cx="31089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A000"/>
                </a:solidFill>
                <a:latin typeface="Bricolage Grotesq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87384" y="2743200"/>
            <a:ext cx="2331720" cy="777240"/>
          </a:xfrm>
          <a:prstGeom prst="roundRect">
            <a:avLst/>
          </a:prstGeom>
          <a:solidFill>
            <a:srgbClr val="1E5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78824" y="2907792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Bricolage Grotesque"/>
              </a:rPr>
              <a:t>Rien de tout ça ?
→ allez-y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148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6B"/>
                </a:solidFill>
                <a:latin typeface="Bricolage Grotesque"/>
              </a:rPr>
              <a:t>Votre réflexe, à écrire dans votre cadre de confidentialité.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Protéger vos contenus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Votre concept original, confié à un outil grand public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Conditions d'utilisation : relire ce que l'outil fait de vos données.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Travailler par fragments : ne pas confier le concept entier d'un coup.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Protéger vos contenus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Votre concept original, confié à un outil grand public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Conditions d'utilisation : relire ce que l'outil fait de vos données.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Travailler par fragments : ne pas confier le concept entier d'un coup.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Antériorité datée : garder une trace de votre version, avant l'IA.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Titularité : ce que dit chaque outil de la propriété de ce qui en sort.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Garder la 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Pour que l'IA reste un instrument de travail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Repérer quand l'outil vous emmène ailleurs que là où vous alliez.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Contrer le « toujours d'accord » : demandez-lui de vous contredire.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Garder la main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Pour que l'IA reste un instrument de travail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Repérer quand l'outil vous emmène ailleurs que là où vous alliez.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Contrer le « toujours d'accord » : demandez-lui de vous contredire.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Fixer vos limites d'usage : quand, pour quoi, combien de temps.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La relation à l'outil : il imite l'écoute, il n'est pas une relation.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A000"/>
                </a:solidFill>
                <a:latin typeface="Bricolage Grotesque"/>
              </a:rPr>
              <a:t>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8A8F"/>
                </a:solidFill>
                <a:latin typeface="Bricolage Grotesque"/>
              </a:rPr>
              <a:t>Les fondamentaux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286000"/>
            <a:ext cx="2743200" cy="27432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51760"/>
            <a:ext cx="10881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1.  Un LLM prédit, il ne sait pas : vérifiez ce qui compte.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2.  Un outil par usage, pas un outil pour tout.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3.  Contexte, consigne, format, vérification : votre méthode.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4.  Rien de nominatif dans un outil grand public, jamais.</a:t>
            </a:r>
          </a:p>
          <a:p>
            <a:pPr>
              <a:spcBef>
                <a:spcPts val="1200"/>
              </a:spcBef>
            </a:pPr>
            <a:r>
              <a:rPr sz="2000">
                <a:solidFill>
                  <a:srgbClr val="FFFFFF"/>
                </a:solidFill>
                <a:latin typeface="Bricolage Grotesque"/>
              </a:rPr>
              <a:t>5.  Vos limites d'usage sont écrites, pas implicites.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35508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3367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La 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Partage d'écran : vous faites, je montre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· Étape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Votre base de contexte personnelle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Un texte que vous collerez en tête de vos échanges avec l'IA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qui vous êtes, votre métier visé, votre façon d'écrire, vos exigences.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· Étape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Votre base de contexte personnelle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Un texte que vous collerez en tête de vos échanges avec l'IA 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qui vous êtes, votre métier visé, votre façon d'écrire, vos exigences.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On l'écrit ensemble, puis on la teste dans ChatGPT.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· Étape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 premier support : une réunion partenaires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Projet fictif : lutter contre l'isolement des personnes âgées à domicile.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Livrable : l'ordre du jour d'une réunion de lancement avec les partenaires.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· Étape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Le premier support : une réunion partenaires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Projet fictif : lutter contre l'isolement des personnes âgées à domicile.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Livrable : l'ordre du jour d'une réunion de lancement avec les partenaires.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Avec la méthode : contexte, consigne, format, vérification.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330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333333"/>
                </a:solidFill>
                <a:latin typeface="Bricolage Grotesque"/>
              </a:rPr>
              <a:t>Puis : « Contredis-moi : qu'est-ce qui manque à cet ordre du jour ? »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· Étape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Votre cadre de confidentialité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Une page : ce qui entre, ce qui n'entre jamais, comment anonymiser.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À l'écran : entraînement, conversation temporaire et mémoire de ChatGPT.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Exercice · Étape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Bricolage Grotesque"/>
              </a:rPr>
              <a:t>Votre cadre de confidentialité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317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Une page : ce qui entre, ce qui n'entre jamais, comment anonymiser.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5292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À l'écran : entraînement, conversation temporaire et mémoire de ChatGPT.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Bonus : votre compte Claude, avec les mêmes précautions.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965960"/>
            <a:ext cx="2743200" cy="36576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A000"/>
                </a:solidFill>
                <a:latin typeface="Bricolage Grotesque"/>
              </a:rPr>
              <a:t>Séquence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860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Bricolage Grotesque"/>
              </a:rPr>
              <a:t>Les devoirs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8A8F"/>
                </a:solidFill>
                <a:latin typeface="Bricolage Grotesque"/>
              </a:rPr>
              <a:t>Pour la séance 2, lundi 13 octobre</a:t>
            </a:r>
          </a:p>
        </p:txBody>
      </p:sp>
      <p:pic>
        <p:nvPicPr>
          <p:cNvPr id="7" name="Picture 6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217920"/>
            <a:ext cx="320040" cy="320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61996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Devoirs · avant le 13 octobre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Finir « Comprendre l'IA sans jargon » (hallucinations, contexte)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Suivre « Focus Midjourney &amp; Nano Banana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Suivre « Claude — Les fondamentaux », compte créé en séance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ln>
            <a:noFill/>
          </a:ln>
          <a:gradFill>
            <a:gsLst>
              <a:gs pos="0">
                <a:srgbClr val="0A2530"/>
              </a:gs>
              <a:gs pos="100000">
                <a:srgbClr val="1E5565"/>
              </a:gs>
            </a:gsLst>
            <a:lin ang="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2191695" cy="18288"/>
          </a:xfrm>
          <a:prstGeom prst="rect">
            <a:avLst/>
          </a:prstGeom>
          <a:solidFill>
            <a:srgbClr val="E8A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Bricolage Grotesque"/>
              </a:rPr>
              <a:t>Devoirs · avant le 13 octobre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1.  Finir « Comprendre l'IA sans jargon » (hallucinations, contexte)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7568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2.  Suivre « Focus Midjourney &amp; Nano Banana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9689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3.  Suivre « Claude — Les fondamentaux », compte créé en séance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55848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4.  Utiliser votre base de contexte sur 3 situations réelles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77056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5.  Écrire vos limites d'usage personnelles (5 lignes)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98264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B5E6B"/>
                </a:solidFill>
                <a:latin typeface="Bricolage Grotesque"/>
              </a:rPr>
              <a:t>6.  M'envoyer le projet visuel, fil rouge de la S2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FFFFFF"/>
                </a:solidFill>
                <a:latin typeface="Bricolage Grotesque"/>
              </a:rPr>
              <a:t>Des questions ?</a:t>
            </a:r>
          </a:p>
        </p:txBody>
      </p:sp>
      <p:pic>
        <p:nvPicPr>
          <p:cNvPr id="4" name="Picture 3" descr="ia-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4754880"/>
            <a:ext cx="320040" cy="3200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257800" y="473659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Bricolage Grotesque"/>
              </a:rPr>
              <a:t>intelligence academy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