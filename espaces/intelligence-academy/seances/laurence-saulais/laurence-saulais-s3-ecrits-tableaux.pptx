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 id="294" r:id="rId46"/>
    <p:sldId id="295" r:id="rId47"/>
    <p:sldId id="296" r:id="rId48"/>
    <p:sldId id="297" r:id="rId49"/>
    <p:sldId id="298" r:id="rId50"/>
    <p:sldId id="299" r:id="rId51"/>
    <p:sldId id="300" r:id="rId52"/>
    <p:sldId id="301" r:id="rId53"/>
    <p:sldId id="302" r:id="rId54"/>
    <p:sldId id="303" r:id="rId55"/>
    <p:sldId id="304" r:id="rId56"/>
    <p:sldId id="305" r:id="rId57"/>
    <p:sldId id="306" r:id="rId58"/>
    <p:sldId id="307" r:id="rId59"/>
    <p:sldId id="308" r:id="rId60"/>
    <p:sldId id="309" r:id="rId61"/>
    <p:sldId id="310" r:id="rId62"/>
    <p:sldId id="311" r:id="rId63"/>
    <p:sldId id="312" r:id="rId64"/>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notesMaster" Target="notesMasters/notesMaster1.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 Id="rId44" Type="http://schemas.openxmlformats.org/officeDocument/2006/relationships/slide" Target="slides/slide37.xml"/><Relationship Id="rId45" Type="http://schemas.openxmlformats.org/officeDocument/2006/relationships/slide" Target="slides/slide38.xml"/><Relationship Id="rId46" Type="http://schemas.openxmlformats.org/officeDocument/2006/relationships/slide" Target="slides/slide39.xml"/><Relationship Id="rId47" Type="http://schemas.openxmlformats.org/officeDocument/2006/relationships/slide" Target="slides/slide40.xml"/><Relationship Id="rId48" Type="http://schemas.openxmlformats.org/officeDocument/2006/relationships/slide" Target="slides/slide41.xml"/><Relationship Id="rId49" Type="http://schemas.openxmlformats.org/officeDocument/2006/relationships/slide" Target="slides/slide42.xml"/><Relationship Id="rId50" Type="http://schemas.openxmlformats.org/officeDocument/2006/relationships/slide" Target="slides/slide43.xml"/><Relationship Id="rId51" Type="http://schemas.openxmlformats.org/officeDocument/2006/relationships/slide" Target="slides/slide44.xml"/><Relationship Id="rId52" Type="http://schemas.openxmlformats.org/officeDocument/2006/relationships/slide" Target="slides/slide45.xml"/><Relationship Id="rId53" Type="http://schemas.openxmlformats.org/officeDocument/2006/relationships/slide" Target="slides/slide46.xml"/><Relationship Id="rId54" Type="http://schemas.openxmlformats.org/officeDocument/2006/relationships/slide" Target="slides/slide47.xml"/><Relationship Id="rId55" Type="http://schemas.openxmlformats.org/officeDocument/2006/relationships/slide" Target="slides/slide48.xml"/><Relationship Id="rId56" Type="http://schemas.openxmlformats.org/officeDocument/2006/relationships/slide" Target="slides/slide49.xml"/><Relationship Id="rId57" Type="http://schemas.openxmlformats.org/officeDocument/2006/relationships/slide" Target="slides/slide50.xml"/><Relationship Id="rId58" Type="http://schemas.openxmlformats.org/officeDocument/2006/relationships/slide" Target="slides/slide51.xml"/><Relationship Id="rId59" Type="http://schemas.openxmlformats.org/officeDocument/2006/relationships/slide" Target="slides/slide52.xml"/><Relationship Id="rId60" Type="http://schemas.openxmlformats.org/officeDocument/2006/relationships/slide" Target="slides/slide53.xml"/><Relationship Id="rId61" Type="http://schemas.openxmlformats.org/officeDocument/2006/relationships/slide" Target="slides/slide54.xml"/><Relationship Id="rId62" Type="http://schemas.openxmlformats.org/officeDocument/2006/relationships/slide" Target="slides/slide55.xml"/><Relationship Id="rId63" Type="http://schemas.openxmlformats.org/officeDocument/2006/relationships/slide" Target="slides/slide56.xml"/><Relationship Id="rId64" Type="http://schemas.openxmlformats.org/officeDocument/2006/relationships/slide" Target="slides/slide5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7.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9.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0.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5.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6.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Module 3 du programme : les écrits, les tableaux, les comptes-rendus. Ancré sur ses deux demandes du 19/10 : sa liste d'établissements (Word et Excel) et son CV à adapter à une offre.</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Son docx, exercice 2 : la réponse de ChatGPT (« le fichier joint est une image, pas le design Canva modifiable ») l'a laissée perplexe. C'est l'explication. Elle a trouvé seule la parade.</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Son docx, exercice 2 : la réponse de ChatGPT (« le fichier joint est une image, pas le design Canva modifiable ») l'a laissée perplexe. C'est l'explication. Elle a trouvé seule la parade.</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 : sa propre capture de Paramètres › Activité dans les applications Gemini (19/10) : « En conservant votre activité, vous pouvez reprendre vos discussions […] et contribuer à l'amélioration des services Google ». Désactivé, Google conserve 72 h. Sa déduction est juste.</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 : sa propre capture de Paramètres › Activité dans les applications Gemini (19/10) : « En conservant votre activité, vous pouvez reprendre vos discussions […] et contribuer à l'amélioration des services Google ». Désactivé, Google conserve 72 h. Sa déduction est juste.</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E-learning « Claude : les fondamentaux », vidéo 1 (Claude vs ChatGPT vs Gemini) : génération d'images, mode vocal avancé et analyse vidéo ne sont pas les points forts de Claude ; l'écriture et l'analyse, si. Elle a pris Claude Pro le 19/10 et garde ChatGPT Go pour les images.</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E-learning « Claude : les fondamentaux », vidéo 1 (Claude vs ChatGPT vs Gemini) : génération d'images, mode vocal avancé et analyse vidéo ne sont pas les points forts de Claude ; l'écriture et l'analyse, si. Elle a pris Claude Pro le 19/10 et garde ChatGPT Go pour les images.</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Vidéo 1 de l'e-learning : « plus le modèle est puissant, plus il va consommer des tokens ». Elle a atteint la limite du forfait gratuit le 19/10 après-midi (mail « Décision : souscription abonnement pro CLAUDE »).</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Vidéo 1 de l'e-learning : « plus le modèle est puissant, plus il va consommer des tokens ». Elle a atteint la limite du forfait gratuit le 19/10 après-midi (mail « Décision : souscription abonnement pro CLAUDE »).</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Son projet ChatGPT « MAILINGS RENCONTRE PIANO » : conversation 1 stratégie et brief, conversation 2 le flyer, conversation 3 le bandeau. Exactement la logique vue en S2. Le flyer est sorti juste du premier coup grâce à un brief préparé en amont.</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C'est sa conclusion, reformulée : la conversion complète en calques peut dégrader la typographie ; mieux vaut ne rendre modifiables que les éléments qui changent. Elle nuance ce qu'on disait en S2 (« image plate, rien de modifiable ») : le reconnaître. Nom exact de la fonction Canva non vérifié (aide Canva inaccessible le 19/10) : reprendre ses mots, « conversion en éléments modifiables ». Elle note qu'il faut un abonnement pour les corrections par l'IA de Canva.</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Choix d'Idris : l'appli ordinateur en priorité pour les deux, pour les skills et les fonctions en plus. Ses difficultés venaient du va-et-vient web / appli : conversations Work invisibles sur le web, téléchargements compliqués dans Work. Sa question « à quoi sert Work ? » : faire agir ChatGPT sur des fichiers de l'ordinateur, comme Cowork chez Claude. Avec Claude Pro, c'est Claude qui jouera ce rôle. « Luna 6 » dans Work : non vérifié, à regarder sur son écran. Ses instructions personnalisées « invisibles » dans l'appli : vérifier en mode Chat.</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Ses deux captures (docx du 19/10). Le second réglage protège l'accès à « Mon activité » (validation supplémentaire), utile si quelqu'un utilise son ordinateur : facultatif. Gemini propose aussi un chat temporaire. Son flyer Gemini, « à pleurer » : confirme le choix de ChatGPT pour ses supports.</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Ses deux captures (docx du 19/10). Le second réglage protège l'accès à « Mon activité » (validation supplémentaire), utile si quelqu'un utilise son ordinateur : facultatif. Gemini propose aussi un chat temporaire. Son flyer Gemini, « à pleurer » : confirme le choix de ChatGPT pour ses supports.</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Ses deux captures (docx du 19/10). Le second réglage protège l'accès à « Mon activité » (validation supplémentaire), utile si quelqu'un utilise son ordinateur : facultatif. Gemini propose aussi un chat temporaire. Son flyer Gemini, « à pleurer » : confirme le choix de ChatGPT pour ses supports.</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Paramètres › Confidentialité (option d'amélioration des modèles) et Paramètres › Capacités. Centre d'aide, « Create and edit files with Claude » (06/08/2026) : création de fichiers .xlsx, .docx, .pptx, .pdf sur tous les forfaits, activée par défaut en Free, Pro et Max ; 30 Mo par fichier. Elle a créé son compte en S2 avec l'entraînement désactivé : le passage au Pro ne devrait rien changer, mais on regarde.</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Paramètres › Confidentialité (option d'amélioration des modèles) et Paramètres › Capacités. Centre d'aide, « Create and edit files with Claude » (06/08/2026) : création de fichiers .xlsx, .docx, .pptx, .pdf sur tous les forfaits, activée par défaut en Free, Pro et Max ; 30 Mo par fichier. Elle a créé son compte en S2 avec l'entraînement désactivé : le passage au Pro ne devrait rien changer, mais on regarde.</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Paramètres › Confidentialité (option d'amélioration des modèles) et Paramètres › Capacités. Centre d'aide, « Create and edit files with Claude » (06/08/2026) : création de fichiers .xlsx, .docx, .pptx, .pdf sur tous les forfaits, activée par défaut en Free, Pro et Max ; 30 Mo par fichier. Elle a créé son compte en S2 avec l'entraînement désactivé : le passage au Pro ne devrait rien changer, mais on regarde.</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Centre d'aide (mis à jour la semaine du 19/10/2026) : « What is the Pro plan? » : limite par session remise à zéro toutes les cinq heures, plus une limite hebdomadaire sur tous les modèles ; le suivi est dans Paramètres › Utilisation. « How do usage and length limits work? » : claude.ai, Claude Desktop et Claude Code comptent dans la même limite ; conseils : projets, instructions courtes, désactiver la réflexion étendue et les connecteurs inutiles, nouvelle conversation quand l'échange s'allonge. « Usage limit best practices » : le contenu d'un projet mis en cache compte moins. Le choix du modèle vient de l'e-learning (vidéo 1).</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Son mail du 19/10 au soir (« CLAUDE LES FONDAMENTAUX : questions pour demain en séance »). Elle a demandé de ne pas répondre par écrit : tout se traite ici, en partage d'écran. Les vidéos de l'e-learning montrent l'ancienne interface, d'où ses écarts.</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Centre d'aide : « Claude Cowork and chat are one Claude » (16/09/2026), déploiement progressif en commençant par Pro et Max ; signe qu'on l'a : le champ de message n'affiche plus « Chat » et « Cowork ». « Use Claude Cowork on web, desktop and mobile » : « there's no Cowork option to select » ; « If you don't see the Cowork option in the message box, update the app ». « Get started with Claude Cowork » : Cowork exige la dernière version de Claude pour Windows (claude.com/download). « Enable and use web search » : « If you have the new Claude experience, there's no web search toggle » ; Claude cherche quand c'est utile. Windows : « Installing Claude Desktop » demande Windows 10 ou plus ; depuis le 6/10, les nouvelles tâches Cowork Pro et Max tournent dans le cloud. Dossiers autorisés : Paramètres › Dossiers de confiance. Faire vérifier en direct : si son champ de message affiche encore « Cowork », elle a l'ancienne version.</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Centre d'aide : « Claude Cowork and chat are one Claude » (16/09/2026), déploiement progressif en commençant par Pro et Max ; signe qu'on l'a : le champ de message n'affiche plus « Chat » et « Cowork ». « Use Claude Cowork on web, desktop and mobile » : « there's no Cowork option to select » ; « If you don't see the Cowork option in the message box, update the app ». « Get started with Claude Cowork » : Cowork exige la dernière version de Claude pour Windows (claude.com/download). « Enable and use web search » : « If you have the new Claude experience, there's no web search toggle » ; Claude cherche quand c'est utile. Windows : « Installing Claude Desktop » demande Windows 10 ou plus ; depuis le 6/10, les nouvelles tâches Cowork Pro et Max tournent dans le cloud. Dossiers autorisés : Paramètres › Dossiers de confiance. Faire vérifier en direct : si son champ de message affiche encore « Cowork », elle a l'ancienne version.</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Centre d'aide, « Use Claude's chat search and memory » (mis à jour la semaine du 19/10) : réglage « Generate memory from chats » dans Paramètres › Mémoire, activé par défaut en Free, Pro et Max ; mémoire en sujets (Topics) modifiables ou supprimables ; sujets sensibles (santé, religion, politique…) exclus par défaut, sauf « Include sensitive topics in memory ». « Import and export your memory from Claude » : Paramètres › Mémoire › « Start import », prompt fourni à coller dans ChatGPT, qu'on peut personnaliser pour exclure le sensible, puis « Add to memory » ; pas de relecture avant l'enregistrement, on relit après dans le panneau Mémoire. Fonction expérimentale ; Claude peut ne pas garder les détails personnels sans lien avec le travail. Pourquoi trier : elle a posé dans ChatGPT des questions de santé concernant sa mère (S2). Ses instructions sont déjà recopiées depuis la S2 : l'import complète, il ne remplace pas.</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Centre d'aide, « Use Claude's chat search and memory » (mis à jour la semaine du 19/10) : réglage « Generate memory from chats » dans Paramètres › Mémoire, activé par défaut en Free, Pro et Max ; mémoire en sujets (Topics) modifiables ou supprimables ; sujets sensibles (santé, religion, politique…) exclus par défaut, sauf « Include sensitive topics in memory ». « Import and export your memory from Claude » : Paramètres › Mémoire › « Start import », prompt fourni à coller dans ChatGPT, qu'on peut personnaliser pour exclure le sensible, puis « Add to memory » ; pas de relecture avant l'enregistrement, on relit après dans le panneau Mémoire. Fonction expérimentale ; Claude peut ne pas garder les détails personnels sans lien avec le travail. Pourquoi trier : elle a posé dans ChatGPT des questions de santé concernant sa mère (S2). Ses instructions sont déjà recopiées depuis la S2 : l'import complète, il ne remplace pas.</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Chat : création de fichiers sur tous les forfaits, l'original n'est jamais modifié, on télécharge un nouveau fichier. Add-in (claude.com/docs/office-agents/excel) : Pro, Max, Team, Enterprise ; Claude lit et modifie le classeur ouvert, sur plusieurs onglets ; tri, filtres, mise en forme conditionnelle, listes déroulantes ; « Claude warns you before overwriting existing data ». Pas de macros ni VBA. Même limite d'usage que le compte. L'e-learning le résume : avant, « il fallait retélécharger le Excel derrière ».</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Sa question du 19/10 : « données non anonymisées puisqu'il s'agit d'un fichier de contacts ». CNIL, « La prospection commerciale par courrier électronique » (10/06/2026) : entre professionnels, pas de consentement préalable si le message est « en rapport avec la profession de la personne démarchée », avec information et opposition simple et gratuite (lien de désinscription) ; les adresses génériques (contact@, info@) ne sont pas soumises à ces règles. Pour ses prochains mailings : un lien ou une phrase pour se désinscrire.</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Sa question du 19/10 : « données non anonymisées puisqu'il s'agit d'un fichier de contacts ». CNIL, « La prospection commerciale par courrier électronique » (10/06/2026) : entre professionnels, pas de consentement préalable si le message est « en rapport avec la profession de la personne démarchée », avec information et opposition simple et gratuite (lien de désinscription) ; les adresses génériques (contact@, info@) ne sont pas soumises à ces règles. Pour ses prochains mailings : un lien ou une phrase pour se désinscrire.</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On suppose que « convertir » veut dire passer du Word à l'Excel : le lui faire confirmer en ouvrant l'exercice. Si elle a aussi un Excel, le prompt prévoit la fusion et les doublons. Prompt complet dans s3-a-coller.md.</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Version courte du prompt de la fiche. La règle « n'invente rien » et la liste des manques reprennent son réflexe « Informations manquantes à vérifier » de la S1.</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Son mail du 19/10 : échec de l'installation Excel et PowerPoint, alors qu'elle a Claude Pro et Microsoft 365. Elle cherchait « Claude by Anthropic » (consigne donnée par Claude lui-même). claude.com/docs/office-agents (Excel et PowerPoint) : une seule fiche, « Claude for Microsoft 365 » sur Microsoft Marketplace (AppSource, WA200010725), qui couvre Excel, PowerPoint, Word et Outlook ; « Get it now » (Obtenir maintenant), puis ouvrir Excel, activer le complément (Accueil › Compléments sous Windows) et se connecter avec son compte Claude. Prérequis : Windows avec abonnement Microsoft 365, build 16.0.13127.20296 ou plus ; sinon Excel sur le web. La doc ne couvre pas le dépannage côté particulier : si ça bloque encore, essayer Excel sur le web. Méfiance : prendre le complément publié par Anthropic.</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C'est le livrable « tableau de suivi » du module 3, sur son vrai mailing de Noël envoyé le 19/10. Sélectionner une plage avant de poser la question : Claude sait de quelles lignes on parle (astuce de l'e-learning). Laisser l'autorisation des actions sur « demander » au début.</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Listes déroulantes (validation des données) et mise en forme conditionnelle font partie de ce que l'add-in sait faire (doc Claude for Excel). Si elle préfère un autre délai de relance, elle change le chiffre.</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 même déroulé qu'en S2 pour le projet Candidatures de ChatGPT, transposé dans Claude, que Laurence juge plus pertinent pour sa recherche d'emploi (mail du 19/10).</a:t>
            </a:r>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Instructions de projet : réservées aux forfaits payants, elle est en Pro. Elles s'ajoutent aux Instructions pour Claude du compte (Paramètres) : ne pas répéter la même règle aux deux endroits. Si elle a déjà un projet Candidatures dans ChatGPT, elle peut en recopier les instructions.</a:t>
            </a:r>
          </a:p>
        </p:txBody>
      </p:sp>
      <p:sp>
        <p:nvSpPr>
          <p:cNvPr id="4" name="Slide Number Placeholder 3"/>
          <p:cNvSpPr>
            <a:spLocks noGrp="1"/>
          </p:cNvSpPr>
          <p:nvPr>
            <p:ph type="sldNum" idx="5" sz="quarter"/>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Centre d'aide, « Use connectors to extend Claude's capabilities » : Personnaliser › Connecteurs › « + » › parcourir › Canva › Connecter, puis se connecter à Canva. Dans une conversation : « + » › Connecteurs pour l'activer. Canva est un connecteur interactif (« Create and edit designs ») : le design s'affiche dans la conversation. Fonctionne avec un compte Canva gratuit (testé par Idris). C'est elle qui donne l'autorisation sur son compte Canva. Elle a préparé son prompt et la copie du CV : partir des siens ; le modèle de la fiche sert de secours.</a:t>
            </a:r>
          </a:p>
        </p:txBody>
      </p:sp>
      <p:sp>
        <p:nvSpPr>
          <p:cNvPr id="4" name="Slide Number Placeholder 3"/>
          <p:cNvSpPr>
            <a:spLocks noGrp="1"/>
          </p:cNvSpPr>
          <p:nvPr>
            <p:ph type="sldNum" idx="5" sz="quarter"/>
          </p:nvPr>
        </p:nvSpPr>
        <p:spPr/>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À comparer avec ses propres instructions : garder ce qu'elle a écrit, compléter si une étape manque (surtout 4 et 5). Version complète dans s3-a-coller.md.</a:t>
            </a:r>
          </a:p>
        </p:txBody>
      </p:sp>
      <p:sp>
        <p:nvSpPr>
          <p:cNvPr id="4" name="Slide Number Placeholder 3"/>
          <p:cNvSpPr>
            <a:spLocks noGrp="1"/>
          </p:cNvSpPr>
          <p:nvPr>
            <p:ph type="sldNum" idx="5" sz="quarter"/>
          </p:nvPr>
        </p:nvSpPr>
        <p:spPr/>
      </p:sp>
    </p:spTree>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 contrôle 1 est le plus important : un CV « optimisé » par l'IA peut glisser une compétence ou une formulation qu'elle n'a pas. Nommer la copie avec la date et l'offre (sa règle de nommage de la S2).</a:t>
            </a:r>
          </a:p>
        </p:txBody>
      </p:sp>
      <p:sp>
        <p:nvSpPr>
          <p:cNvPr id="4" name="Slide Number Placeholder 3"/>
          <p:cNvSpPr>
            <a:spLocks noGrp="1"/>
          </p:cNvSpPr>
          <p:nvPr>
            <p:ph type="sldNum" idx="5" sz="quarter"/>
          </p:nvPr>
        </p:nvSpPr>
        <p:spPr/>
      </p:sp>
    </p:spTree>
  </p:cSld>
  <p:clrMapOvr>
    <a:masterClrMapping/>
  </p:clrMapOvr>
</p:notes>
</file>

<file path=ppt/notesSlides/notesSlide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 contrôle 1 est le plus important : un CV « optimisé » par l'IA peut glisser une compétence ou une formulation qu'elle n'a pas. Nommer la copie avec la date et l'offre (sa règle de nommage de la S2).</a:t>
            </a:r>
          </a:p>
        </p:txBody>
      </p:sp>
      <p:sp>
        <p:nvSpPr>
          <p:cNvPr id="4" name="Slide Number Placeholder 3"/>
          <p:cNvSpPr>
            <a:spLocks noGrp="1"/>
          </p:cNvSpPr>
          <p:nvPr>
            <p:ph type="sldNum" idx="5" sz="quarter"/>
          </p:nvPr>
        </p:nvSpPr>
        <p:spPr/>
      </p:sp>
    </p:spTree>
  </p:cSld>
  <p:clrMapOvr>
    <a:masterClrMapping/>
  </p:clrMapOvr>
</p:notes>
</file>

<file path=ppt/notesSlides/notesSlide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Troisième production du module 3 : « un compte-rendu instruit selon ses règles », avec une « formulation maîtrisée des points sensibles ». Les notes sont fictives (résidence Les Tilleuls inventée) : aucune donnée réelle.</a:t>
            </a:r>
          </a:p>
        </p:txBody>
      </p:sp>
      <p:sp>
        <p:nvSpPr>
          <p:cNvPr id="4" name="Slide Number Placeholder 3"/>
          <p:cNvSpPr>
            <a:spLocks noGrp="1"/>
          </p:cNvSpPr>
          <p:nvPr>
            <p:ph type="sldNum" idx="5" sz="quarter"/>
          </p:nvPr>
        </p:nvSpPr>
        <p:spPr/>
      </p:sp>
    </p:spTree>
  </p:cSld>
  <p:clrMapOvr>
    <a:masterClrMapping/>
  </p:clrMapOvr>
</p:notes>
</file>

<file path=ppt/notesSlides/notesSlide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Notes et prompt dans s3-a-coller.md. Ce qu'on regarde : la chute d'une résidente formulée sans nom ni détail médical, l'unité protégée, la règle sur les photos (accord écrit), les actions avec un responsable et une date. Si on manque de temps : en devoir.</a:t>
            </a:r>
          </a:p>
        </p:txBody>
      </p:sp>
      <p:sp>
        <p:nvSpPr>
          <p:cNvPr id="4" name="Slide Number Placeholder 3"/>
          <p:cNvSpPr>
            <a:spLocks noGrp="1"/>
          </p:cNvSpPr>
          <p:nvPr>
            <p:ph type="sldNum" idx="5" sz="quarter"/>
          </p:nvPr>
        </p:nvSpPr>
        <p:spPr/>
      </p:sp>
    </p:spTree>
  </p:cSld>
  <p:clrMapOvr>
    <a:masterClrMapping/>
  </p:clrMapOvr>
</p:notes>
</file>

<file path=ppt/notesSlides/notesSlide4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Module 4 : « un kit de communication complet et documenté sur un projet réel » et « ce qui se réutilise d'un projet à l'autre ». Refaire Noël serait redondant : elle l'a déjà produit et documenté. Les deux pistes sont des propositions : c'est elle qui choisit. Progression e-learning au 19/10 : « Claude : les fondamentaux » 2 vidéos sur 8.</a:t>
            </a:r>
          </a:p>
        </p:txBody>
      </p:sp>
      <p:sp>
        <p:nvSpPr>
          <p:cNvPr id="4" name="Slide Number Placeholder 3"/>
          <p:cNvSpPr>
            <a:spLocks noGrp="1"/>
          </p:cNvSpPr>
          <p:nvPr>
            <p:ph type="sldNum" idx="5" sz="quarter"/>
          </p:nvPr>
        </p:nvSpPr>
        <p:spPr/>
      </p:sp>
    </p:spTree>
  </p:cSld>
  <p:clrMapOvr>
    <a:masterClrMapping/>
  </p:clrMapOvr>
</p:notes>
</file>

<file path=ppt/notesSlides/notesSlide4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Module 4 : « un kit de communication complet et documenté sur un projet réel » et « ce qui se réutilise d'un projet à l'autre ». Refaire Noël serait redondant : elle l'a déjà produit et documenté. Les deux pistes sont des propositions : c'est elle qui choisit. Progression e-learning au 19/10 : « Claude : les fondamentaux » 2 vidéos sur 8.</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8.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9.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0.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1.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3.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4.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5.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6.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7.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8.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1.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A25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206240"/>
            <a:ext cx="12191695" cy="2651760"/>
          </a:xfrm>
          <a:prstGeom prst="rect">
            <a:avLst/>
          </a:prstGeom>
          <a:solidFill>
            <a:srgbClr val="1E556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640080" y="960120"/>
            <a:ext cx="2194560" cy="36576"/>
          </a:xfrm>
          <a:prstGeom prst="rect">
            <a:avLst/>
          </a:prstGeom>
          <a:solidFill>
            <a:srgbClr val="E8A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0"/>
            <a:ext cx="10515600" cy="731520"/>
          </a:xfrm>
          <a:prstGeom prst="rect">
            <a:avLst/>
          </a:prstGeom>
          <a:noFill/>
        </p:spPr>
        <p:txBody>
          <a:bodyPr wrap="square">
            <a:spAutoFit/>
          </a:bodyPr>
          <a:lstStyle/>
          <a:p>
            <a:pPr algn="l"/>
            <a:r>
              <a:rPr sz="1800" b="1">
                <a:solidFill>
                  <a:srgbClr val="E8A000"/>
                </a:solidFill>
                <a:latin typeface="Bricolage Grotesque"/>
              </a:rPr>
              <a:t>SÉANCE 3 / 4 · LAURENCE SAULAIS</a:t>
            </a:r>
          </a:p>
        </p:txBody>
      </p:sp>
      <p:sp>
        <p:nvSpPr>
          <p:cNvPr id="6" name="TextBox 5"/>
          <p:cNvSpPr txBox="1"/>
          <p:nvPr/>
        </p:nvSpPr>
        <p:spPr>
          <a:xfrm>
            <a:off x="640080" y="1920240"/>
            <a:ext cx="10881360" cy="1371600"/>
          </a:xfrm>
          <a:prstGeom prst="rect">
            <a:avLst/>
          </a:prstGeom>
          <a:noFill/>
        </p:spPr>
        <p:txBody>
          <a:bodyPr wrap="square">
            <a:spAutoFit/>
          </a:bodyPr>
          <a:lstStyle/>
          <a:p>
            <a:pPr algn="l"/>
            <a:r>
              <a:rPr sz="5000" b="1">
                <a:solidFill>
                  <a:srgbClr val="FFFFFF"/>
                </a:solidFill>
                <a:latin typeface="Bricolage Grotesque"/>
              </a:rPr>
              <a:t>Écrits, tableaux et CV</a:t>
            </a:r>
          </a:p>
        </p:txBody>
      </p:sp>
      <p:sp>
        <p:nvSpPr>
          <p:cNvPr id="7" name="TextBox 6"/>
          <p:cNvSpPr txBox="1"/>
          <p:nvPr/>
        </p:nvSpPr>
        <p:spPr>
          <a:xfrm>
            <a:off x="640080" y="3383280"/>
            <a:ext cx="10515600" cy="731520"/>
          </a:xfrm>
          <a:prstGeom prst="rect">
            <a:avLst/>
          </a:prstGeom>
          <a:noFill/>
        </p:spPr>
        <p:txBody>
          <a:bodyPr wrap="square">
            <a:spAutoFit/>
          </a:bodyPr>
          <a:lstStyle/>
          <a:p>
            <a:pPr algn="l"/>
            <a:r>
              <a:rPr sz="2600" b="0">
                <a:solidFill>
                  <a:srgbClr val="E8A000"/>
                </a:solidFill>
                <a:latin typeface="Bricolage Grotesque"/>
              </a:rPr>
              <a:t>Un tableau de suivi, un CV adapté à une offre</a:t>
            </a:r>
          </a:p>
        </p:txBody>
      </p:sp>
      <p:sp>
        <p:nvSpPr>
          <p:cNvPr id="8" name="TextBox 7"/>
          <p:cNvSpPr txBox="1"/>
          <p:nvPr/>
        </p:nvSpPr>
        <p:spPr>
          <a:xfrm>
            <a:off x="640080" y="4480560"/>
            <a:ext cx="10515600" cy="731520"/>
          </a:xfrm>
          <a:prstGeom prst="rect">
            <a:avLst/>
          </a:prstGeom>
          <a:noFill/>
        </p:spPr>
        <p:txBody>
          <a:bodyPr wrap="square">
            <a:spAutoFit/>
          </a:bodyPr>
          <a:lstStyle/>
          <a:p>
            <a:pPr algn="l"/>
            <a:r>
              <a:rPr sz="2000" b="0">
                <a:solidFill>
                  <a:srgbClr val="5A8A8F"/>
                </a:solidFill>
                <a:latin typeface="Bricolage Grotesque"/>
              </a:rPr>
              <a:t>Mardi 20 octobre 2026 · 9h-11h · Idris Salvi</a:t>
            </a:r>
          </a:p>
        </p:txBody>
      </p:sp>
      <p:pic>
        <p:nvPicPr>
          <p:cNvPr id="9" name="Picture 8" descr="ia-round.png"/>
          <p:cNvPicPr>
            <a:picLocks noChangeAspect="1"/>
          </p:cNvPicPr>
          <p:nvPr/>
        </p:nvPicPr>
        <p:blipFill>
          <a:blip r:embed="rId2"/>
          <a:stretch>
            <a:fillRect/>
          </a:stretch>
        </p:blipFill>
        <p:spPr>
          <a:xfrm>
            <a:off x="457200" y="6217920"/>
            <a:ext cx="320040" cy="320040"/>
          </a:xfrm>
          <a:prstGeom prst="rect">
            <a:avLst/>
          </a:prstGeom>
        </p:spPr>
      </p:pic>
      <p:sp>
        <p:nvSpPr>
          <p:cNvPr id="10" name="TextBox 9"/>
          <p:cNvSpPr txBox="1"/>
          <p:nvPr/>
        </p:nvSpPr>
        <p:spPr>
          <a:xfrm>
            <a:off x="868680" y="6199632"/>
            <a:ext cx="3657600" cy="365760"/>
          </a:xfrm>
          <a:prstGeom prst="rect">
            <a:avLst/>
          </a:prstGeom>
          <a:noFill/>
        </p:spPr>
        <p:txBody>
          <a:bodyPr wrap="square">
            <a:spAutoFit/>
          </a:bodyPr>
          <a:lstStyle/>
          <a:p>
            <a:pPr algn="l"/>
            <a:r>
              <a:rPr sz="1400" b="0">
                <a:solidFill>
                  <a:srgbClr val="FFFFFF"/>
                </a:solidFill>
                <a:latin typeface="Bricolage Grotesque"/>
              </a:rPr>
              <a:t>intelligence academy</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143000"/>
          </a:xfrm>
          <a:prstGeom prst="rect">
            <a:avLst/>
          </a:prstGeom>
          <a:ln>
            <a:noFill/>
          </a:ln>
          <a:gradFill>
            <a:gsLst>
              <a:gs pos="0">
                <a:srgbClr val="0A2530"/>
              </a:gs>
              <a:gs pos="100000">
                <a:srgbClr val="1E5565"/>
              </a:gs>
            </a:gsLst>
            <a:lin ang="0" scaled="1"/>
          </a:gra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143000"/>
            <a:ext cx="12191695" cy="18288"/>
          </a:xfrm>
          <a:prstGeom prst="rect">
            <a:avLst/>
          </a:prstGeom>
          <a:solidFill>
            <a:srgbClr val="E8A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182880"/>
            <a:ext cx="10515600" cy="822960"/>
          </a:xfrm>
          <a:prstGeom prst="rect">
            <a:avLst/>
          </a:prstGeom>
          <a:noFill/>
        </p:spPr>
        <p:txBody>
          <a:bodyPr wrap="square">
            <a:spAutoFit/>
          </a:bodyPr>
          <a:lstStyle/>
          <a:p>
            <a:pPr algn="l"/>
            <a:r>
              <a:rPr sz="3400" b="1">
                <a:solidFill>
                  <a:srgbClr val="FFFFFF"/>
                </a:solidFill>
                <a:latin typeface="Bricolage Grotesque"/>
              </a:rPr>
              <a:t>Le parcours</a:t>
            </a:r>
          </a:p>
        </p:txBody>
      </p:sp>
      <p:sp>
        <p:nvSpPr>
          <p:cNvPr id="5" name="TextBox 4"/>
          <p:cNvSpPr txBox="1"/>
          <p:nvPr/>
        </p:nvSpPr>
        <p:spPr>
          <a:xfrm>
            <a:off x="640080" y="1463040"/>
            <a:ext cx="10515600" cy="640080"/>
          </a:xfrm>
          <a:prstGeom prst="rect">
            <a:avLst/>
          </a:prstGeom>
          <a:noFill/>
        </p:spPr>
        <p:txBody>
          <a:bodyPr wrap="square">
            <a:spAutoFit/>
          </a:bodyPr>
          <a:lstStyle/>
          <a:p>
            <a:pPr algn="l"/>
            <a:r>
              <a:rPr sz="2600" b="1">
                <a:solidFill>
                  <a:srgbClr val="1A1A1A"/>
                </a:solidFill>
                <a:latin typeface="Bricolage Grotesque"/>
              </a:rPr>
              <a:t>Quatre séances, on est à la troisième</a:t>
            </a:r>
          </a:p>
        </p:txBody>
      </p:sp>
      <p:sp>
        <p:nvSpPr>
          <p:cNvPr id="6" name="Rounded Rectangle 5"/>
          <p:cNvSpPr/>
          <p:nvPr/>
        </p:nvSpPr>
        <p:spPr>
          <a:xfrm>
            <a:off x="640080" y="2743200"/>
            <a:ext cx="2331720" cy="777240"/>
          </a:xfrm>
          <a:prstGeom prst="roundRect">
            <a:avLst/>
          </a:prstGeom>
          <a:solidFill>
            <a:srgbClr val="1B5E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31520" y="2907792"/>
            <a:ext cx="2148840" cy="502920"/>
          </a:xfrm>
          <a:prstGeom prst="rect">
            <a:avLst/>
          </a:prstGeom>
          <a:noFill/>
        </p:spPr>
        <p:txBody>
          <a:bodyPr wrap="square">
            <a:spAutoFit/>
          </a:bodyPr>
          <a:lstStyle/>
          <a:p>
            <a:pPr algn="ctr"/>
            <a:r>
              <a:rPr sz="1400" b="1">
                <a:solidFill>
                  <a:srgbClr val="FFFFFF"/>
                </a:solidFill>
                <a:latin typeface="Bricolage Grotesque"/>
              </a:rPr>
              <a:t>S1 · 2 oct.
Fondamentaux ✓</a:t>
            </a:r>
          </a:p>
        </p:txBody>
      </p:sp>
      <p:sp>
        <p:nvSpPr>
          <p:cNvPr id="8" name="TextBox 7"/>
          <p:cNvSpPr txBox="1"/>
          <p:nvPr/>
        </p:nvSpPr>
        <p:spPr>
          <a:xfrm>
            <a:off x="3008376" y="2926080"/>
            <a:ext cx="310896" cy="457200"/>
          </a:xfrm>
          <a:prstGeom prst="rect">
            <a:avLst/>
          </a:prstGeom>
          <a:noFill/>
        </p:spPr>
        <p:txBody>
          <a:bodyPr wrap="square">
            <a:spAutoFit/>
          </a:bodyPr>
          <a:lstStyle/>
          <a:p>
            <a:pPr algn="ctr"/>
            <a:r>
              <a:rPr sz="2200" b="1">
                <a:solidFill>
                  <a:srgbClr val="E8A000"/>
                </a:solidFill>
                <a:latin typeface="Bricolage Grotesque"/>
              </a:rPr>
              <a:t>→</a:t>
            </a:r>
          </a:p>
        </p:txBody>
      </p:sp>
      <p:sp>
        <p:nvSpPr>
          <p:cNvPr id="9" name="Rounded Rectangle 8"/>
          <p:cNvSpPr/>
          <p:nvPr/>
        </p:nvSpPr>
        <p:spPr>
          <a:xfrm>
            <a:off x="3355848" y="2743200"/>
            <a:ext cx="2331720" cy="777240"/>
          </a:xfrm>
          <a:prstGeom prst="roundRect">
            <a:avLst/>
          </a:prstGeom>
          <a:solidFill>
            <a:srgbClr val="1E556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447288" y="2907792"/>
            <a:ext cx="2148840" cy="502920"/>
          </a:xfrm>
          <a:prstGeom prst="rect">
            <a:avLst/>
          </a:prstGeom>
          <a:noFill/>
        </p:spPr>
        <p:txBody>
          <a:bodyPr wrap="square">
            <a:spAutoFit/>
          </a:bodyPr>
          <a:lstStyle/>
          <a:p>
            <a:pPr algn="ctr"/>
            <a:r>
              <a:rPr sz="1400" b="1">
                <a:solidFill>
                  <a:srgbClr val="FFFFFF"/>
                </a:solidFill>
                <a:latin typeface="Bricolage Grotesque"/>
              </a:rPr>
              <a:t>S2 · 13 oct.
Visuels ✓</a:t>
            </a:r>
          </a:p>
        </p:txBody>
      </p:sp>
      <p:sp>
        <p:nvSpPr>
          <p:cNvPr id="11" name="TextBox 10"/>
          <p:cNvSpPr txBox="1"/>
          <p:nvPr/>
        </p:nvSpPr>
        <p:spPr>
          <a:xfrm>
            <a:off x="5724144" y="2926080"/>
            <a:ext cx="310896" cy="457200"/>
          </a:xfrm>
          <a:prstGeom prst="rect">
            <a:avLst/>
          </a:prstGeom>
          <a:noFill/>
        </p:spPr>
        <p:txBody>
          <a:bodyPr wrap="square">
            <a:spAutoFit/>
          </a:bodyPr>
          <a:lstStyle/>
          <a:p>
            <a:pPr algn="ctr"/>
            <a:r>
              <a:rPr sz="2200" b="1">
                <a:solidFill>
                  <a:srgbClr val="E8A000"/>
                </a:solidFill>
                <a:latin typeface="Bricolage Grotesque"/>
              </a:rPr>
              <a:t>→</a:t>
            </a:r>
          </a:p>
        </p:txBody>
      </p:sp>
      <p:sp>
        <p:nvSpPr>
          <p:cNvPr id="12" name="Rounded Rectangle 11"/>
          <p:cNvSpPr/>
          <p:nvPr/>
        </p:nvSpPr>
        <p:spPr>
          <a:xfrm>
            <a:off x="6071616" y="2743200"/>
            <a:ext cx="2331720" cy="777240"/>
          </a:xfrm>
          <a:prstGeom prst="roundRect">
            <a:avLst/>
          </a:prstGeom>
          <a:solidFill>
            <a:srgbClr val="1B5E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163056" y="2907792"/>
            <a:ext cx="2148840" cy="502920"/>
          </a:xfrm>
          <a:prstGeom prst="rect">
            <a:avLst/>
          </a:prstGeom>
          <a:noFill/>
        </p:spPr>
        <p:txBody>
          <a:bodyPr wrap="square">
            <a:spAutoFit/>
          </a:bodyPr>
          <a:lstStyle/>
          <a:p>
            <a:pPr algn="ctr"/>
            <a:r>
              <a:rPr sz="1400" b="1">
                <a:solidFill>
                  <a:srgbClr val="FFFFFF"/>
                </a:solidFill>
                <a:latin typeface="Bricolage Grotesque"/>
              </a:rPr>
              <a:t>S3 · 20 oct.
Écrits, tableaux</a:t>
            </a:r>
          </a:p>
        </p:txBody>
      </p:sp>
      <p:sp>
        <p:nvSpPr>
          <p:cNvPr id="14" name="TextBox 13"/>
          <p:cNvSpPr txBox="1"/>
          <p:nvPr/>
        </p:nvSpPr>
        <p:spPr>
          <a:xfrm>
            <a:off x="8439912" y="2926080"/>
            <a:ext cx="310896" cy="457200"/>
          </a:xfrm>
          <a:prstGeom prst="rect">
            <a:avLst/>
          </a:prstGeom>
          <a:noFill/>
        </p:spPr>
        <p:txBody>
          <a:bodyPr wrap="square">
            <a:spAutoFit/>
          </a:bodyPr>
          <a:lstStyle/>
          <a:p>
            <a:pPr algn="ctr"/>
            <a:r>
              <a:rPr sz="2200" b="1">
                <a:solidFill>
                  <a:srgbClr val="E8A000"/>
                </a:solidFill>
                <a:latin typeface="Bricolage Grotesque"/>
              </a:rPr>
              <a:t>→</a:t>
            </a:r>
          </a:p>
        </p:txBody>
      </p:sp>
      <p:sp>
        <p:nvSpPr>
          <p:cNvPr id="15" name="Rounded Rectangle 14"/>
          <p:cNvSpPr/>
          <p:nvPr/>
        </p:nvSpPr>
        <p:spPr>
          <a:xfrm>
            <a:off x="8787384" y="2743200"/>
            <a:ext cx="2331720" cy="777240"/>
          </a:xfrm>
          <a:prstGeom prst="roundRect">
            <a:avLst/>
          </a:prstGeom>
          <a:solidFill>
            <a:srgbClr val="1E556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878824" y="2907792"/>
            <a:ext cx="2148840" cy="502920"/>
          </a:xfrm>
          <a:prstGeom prst="rect">
            <a:avLst/>
          </a:prstGeom>
          <a:noFill/>
        </p:spPr>
        <p:txBody>
          <a:bodyPr wrap="square">
            <a:spAutoFit/>
          </a:bodyPr>
          <a:lstStyle/>
          <a:p>
            <a:pPr algn="ctr"/>
            <a:r>
              <a:rPr sz="1400" b="1">
                <a:solidFill>
                  <a:srgbClr val="FFFFFF"/>
                </a:solidFill>
                <a:latin typeface="Bricolage Grotesque"/>
              </a:rPr>
              <a:t>S4 · 29 oct.
Projet complet</a:t>
            </a:r>
          </a:p>
        </p:txBody>
      </p:sp>
      <p:sp>
        <p:nvSpPr>
          <p:cNvPr id="17" name="TextBox 16"/>
          <p:cNvSpPr txBox="1"/>
          <p:nvPr/>
        </p:nvSpPr>
        <p:spPr>
          <a:xfrm>
            <a:off x="640080" y="4114800"/>
            <a:ext cx="10972800" cy="411480"/>
          </a:xfrm>
          <a:prstGeom prst="rect">
            <a:avLst/>
          </a:prstGeom>
          <a:noFill/>
        </p:spPr>
        <p:txBody>
          <a:bodyPr wrap="square">
            <a:spAutoFit/>
          </a:bodyPr>
          <a:lstStyle/>
          <a:p>
            <a:pPr algn="l"/>
            <a:r>
              <a:rPr sz="1800" b="1">
                <a:solidFill>
                  <a:srgbClr val="1B5E6B"/>
                </a:solidFill>
                <a:latin typeface="Bricolage Grotesque"/>
              </a:rPr>
              <a:t>Aujourd'hui : Claude au travail sur vos deux dossiers réels.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143000"/>
          </a:xfrm>
          <a:prstGeom prst="rect">
            <a:avLst/>
          </a:prstGeom>
          <a:ln>
            <a:noFill/>
          </a:ln>
          <a:gradFill>
            <a:gsLst>
              <a:gs pos="0">
                <a:srgbClr val="0A2530"/>
              </a:gs>
              <a:gs pos="100000">
                <a:srgbClr val="1E5565"/>
              </a:gs>
            </a:gsLst>
            <a:lin ang="0" scaled="1"/>
          </a:gra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143000"/>
            <a:ext cx="12191695" cy="18288"/>
          </a:xfrm>
          <a:prstGeom prst="rect">
            <a:avLst/>
          </a:prstGeom>
          <a:solidFill>
            <a:srgbClr val="E8A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182880"/>
            <a:ext cx="10515600" cy="822960"/>
          </a:xfrm>
          <a:prstGeom prst="rect">
            <a:avLst/>
          </a:prstGeom>
          <a:noFill/>
        </p:spPr>
        <p:txBody>
          <a:bodyPr wrap="square">
            <a:spAutoFit/>
          </a:bodyPr>
          <a:lstStyle/>
          <a:p>
            <a:pPr algn="l"/>
            <a:r>
              <a:rPr sz="3400" b="1">
                <a:solidFill>
                  <a:srgbClr val="FFFFFF"/>
                </a:solidFill>
                <a:latin typeface="Bricolage Grotesque"/>
              </a:rPr>
              <a:t>Le déroulé de ce matin</a:t>
            </a:r>
          </a:p>
        </p:txBody>
      </p:sp>
      <p:sp>
        <p:nvSpPr>
          <p:cNvPr id="5" name="TextBox 4"/>
          <p:cNvSpPr txBox="1"/>
          <p:nvPr/>
        </p:nvSpPr>
        <p:spPr>
          <a:xfrm>
            <a:off x="640080" y="1554480"/>
            <a:ext cx="10881360" cy="411480"/>
          </a:xfrm>
          <a:prstGeom prst="rect">
            <a:avLst/>
          </a:prstGeom>
          <a:noFill/>
        </p:spPr>
        <p:txBody>
          <a:bodyPr wrap="square">
            <a:spAutoFit/>
          </a:bodyPr>
          <a:lstStyle/>
          <a:p>
            <a:r>
              <a:rPr sz="2000" b="1">
                <a:solidFill>
                  <a:srgbClr val="1B5E6B"/>
                </a:solidFill>
                <a:latin typeface="Bricolage Grotesque"/>
              </a:rPr>
              <a:t>1.  Quiz (5 min)</a:t>
            </a:r>
          </a:p>
        </p:txBody>
      </p:sp>
      <p:sp>
        <p:nvSpPr>
          <p:cNvPr id="6" name="TextBox 5"/>
          <p:cNvSpPr txBox="1"/>
          <p:nvPr/>
        </p:nvSpPr>
        <p:spPr>
          <a:xfrm>
            <a:off x="640080" y="2075688"/>
            <a:ext cx="10881360" cy="411480"/>
          </a:xfrm>
          <a:prstGeom prst="rect">
            <a:avLst/>
          </a:prstGeom>
          <a:noFill/>
        </p:spPr>
        <p:txBody>
          <a:bodyPr wrap="square">
            <a:spAutoFit/>
          </a:bodyPr>
          <a:lstStyle/>
          <a:p>
            <a:r>
              <a:rPr sz="2000" b="1">
                <a:solidFill>
                  <a:srgbClr val="1B5E6B"/>
                </a:solidFill>
                <a:latin typeface="Bricolage Grotesque"/>
              </a:rPr>
              <a:t>2.  Vos retours d'exercices (10 min)</a:t>
            </a:r>
          </a:p>
        </p:txBody>
      </p:sp>
      <p:sp>
        <p:nvSpPr>
          <p:cNvPr id="7" name="TextBox 6"/>
          <p:cNvSpPr txBox="1"/>
          <p:nvPr/>
        </p:nvSpPr>
        <p:spPr>
          <a:xfrm>
            <a:off x="640080" y="2596896"/>
            <a:ext cx="10881360" cy="411480"/>
          </a:xfrm>
          <a:prstGeom prst="rect">
            <a:avLst/>
          </a:prstGeom>
          <a:noFill/>
        </p:spPr>
        <p:txBody>
          <a:bodyPr wrap="square">
            <a:spAutoFit/>
          </a:bodyPr>
          <a:lstStyle/>
          <a:p>
            <a:r>
              <a:rPr sz="2000" b="1">
                <a:solidFill>
                  <a:srgbClr val="1B5E6B"/>
                </a:solidFill>
                <a:latin typeface="Bricolage Grotesque"/>
              </a:rPr>
              <a:t>3.  Claude Pro : vos questions (15 min)</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143000"/>
          </a:xfrm>
          <a:prstGeom prst="rect">
            <a:avLst/>
          </a:prstGeom>
          <a:ln>
            <a:noFill/>
          </a:ln>
          <a:gradFill>
            <a:gsLst>
              <a:gs pos="0">
                <a:srgbClr val="0A2530"/>
              </a:gs>
              <a:gs pos="100000">
                <a:srgbClr val="1E5565"/>
              </a:gs>
            </a:gsLst>
            <a:lin ang="0" scaled="1"/>
          </a:gra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143000"/>
            <a:ext cx="12191695" cy="18288"/>
          </a:xfrm>
          <a:prstGeom prst="rect">
            <a:avLst/>
          </a:prstGeom>
          <a:solidFill>
            <a:srgbClr val="E8A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182880"/>
            <a:ext cx="10515600" cy="822960"/>
          </a:xfrm>
          <a:prstGeom prst="rect">
            <a:avLst/>
          </a:prstGeom>
          <a:noFill/>
        </p:spPr>
        <p:txBody>
          <a:bodyPr wrap="square">
            <a:spAutoFit/>
          </a:bodyPr>
          <a:lstStyle/>
          <a:p>
            <a:pPr algn="l"/>
            <a:r>
              <a:rPr sz="3400" b="1">
                <a:solidFill>
                  <a:srgbClr val="FFFFFF"/>
                </a:solidFill>
                <a:latin typeface="Bricolage Grotesque"/>
              </a:rPr>
              <a:t>Le déroulé de ce matin</a:t>
            </a:r>
          </a:p>
        </p:txBody>
      </p:sp>
      <p:sp>
        <p:nvSpPr>
          <p:cNvPr id="5" name="TextBox 4"/>
          <p:cNvSpPr txBox="1"/>
          <p:nvPr/>
        </p:nvSpPr>
        <p:spPr>
          <a:xfrm>
            <a:off x="640080" y="1554480"/>
            <a:ext cx="10881360" cy="411480"/>
          </a:xfrm>
          <a:prstGeom prst="rect">
            <a:avLst/>
          </a:prstGeom>
          <a:noFill/>
        </p:spPr>
        <p:txBody>
          <a:bodyPr wrap="square">
            <a:spAutoFit/>
          </a:bodyPr>
          <a:lstStyle/>
          <a:p>
            <a:r>
              <a:rPr sz="2000" b="1">
                <a:solidFill>
                  <a:srgbClr val="1B5E6B"/>
                </a:solidFill>
                <a:latin typeface="Bricolage Grotesque"/>
              </a:rPr>
              <a:t>1.  Quiz (5 min)</a:t>
            </a:r>
          </a:p>
        </p:txBody>
      </p:sp>
      <p:sp>
        <p:nvSpPr>
          <p:cNvPr id="6" name="TextBox 5"/>
          <p:cNvSpPr txBox="1"/>
          <p:nvPr/>
        </p:nvSpPr>
        <p:spPr>
          <a:xfrm>
            <a:off x="640080" y="2075688"/>
            <a:ext cx="10881360" cy="411480"/>
          </a:xfrm>
          <a:prstGeom prst="rect">
            <a:avLst/>
          </a:prstGeom>
          <a:noFill/>
        </p:spPr>
        <p:txBody>
          <a:bodyPr wrap="square">
            <a:spAutoFit/>
          </a:bodyPr>
          <a:lstStyle/>
          <a:p>
            <a:r>
              <a:rPr sz="2000" b="1">
                <a:solidFill>
                  <a:srgbClr val="1B5E6B"/>
                </a:solidFill>
                <a:latin typeface="Bricolage Grotesque"/>
              </a:rPr>
              <a:t>2.  Vos retours d'exercices (10 min)</a:t>
            </a:r>
          </a:p>
        </p:txBody>
      </p:sp>
      <p:sp>
        <p:nvSpPr>
          <p:cNvPr id="7" name="TextBox 6"/>
          <p:cNvSpPr txBox="1"/>
          <p:nvPr/>
        </p:nvSpPr>
        <p:spPr>
          <a:xfrm>
            <a:off x="640080" y="2596896"/>
            <a:ext cx="10881360" cy="411480"/>
          </a:xfrm>
          <a:prstGeom prst="rect">
            <a:avLst/>
          </a:prstGeom>
          <a:noFill/>
        </p:spPr>
        <p:txBody>
          <a:bodyPr wrap="square">
            <a:spAutoFit/>
          </a:bodyPr>
          <a:lstStyle/>
          <a:p>
            <a:r>
              <a:rPr sz="2000" b="1">
                <a:solidFill>
                  <a:srgbClr val="1B5E6B"/>
                </a:solidFill>
                <a:latin typeface="Bricolage Grotesque"/>
              </a:rPr>
              <a:t>3.  Claude Pro : vos questions (15 min)</a:t>
            </a:r>
          </a:p>
        </p:txBody>
      </p:sp>
      <p:sp>
        <p:nvSpPr>
          <p:cNvPr id="8" name="TextBox 7"/>
          <p:cNvSpPr txBox="1"/>
          <p:nvPr/>
        </p:nvSpPr>
        <p:spPr>
          <a:xfrm>
            <a:off x="640080" y="3355848"/>
            <a:ext cx="10881360" cy="411480"/>
          </a:xfrm>
          <a:prstGeom prst="rect">
            <a:avLst/>
          </a:prstGeom>
          <a:noFill/>
        </p:spPr>
        <p:txBody>
          <a:bodyPr wrap="square">
            <a:spAutoFit/>
          </a:bodyPr>
          <a:lstStyle/>
          <a:p>
            <a:r>
              <a:rPr sz="2000" b="1">
                <a:solidFill>
                  <a:srgbClr val="1B5E6B"/>
                </a:solidFill>
                <a:latin typeface="Bricolage Grotesque"/>
              </a:rPr>
              <a:t>4.  Pratique 1 : du Word au tableau de suivi (40 min)</a:t>
            </a:r>
          </a:p>
        </p:txBody>
      </p:sp>
      <p:sp>
        <p:nvSpPr>
          <p:cNvPr id="9" name="TextBox 8"/>
          <p:cNvSpPr txBox="1"/>
          <p:nvPr/>
        </p:nvSpPr>
        <p:spPr>
          <a:xfrm>
            <a:off x="640080" y="3877056"/>
            <a:ext cx="10881360" cy="411480"/>
          </a:xfrm>
          <a:prstGeom prst="rect">
            <a:avLst/>
          </a:prstGeom>
          <a:noFill/>
        </p:spPr>
        <p:txBody>
          <a:bodyPr wrap="square">
            <a:spAutoFit/>
          </a:bodyPr>
          <a:lstStyle/>
          <a:p>
            <a:r>
              <a:rPr sz="2000" b="1">
                <a:solidFill>
                  <a:srgbClr val="1B5E6B"/>
                </a:solidFill>
                <a:latin typeface="Bricolage Grotesque"/>
              </a:rPr>
              <a:t>5.  Pratique 2 : votre CV adapté à une offre (35 min)</a:t>
            </a:r>
          </a:p>
        </p:txBody>
      </p:sp>
      <p:sp>
        <p:nvSpPr>
          <p:cNvPr id="10" name="TextBox 9"/>
          <p:cNvSpPr txBox="1"/>
          <p:nvPr/>
        </p:nvSpPr>
        <p:spPr>
          <a:xfrm>
            <a:off x="640080" y="4398264"/>
            <a:ext cx="10881360" cy="411480"/>
          </a:xfrm>
          <a:prstGeom prst="rect">
            <a:avLst/>
          </a:prstGeom>
          <a:noFill/>
        </p:spPr>
        <p:txBody>
          <a:bodyPr wrap="square">
            <a:spAutoFit/>
          </a:bodyPr>
          <a:lstStyle/>
          <a:p>
            <a:r>
              <a:rPr sz="2000" b="1">
                <a:solidFill>
                  <a:srgbClr val="1B5E6B"/>
                </a:solidFill>
                <a:latin typeface="Bricolage Grotesque"/>
              </a:rPr>
              <a:t>6.  Bonus : un compte-rendu de réunion (10 min)</a:t>
            </a:r>
          </a:p>
        </p:txBody>
      </p:sp>
      <p:sp>
        <p:nvSpPr>
          <p:cNvPr id="11" name="TextBox 10"/>
          <p:cNvSpPr txBox="1"/>
          <p:nvPr/>
        </p:nvSpPr>
        <p:spPr>
          <a:xfrm>
            <a:off x="640080" y="4919472"/>
            <a:ext cx="10881360" cy="411480"/>
          </a:xfrm>
          <a:prstGeom prst="rect">
            <a:avLst/>
          </a:prstGeom>
          <a:noFill/>
        </p:spPr>
        <p:txBody>
          <a:bodyPr wrap="square">
            <a:spAutoFit/>
          </a:bodyPr>
          <a:lstStyle/>
          <a:p>
            <a:r>
              <a:rPr sz="2000" b="1">
                <a:solidFill>
                  <a:srgbClr val="1B5E6B"/>
                </a:solidFill>
                <a:latin typeface="Bricolage Grotesque"/>
              </a:rPr>
              <a:t>7.  Les devoirs (5 min)</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2B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640080" y="1965960"/>
            <a:ext cx="2743200" cy="36576"/>
          </a:xfrm>
          <a:prstGeom prst="rect">
            <a:avLst/>
          </a:prstGeom>
          <a:solidFill>
            <a:srgbClr val="E8A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1371600"/>
            <a:ext cx="10515600" cy="731520"/>
          </a:xfrm>
          <a:prstGeom prst="rect">
            <a:avLst/>
          </a:prstGeom>
          <a:noFill/>
        </p:spPr>
        <p:txBody>
          <a:bodyPr wrap="square">
            <a:spAutoFit/>
          </a:bodyPr>
          <a:lstStyle/>
          <a:p>
            <a:pPr algn="l"/>
            <a:r>
              <a:rPr sz="2200" b="1">
                <a:solidFill>
                  <a:srgbClr val="E8A000"/>
                </a:solidFill>
                <a:latin typeface="Bricolage Grotesque"/>
              </a:rPr>
              <a:t>Séquence 1</a:t>
            </a:r>
          </a:p>
        </p:txBody>
      </p:sp>
      <p:sp>
        <p:nvSpPr>
          <p:cNvPr id="5" name="TextBox 4"/>
          <p:cNvSpPr txBox="1"/>
          <p:nvPr/>
        </p:nvSpPr>
        <p:spPr>
          <a:xfrm>
            <a:off x="640080" y="2286000"/>
            <a:ext cx="10698480" cy="1645920"/>
          </a:xfrm>
          <a:prstGeom prst="rect">
            <a:avLst/>
          </a:prstGeom>
          <a:noFill/>
        </p:spPr>
        <p:txBody>
          <a:bodyPr wrap="square">
            <a:spAutoFit/>
          </a:bodyPr>
          <a:lstStyle/>
          <a:p>
            <a:pPr algn="l"/>
            <a:r>
              <a:rPr sz="4200" b="1">
                <a:solidFill>
                  <a:srgbClr val="FFFFFF"/>
                </a:solidFill>
                <a:latin typeface="Bricolage Grotesque"/>
              </a:rPr>
              <a:t>Quiz d'ouverture</a:t>
            </a:r>
          </a:p>
        </p:txBody>
      </p:sp>
      <p:sp>
        <p:nvSpPr>
          <p:cNvPr id="6" name="TextBox 5"/>
          <p:cNvSpPr txBox="1"/>
          <p:nvPr/>
        </p:nvSpPr>
        <p:spPr>
          <a:xfrm>
            <a:off x="640080" y="4023360"/>
            <a:ext cx="10515600" cy="731520"/>
          </a:xfrm>
          <a:prstGeom prst="rect">
            <a:avLst/>
          </a:prstGeom>
          <a:noFill/>
        </p:spPr>
        <p:txBody>
          <a:bodyPr wrap="square">
            <a:spAutoFit/>
          </a:bodyPr>
          <a:lstStyle/>
          <a:p>
            <a:pPr algn="l"/>
            <a:r>
              <a:rPr sz="2000" b="0">
                <a:solidFill>
                  <a:srgbClr val="5A8A8F"/>
                </a:solidFill>
                <a:latin typeface="Bricolage Grotesque"/>
              </a:rPr>
              <a:t>Quatre questions : votre semaine et l'e-learning</a:t>
            </a:r>
          </a:p>
        </p:txBody>
      </p:sp>
      <p:pic>
        <p:nvPicPr>
          <p:cNvPr id="7" name="Picture 6" descr="ia-round.png"/>
          <p:cNvPicPr>
            <a:picLocks noChangeAspect="1"/>
          </p:cNvPicPr>
          <p:nvPr/>
        </p:nvPicPr>
        <p:blipFill>
          <a:blip r:embed="rId2"/>
          <a:stretch>
            <a:fillRect/>
          </a:stretch>
        </p:blipFill>
        <p:spPr>
          <a:xfrm>
            <a:off x="457200" y="6217920"/>
            <a:ext cx="320040" cy="320040"/>
          </a:xfrm>
          <a:prstGeom prst="rect">
            <a:avLst/>
          </a:prstGeom>
        </p:spPr>
      </p:pic>
      <p:sp>
        <p:nvSpPr>
          <p:cNvPr id="8" name="TextBox 7"/>
          <p:cNvSpPr txBox="1"/>
          <p:nvPr/>
        </p:nvSpPr>
        <p:spPr>
          <a:xfrm>
            <a:off x="868680" y="6199632"/>
            <a:ext cx="3657600" cy="365760"/>
          </a:xfrm>
          <a:prstGeom prst="rect">
            <a:avLst/>
          </a:prstGeom>
          <a:noFill/>
        </p:spPr>
        <p:txBody>
          <a:bodyPr wrap="square">
            <a:spAutoFit/>
          </a:bodyPr>
          <a:lstStyle/>
          <a:p>
            <a:pPr algn="l"/>
            <a:r>
              <a:rPr sz="1400" b="0">
                <a:solidFill>
                  <a:srgbClr val="FFFFFF"/>
                </a:solidFill>
                <a:latin typeface="Bricolage Grotesque"/>
              </a:rPr>
              <a:t>intelligence academy</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143000"/>
          </a:xfrm>
          <a:prstGeom prst="rect">
            <a:avLst/>
          </a:prstGeom>
          <a:ln>
            <a:noFill/>
          </a:ln>
          <a:gradFill>
            <a:gsLst>
              <a:gs pos="0">
                <a:srgbClr val="0A2530"/>
              </a:gs>
              <a:gs pos="100000">
                <a:srgbClr val="1E5565"/>
              </a:gs>
            </a:gsLst>
            <a:lin ang="0" scaled="1"/>
          </a:gra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143000"/>
            <a:ext cx="12191695" cy="18288"/>
          </a:xfrm>
          <a:prstGeom prst="rect">
            <a:avLst/>
          </a:prstGeom>
          <a:solidFill>
            <a:srgbClr val="E8A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182880"/>
            <a:ext cx="10515600" cy="822960"/>
          </a:xfrm>
          <a:prstGeom prst="rect">
            <a:avLst/>
          </a:prstGeom>
          <a:noFill/>
        </p:spPr>
        <p:txBody>
          <a:bodyPr wrap="square">
            <a:spAutoFit/>
          </a:bodyPr>
          <a:lstStyle/>
          <a:p>
            <a:pPr algn="l"/>
            <a:r>
              <a:rPr sz="3400" b="1">
                <a:solidFill>
                  <a:srgbClr val="FFFFFF"/>
                </a:solidFill>
                <a:latin typeface="Bricolage Grotesque"/>
              </a:rPr>
              <a:t>Quiz · Question 1 / 4</a:t>
            </a:r>
          </a:p>
        </p:txBody>
      </p:sp>
      <p:sp>
        <p:nvSpPr>
          <p:cNvPr id="5" name="TextBox 4"/>
          <p:cNvSpPr txBox="1"/>
          <p:nvPr/>
        </p:nvSpPr>
        <p:spPr>
          <a:xfrm>
            <a:off x="640080" y="1417320"/>
            <a:ext cx="10881360" cy="731520"/>
          </a:xfrm>
          <a:prstGeom prst="rect">
            <a:avLst/>
          </a:prstGeom>
          <a:noFill/>
        </p:spPr>
        <p:txBody>
          <a:bodyPr wrap="square">
            <a:spAutoFit/>
          </a:bodyPr>
          <a:lstStyle/>
          <a:p>
            <a:pPr algn="l"/>
            <a:r>
              <a:rPr sz="2400" b="1">
                <a:solidFill>
                  <a:srgbClr val="1A1A1A"/>
                </a:solidFill>
                <a:latin typeface="Bricolage Grotesque"/>
              </a:rPr>
              <a:t>Votre bandeau en PNG, envoyé à @Canva : pourquoi ça bloque ?</a:t>
            </a:r>
          </a:p>
        </p:txBody>
      </p:sp>
      <p:sp>
        <p:nvSpPr>
          <p:cNvPr id="6" name="Rounded Rectangle 5"/>
          <p:cNvSpPr/>
          <p:nvPr/>
        </p:nvSpPr>
        <p:spPr>
          <a:xfrm>
            <a:off x="640080" y="2286000"/>
            <a:ext cx="10881360" cy="530352"/>
          </a:xfrm>
          <a:prstGeom prst="roundRect">
            <a:avLst/>
          </a:prstGeom>
          <a:solidFill>
            <a:srgbClr val="EDED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68680" y="2359152"/>
            <a:ext cx="10515600" cy="384048"/>
          </a:xfrm>
          <a:prstGeom prst="rect">
            <a:avLst/>
          </a:prstGeom>
          <a:noFill/>
        </p:spPr>
        <p:txBody>
          <a:bodyPr wrap="square">
            <a:spAutoFit/>
          </a:bodyPr>
          <a:lstStyle/>
          <a:p>
            <a:pPr algn="l"/>
            <a:r>
              <a:rPr sz="1900" b="0">
                <a:solidFill>
                  <a:srgbClr val="333333"/>
                </a:solidFill>
                <a:latin typeface="Bricolage Grotesque"/>
              </a:rPr>
              <a:t>A.  Il faut un abonnement Canva payant</a:t>
            </a:r>
          </a:p>
        </p:txBody>
      </p:sp>
      <p:sp>
        <p:nvSpPr>
          <p:cNvPr id="8" name="Rounded Rectangle 7"/>
          <p:cNvSpPr/>
          <p:nvPr/>
        </p:nvSpPr>
        <p:spPr>
          <a:xfrm>
            <a:off x="640080" y="2926080"/>
            <a:ext cx="10881360" cy="530352"/>
          </a:xfrm>
          <a:prstGeom prst="roundRect">
            <a:avLst/>
          </a:prstGeom>
          <a:solidFill>
            <a:srgbClr val="EDED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68680" y="2999232"/>
            <a:ext cx="10515600" cy="384048"/>
          </a:xfrm>
          <a:prstGeom prst="rect">
            <a:avLst/>
          </a:prstGeom>
          <a:noFill/>
        </p:spPr>
        <p:txBody>
          <a:bodyPr wrap="square">
            <a:spAutoFit/>
          </a:bodyPr>
          <a:lstStyle/>
          <a:p>
            <a:pPr algn="l"/>
            <a:r>
              <a:rPr sz="1900" b="0">
                <a:solidFill>
                  <a:srgbClr val="333333"/>
                </a:solidFill>
                <a:latin typeface="Bricolage Grotesque"/>
              </a:rPr>
              <a:t>B.  Le connecteur modifie un design Canva, pas une image</a:t>
            </a:r>
          </a:p>
        </p:txBody>
      </p:sp>
      <p:sp>
        <p:nvSpPr>
          <p:cNvPr id="10" name="Rounded Rectangle 9"/>
          <p:cNvSpPr/>
          <p:nvPr/>
        </p:nvSpPr>
        <p:spPr>
          <a:xfrm>
            <a:off x="640080" y="3566160"/>
            <a:ext cx="10881360" cy="530352"/>
          </a:xfrm>
          <a:prstGeom prst="roundRect">
            <a:avLst/>
          </a:prstGeom>
          <a:solidFill>
            <a:srgbClr val="EDED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68680" y="3639312"/>
            <a:ext cx="10515600" cy="384048"/>
          </a:xfrm>
          <a:prstGeom prst="rect">
            <a:avLst/>
          </a:prstGeom>
          <a:noFill/>
        </p:spPr>
        <p:txBody>
          <a:bodyPr wrap="square">
            <a:spAutoFit/>
          </a:bodyPr>
          <a:lstStyle/>
          <a:p>
            <a:pPr algn="l"/>
            <a:r>
              <a:rPr sz="1900" b="0">
                <a:solidFill>
                  <a:srgbClr val="333333"/>
                </a:solidFill>
                <a:latin typeface="Bricolage Grotesque"/>
              </a:rPr>
              <a:t>C.  Le fichier est trop lourd</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143000"/>
          </a:xfrm>
          <a:prstGeom prst="rect">
            <a:avLst/>
          </a:prstGeom>
          <a:ln>
            <a:noFill/>
          </a:ln>
          <a:gradFill>
            <a:gsLst>
              <a:gs pos="0">
                <a:srgbClr val="0A2530"/>
              </a:gs>
              <a:gs pos="100000">
                <a:srgbClr val="1E5565"/>
              </a:gs>
            </a:gsLst>
            <a:lin ang="0" scaled="1"/>
          </a:gra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143000"/>
            <a:ext cx="12191695" cy="18288"/>
          </a:xfrm>
          <a:prstGeom prst="rect">
            <a:avLst/>
          </a:prstGeom>
          <a:solidFill>
            <a:srgbClr val="E8A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182880"/>
            <a:ext cx="10515600" cy="822960"/>
          </a:xfrm>
          <a:prstGeom prst="rect">
            <a:avLst/>
          </a:prstGeom>
          <a:noFill/>
        </p:spPr>
        <p:txBody>
          <a:bodyPr wrap="square">
            <a:spAutoFit/>
          </a:bodyPr>
          <a:lstStyle/>
          <a:p>
            <a:pPr algn="l"/>
            <a:r>
              <a:rPr sz="3400" b="1">
                <a:solidFill>
                  <a:srgbClr val="FFFFFF"/>
                </a:solidFill>
                <a:latin typeface="Bricolage Grotesque"/>
              </a:rPr>
              <a:t>Quiz · Question 1 / 4</a:t>
            </a:r>
          </a:p>
        </p:txBody>
      </p:sp>
      <p:sp>
        <p:nvSpPr>
          <p:cNvPr id="5" name="TextBox 4"/>
          <p:cNvSpPr txBox="1"/>
          <p:nvPr/>
        </p:nvSpPr>
        <p:spPr>
          <a:xfrm>
            <a:off x="640080" y="1417320"/>
            <a:ext cx="10881360" cy="731520"/>
          </a:xfrm>
          <a:prstGeom prst="rect">
            <a:avLst/>
          </a:prstGeom>
          <a:noFill/>
        </p:spPr>
        <p:txBody>
          <a:bodyPr wrap="square">
            <a:spAutoFit/>
          </a:bodyPr>
          <a:lstStyle/>
          <a:p>
            <a:pPr algn="l"/>
            <a:r>
              <a:rPr sz="2400" b="1">
                <a:solidFill>
                  <a:srgbClr val="1A1A1A"/>
                </a:solidFill>
                <a:latin typeface="Bricolage Grotesque"/>
              </a:rPr>
              <a:t>Votre bandeau en PNG, envoyé à @Canva : pourquoi ça bloque ?</a:t>
            </a:r>
          </a:p>
        </p:txBody>
      </p:sp>
      <p:sp>
        <p:nvSpPr>
          <p:cNvPr id="6" name="Rounded Rectangle 5"/>
          <p:cNvSpPr/>
          <p:nvPr/>
        </p:nvSpPr>
        <p:spPr>
          <a:xfrm>
            <a:off x="640080" y="2286000"/>
            <a:ext cx="10881360" cy="530352"/>
          </a:xfrm>
          <a:prstGeom prst="roundRect">
            <a:avLst/>
          </a:prstGeom>
          <a:solidFill>
            <a:srgbClr val="EDED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68680" y="2359152"/>
            <a:ext cx="10515600" cy="384048"/>
          </a:xfrm>
          <a:prstGeom prst="rect">
            <a:avLst/>
          </a:prstGeom>
          <a:noFill/>
        </p:spPr>
        <p:txBody>
          <a:bodyPr wrap="square">
            <a:spAutoFit/>
          </a:bodyPr>
          <a:lstStyle/>
          <a:p>
            <a:pPr algn="l"/>
            <a:r>
              <a:rPr sz="1900" b="0">
                <a:solidFill>
                  <a:srgbClr val="333333"/>
                </a:solidFill>
                <a:latin typeface="Bricolage Grotesque"/>
              </a:rPr>
              <a:t>A.  Il faut un abonnement Canva payant</a:t>
            </a:r>
          </a:p>
        </p:txBody>
      </p:sp>
      <p:sp>
        <p:nvSpPr>
          <p:cNvPr id="8" name="Rounded Rectangle 7"/>
          <p:cNvSpPr/>
          <p:nvPr/>
        </p:nvSpPr>
        <p:spPr>
          <a:xfrm>
            <a:off x="640080" y="2926080"/>
            <a:ext cx="10881360" cy="530352"/>
          </a:xfrm>
          <a:prstGeom prst="roundRect">
            <a:avLst/>
          </a:prstGeom>
          <a:solidFill>
            <a:srgbClr val="EDED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68680" y="2999232"/>
            <a:ext cx="10515600" cy="384048"/>
          </a:xfrm>
          <a:prstGeom prst="rect">
            <a:avLst/>
          </a:prstGeom>
          <a:noFill/>
        </p:spPr>
        <p:txBody>
          <a:bodyPr wrap="square">
            <a:spAutoFit/>
          </a:bodyPr>
          <a:lstStyle/>
          <a:p>
            <a:pPr algn="l"/>
            <a:r>
              <a:rPr sz="1900" b="0">
                <a:solidFill>
                  <a:srgbClr val="333333"/>
                </a:solidFill>
                <a:latin typeface="Bricolage Grotesque"/>
              </a:rPr>
              <a:t>B.  Le connecteur modifie un design Canva, pas une image</a:t>
            </a:r>
          </a:p>
        </p:txBody>
      </p:sp>
      <p:sp>
        <p:nvSpPr>
          <p:cNvPr id="10" name="Rounded Rectangle 9"/>
          <p:cNvSpPr/>
          <p:nvPr/>
        </p:nvSpPr>
        <p:spPr>
          <a:xfrm>
            <a:off x="640080" y="3566160"/>
            <a:ext cx="10881360" cy="530352"/>
          </a:xfrm>
          <a:prstGeom prst="roundRect">
            <a:avLst/>
          </a:prstGeom>
          <a:solidFill>
            <a:srgbClr val="EDED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68680" y="3639312"/>
            <a:ext cx="10515600" cy="384048"/>
          </a:xfrm>
          <a:prstGeom prst="rect">
            <a:avLst/>
          </a:prstGeom>
          <a:noFill/>
        </p:spPr>
        <p:txBody>
          <a:bodyPr wrap="square">
            <a:spAutoFit/>
          </a:bodyPr>
          <a:lstStyle/>
          <a:p>
            <a:pPr algn="l"/>
            <a:r>
              <a:rPr sz="1900" b="0">
                <a:solidFill>
                  <a:srgbClr val="333333"/>
                </a:solidFill>
                <a:latin typeface="Bricolage Grotesque"/>
              </a:rPr>
              <a:t>C.  Le fichier est trop lourd</a:t>
            </a:r>
          </a:p>
        </p:txBody>
      </p:sp>
      <p:sp>
        <p:nvSpPr>
          <p:cNvPr id="12" name="Rounded Rectangle 11"/>
          <p:cNvSpPr/>
          <p:nvPr/>
        </p:nvSpPr>
        <p:spPr>
          <a:xfrm>
            <a:off x="640080" y="4343400"/>
            <a:ext cx="10881360" cy="1051560"/>
          </a:xfrm>
          <a:prstGeom prst="roundRect">
            <a:avLst/>
          </a:prstGeom>
          <a:solidFill>
            <a:srgbClr val="1B5E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68680" y="4434840"/>
            <a:ext cx="10515600" cy="384048"/>
          </a:xfrm>
          <a:prstGeom prst="rect">
            <a:avLst/>
          </a:prstGeom>
          <a:noFill/>
        </p:spPr>
        <p:txBody>
          <a:bodyPr wrap="square">
            <a:spAutoFit/>
          </a:bodyPr>
          <a:lstStyle/>
          <a:p>
            <a:pPr algn="l"/>
            <a:r>
              <a:rPr sz="1800" b="1">
                <a:solidFill>
                  <a:srgbClr val="FFFFFF"/>
                </a:solidFill>
                <a:latin typeface="Bricolage Grotesque"/>
              </a:rPr>
              <a:t>B. Un PNG n'a pas de calques : il faut d'abord en faire un design Canva.</a:t>
            </a:r>
          </a:p>
        </p:txBody>
      </p:sp>
      <p:sp>
        <p:nvSpPr>
          <p:cNvPr id="14" name="TextBox 13"/>
          <p:cNvSpPr txBox="1"/>
          <p:nvPr/>
        </p:nvSpPr>
        <p:spPr>
          <a:xfrm>
            <a:off x="868680" y="4864607"/>
            <a:ext cx="10515600" cy="384048"/>
          </a:xfrm>
          <a:prstGeom prst="rect">
            <a:avLst/>
          </a:prstGeom>
          <a:noFill/>
        </p:spPr>
        <p:txBody>
          <a:bodyPr wrap="square">
            <a:spAutoFit/>
          </a:bodyPr>
          <a:lstStyle/>
          <a:p>
            <a:pPr algn="l"/>
            <a:r>
              <a:rPr sz="1800" b="1">
                <a:solidFill>
                  <a:srgbClr val="FFFFFF"/>
                </a:solidFill>
                <a:latin typeface="Bricolage Grotesque"/>
              </a:rPr>
              <a:t>Votre solution, la conversion en éléments modifiables, est la bonne.</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143000"/>
          </a:xfrm>
          <a:prstGeom prst="rect">
            <a:avLst/>
          </a:prstGeom>
          <a:ln>
            <a:noFill/>
          </a:ln>
          <a:gradFill>
            <a:gsLst>
              <a:gs pos="0">
                <a:srgbClr val="0A2530"/>
              </a:gs>
              <a:gs pos="100000">
                <a:srgbClr val="1E5565"/>
              </a:gs>
            </a:gsLst>
            <a:lin ang="0" scaled="1"/>
          </a:gra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143000"/>
            <a:ext cx="12191695" cy="18288"/>
          </a:xfrm>
          <a:prstGeom prst="rect">
            <a:avLst/>
          </a:prstGeom>
          <a:solidFill>
            <a:srgbClr val="E8A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182880"/>
            <a:ext cx="10515600" cy="822960"/>
          </a:xfrm>
          <a:prstGeom prst="rect">
            <a:avLst/>
          </a:prstGeom>
          <a:noFill/>
        </p:spPr>
        <p:txBody>
          <a:bodyPr wrap="square">
            <a:spAutoFit/>
          </a:bodyPr>
          <a:lstStyle/>
          <a:p>
            <a:pPr algn="l"/>
            <a:r>
              <a:rPr sz="3400" b="1">
                <a:solidFill>
                  <a:srgbClr val="FFFFFF"/>
                </a:solidFill>
                <a:latin typeface="Bricolage Grotesque"/>
              </a:rPr>
              <a:t>Quiz · Question 2 / 4</a:t>
            </a:r>
          </a:p>
        </p:txBody>
      </p:sp>
      <p:sp>
        <p:nvSpPr>
          <p:cNvPr id="5" name="TextBox 4"/>
          <p:cNvSpPr txBox="1"/>
          <p:nvPr/>
        </p:nvSpPr>
        <p:spPr>
          <a:xfrm>
            <a:off x="640080" y="1417320"/>
            <a:ext cx="10881360" cy="731520"/>
          </a:xfrm>
          <a:prstGeom prst="rect">
            <a:avLst/>
          </a:prstGeom>
          <a:noFill/>
        </p:spPr>
        <p:txBody>
          <a:bodyPr wrap="square">
            <a:spAutoFit/>
          </a:bodyPr>
          <a:lstStyle/>
          <a:p>
            <a:pPr algn="l"/>
            <a:r>
              <a:rPr sz="2400" b="1">
                <a:solidFill>
                  <a:srgbClr val="1A1A1A"/>
                </a:solidFill>
                <a:latin typeface="Bricolage Grotesque"/>
              </a:rPr>
              <a:t>Gemini : vous coupez « Conserver l'activité ». Que perdez-vous ?</a:t>
            </a:r>
          </a:p>
        </p:txBody>
      </p:sp>
      <p:sp>
        <p:nvSpPr>
          <p:cNvPr id="6" name="Rounded Rectangle 5"/>
          <p:cNvSpPr/>
          <p:nvPr/>
        </p:nvSpPr>
        <p:spPr>
          <a:xfrm>
            <a:off x="640080" y="2286000"/>
            <a:ext cx="10881360" cy="530352"/>
          </a:xfrm>
          <a:prstGeom prst="roundRect">
            <a:avLst/>
          </a:prstGeom>
          <a:solidFill>
            <a:srgbClr val="EDED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68680" y="2359152"/>
            <a:ext cx="10515600" cy="384048"/>
          </a:xfrm>
          <a:prstGeom prst="rect">
            <a:avLst/>
          </a:prstGeom>
          <a:noFill/>
        </p:spPr>
        <p:txBody>
          <a:bodyPr wrap="square">
            <a:spAutoFit/>
          </a:bodyPr>
          <a:lstStyle/>
          <a:p>
            <a:pPr algn="l"/>
            <a:r>
              <a:rPr sz="1900" b="0">
                <a:solidFill>
                  <a:srgbClr val="333333"/>
                </a:solidFill>
                <a:latin typeface="Bricolage Grotesque"/>
              </a:rPr>
              <a:t>A.  Rien : seul l'entraînement s'arrête</a:t>
            </a:r>
          </a:p>
        </p:txBody>
      </p:sp>
      <p:sp>
        <p:nvSpPr>
          <p:cNvPr id="8" name="Rounded Rectangle 7"/>
          <p:cNvSpPr/>
          <p:nvPr/>
        </p:nvSpPr>
        <p:spPr>
          <a:xfrm>
            <a:off x="640080" y="2926080"/>
            <a:ext cx="10881360" cy="530352"/>
          </a:xfrm>
          <a:prstGeom prst="roundRect">
            <a:avLst/>
          </a:prstGeom>
          <a:solidFill>
            <a:srgbClr val="EDED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68680" y="2999232"/>
            <a:ext cx="10515600" cy="384048"/>
          </a:xfrm>
          <a:prstGeom prst="rect">
            <a:avLst/>
          </a:prstGeom>
          <a:noFill/>
        </p:spPr>
        <p:txBody>
          <a:bodyPr wrap="square">
            <a:spAutoFit/>
          </a:bodyPr>
          <a:lstStyle/>
          <a:p>
            <a:pPr algn="l"/>
            <a:r>
              <a:rPr sz="1900" b="0">
                <a:solidFill>
                  <a:srgbClr val="333333"/>
                </a:solidFill>
                <a:latin typeface="Bricolage Grotesque"/>
              </a:rPr>
              <a:t>B.  L'historique de vos discussions</a:t>
            </a:r>
          </a:p>
        </p:txBody>
      </p:sp>
      <p:sp>
        <p:nvSpPr>
          <p:cNvPr id="10" name="Rounded Rectangle 9"/>
          <p:cNvSpPr/>
          <p:nvPr/>
        </p:nvSpPr>
        <p:spPr>
          <a:xfrm>
            <a:off x="640080" y="3566160"/>
            <a:ext cx="10881360" cy="530352"/>
          </a:xfrm>
          <a:prstGeom prst="roundRect">
            <a:avLst/>
          </a:prstGeom>
          <a:solidFill>
            <a:srgbClr val="EDED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68680" y="3639312"/>
            <a:ext cx="10515600" cy="384048"/>
          </a:xfrm>
          <a:prstGeom prst="rect">
            <a:avLst/>
          </a:prstGeom>
          <a:noFill/>
        </p:spPr>
        <p:txBody>
          <a:bodyPr wrap="square">
            <a:spAutoFit/>
          </a:bodyPr>
          <a:lstStyle/>
          <a:p>
            <a:pPr algn="l"/>
            <a:r>
              <a:rPr sz="1900" b="0">
                <a:solidFill>
                  <a:srgbClr val="333333"/>
                </a:solidFill>
                <a:latin typeface="Bricolage Grotesque"/>
              </a:rPr>
              <a:t>C.  La génération d'images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143000"/>
          </a:xfrm>
          <a:prstGeom prst="rect">
            <a:avLst/>
          </a:prstGeom>
          <a:ln>
            <a:noFill/>
          </a:ln>
          <a:gradFill>
            <a:gsLst>
              <a:gs pos="0">
                <a:srgbClr val="0A2530"/>
              </a:gs>
              <a:gs pos="100000">
                <a:srgbClr val="1E5565"/>
              </a:gs>
            </a:gsLst>
            <a:lin ang="0" scaled="1"/>
          </a:gra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143000"/>
            <a:ext cx="12191695" cy="18288"/>
          </a:xfrm>
          <a:prstGeom prst="rect">
            <a:avLst/>
          </a:prstGeom>
          <a:solidFill>
            <a:srgbClr val="E8A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182880"/>
            <a:ext cx="10515600" cy="822960"/>
          </a:xfrm>
          <a:prstGeom prst="rect">
            <a:avLst/>
          </a:prstGeom>
          <a:noFill/>
        </p:spPr>
        <p:txBody>
          <a:bodyPr wrap="square">
            <a:spAutoFit/>
          </a:bodyPr>
          <a:lstStyle/>
          <a:p>
            <a:pPr algn="l"/>
            <a:r>
              <a:rPr sz="3400" b="1">
                <a:solidFill>
                  <a:srgbClr val="FFFFFF"/>
                </a:solidFill>
                <a:latin typeface="Bricolage Grotesque"/>
              </a:rPr>
              <a:t>Quiz · Question 2 / 4</a:t>
            </a:r>
          </a:p>
        </p:txBody>
      </p:sp>
      <p:sp>
        <p:nvSpPr>
          <p:cNvPr id="5" name="TextBox 4"/>
          <p:cNvSpPr txBox="1"/>
          <p:nvPr/>
        </p:nvSpPr>
        <p:spPr>
          <a:xfrm>
            <a:off x="640080" y="1417320"/>
            <a:ext cx="10881360" cy="731520"/>
          </a:xfrm>
          <a:prstGeom prst="rect">
            <a:avLst/>
          </a:prstGeom>
          <a:noFill/>
        </p:spPr>
        <p:txBody>
          <a:bodyPr wrap="square">
            <a:spAutoFit/>
          </a:bodyPr>
          <a:lstStyle/>
          <a:p>
            <a:pPr algn="l"/>
            <a:r>
              <a:rPr sz="2400" b="1">
                <a:solidFill>
                  <a:srgbClr val="1A1A1A"/>
                </a:solidFill>
                <a:latin typeface="Bricolage Grotesque"/>
              </a:rPr>
              <a:t>Gemini : vous coupez « Conserver l'activité ». Que perdez-vous ?</a:t>
            </a:r>
          </a:p>
        </p:txBody>
      </p:sp>
      <p:sp>
        <p:nvSpPr>
          <p:cNvPr id="6" name="Rounded Rectangle 5"/>
          <p:cNvSpPr/>
          <p:nvPr/>
        </p:nvSpPr>
        <p:spPr>
          <a:xfrm>
            <a:off x="640080" y="2286000"/>
            <a:ext cx="10881360" cy="530352"/>
          </a:xfrm>
          <a:prstGeom prst="roundRect">
            <a:avLst/>
          </a:prstGeom>
          <a:solidFill>
            <a:srgbClr val="EDED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68680" y="2359152"/>
            <a:ext cx="10515600" cy="384048"/>
          </a:xfrm>
          <a:prstGeom prst="rect">
            <a:avLst/>
          </a:prstGeom>
          <a:noFill/>
        </p:spPr>
        <p:txBody>
          <a:bodyPr wrap="square">
            <a:spAutoFit/>
          </a:bodyPr>
          <a:lstStyle/>
          <a:p>
            <a:pPr algn="l"/>
            <a:r>
              <a:rPr sz="1900" b="0">
                <a:solidFill>
                  <a:srgbClr val="333333"/>
                </a:solidFill>
                <a:latin typeface="Bricolage Grotesque"/>
              </a:rPr>
              <a:t>A.  Rien : seul l'entraînement s'arrête</a:t>
            </a:r>
          </a:p>
        </p:txBody>
      </p:sp>
      <p:sp>
        <p:nvSpPr>
          <p:cNvPr id="8" name="Rounded Rectangle 7"/>
          <p:cNvSpPr/>
          <p:nvPr/>
        </p:nvSpPr>
        <p:spPr>
          <a:xfrm>
            <a:off x="640080" y="2926080"/>
            <a:ext cx="10881360" cy="530352"/>
          </a:xfrm>
          <a:prstGeom prst="roundRect">
            <a:avLst/>
          </a:prstGeom>
          <a:solidFill>
            <a:srgbClr val="EDED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68680" y="2999232"/>
            <a:ext cx="10515600" cy="384048"/>
          </a:xfrm>
          <a:prstGeom prst="rect">
            <a:avLst/>
          </a:prstGeom>
          <a:noFill/>
        </p:spPr>
        <p:txBody>
          <a:bodyPr wrap="square">
            <a:spAutoFit/>
          </a:bodyPr>
          <a:lstStyle/>
          <a:p>
            <a:pPr algn="l"/>
            <a:r>
              <a:rPr sz="1900" b="0">
                <a:solidFill>
                  <a:srgbClr val="333333"/>
                </a:solidFill>
                <a:latin typeface="Bricolage Grotesque"/>
              </a:rPr>
              <a:t>B.  L'historique de vos discussions</a:t>
            </a:r>
          </a:p>
        </p:txBody>
      </p:sp>
      <p:sp>
        <p:nvSpPr>
          <p:cNvPr id="10" name="Rounded Rectangle 9"/>
          <p:cNvSpPr/>
          <p:nvPr/>
        </p:nvSpPr>
        <p:spPr>
          <a:xfrm>
            <a:off x="640080" y="3566160"/>
            <a:ext cx="10881360" cy="530352"/>
          </a:xfrm>
          <a:prstGeom prst="roundRect">
            <a:avLst/>
          </a:prstGeom>
          <a:solidFill>
            <a:srgbClr val="EDED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68680" y="3639312"/>
            <a:ext cx="10515600" cy="384048"/>
          </a:xfrm>
          <a:prstGeom prst="rect">
            <a:avLst/>
          </a:prstGeom>
          <a:noFill/>
        </p:spPr>
        <p:txBody>
          <a:bodyPr wrap="square">
            <a:spAutoFit/>
          </a:bodyPr>
          <a:lstStyle/>
          <a:p>
            <a:pPr algn="l"/>
            <a:r>
              <a:rPr sz="1900" b="0">
                <a:solidFill>
                  <a:srgbClr val="333333"/>
                </a:solidFill>
                <a:latin typeface="Bricolage Grotesque"/>
              </a:rPr>
              <a:t>C.  La génération d'images</a:t>
            </a:r>
          </a:p>
        </p:txBody>
      </p:sp>
      <p:sp>
        <p:nvSpPr>
          <p:cNvPr id="12" name="Rounded Rectangle 11"/>
          <p:cNvSpPr/>
          <p:nvPr/>
        </p:nvSpPr>
        <p:spPr>
          <a:xfrm>
            <a:off x="640080" y="4343400"/>
            <a:ext cx="10881360" cy="1051560"/>
          </a:xfrm>
          <a:prstGeom prst="roundRect">
            <a:avLst/>
          </a:prstGeom>
          <a:solidFill>
            <a:srgbClr val="1B5E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68680" y="4434840"/>
            <a:ext cx="10515600" cy="384048"/>
          </a:xfrm>
          <a:prstGeom prst="rect">
            <a:avLst/>
          </a:prstGeom>
          <a:noFill/>
        </p:spPr>
        <p:txBody>
          <a:bodyPr wrap="square">
            <a:spAutoFit/>
          </a:bodyPr>
          <a:lstStyle/>
          <a:p>
            <a:pPr algn="l"/>
            <a:r>
              <a:rPr sz="1800" b="1">
                <a:solidFill>
                  <a:srgbClr val="FFFFFF"/>
                </a:solidFill>
                <a:latin typeface="Bricolage Grotesque"/>
              </a:rPr>
              <a:t>B. Un seul réglage pour l'historique et l'entraînement. Coupé, Google garde 72 h.</a:t>
            </a:r>
          </a:p>
        </p:txBody>
      </p:sp>
      <p:sp>
        <p:nvSpPr>
          <p:cNvPr id="14" name="TextBox 13"/>
          <p:cNvSpPr txBox="1"/>
          <p:nvPr/>
        </p:nvSpPr>
        <p:spPr>
          <a:xfrm>
            <a:off x="868680" y="4864607"/>
            <a:ext cx="10515600" cy="384048"/>
          </a:xfrm>
          <a:prstGeom prst="rect">
            <a:avLst/>
          </a:prstGeom>
          <a:noFill/>
        </p:spPr>
        <p:txBody>
          <a:bodyPr wrap="square">
            <a:spAutoFit/>
          </a:bodyPr>
          <a:lstStyle/>
          <a:p>
            <a:pPr algn="l"/>
            <a:r>
              <a:rPr sz="1800" b="1">
                <a:solidFill>
                  <a:srgbClr val="FFFFFF"/>
                </a:solidFill>
                <a:latin typeface="Bricolage Grotesque"/>
              </a:rPr>
              <a:t>Votre lecture était juste. Gemini : des images, jamais de donnée personnelle.</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143000"/>
          </a:xfrm>
          <a:prstGeom prst="rect">
            <a:avLst/>
          </a:prstGeom>
          <a:ln>
            <a:noFill/>
          </a:ln>
          <a:gradFill>
            <a:gsLst>
              <a:gs pos="0">
                <a:srgbClr val="0A2530"/>
              </a:gs>
              <a:gs pos="100000">
                <a:srgbClr val="1E5565"/>
              </a:gs>
            </a:gsLst>
            <a:lin ang="0" scaled="1"/>
          </a:gra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143000"/>
            <a:ext cx="12191695" cy="18288"/>
          </a:xfrm>
          <a:prstGeom prst="rect">
            <a:avLst/>
          </a:prstGeom>
          <a:solidFill>
            <a:srgbClr val="E8A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182880"/>
            <a:ext cx="10515600" cy="822960"/>
          </a:xfrm>
          <a:prstGeom prst="rect">
            <a:avLst/>
          </a:prstGeom>
          <a:noFill/>
        </p:spPr>
        <p:txBody>
          <a:bodyPr wrap="square">
            <a:spAutoFit/>
          </a:bodyPr>
          <a:lstStyle/>
          <a:p>
            <a:pPr algn="l"/>
            <a:r>
              <a:rPr sz="3400" b="1">
                <a:solidFill>
                  <a:srgbClr val="FFFFFF"/>
                </a:solidFill>
                <a:latin typeface="Bricolage Grotesque"/>
              </a:rPr>
              <a:t>Quiz · Question 3 / 4</a:t>
            </a:r>
          </a:p>
        </p:txBody>
      </p:sp>
      <p:sp>
        <p:nvSpPr>
          <p:cNvPr id="5" name="TextBox 4"/>
          <p:cNvSpPr txBox="1"/>
          <p:nvPr/>
        </p:nvSpPr>
        <p:spPr>
          <a:xfrm>
            <a:off x="640080" y="1417320"/>
            <a:ext cx="10881360" cy="731520"/>
          </a:xfrm>
          <a:prstGeom prst="rect">
            <a:avLst/>
          </a:prstGeom>
          <a:noFill/>
        </p:spPr>
        <p:txBody>
          <a:bodyPr wrap="square">
            <a:spAutoFit/>
          </a:bodyPr>
          <a:lstStyle/>
          <a:p>
            <a:pPr algn="l"/>
            <a:r>
              <a:rPr sz="2400" b="1">
                <a:solidFill>
                  <a:srgbClr val="1A1A1A"/>
                </a:solidFill>
                <a:latin typeface="Bricolage Grotesque"/>
              </a:rPr>
              <a:t>Pourquoi garder ChatGPT à côté de Claude Pro ?</a:t>
            </a:r>
          </a:p>
        </p:txBody>
      </p:sp>
      <p:sp>
        <p:nvSpPr>
          <p:cNvPr id="6" name="Rounded Rectangle 5"/>
          <p:cNvSpPr/>
          <p:nvPr/>
        </p:nvSpPr>
        <p:spPr>
          <a:xfrm>
            <a:off x="640080" y="2286000"/>
            <a:ext cx="10881360" cy="530352"/>
          </a:xfrm>
          <a:prstGeom prst="roundRect">
            <a:avLst/>
          </a:prstGeom>
          <a:solidFill>
            <a:srgbClr val="EDED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68680" y="2359152"/>
            <a:ext cx="10515600" cy="384048"/>
          </a:xfrm>
          <a:prstGeom prst="rect">
            <a:avLst/>
          </a:prstGeom>
          <a:noFill/>
        </p:spPr>
        <p:txBody>
          <a:bodyPr wrap="square">
            <a:spAutoFit/>
          </a:bodyPr>
          <a:lstStyle/>
          <a:p>
            <a:pPr algn="l"/>
            <a:r>
              <a:rPr sz="1900" b="0">
                <a:solidFill>
                  <a:srgbClr val="333333"/>
                </a:solidFill>
                <a:latin typeface="Bricolage Grotesque"/>
              </a:rPr>
              <a:t>A.  Claude rédige moins bien</a:t>
            </a:r>
          </a:p>
        </p:txBody>
      </p:sp>
      <p:sp>
        <p:nvSpPr>
          <p:cNvPr id="8" name="Rounded Rectangle 7"/>
          <p:cNvSpPr/>
          <p:nvPr/>
        </p:nvSpPr>
        <p:spPr>
          <a:xfrm>
            <a:off x="640080" y="2926080"/>
            <a:ext cx="10881360" cy="530352"/>
          </a:xfrm>
          <a:prstGeom prst="roundRect">
            <a:avLst/>
          </a:prstGeom>
          <a:solidFill>
            <a:srgbClr val="EDED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68680" y="2999232"/>
            <a:ext cx="10515600" cy="384048"/>
          </a:xfrm>
          <a:prstGeom prst="rect">
            <a:avLst/>
          </a:prstGeom>
          <a:noFill/>
        </p:spPr>
        <p:txBody>
          <a:bodyPr wrap="square">
            <a:spAutoFit/>
          </a:bodyPr>
          <a:lstStyle/>
          <a:p>
            <a:pPr algn="l"/>
            <a:r>
              <a:rPr sz="1900" b="0">
                <a:solidFill>
                  <a:srgbClr val="333333"/>
                </a:solidFill>
                <a:latin typeface="Bricolage Grotesque"/>
              </a:rPr>
              <a:t>B.  Claude ne génère pas d'images</a:t>
            </a:r>
          </a:p>
        </p:txBody>
      </p:sp>
      <p:sp>
        <p:nvSpPr>
          <p:cNvPr id="10" name="Rounded Rectangle 9"/>
          <p:cNvSpPr/>
          <p:nvPr/>
        </p:nvSpPr>
        <p:spPr>
          <a:xfrm>
            <a:off x="640080" y="3566160"/>
            <a:ext cx="10881360" cy="530352"/>
          </a:xfrm>
          <a:prstGeom prst="roundRect">
            <a:avLst/>
          </a:prstGeom>
          <a:solidFill>
            <a:srgbClr val="EDED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68680" y="3639312"/>
            <a:ext cx="10515600" cy="384048"/>
          </a:xfrm>
          <a:prstGeom prst="rect">
            <a:avLst/>
          </a:prstGeom>
          <a:noFill/>
        </p:spPr>
        <p:txBody>
          <a:bodyPr wrap="square">
            <a:spAutoFit/>
          </a:bodyPr>
          <a:lstStyle/>
          <a:p>
            <a:pPr algn="l"/>
            <a:r>
              <a:rPr sz="1900" b="0">
                <a:solidFill>
                  <a:srgbClr val="333333"/>
                </a:solidFill>
                <a:latin typeface="Bricolage Grotesque"/>
              </a:rPr>
              <a:t>C.  ChatGPT retient mieux le contexte</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143000"/>
          </a:xfrm>
          <a:prstGeom prst="rect">
            <a:avLst/>
          </a:prstGeom>
          <a:ln>
            <a:noFill/>
          </a:ln>
          <a:gradFill>
            <a:gsLst>
              <a:gs pos="0">
                <a:srgbClr val="0A2530"/>
              </a:gs>
              <a:gs pos="100000">
                <a:srgbClr val="1E5565"/>
              </a:gs>
            </a:gsLst>
            <a:lin ang="0" scaled="1"/>
          </a:gra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143000"/>
            <a:ext cx="12191695" cy="18288"/>
          </a:xfrm>
          <a:prstGeom prst="rect">
            <a:avLst/>
          </a:prstGeom>
          <a:solidFill>
            <a:srgbClr val="E8A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182880"/>
            <a:ext cx="10515600" cy="822960"/>
          </a:xfrm>
          <a:prstGeom prst="rect">
            <a:avLst/>
          </a:prstGeom>
          <a:noFill/>
        </p:spPr>
        <p:txBody>
          <a:bodyPr wrap="square">
            <a:spAutoFit/>
          </a:bodyPr>
          <a:lstStyle/>
          <a:p>
            <a:pPr algn="l"/>
            <a:r>
              <a:rPr sz="3400" b="1">
                <a:solidFill>
                  <a:srgbClr val="FFFFFF"/>
                </a:solidFill>
                <a:latin typeface="Bricolage Grotesque"/>
              </a:rPr>
              <a:t>Quiz · Question 3 / 4</a:t>
            </a:r>
          </a:p>
        </p:txBody>
      </p:sp>
      <p:sp>
        <p:nvSpPr>
          <p:cNvPr id="5" name="TextBox 4"/>
          <p:cNvSpPr txBox="1"/>
          <p:nvPr/>
        </p:nvSpPr>
        <p:spPr>
          <a:xfrm>
            <a:off x="640080" y="1417320"/>
            <a:ext cx="10881360" cy="731520"/>
          </a:xfrm>
          <a:prstGeom prst="rect">
            <a:avLst/>
          </a:prstGeom>
          <a:noFill/>
        </p:spPr>
        <p:txBody>
          <a:bodyPr wrap="square">
            <a:spAutoFit/>
          </a:bodyPr>
          <a:lstStyle/>
          <a:p>
            <a:pPr algn="l"/>
            <a:r>
              <a:rPr sz="2400" b="1">
                <a:solidFill>
                  <a:srgbClr val="1A1A1A"/>
                </a:solidFill>
                <a:latin typeface="Bricolage Grotesque"/>
              </a:rPr>
              <a:t>Pourquoi garder ChatGPT à côté de Claude Pro ?</a:t>
            </a:r>
          </a:p>
        </p:txBody>
      </p:sp>
      <p:sp>
        <p:nvSpPr>
          <p:cNvPr id="6" name="Rounded Rectangle 5"/>
          <p:cNvSpPr/>
          <p:nvPr/>
        </p:nvSpPr>
        <p:spPr>
          <a:xfrm>
            <a:off x="640080" y="2286000"/>
            <a:ext cx="10881360" cy="530352"/>
          </a:xfrm>
          <a:prstGeom prst="roundRect">
            <a:avLst/>
          </a:prstGeom>
          <a:solidFill>
            <a:srgbClr val="EDED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68680" y="2359152"/>
            <a:ext cx="10515600" cy="384048"/>
          </a:xfrm>
          <a:prstGeom prst="rect">
            <a:avLst/>
          </a:prstGeom>
          <a:noFill/>
        </p:spPr>
        <p:txBody>
          <a:bodyPr wrap="square">
            <a:spAutoFit/>
          </a:bodyPr>
          <a:lstStyle/>
          <a:p>
            <a:pPr algn="l"/>
            <a:r>
              <a:rPr sz="1900" b="0">
                <a:solidFill>
                  <a:srgbClr val="333333"/>
                </a:solidFill>
                <a:latin typeface="Bricolage Grotesque"/>
              </a:rPr>
              <a:t>A.  Claude rédige moins bien</a:t>
            </a:r>
          </a:p>
        </p:txBody>
      </p:sp>
      <p:sp>
        <p:nvSpPr>
          <p:cNvPr id="8" name="Rounded Rectangle 7"/>
          <p:cNvSpPr/>
          <p:nvPr/>
        </p:nvSpPr>
        <p:spPr>
          <a:xfrm>
            <a:off x="640080" y="2926080"/>
            <a:ext cx="10881360" cy="530352"/>
          </a:xfrm>
          <a:prstGeom prst="roundRect">
            <a:avLst/>
          </a:prstGeom>
          <a:solidFill>
            <a:srgbClr val="EDED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68680" y="2999232"/>
            <a:ext cx="10515600" cy="384048"/>
          </a:xfrm>
          <a:prstGeom prst="rect">
            <a:avLst/>
          </a:prstGeom>
          <a:noFill/>
        </p:spPr>
        <p:txBody>
          <a:bodyPr wrap="square">
            <a:spAutoFit/>
          </a:bodyPr>
          <a:lstStyle/>
          <a:p>
            <a:pPr algn="l"/>
            <a:r>
              <a:rPr sz="1900" b="0">
                <a:solidFill>
                  <a:srgbClr val="333333"/>
                </a:solidFill>
                <a:latin typeface="Bricolage Grotesque"/>
              </a:rPr>
              <a:t>B.  Claude ne génère pas d'images</a:t>
            </a:r>
          </a:p>
        </p:txBody>
      </p:sp>
      <p:sp>
        <p:nvSpPr>
          <p:cNvPr id="10" name="Rounded Rectangle 9"/>
          <p:cNvSpPr/>
          <p:nvPr/>
        </p:nvSpPr>
        <p:spPr>
          <a:xfrm>
            <a:off x="640080" y="3566160"/>
            <a:ext cx="10881360" cy="530352"/>
          </a:xfrm>
          <a:prstGeom prst="roundRect">
            <a:avLst/>
          </a:prstGeom>
          <a:solidFill>
            <a:srgbClr val="EDED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68680" y="3639312"/>
            <a:ext cx="10515600" cy="384048"/>
          </a:xfrm>
          <a:prstGeom prst="rect">
            <a:avLst/>
          </a:prstGeom>
          <a:noFill/>
        </p:spPr>
        <p:txBody>
          <a:bodyPr wrap="square">
            <a:spAutoFit/>
          </a:bodyPr>
          <a:lstStyle/>
          <a:p>
            <a:pPr algn="l"/>
            <a:r>
              <a:rPr sz="1900" b="0">
                <a:solidFill>
                  <a:srgbClr val="333333"/>
                </a:solidFill>
                <a:latin typeface="Bricolage Grotesque"/>
              </a:rPr>
              <a:t>C.  ChatGPT retient mieux le contexte</a:t>
            </a:r>
          </a:p>
        </p:txBody>
      </p:sp>
      <p:sp>
        <p:nvSpPr>
          <p:cNvPr id="12" name="Rounded Rectangle 11"/>
          <p:cNvSpPr/>
          <p:nvPr/>
        </p:nvSpPr>
        <p:spPr>
          <a:xfrm>
            <a:off x="640080" y="4343400"/>
            <a:ext cx="10881360" cy="1051560"/>
          </a:xfrm>
          <a:prstGeom prst="roundRect">
            <a:avLst/>
          </a:prstGeom>
          <a:solidFill>
            <a:srgbClr val="1B5E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68680" y="4434840"/>
            <a:ext cx="10515600" cy="384048"/>
          </a:xfrm>
          <a:prstGeom prst="rect">
            <a:avLst/>
          </a:prstGeom>
          <a:noFill/>
        </p:spPr>
        <p:txBody>
          <a:bodyPr wrap="square">
            <a:spAutoFit/>
          </a:bodyPr>
          <a:lstStyle/>
          <a:p>
            <a:pPr algn="l"/>
            <a:r>
              <a:rPr sz="1800" b="1">
                <a:solidFill>
                  <a:srgbClr val="FFFFFF"/>
                </a:solidFill>
                <a:latin typeface="Bricolage Grotesque"/>
              </a:rPr>
              <a:t>B. Vidéo 1 de l'e-learning Claude : pas de génération d'images chez Claude.</a:t>
            </a:r>
          </a:p>
        </p:txBody>
      </p:sp>
      <p:sp>
        <p:nvSpPr>
          <p:cNvPr id="14" name="TextBox 13"/>
          <p:cNvSpPr txBox="1"/>
          <p:nvPr/>
        </p:nvSpPr>
        <p:spPr>
          <a:xfrm>
            <a:off x="868680" y="4864607"/>
            <a:ext cx="10515600" cy="384048"/>
          </a:xfrm>
          <a:prstGeom prst="rect">
            <a:avLst/>
          </a:prstGeom>
          <a:noFill/>
        </p:spPr>
        <p:txBody>
          <a:bodyPr wrap="square">
            <a:spAutoFit/>
          </a:bodyPr>
          <a:lstStyle/>
          <a:p>
            <a:pPr algn="l"/>
            <a:r>
              <a:rPr sz="1800" b="1">
                <a:solidFill>
                  <a:srgbClr val="FFFFFF"/>
                </a:solidFill>
                <a:latin typeface="Bricolage Grotesque"/>
              </a:rPr>
              <a:t>Votre choix d'hier est le bon : Claude pour écrire, ChatGPT pour les images.</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143000"/>
          </a:xfrm>
          <a:prstGeom prst="rect">
            <a:avLst/>
          </a:prstGeom>
          <a:ln>
            <a:noFill/>
          </a:ln>
          <a:gradFill>
            <a:gsLst>
              <a:gs pos="0">
                <a:srgbClr val="0A2530"/>
              </a:gs>
              <a:gs pos="100000">
                <a:srgbClr val="1E5565"/>
              </a:gs>
            </a:gsLst>
            <a:lin ang="0" scaled="1"/>
          </a:gra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143000"/>
            <a:ext cx="12191695" cy="18288"/>
          </a:xfrm>
          <a:prstGeom prst="rect">
            <a:avLst/>
          </a:prstGeom>
          <a:solidFill>
            <a:srgbClr val="E8A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182880"/>
            <a:ext cx="10515600" cy="822960"/>
          </a:xfrm>
          <a:prstGeom prst="rect">
            <a:avLst/>
          </a:prstGeom>
          <a:noFill/>
        </p:spPr>
        <p:txBody>
          <a:bodyPr wrap="square">
            <a:spAutoFit/>
          </a:bodyPr>
          <a:lstStyle/>
          <a:p>
            <a:pPr algn="l"/>
            <a:r>
              <a:rPr sz="3400" b="1">
                <a:solidFill>
                  <a:srgbClr val="FFFFFF"/>
                </a:solidFill>
                <a:latin typeface="Bricolage Grotesque"/>
              </a:rPr>
              <a:t>Quiz · Question 4 / 4</a:t>
            </a:r>
          </a:p>
        </p:txBody>
      </p:sp>
      <p:sp>
        <p:nvSpPr>
          <p:cNvPr id="5" name="TextBox 4"/>
          <p:cNvSpPr txBox="1"/>
          <p:nvPr/>
        </p:nvSpPr>
        <p:spPr>
          <a:xfrm>
            <a:off x="640080" y="1417320"/>
            <a:ext cx="10881360" cy="731520"/>
          </a:xfrm>
          <a:prstGeom prst="rect">
            <a:avLst/>
          </a:prstGeom>
          <a:noFill/>
        </p:spPr>
        <p:txBody>
          <a:bodyPr wrap="square">
            <a:spAutoFit/>
          </a:bodyPr>
          <a:lstStyle/>
          <a:p>
            <a:pPr algn="l"/>
            <a:r>
              <a:rPr sz="2400" b="1">
                <a:solidFill>
                  <a:srgbClr val="1A1A1A"/>
                </a:solidFill>
                <a:latin typeface="Bricolage Grotesque"/>
              </a:rPr>
              <a:t>Limite atteinte en 5 heures : qu'est-ce qui consomme le plus ?</a:t>
            </a:r>
          </a:p>
        </p:txBody>
      </p:sp>
      <p:sp>
        <p:nvSpPr>
          <p:cNvPr id="6" name="Rounded Rectangle 5"/>
          <p:cNvSpPr/>
          <p:nvPr/>
        </p:nvSpPr>
        <p:spPr>
          <a:xfrm>
            <a:off x="640080" y="2286000"/>
            <a:ext cx="10881360" cy="530352"/>
          </a:xfrm>
          <a:prstGeom prst="roundRect">
            <a:avLst/>
          </a:prstGeom>
          <a:solidFill>
            <a:srgbClr val="EDED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68680" y="2359152"/>
            <a:ext cx="10515600" cy="384048"/>
          </a:xfrm>
          <a:prstGeom prst="rect">
            <a:avLst/>
          </a:prstGeom>
          <a:noFill/>
        </p:spPr>
        <p:txBody>
          <a:bodyPr wrap="square">
            <a:spAutoFit/>
          </a:bodyPr>
          <a:lstStyle/>
          <a:p>
            <a:pPr algn="l"/>
            <a:r>
              <a:rPr sz="1900" b="0">
                <a:solidFill>
                  <a:srgbClr val="333333"/>
                </a:solidFill>
                <a:latin typeface="Bricolage Grotesque"/>
              </a:rPr>
              <a:t>A.  Les longues conversations avec un modèle puissant</a:t>
            </a:r>
          </a:p>
        </p:txBody>
      </p:sp>
      <p:sp>
        <p:nvSpPr>
          <p:cNvPr id="8" name="Rounded Rectangle 7"/>
          <p:cNvSpPr/>
          <p:nvPr/>
        </p:nvSpPr>
        <p:spPr>
          <a:xfrm>
            <a:off x="640080" y="2926080"/>
            <a:ext cx="10881360" cy="530352"/>
          </a:xfrm>
          <a:prstGeom prst="roundRect">
            <a:avLst/>
          </a:prstGeom>
          <a:solidFill>
            <a:srgbClr val="EDED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68680" y="2999232"/>
            <a:ext cx="10515600" cy="384048"/>
          </a:xfrm>
          <a:prstGeom prst="rect">
            <a:avLst/>
          </a:prstGeom>
          <a:noFill/>
        </p:spPr>
        <p:txBody>
          <a:bodyPr wrap="square">
            <a:spAutoFit/>
          </a:bodyPr>
          <a:lstStyle/>
          <a:p>
            <a:pPr algn="l"/>
            <a:r>
              <a:rPr sz="1900" b="0">
                <a:solidFill>
                  <a:srgbClr val="333333"/>
                </a:solidFill>
                <a:latin typeface="Bricolage Grotesque"/>
              </a:rPr>
              <a:t>B.  Le nombre de projets créés</a:t>
            </a:r>
          </a:p>
        </p:txBody>
      </p:sp>
      <p:sp>
        <p:nvSpPr>
          <p:cNvPr id="10" name="Rounded Rectangle 9"/>
          <p:cNvSpPr/>
          <p:nvPr/>
        </p:nvSpPr>
        <p:spPr>
          <a:xfrm>
            <a:off x="640080" y="3566160"/>
            <a:ext cx="10881360" cy="530352"/>
          </a:xfrm>
          <a:prstGeom prst="roundRect">
            <a:avLst/>
          </a:prstGeom>
          <a:solidFill>
            <a:srgbClr val="EDED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68680" y="3639312"/>
            <a:ext cx="10515600" cy="384048"/>
          </a:xfrm>
          <a:prstGeom prst="rect">
            <a:avLst/>
          </a:prstGeom>
          <a:noFill/>
        </p:spPr>
        <p:txBody>
          <a:bodyPr wrap="square">
            <a:spAutoFit/>
          </a:bodyPr>
          <a:lstStyle/>
          <a:p>
            <a:pPr algn="l"/>
            <a:r>
              <a:rPr sz="1900" b="0">
                <a:solidFill>
                  <a:srgbClr val="333333"/>
                </a:solidFill>
                <a:latin typeface="Bricolage Grotesque"/>
              </a:rPr>
              <a:t>C.  Les instructions personnalisées</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143000"/>
          </a:xfrm>
          <a:prstGeom prst="rect">
            <a:avLst/>
          </a:prstGeom>
          <a:ln>
            <a:noFill/>
          </a:ln>
          <a:gradFill>
            <a:gsLst>
              <a:gs pos="0">
                <a:srgbClr val="0A2530"/>
              </a:gs>
              <a:gs pos="100000">
                <a:srgbClr val="1E5565"/>
              </a:gs>
            </a:gsLst>
            <a:lin ang="0" scaled="1"/>
          </a:gra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143000"/>
            <a:ext cx="12191695" cy="18288"/>
          </a:xfrm>
          <a:prstGeom prst="rect">
            <a:avLst/>
          </a:prstGeom>
          <a:solidFill>
            <a:srgbClr val="E8A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182880"/>
            <a:ext cx="10515600" cy="822960"/>
          </a:xfrm>
          <a:prstGeom prst="rect">
            <a:avLst/>
          </a:prstGeom>
          <a:noFill/>
        </p:spPr>
        <p:txBody>
          <a:bodyPr wrap="square">
            <a:spAutoFit/>
          </a:bodyPr>
          <a:lstStyle/>
          <a:p>
            <a:pPr algn="l"/>
            <a:r>
              <a:rPr sz="3400" b="1">
                <a:solidFill>
                  <a:srgbClr val="FFFFFF"/>
                </a:solidFill>
                <a:latin typeface="Bricolage Grotesque"/>
              </a:rPr>
              <a:t>Quiz · Question 4 / 4</a:t>
            </a:r>
          </a:p>
        </p:txBody>
      </p:sp>
      <p:sp>
        <p:nvSpPr>
          <p:cNvPr id="5" name="TextBox 4"/>
          <p:cNvSpPr txBox="1"/>
          <p:nvPr/>
        </p:nvSpPr>
        <p:spPr>
          <a:xfrm>
            <a:off x="640080" y="1417320"/>
            <a:ext cx="10881360" cy="731520"/>
          </a:xfrm>
          <a:prstGeom prst="rect">
            <a:avLst/>
          </a:prstGeom>
          <a:noFill/>
        </p:spPr>
        <p:txBody>
          <a:bodyPr wrap="square">
            <a:spAutoFit/>
          </a:bodyPr>
          <a:lstStyle/>
          <a:p>
            <a:pPr algn="l"/>
            <a:r>
              <a:rPr sz="2400" b="1">
                <a:solidFill>
                  <a:srgbClr val="1A1A1A"/>
                </a:solidFill>
                <a:latin typeface="Bricolage Grotesque"/>
              </a:rPr>
              <a:t>Limite atteinte en 5 heures : qu'est-ce qui consomme le plus ?</a:t>
            </a:r>
          </a:p>
        </p:txBody>
      </p:sp>
      <p:sp>
        <p:nvSpPr>
          <p:cNvPr id="6" name="Rounded Rectangle 5"/>
          <p:cNvSpPr/>
          <p:nvPr/>
        </p:nvSpPr>
        <p:spPr>
          <a:xfrm>
            <a:off x="640080" y="2286000"/>
            <a:ext cx="10881360" cy="530352"/>
          </a:xfrm>
          <a:prstGeom prst="roundRect">
            <a:avLst/>
          </a:prstGeom>
          <a:solidFill>
            <a:srgbClr val="EDED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68680" y="2359152"/>
            <a:ext cx="10515600" cy="384048"/>
          </a:xfrm>
          <a:prstGeom prst="rect">
            <a:avLst/>
          </a:prstGeom>
          <a:noFill/>
        </p:spPr>
        <p:txBody>
          <a:bodyPr wrap="square">
            <a:spAutoFit/>
          </a:bodyPr>
          <a:lstStyle/>
          <a:p>
            <a:pPr algn="l"/>
            <a:r>
              <a:rPr sz="1900" b="0">
                <a:solidFill>
                  <a:srgbClr val="333333"/>
                </a:solidFill>
                <a:latin typeface="Bricolage Grotesque"/>
              </a:rPr>
              <a:t>A.  Les longues conversations avec un modèle puissant</a:t>
            </a:r>
          </a:p>
        </p:txBody>
      </p:sp>
      <p:sp>
        <p:nvSpPr>
          <p:cNvPr id="8" name="Rounded Rectangle 7"/>
          <p:cNvSpPr/>
          <p:nvPr/>
        </p:nvSpPr>
        <p:spPr>
          <a:xfrm>
            <a:off x="640080" y="2926080"/>
            <a:ext cx="10881360" cy="530352"/>
          </a:xfrm>
          <a:prstGeom prst="roundRect">
            <a:avLst/>
          </a:prstGeom>
          <a:solidFill>
            <a:srgbClr val="EDED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68680" y="2999232"/>
            <a:ext cx="10515600" cy="384048"/>
          </a:xfrm>
          <a:prstGeom prst="rect">
            <a:avLst/>
          </a:prstGeom>
          <a:noFill/>
        </p:spPr>
        <p:txBody>
          <a:bodyPr wrap="square">
            <a:spAutoFit/>
          </a:bodyPr>
          <a:lstStyle/>
          <a:p>
            <a:pPr algn="l"/>
            <a:r>
              <a:rPr sz="1900" b="0">
                <a:solidFill>
                  <a:srgbClr val="333333"/>
                </a:solidFill>
                <a:latin typeface="Bricolage Grotesque"/>
              </a:rPr>
              <a:t>B.  Le nombre de projets créés</a:t>
            </a:r>
          </a:p>
        </p:txBody>
      </p:sp>
      <p:sp>
        <p:nvSpPr>
          <p:cNvPr id="10" name="Rounded Rectangle 9"/>
          <p:cNvSpPr/>
          <p:nvPr/>
        </p:nvSpPr>
        <p:spPr>
          <a:xfrm>
            <a:off x="640080" y="3566160"/>
            <a:ext cx="10881360" cy="530352"/>
          </a:xfrm>
          <a:prstGeom prst="roundRect">
            <a:avLst/>
          </a:prstGeom>
          <a:solidFill>
            <a:srgbClr val="EDED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68680" y="3639312"/>
            <a:ext cx="10515600" cy="384048"/>
          </a:xfrm>
          <a:prstGeom prst="rect">
            <a:avLst/>
          </a:prstGeom>
          <a:noFill/>
        </p:spPr>
        <p:txBody>
          <a:bodyPr wrap="square">
            <a:spAutoFit/>
          </a:bodyPr>
          <a:lstStyle/>
          <a:p>
            <a:pPr algn="l"/>
            <a:r>
              <a:rPr sz="1900" b="0">
                <a:solidFill>
                  <a:srgbClr val="333333"/>
                </a:solidFill>
                <a:latin typeface="Bricolage Grotesque"/>
              </a:rPr>
              <a:t>C.  Les instructions personnalisées</a:t>
            </a:r>
          </a:p>
        </p:txBody>
      </p:sp>
      <p:sp>
        <p:nvSpPr>
          <p:cNvPr id="12" name="Rounded Rectangle 11"/>
          <p:cNvSpPr/>
          <p:nvPr/>
        </p:nvSpPr>
        <p:spPr>
          <a:xfrm>
            <a:off x="640080" y="4343400"/>
            <a:ext cx="10881360" cy="1051560"/>
          </a:xfrm>
          <a:prstGeom prst="roundRect">
            <a:avLst/>
          </a:prstGeom>
          <a:solidFill>
            <a:srgbClr val="1B5E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68680" y="4434840"/>
            <a:ext cx="10515600" cy="384048"/>
          </a:xfrm>
          <a:prstGeom prst="rect">
            <a:avLst/>
          </a:prstGeom>
          <a:noFill/>
        </p:spPr>
        <p:txBody>
          <a:bodyPr wrap="square">
            <a:spAutoFit/>
          </a:bodyPr>
          <a:lstStyle/>
          <a:p>
            <a:pPr algn="l"/>
            <a:r>
              <a:rPr sz="1800" b="1">
                <a:solidFill>
                  <a:srgbClr val="FFFFFF"/>
                </a:solidFill>
                <a:latin typeface="Bricolage Grotesque"/>
              </a:rPr>
              <a:t>A. Plus le modèle est puissant et l'échange long, plus vous consommez.</a:t>
            </a:r>
          </a:p>
        </p:txBody>
      </p:sp>
      <p:sp>
        <p:nvSpPr>
          <p:cNvPr id="14" name="TextBox 13"/>
          <p:cNvSpPr txBox="1"/>
          <p:nvPr/>
        </p:nvSpPr>
        <p:spPr>
          <a:xfrm>
            <a:off x="868680" y="4864607"/>
            <a:ext cx="10515600" cy="384048"/>
          </a:xfrm>
          <a:prstGeom prst="rect">
            <a:avLst/>
          </a:prstGeom>
          <a:noFill/>
        </p:spPr>
        <p:txBody>
          <a:bodyPr wrap="square">
            <a:spAutoFit/>
          </a:bodyPr>
          <a:lstStyle/>
          <a:p>
            <a:pPr algn="l"/>
            <a:r>
              <a:rPr sz="1800" b="1">
                <a:solidFill>
                  <a:srgbClr val="FFFFFF"/>
                </a:solidFill>
                <a:latin typeface="Bricolage Grotesque"/>
              </a:rPr>
              <a:t>On voit tout à l'heure comment faire durer votre forfait Pro.</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2B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640080" y="1965960"/>
            <a:ext cx="2743200" cy="36576"/>
          </a:xfrm>
          <a:prstGeom prst="rect">
            <a:avLst/>
          </a:prstGeom>
          <a:solidFill>
            <a:srgbClr val="E8A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1371600"/>
            <a:ext cx="10515600" cy="731520"/>
          </a:xfrm>
          <a:prstGeom prst="rect">
            <a:avLst/>
          </a:prstGeom>
          <a:noFill/>
        </p:spPr>
        <p:txBody>
          <a:bodyPr wrap="square">
            <a:spAutoFit/>
          </a:bodyPr>
          <a:lstStyle/>
          <a:p>
            <a:pPr algn="l"/>
            <a:r>
              <a:rPr sz="2200" b="1">
                <a:solidFill>
                  <a:srgbClr val="E8A000"/>
                </a:solidFill>
                <a:latin typeface="Bricolage Grotesque"/>
              </a:rPr>
              <a:t>Séquence 2</a:t>
            </a:r>
          </a:p>
        </p:txBody>
      </p:sp>
      <p:sp>
        <p:nvSpPr>
          <p:cNvPr id="5" name="TextBox 4"/>
          <p:cNvSpPr txBox="1"/>
          <p:nvPr/>
        </p:nvSpPr>
        <p:spPr>
          <a:xfrm>
            <a:off x="640080" y="2286000"/>
            <a:ext cx="10698480" cy="1645920"/>
          </a:xfrm>
          <a:prstGeom prst="rect">
            <a:avLst/>
          </a:prstGeom>
          <a:noFill/>
        </p:spPr>
        <p:txBody>
          <a:bodyPr wrap="square">
            <a:spAutoFit/>
          </a:bodyPr>
          <a:lstStyle/>
          <a:p>
            <a:pPr algn="l"/>
            <a:r>
              <a:rPr sz="4200" b="1">
                <a:solidFill>
                  <a:srgbClr val="FFFFFF"/>
                </a:solidFill>
                <a:latin typeface="Bricolage Grotesque"/>
              </a:rPr>
              <a:t>Vos retours d'exercices</a:t>
            </a:r>
          </a:p>
        </p:txBody>
      </p:sp>
      <p:sp>
        <p:nvSpPr>
          <p:cNvPr id="6" name="TextBox 5"/>
          <p:cNvSpPr txBox="1"/>
          <p:nvPr/>
        </p:nvSpPr>
        <p:spPr>
          <a:xfrm>
            <a:off x="640080" y="4023360"/>
            <a:ext cx="10515600" cy="731520"/>
          </a:xfrm>
          <a:prstGeom prst="rect">
            <a:avLst/>
          </a:prstGeom>
          <a:noFill/>
        </p:spPr>
        <p:txBody>
          <a:bodyPr wrap="square">
            <a:spAutoFit/>
          </a:bodyPr>
          <a:lstStyle/>
          <a:p>
            <a:pPr algn="l"/>
            <a:r>
              <a:rPr sz="2000" b="0">
                <a:solidFill>
                  <a:srgbClr val="5A8A8F"/>
                </a:solidFill>
                <a:latin typeface="Bricolage Grotesque"/>
              </a:rPr>
              <a:t>Ce que vous avez trouvé, ce qui a coincé</a:t>
            </a:r>
          </a:p>
        </p:txBody>
      </p:sp>
      <p:pic>
        <p:nvPicPr>
          <p:cNvPr id="7" name="Picture 6" descr="ia-round.png"/>
          <p:cNvPicPr>
            <a:picLocks noChangeAspect="1"/>
          </p:cNvPicPr>
          <p:nvPr/>
        </p:nvPicPr>
        <p:blipFill>
          <a:blip r:embed="rId2"/>
          <a:stretch>
            <a:fillRect/>
          </a:stretch>
        </p:blipFill>
        <p:spPr>
          <a:xfrm>
            <a:off x="457200" y="6217920"/>
            <a:ext cx="320040" cy="320040"/>
          </a:xfrm>
          <a:prstGeom prst="rect">
            <a:avLst/>
          </a:prstGeom>
        </p:spPr>
      </p:pic>
      <p:sp>
        <p:nvSpPr>
          <p:cNvPr id="8" name="TextBox 7"/>
          <p:cNvSpPr txBox="1"/>
          <p:nvPr/>
        </p:nvSpPr>
        <p:spPr>
          <a:xfrm>
            <a:off x="868680" y="6199632"/>
            <a:ext cx="3657600" cy="365760"/>
          </a:xfrm>
          <a:prstGeom prst="rect">
            <a:avLst/>
          </a:prstGeom>
          <a:noFill/>
        </p:spPr>
        <p:txBody>
          <a:bodyPr wrap="square">
            <a:spAutoFit/>
          </a:bodyPr>
          <a:lstStyle/>
          <a:p>
            <a:pPr algn="l"/>
            <a:r>
              <a:rPr sz="1400" b="0">
                <a:solidFill>
                  <a:srgbClr val="FFFFFF"/>
                </a:solidFill>
                <a:latin typeface="Bricolage Grotesque"/>
              </a:rPr>
              <a:t>intelligence academy</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143000"/>
          </a:xfrm>
          <a:prstGeom prst="rect">
            <a:avLst/>
          </a:prstGeom>
          <a:ln>
            <a:noFill/>
          </a:ln>
          <a:gradFill>
            <a:gsLst>
              <a:gs pos="0">
                <a:srgbClr val="0A2530"/>
              </a:gs>
              <a:gs pos="100000">
                <a:srgbClr val="1E5565"/>
              </a:gs>
            </a:gsLst>
            <a:lin ang="0" scaled="1"/>
          </a:gra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143000"/>
            <a:ext cx="12191695" cy="18288"/>
          </a:xfrm>
          <a:prstGeom prst="rect">
            <a:avLst/>
          </a:prstGeom>
          <a:solidFill>
            <a:srgbClr val="E8A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182880"/>
            <a:ext cx="10515600" cy="822960"/>
          </a:xfrm>
          <a:prstGeom prst="rect">
            <a:avLst/>
          </a:prstGeom>
          <a:noFill/>
        </p:spPr>
        <p:txBody>
          <a:bodyPr wrap="square">
            <a:spAutoFit/>
          </a:bodyPr>
          <a:lstStyle/>
          <a:p>
            <a:pPr algn="l"/>
            <a:r>
              <a:rPr sz="3400" b="1">
                <a:solidFill>
                  <a:srgbClr val="FFFFFF"/>
                </a:solidFill>
                <a:latin typeface="Bricolage Grotesque"/>
              </a:rPr>
              <a:t>Votre semaine de pratique</a:t>
            </a:r>
          </a:p>
        </p:txBody>
      </p:sp>
      <p:sp>
        <p:nvSpPr>
          <p:cNvPr id="5" name="TextBox 4"/>
          <p:cNvSpPr txBox="1"/>
          <p:nvPr/>
        </p:nvSpPr>
        <p:spPr>
          <a:xfrm>
            <a:off x="640080" y="1463040"/>
            <a:ext cx="10515600" cy="640080"/>
          </a:xfrm>
          <a:prstGeom prst="rect">
            <a:avLst/>
          </a:prstGeom>
          <a:noFill/>
        </p:spPr>
        <p:txBody>
          <a:bodyPr wrap="square">
            <a:spAutoFit/>
          </a:bodyPr>
          <a:lstStyle/>
          <a:p>
            <a:pPr algn="l"/>
            <a:r>
              <a:rPr sz="2600" b="1">
                <a:solidFill>
                  <a:srgbClr val="1A1A1A"/>
                </a:solidFill>
                <a:latin typeface="Bricolage Grotesque"/>
              </a:rPr>
              <a:t>Votre document du 19 octobre</a:t>
            </a:r>
          </a:p>
        </p:txBody>
      </p:sp>
      <p:sp>
        <p:nvSpPr>
          <p:cNvPr id="6" name="Rectangle 5"/>
          <p:cNvSpPr/>
          <p:nvPr/>
        </p:nvSpPr>
        <p:spPr>
          <a:xfrm>
            <a:off x="5897880" y="2286000"/>
            <a:ext cx="27432" cy="2450592"/>
          </a:xfrm>
          <a:prstGeom prst="rect">
            <a:avLst/>
          </a:prstGeom>
          <a:solidFill>
            <a:srgbClr val="E8A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0080" y="2286000"/>
            <a:ext cx="5029200" cy="411480"/>
          </a:xfrm>
          <a:prstGeom prst="rect">
            <a:avLst/>
          </a:prstGeom>
          <a:noFill/>
        </p:spPr>
        <p:txBody>
          <a:bodyPr wrap="square">
            <a:spAutoFit/>
          </a:bodyPr>
          <a:lstStyle/>
          <a:p>
            <a:pPr algn="l"/>
            <a:r>
              <a:rPr sz="2100" b="1">
                <a:solidFill>
                  <a:srgbClr val="1B5E6B"/>
                </a:solidFill>
                <a:latin typeface="Bricolage Grotesque"/>
              </a:rPr>
              <a:t>Ce qui marche</a:t>
            </a:r>
          </a:p>
        </p:txBody>
      </p:sp>
      <p:sp>
        <p:nvSpPr>
          <p:cNvPr id="8" name="TextBox 7"/>
          <p:cNvSpPr txBox="1"/>
          <p:nvPr/>
        </p:nvSpPr>
        <p:spPr>
          <a:xfrm>
            <a:off x="640080" y="2880360"/>
            <a:ext cx="5120640" cy="384048"/>
          </a:xfrm>
          <a:prstGeom prst="rect">
            <a:avLst/>
          </a:prstGeom>
          <a:noFill/>
        </p:spPr>
        <p:txBody>
          <a:bodyPr wrap="square">
            <a:spAutoFit/>
          </a:bodyPr>
          <a:lstStyle/>
          <a:p>
            <a:pPr algn="l"/>
            <a:r>
              <a:rPr sz="1800" b="0">
                <a:solidFill>
                  <a:srgbClr val="333333"/>
                </a:solidFill>
                <a:latin typeface="Bricolage Grotesque"/>
              </a:rPr>
              <a:t>Un projet, une conversation par tâche</a:t>
            </a:r>
          </a:p>
        </p:txBody>
      </p:sp>
      <p:sp>
        <p:nvSpPr>
          <p:cNvPr id="9" name="TextBox 8"/>
          <p:cNvSpPr txBox="1"/>
          <p:nvPr/>
        </p:nvSpPr>
        <p:spPr>
          <a:xfrm>
            <a:off x="640080" y="3355848"/>
            <a:ext cx="5120640" cy="384048"/>
          </a:xfrm>
          <a:prstGeom prst="rect">
            <a:avLst/>
          </a:prstGeom>
          <a:noFill/>
        </p:spPr>
        <p:txBody>
          <a:bodyPr wrap="square">
            <a:spAutoFit/>
          </a:bodyPr>
          <a:lstStyle/>
          <a:p>
            <a:pPr algn="l"/>
            <a:r>
              <a:rPr sz="1800" b="0">
                <a:solidFill>
                  <a:srgbClr val="333333"/>
                </a:solidFill>
                <a:latin typeface="Bricolage Grotesque"/>
              </a:rPr>
              <a:t>« Modifier » : corrections à la lettre</a:t>
            </a:r>
          </a:p>
        </p:txBody>
      </p:sp>
      <p:sp>
        <p:nvSpPr>
          <p:cNvPr id="10" name="TextBox 9"/>
          <p:cNvSpPr txBox="1"/>
          <p:nvPr/>
        </p:nvSpPr>
        <p:spPr>
          <a:xfrm>
            <a:off x="640080" y="3831335"/>
            <a:ext cx="5120640" cy="384048"/>
          </a:xfrm>
          <a:prstGeom prst="rect">
            <a:avLst/>
          </a:prstGeom>
          <a:noFill/>
        </p:spPr>
        <p:txBody>
          <a:bodyPr wrap="square">
            <a:spAutoFit/>
          </a:bodyPr>
          <a:lstStyle/>
          <a:p>
            <a:pPr algn="l"/>
            <a:r>
              <a:rPr sz="1800" b="0">
                <a:solidFill>
                  <a:srgbClr val="333333"/>
                </a:solidFill>
                <a:latin typeface="Bricolage Grotesque"/>
              </a:rPr>
              <a:t>Le texte rendu modifiable dans Canva</a:t>
            </a:r>
          </a:p>
        </p:txBody>
      </p:sp>
      <p:sp>
        <p:nvSpPr>
          <p:cNvPr id="11" name="TextBox 10"/>
          <p:cNvSpPr txBox="1"/>
          <p:nvPr/>
        </p:nvSpPr>
        <p:spPr>
          <a:xfrm>
            <a:off x="640080" y="4306823"/>
            <a:ext cx="5120640" cy="384048"/>
          </a:xfrm>
          <a:prstGeom prst="rect">
            <a:avLst/>
          </a:prstGeom>
          <a:noFill/>
        </p:spPr>
        <p:txBody>
          <a:bodyPr wrap="square">
            <a:spAutoFit/>
          </a:bodyPr>
          <a:lstStyle/>
          <a:p>
            <a:pPr algn="l"/>
            <a:r>
              <a:rPr sz="1800" b="0">
                <a:solidFill>
                  <a:srgbClr val="333333"/>
                </a:solidFill>
                <a:latin typeface="Bricolage Grotesque"/>
              </a:rPr>
              <a:t>Vos prompts gardés pour la suite</a:t>
            </a:r>
          </a:p>
        </p:txBody>
      </p:sp>
      <p:sp>
        <p:nvSpPr>
          <p:cNvPr id="12" name="TextBox 11"/>
          <p:cNvSpPr txBox="1"/>
          <p:nvPr/>
        </p:nvSpPr>
        <p:spPr>
          <a:xfrm>
            <a:off x="6172200" y="2286000"/>
            <a:ext cx="5029200" cy="411480"/>
          </a:xfrm>
          <a:prstGeom prst="rect">
            <a:avLst/>
          </a:prstGeom>
          <a:noFill/>
        </p:spPr>
        <p:txBody>
          <a:bodyPr wrap="square">
            <a:spAutoFit/>
          </a:bodyPr>
          <a:lstStyle/>
          <a:p>
            <a:pPr algn="l"/>
            <a:r>
              <a:rPr sz="2100" b="1">
                <a:solidFill>
                  <a:srgbClr val="1B5E6B"/>
                </a:solidFill>
                <a:latin typeface="Bricolage Grotesque"/>
              </a:rPr>
              <a:t>Ce qui a coincé</a:t>
            </a:r>
          </a:p>
        </p:txBody>
      </p:sp>
      <p:sp>
        <p:nvSpPr>
          <p:cNvPr id="13" name="TextBox 12"/>
          <p:cNvSpPr txBox="1"/>
          <p:nvPr/>
        </p:nvSpPr>
        <p:spPr>
          <a:xfrm>
            <a:off x="6172200" y="2880360"/>
            <a:ext cx="5120640" cy="384048"/>
          </a:xfrm>
          <a:prstGeom prst="rect">
            <a:avLst/>
          </a:prstGeom>
          <a:noFill/>
        </p:spPr>
        <p:txBody>
          <a:bodyPr wrap="square">
            <a:spAutoFit/>
          </a:bodyPr>
          <a:lstStyle/>
          <a:p>
            <a:pPr algn="l"/>
            <a:r>
              <a:rPr sz="1800" b="0">
                <a:solidFill>
                  <a:srgbClr val="333333"/>
                </a:solidFill>
                <a:latin typeface="Bricolage Grotesque"/>
              </a:rPr>
              <a:t>@Canva bloqué sur une image PNG</a:t>
            </a:r>
          </a:p>
        </p:txBody>
      </p:sp>
      <p:sp>
        <p:nvSpPr>
          <p:cNvPr id="14" name="TextBox 13"/>
          <p:cNvSpPr txBox="1"/>
          <p:nvPr/>
        </p:nvSpPr>
        <p:spPr>
          <a:xfrm>
            <a:off x="6172200" y="3355848"/>
            <a:ext cx="5120640" cy="384048"/>
          </a:xfrm>
          <a:prstGeom prst="rect">
            <a:avLst/>
          </a:prstGeom>
          <a:noFill/>
        </p:spPr>
        <p:txBody>
          <a:bodyPr wrap="square">
            <a:spAutoFit/>
          </a:bodyPr>
          <a:lstStyle/>
          <a:p>
            <a:pPr algn="l"/>
            <a:r>
              <a:rPr sz="1800" b="0">
                <a:solidFill>
                  <a:srgbClr val="333333"/>
                </a:solidFill>
                <a:latin typeface="Bricolage Grotesque"/>
              </a:rPr>
              <a:t>Web et appli : deux historiques</a:t>
            </a:r>
          </a:p>
        </p:txBody>
      </p:sp>
      <p:sp>
        <p:nvSpPr>
          <p:cNvPr id="15" name="TextBox 14"/>
          <p:cNvSpPr txBox="1"/>
          <p:nvPr/>
        </p:nvSpPr>
        <p:spPr>
          <a:xfrm>
            <a:off x="6172200" y="3831335"/>
            <a:ext cx="5120640" cy="384048"/>
          </a:xfrm>
          <a:prstGeom prst="rect">
            <a:avLst/>
          </a:prstGeom>
          <a:noFill/>
        </p:spPr>
        <p:txBody>
          <a:bodyPr wrap="square">
            <a:spAutoFit/>
          </a:bodyPr>
          <a:lstStyle/>
          <a:p>
            <a:pPr algn="l"/>
            <a:r>
              <a:rPr sz="1800" b="0">
                <a:solidFill>
                  <a:srgbClr val="333333"/>
                </a:solidFill>
                <a:latin typeface="Bricolage Grotesque"/>
              </a:rPr>
              <a:t>Télécharger un fichier depuis Work</a:t>
            </a:r>
          </a:p>
        </p:txBody>
      </p:sp>
      <p:sp>
        <p:nvSpPr>
          <p:cNvPr id="16" name="TextBox 15"/>
          <p:cNvSpPr txBox="1"/>
          <p:nvPr/>
        </p:nvSpPr>
        <p:spPr>
          <a:xfrm>
            <a:off x="6172200" y="4306823"/>
            <a:ext cx="5120640" cy="384048"/>
          </a:xfrm>
          <a:prstGeom prst="rect">
            <a:avLst/>
          </a:prstGeom>
          <a:noFill/>
        </p:spPr>
        <p:txBody>
          <a:bodyPr wrap="square">
            <a:spAutoFit/>
          </a:bodyPr>
          <a:lstStyle/>
          <a:p>
            <a:pPr algn="l"/>
            <a:r>
              <a:rPr sz="1800" b="0">
                <a:solidFill>
                  <a:srgbClr val="333333"/>
                </a:solidFill>
                <a:latin typeface="Bricolage Grotesque"/>
              </a:rPr>
              <a:t>Le flyer de Gemini, raté</a:t>
            </a:r>
          </a:p>
        </p:txBody>
      </p:sp>
      <p:sp>
        <p:nvSpPr>
          <p:cNvPr id="17" name="TextBox 16"/>
          <p:cNvSpPr txBox="1"/>
          <p:nvPr/>
        </p:nvSpPr>
        <p:spPr>
          <a:xfrm>
            <a:off x="640080" y="4919472"/>
            <a:ext cx="10881360" cy="411480"/>
          </a:xfrm>
          <a:prstGeom prst="rect">
            <a:avLst/>
          </a:prstGeom>
          <a:noFill/>
        </p:spPr>
        <p:txBody>
          <a:bodyPr wrap="square">
            <a:spAutoFit/>
          </a:bodyPr>
          <a:lstStyle/>
          <a:p>
            <a:pPr algn="l"/>
            <a:r>
              <a:rPr sz="1800" b="1">
                <a:solidFill>
                  <a:srgbClr val="E8A000"/>
                </a:solidFill>
                <a:latin typeface="Bricolage Grotesque"/>
              </a:rPr>
              <a:t>Votre méthode tient. Il reste à choisir un seul endroit où travailler.</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143000"/>
          </a:xfrm>
          <a:prstGeom prst="rect">
            <a:avLst/>
          </a:prstGeom>
          <a:ln>
            <a:noFill/>
          </a:ln>
          <a:gradFill>
            <a:gsLst>
              <a:gs pos="0">
                <a:srgbClr val="0A2530"/>
              </a:gs>
              <a:gs pos="100000">
                <a:srgbClr val="1E5565"/>
              </a:gs>
            </a:gsLst>
            <a:lin ang="0" scaled="1"/>
          </a:gra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143000"/>
            <a:ext cx="12191695" cy="18288"/>
          </a:xfrm>
          <a:prstGeom prst="rect">
            <a:avLst/>
          </a:prstGeom>
          <a:solidFill>
            <a:srgbClr val="E8A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182880"/>
            <a:ext cx="10515600" cy="822960"/>
          </a:xfrm>
          <a:prstGeom prst="rect">
            <a:avLst/>
          </a:prstGeom>
          <a:noFill/>
        </p:spPr>
        <p:txBody>
          <a:bodyPr wrap="square">
            <a:spAutoFit/>
          </a:bodyPr>
          <a:lstStyle/>
          <a:p>
            <a:pPr algn="l"/>
            <a:r>
              <a:rPr sz="3400" b="1">
                <a:solidFill>
                  <a:srgbClr val="FFFFFF"/>
                </a:solidFill>
                <a:latin typeface="Bricolage Grotesque"/>
              </a:rPr>
              <a:t>Corriger un visuel de ChatGPT</a:t>
            </a:r>
          </a:p>
        </p:txBody>
      </p:sp>
      <p:sp>
        <p:nvSpPr>
          <p:cNvPr id="5" name="TextBox 4"/>
          <p:cNvSpPr txBox="1"/>
          <p:nvPr/>
        </p:nvSpPr>
        <p:spPr>
          <a:xfrm>
            <a:off x="640080" y="1463040"/>
            <a:ext cx="10515600" cy="640080"/>
          </a:xfrm>
          <a:prstGeom prst="rect">
            <a:avLst/>
          </a:prstGeom>
          <a:noFill/>
        </p:spPr>
        <p:txBody>
          <a:bodyPr wrap="square">
            <a:spAutoFit/>
          </a:bodyPr>
          <a:lstStyle/>
          <a:p>
            <a:pPr algn="l"/>
            <a:r>
              <a:rPr sz="2600" b="1">
                <a:solidFill>
                  <a:srgbClr val="1A1A1A"/>
                </a:solidFill>
                <a:latin typeface="Bricolage Grotesque"/>
              </a:rPr>
              <a:t>Votre méthode, à garder telle quelle</a:t>
            </a:r>
          </a:p>
        </p:txBody>
      </p:sp>
      <p:sp>
        <p:nvSpPr>
          <p:cNvPr id="6" name="Rounded Rectangle 5"/>
          <p:cNvSpPr/>
          <p:nvPr/>
        </p:nvSpPr>
        <p:spPr>
          <a:xfrm>
            <a:off x="640080" y="2743200"/>
            <a:ext cx="2331720" cy="777240"/>
          </a:xfrm>
          <a:prstGeom prst="roundRect">
            <a:avLst/>
          </a:prstGeom>
          <a:solidFill>
            <a:srgbClr val="1B5E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31520" y="2907792"/>
            <a:ext cx="2148840" cy="502920"/>
          </a:xfrm>
          <a:prstGeom prst="rect">
            <a:avLst/>
          </a:prstGeom>
          <a:noFill/>
        </p:spPr>
        <p:txBody>
          <a:bodyPr wrap="square">
            <a:spAutoFit/>
          </a:bodyPr>
          <a:lstStyle/>
          <a:p>
            <a:pPr algn="ctr"/>
            <a:r>
              <a:rPr sz="1400" b="1">
                <a:solidFill>
                  <a:srgbClr val="FFFFFF"/>
                </a:solidFill>
                <a:latin typeface="Bricolage Grotesque"/>
              </a:rPr>
              <a:t>1. ChatGPT
crée le visuel</a:t>
            </a:r>
          </a:p>
        </p:txBody>
      </p:sp>
      <p:sp>
        <p:nvSpPr>
          <p:cNvPr id="8" name="TextBox 7"/>
          <p:cNvSpPr txBox="1"/>
          <p:nvPr/>
        </p:nvSpPr>
        <p:spPr>
          <a:xfrm>
            <a:off x="3008376" y="2926080"/>
            <a:ext cx="310896" cy="457200"/>
          </a:xfrm>
          <a:prstGeom prst="rect">
            <a:avLst/>
          </a:prstGeom>
          <a:noFill/>
        </p:spPr>
        <p:txBody>
          <a:bodyPr wrap="square">
            <a:spAutoFit/>
          </a:bodyPr>
          <a:lstStyle/>
          <a:p>
            <a:pPr algn="ctr"/>
            <a:r>
              <a:rPr sz="2200" b="1">
                <a:solidFill>
                  <a:srgbClr val="E8A000"/>
                </a:solidFill>
                <a:latin typeface="Bricolage Grotesque"/>
              </a:rPr>
              <a:t>→</a:t>
            </a:r>
          </a:p>
        </p:txBody>
      </p:sp>
      <p:sp>
        <p:nvSpPr>
          <p:cNvPr id="9" name="Rounded Rectangle 8"/>
          <p:cNvSpPr/>
          <p:nvPr/>
        </p:nvSpPr>
        <p:spPr>
          <a:xfrm>
            <a:off x="3355848" y="2743200"/>
            <a:ext cx="2331720" cy="777240"/>
          </a:xfrm>
          <a:prstGeom prst="roundRect">
            <a:avLst/>
          </a:prstGeom>
          <a:solidFill>
            <a:srgbClr val="1E556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447288" y="2907792"/>
            <a:ext cx="2148840" cy="502920"/>
          </a:xfrm>
          <a:prstGeom prst="rect">
            <a:avLst/>
          </a:prstGeom>
          <a:noFill/>
        </p:spPr>
        <p:txBody>
          <a:bodyPr wrap="square">
            <a:spAutoFit/>
          </a:bodyPr>
          <a:lstStyle/>
          <a:p>
            <a:pPr algn="ctr"/>
            <a:r>
              <a:rPr sz="1400" b="1">
                <a:solidFill>
                  <a:srgbClr val="FFFFFF"/>
                </a:solidFill>
                <a:latin typeface="Bricolage Grotesque"/>
              </a:rPr>
              <a:t>2. Canva
le rend modifiable</a:t>
            </a:r>
          </a:p>
        </p:txBody>
      </p:sp>
      <p:sp>
        <p:nvSpPr>
          <p:cNvPr id="11" name="TextBox 10"/>
          <p:cNvSpPr txBox="1"/>
          <p:nvPr/>
        </p:nvSpPr>
        <p:spPr>
          <a:xfrm>
            <a:off x="5724144" y="2926080"/>
            <a:ext cx="310896" cy="457200"/>
          </a:xfrm>
          <a:prstGeom prst="rect">
            <a:avLst/>
          </a:prstGeom>
          <a:noFill/>
        </p:spPr>
        <p:txBody>
          <a:bodyPr wrap="square">
            <a:spAutoFit/>
          </a:bodyPr>
          <a:lstStyle/>
          <a:p>
            <a:pPr algn="ctr"/>
            <a:r>
              <a:rPr sz="2200" b="1">
                <a:solidFill>
                  <a:srgbClr val="E8A000"/>
                </a:solidFill>
                <a:latin typeface="Bricolage Grotesque"/>
              </a:rPr>
              <a:t>→</a:t>
            </a:r>
          </a:p>
        </p:txBody>
      </p:sp>
      <p:sp>
        <p:nvSpPr>
          <p:cNvPr id="12" name="Rounded Rectangle 11"/>
          <p:cNvSpPr/>
          <p:nvPr/>
        </p:nvSpPr>
        <p:spPr>
          <a:xfrm>
            <a:off x="6071616" y="2743200"/>
            <a:ext cx="2331720" cy="777240"/>
          </a:xfrm>
          <a:prstGeom prst="roundRect">
            <a:avLst/>
          </a:prstGeom>
          <a:solidFill>
            <a:srgbClr val="1B5E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163056" y="2907792"/>
            <a:ext cx="2148840" cy="502920"/>
          </a:xfrm>
          <a:prstGeom prst="rect">
            <a:avLst/>
          </a:prstGeom>
          <a:noFill/>
        </p:spPr>
        <p:txBody>
          <a:bodyPr wrap="square">
            <a:spAutoFit/>
          </a:bodyPr>
          <a:lstStyle/>
          <a:p>
            <a:pPr algn="ctr"/>
            <a:r>
              <a:rPr sz="1400" b="1">
                <a:solidFill>
                  <a:srgbClr val="FFFFFF"/>
                </a:solidFill>
                <a:latin typeface="Bricolage Grotesque"/>
              </a:rPr>
              <a:t>3. Corriger
un seul élément</a:t>
            </a:r>
          </a:p>
        </p:txBody>
      </p:sp>
      <p:sp>
        <p:nvSpPr>
          <p:cNvPr id="14" name="TextBox 13"/>
          <p:cNvSpPr txBox="1"/>
          <p:nvPr/>
        </p:nvSpPr>
        <p:spPr>
          <a:xfrm>
            <a:off x="8439912" y="2926080"/>
            <a:ext cx="310896" cy="457200"/>
          </a:xfrm>
          <a:prstGeom prst="rect">
            <a:avLst/>
          </a:prstGeom>
          <a:noFill/>
        </p:spPr>
        <p:txBody>
          <a:bodyPr wrap="square">
            <a:spAutoFit/>
          </a:bodyPr>
          <a:lstStyle/>
          <a:p>
            <a:pPr algn="ctr"/>
            <a:r>
              <a:rPr sz="2200" b="1">
                <a:solidFill>
                  <a:srgbClr val="E8A000"/>
                </a:solidFill>
                <a:latin typeface="Bricolage Grotesque"/>
              </a:rPr>
              <a:t>→</a:t>
            </a:r>
          </a:p>
        </p:txBody>
      </p:sp>
      <p:sp>
        <p:nvSpPr>
          <p:cNvPr id="15" name="Rounded Rectangle 14"/>
          <p:cNvSpPr/>
          <p:nvPr/>
        </p:nvSpPr>
        <p:spPr>
          <a:xfrm>
            <a:off x="8787384" y="2743200"/>
            <a:ext cx="2331720" cy="777240"/>
          </a:xfrm>
          <a:prstGeom prst="roundRect">
            <a:avLst/>
          </a:prstGeom>
          <a:solidFill>
            <a:srgbClr val="1E556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878824" y="2907792"/>
            <a:ext cx="2148840" cy="502920"/>
          </a:xfrm>
          <a:prstGeom prst="rect">
            <a:avLst/>
          </a:prstGeom>
          <a:noFill/>
        </p:spPr>
        <p:txBody>
          <a:bodyPr wrap="square">
            <a:spAutoFit/>
          </a:bodyPr>
          <a:lstStyle/>
          <a:p>
            <a:pPr algn="ctr"/>
            <a:r>
              <a:rPr sz="1400" b="1">
                <a:solidFill>
                  <a:srgbClr val="FFFFFF"/>
                </a:solidFill>
                <a:latin typeface="Bricolage Grotesque"/>
              </a:rPr>
              <a:t>4. Vérifier
dans l'éditeur</a:t>
            </a:r>
          </a:p>
        </p:txBody>
      </p:sp>
      <p:sp>
        <p:nvSpPr>
          <p:cNvPr id="17" name="TextBox 16"/>
          <p:cNvSpPr txBox="1"/>
          <p:nvPr/>
        </p:nvSpPr>
        <p:spPr>
          <a:xfrm>
            <a:off x="640080" y="4114800"/>
            <a:ext cx="10972800" cy="411480"/>
          </a:xfrm>
          <a:prstGeom prst="rect">
            <a:avLst/>
          </a:prstGeom>
          <a:noFill/>
        </p:spPr>
        <p:txBody>
          <a:bodyPr wrap="square">
            <a:spAutoFit/>
          </a:bodyPr>
          <a:lstStyle/>
          <a:p>
            <a:pPr algn="l"/>
            <a:r>
              <a:rPr sz="1800" b="1">
                <a:solidFill>
                  <a:srgbClr val="1B5E6B"/>
                </a:solidFill>
                <a:latin typeface="Bricolage Grotesque"/>
              </a:rPr>
              <a:t>Gardez l'image intacte : ne rendez modifiable que ce qui doit changer.</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143000"/>
          </a:xfrm>
          <a:prstGeom prst="rect">
            <a:avLst/>
          </a:prstGeom>
          <a:ln>
            <a:noFill/>
          </a:ln>
          <a:gradFill>
            <a:gsLst>
              <a:gs pos="0">
                <a:srgbClr val="0A2530"/>
              </a:gs>
              <a:gs pos="100000">
                <a:srgbClr val="1E5565"/>
              </a:gs>
            </a:gsLst>
            <a:lin ang="0" scaled="1"/>
          </a:gra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143000"/>
            <a:ext cx="12191695" cy="18288"/>
          </a:xfrm>
          <a:prstGeom prst="rect">
            <a:avLst/>
          </a:prstGeom>
          <a:solidFill>
            <a:srgbClr val="E8A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182880"/>
            <a:ext cx="10515600" cy="822960"/>
          </a:xfrm>
          <a:prstGeom prst="rect">
            <a:avLst/>
          </a:prstGeom>
          <a:noFill/>
        </p:spPr>
        <p:txBody>
          <a:bodyPr wrap="square">
            <a:spAutoFit/>
          </a:bodyPr>
          <a:lstStyle/>
          <a:p>
            <a:pPr algn="l"/>
            <a:r>
              <a:rPr sz="3400" b="1">
                <a:solidFill>
                  <a:srgbClr val="FFFFFF"/>
                </a:solidFill>
                <a:latin typeface="Bricolage Grotesque"/>
              </a:rPr>
              <a:t>Qui fait quoi, désormais</a:t>
            </a:r>
          </a:p>
        </p:txBody>
      </p:sp>
      <p:sp>
        <p:nvSpPr>
          <p:cNvPr id="5" name="Rectangle 4"/>
          <p:cNvSpPr/>
          <p:nvPr/>
        </p:nvSpPr>
        <p:spPr>
          <a:xfrm>
            <a:off x="5897880" y="1554480"/>
            <a:ext cx="27432" cy="2926080"/>
          </a:xfrm>
          <a:prstGeom prst="rect">
            <a:avLst/>
          </a:prstGeom>
          <a:solidFill>
            <a:srgbClr val="E8A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40080" y="1554480"/>
            <a:ext cx="5029200" cy="411480"/>
          </a:xfrm>
          <a:prstGeom prst="rect">
            <a:avLst/>
          </a:prstGeom>
          <a:noFill/>
        </p:spPr>
        <p:txBody>
          <a:bodyPr wrap="square">
            <a:spAutoFit/>
          </a:bodyPr>
          <a:lstStyle/>
          <a:p>
            <a:pPr algn="l"/>
            <a:r>
              <a:rPr sz="2100" b="1">
                <a:solidFill>
                  <a:srgbClr val="1B5E6B"/>
                </a:solidFill>
                <a:latin typeface="Bricolage Grotesque"/>
              </a:rPr>
              <a:t>Claude Pro, appli ordinateur</a:t>
            </a:r>
          </a:p>
        </p:txBody>
      </p:sp>
      <p:sp>
        <p:nvSpPr>
          <p:cNvPr id="7" name="TextBox 6"/>
          <p:cNvSpPr txBox="1"/>
          <p:nvPr/>
        </p:nvSpPr>
        <p:spPr>
          <a:xfrm>
            <a:off x="640080" y="2148840"/>
            <a:ext cx="5120640" cy="384048"/>
          </a:xfrm>
          <a:prstGeom prst="rect">
            <a:avLst/>
          </a:prstGeom>
          <a:noFill/>
        </p:spPr>
        <p:txBody>
          <a:bodyPr wrap="square">
            <a:spAutoFit/>
          </a:bodyPr>
          <a:lstStyle/>
          <a:p>
            <a:pPr algn="l"/>
            <a:r>
              <a:rPr sz="1800" b="0">
                <a:solidFill>
                  <a:srgbClr val="333333"/>
                </a:solidFill>
                <a:latin typeface="Bricolage Grotesque"/>
              </a:rPr>
              <a:t>Rédiger : mails, courriers, CV</a:t>
            </a:r>
          </a:p>
        </p:txBody>
      </p:sp>
      <p:sp>
        <p:nvSpPr>
          <p:cNvPr id="8" name="TextBox 7"/>
          <p:cNvSpPr txBox="1"/>
          <p:nvPr/>
        </p:nvSpPr>
        <p:spPr>
          <a:xfrm>
            <a:off x="640080" y="2624328"/>
            <a:ext cx="5120640" cy="384048"/>
          </a:xfrm>
          <a:prstGeom prst="rect">
            <a:avLst/>
          </a:prstGeom>
          <a:noFill/>
        </p:spPr>
        <p:txBody>
          <a:bodyPr wrap="square">
            <a:spAutoFit/>
          </a:bodyPr>
          <a:lstStyle/>
          <a:p>
            <a:pPr algn="l"/>
            <a:r>
              <a:rPr sz="1800" b="0">
                <a:solidFill>
                  <a:srgbClr val="333333"/>
                </a:solidFill>
                <a:latin typeface="Bricolage Grotesque"/>
              </a:rPr>
              <a:t>Analyser : offres, documents</a:t>
            </a:r>
          </a:p>
        </p:txBody>
      </p:sp>
      <p:sp>
        <p:nvSpPr>
          <p:cNvPr id="9" name="TextBox 8"/>
          <p:cNvSpPr txBox="1"/>
          <p:nvPr/>
        </p:nvSpPr>
        <p:spPr>
          <a:xfrm>
            <a:off x="640080" y="3099816"/>
            <a:ext cx="5120640" cy="384048"/>
          </a:xfrm>
          <a:prstGeom prst="rect">
            <a:avLst/>
          </a:prstGeom>
          <a:noFill/>
        </p:spPr>
        <p:txBody>
          <a:bodyPr wrap="square">
            <a:spAutoFit/>
          </a:bodyPr>
          <a:lstStyle/>
          <a:p>
            <a:pPr algn="l"/>
            <a:r>
              <a:rPr sz="1800" b="0">
                <a:solidFill>
                  <a:srgbClr val="333333"/>
                </a:solidFill>
                <a:latin typeface="Bricolage Grotesque"/>
              </a:rPr>
              <a:t>Tableaux : Excel, avec l'add-in</a:t>
            </a:r>
          </a:p>
        </p:txBody>
      </p:sp>
      <p:sp>
        <p:nvSpPr>
          <p:cNvPr id="10" name="TextBox 9"/>
          <p:cNvSpPr txBox="1"/>
          <p:nvPr/>
        </p:nvSpPr>
        <p:spPr>
          <a:xfrm>
            <a:off x="640080" y="3575304"/>
            <a:ext cx="5120640" cy="384048"/>
          </a:xfrm>
          <a:prstGeom prst="rect">
            <a:avLst/>
          </a:prstGeom>
          <a:noFill/>
        </p:spPr>
        <p:txBody>
          <a:bodyPr wrap="square">
            <a:spAutoFit/>
          </a:bodyPr>
          <a:lstStyle/>
          <a:p>
            <a:pPr algn="l"/>
            <a:r>
              <a:rPr sz="1800" b="0">
                <a:solidFill>
                  <a:srgbClr val="333333"/>
                </a:solidFill>
                <a:latin typeface="Bricolage Grotesque"/>
              </a:rPr>
              <a:t>Canva : par le connecteur</a:t>
            </a:r>
          </a:p>
        </p:txBody>
      </p:sp>
      <p:sp>
        <p:nvSpPr>
          <p:cNvPr id="11" name="TextBox 10"/>
          <p:cNvSpPr txBox="1"/>
          <p:nvPr/>
        </p:nvSpPr>
        <p:spPr>
          <a:xfrm>
            <a:off x="640080" y="4050791"/>
            <a:ext cx="5120640" cy="384048"/>
          </a:xfrm>
          <a:prstGeom prst="rect">
            <a:avLst/>
          </a:prstGeom>
          <a:noFill/>
        </p:spPr>
        <p:txBody>
          <a:bodyPr wrap="square">
            <a:spAutoFit/>
          </a:bodyPr>
          <a:lstStyle/>
          <a:p>
            <a:pPr algn="l"/>
            <a:r>
              <a:rPr sz="1800" b="0">
                <a:solidFill>
                  <a:srgbClr val="333333"/>
                </a:solidFill>
                <a:latin typeface="Bricolage Grotesque"/>
              </a:rPr>
              <a:t>Projets, skills et Cowork</a:t>
            </a:r>
          </a:p>
        </p:txBody>
      </p:sp>
      <p:sp>
        <p:nvSpPr>
          <p:cNvPr id="12" name="TextBox 11"/>
          <p:cNvSpPr txBox="1"/>
          <p:nvPr/>
        </p:nvSpPr>
        <p:spPr>
          <a:xfrm>
            <a:off x="6172200" y="1554480"/>
            <a:ext cx="5029200" cy="411480"/>
          </a:xfrm>
          <a:prstGeom prst="rect">
            <a:avLst/>
          </a:prstGeom>
          <a:noFill/>
        </p:spPr>
        <p:txBody>
          <a:bodyPr wrap="square">
            <a:spAutoFit/>
          </a:bodyPr>
          <a:lstStyle/>
          <a:p>
            <a:pPr algn="l"/>
            <a:r>
              <a:rPr sz="2100" b="1">
                <a:solidFill>
                  <a:srgbClr val="1B5E6B"/>
                </a:solidFill>
                <a:latin typeface="Bricolage Grotesque"/>
              </a:rPr>
              <a:t>ChatGPT Go, appli ordinateur</a:t>
            </a:r>
          </a:p>
        </p:txBody>
      </p:sp>
      <p:sp>
        <p:nvSpPr>
          <p:cNvPr id="13" name="TextBox 12"/>
          <p:cNvSpPr txBox="1"/>
          <p:nvPr/>
        </p:nvSpPr>
        <p:spPr>
          <a:xfrm>
            <a:off x="6172200" y="2148840"/>
            <a:ext cx="5120640" cy="384048"/>
          </a:xfrm>
          <a:prstGeom prst="rect">
            <a:avLst/>
          </a:prstGeom>
          <a:noFill/>
        </p:spPr>
        <p:txBody>
          <a:bodyPr wrap="square">
            <a:spAutoFit/>
          </a:bodyPr>
          <a:lstStyle/>
          <a:p>
            <a:pPr algn="l"/>
            <a:r>
              <a:rPr sz="1800" b="0">
                <a:solidFill>
                  <a:srgbClr val="333333"/>
                </a:solidFill>
                <a:latin typeface="Bricolage Grotesque"/>
              </a:rPr>
              <a:t>Générer un visuel</a:t>
            </a:r>
          </a:p>
        </p:txBody>
      </p:sp>
      <p:sp>
        <p:nvSpPr>
          <p:cNvPr id="14" name="TextBox 13"/>
          <p:cNvSpPr txBox="1"/>
          <p:nvPr/>
        </p:nvSpPr>
        <p:spPr>
          <a:xfrm>
            <a:off x="6172200" y="2624328"/>
            <a:ext cx="5120640" cy="384048"/>
          </a:xfrm>
          <a:prstGeom prst="rect">
            <a:avLst/>
          </a:prstGeom>
          <a:noFill/>
        </p:spPr>
        <p:txBody>
          <a:bodyPr wrap="square">
            <a:spAutoFit/>
          </a:bodyPr>
          <a:lstStyle/>
          <a:p>
            <a:pPr algn="l"/>
            <a:r>
              <a:rPr sz="1800" b="0">
                <a:solidFill>
                  <a:srgbClr val="333333"/>
                </a:solidFill>
                <a:latin typeface="Bricolage Grotesque"/>
              </a:rPr>
              <a:t>Le retoucher avec « Modifier »</a:t>
            </a:r>
          </a:p>
        </p:txBody>
      </p:sp>
      <p:sp>
        <p:nvSpPr>
          <p:cNvPr id="15" name="TextBox 14"/>
          <p:cNvSpPr txBox="1"/>
          <p:nvPr/>
        </p:nvSpPr>
        <p:spPr>
          <a:xfrm>
            <a:off x="6172200" y="3099816"/>
            <a:ext cx="5120640" cy="384048"/>
          </a:xfrm>
          <a:prstGeom prst="rect">
            <a:avLst/>
          </a:prstGeom>
          <a:noFill/>
        </p:spPr>
        <p:txBody>
          <a:bodyPr wrap="square">
            <a:spAutoFit/>
          </a:bodyPr>
          <a:lstStyle/>
          <a:p>
            <a:pPr algn="l"/>
            <a:r>
              <a:rPr sz="1800" b="0">
                <a:solidFill>
                  <a:srgbClr val="333333"/>
                </a:solidFill>
                <a:latin typeface="Bricolage Grotesque"/>
              </a:rPr>
              <a:t>L'enregistrer : clic droit sur l'image</a:t>
            </a:r>
          </a:p>
        </p:txBody>
      </p:sp>
      <p:sp>
        <p:nvSpPr>
          <p:cNvPr id="16" name="TextBox 15"/>
          <p:cNvSpPr txBox="1"/>
          <p:nvPr/>
        </p:nvSpPr>
        <p:spPr>
          <a:xfrm>
            <a:off x="6172200" y="3575304"/>
            <a:ext cx="5120640" cy="384048"/>
          </a:xfrm>
          <a:prstGeom prst="rect">
            <a:avLst/>
          </a:prstGeom>
          <a:noFill/>
        </p:spPr>
        <p:txBody>
          <a:bodyPr wrap="square">
            <a:spAutoFit/>
          </a:bodyPr>
          <a:lstStyle/>
          <a:p>
            <a:pPr algn="l"/>
            <a:r>
              <a:rPr sz="1800" b="0">
                <a:solidFill>
                  <a:srgbClr val="333333"/>
                </a:solidFill>
                <a:latin typeface="Bricolage Grotesque"/>
              </a:rPr>
              <a:t>Rester en mode Chat pour les images</a:t>
            </a:r>
          </a:p>
        </p:txBody>
      </p:sp>
      <p:sp>
        <p:nvSpPr>
          <p:cNvPr id="17" name="TextBox 16"/>
          <p:cNvSpPr txBox="1"/>
          <p:nvPr/>
        </p:nvSpPr>
        <p:spPr>
          <a:xfrm>
            <a:off x="640080" y="4663440"/>
            <a:ext cx="10881360" cy="411480"/>
          </a:xfrm>
          <a:prstGeom prst="rect">
            <a:avLst/>
          </a:prstGeom>
          <a:noFill/>
        </p:spPr>
        <p:txBody>
          <a:bodyPr wrap="square">
            <a:spAutoFit/>
          </a:bodyPr>
          <a:lstStyle/>
          <a:p>
            <a:pPr algn="l"/>
            <a:r>
              <a:rPr sz="1800" b="1">
                <a:solidFill>
                  <a:srgbClr val="E8A000"/>
                </a:solidFill>
                <a:latin typeface="Bricolage Grotesque"/>
              </a:rPr>
              <a:t>Un outil par usage, une interface par outil : vous ne cherchez plus.</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143000"/>
          </a:xfrm>
          <a:prstGeom prst="rect">
            <a:avLst/>
          </a:prstGeom>
          <a:ln>
            <a:noFill/>
          </a:ln>
          <a:gradFill>
            <a:gsLst>
              <a:gs pos="0">
                <a:srgbClr val="0A2530"/>
              </a:gs>
              <a:gs pos="100000">
                <a:srgbClr val="1E5565"/>
              </a:gs>
            </a:gsLst>
            <a:lin ang="0" scaled="1"/>
          </a:gra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143000"/>
            <a:ext cx="12191695" cy="18288"/>
          </a:xfrm>
          <a:prstGeom prst="rect">
            <a:avLst/>
          </a:prstGeom>
          <a:solidFill>
            <a:srgbClr val="E8A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182880"/>
            <a:ext cx="10515600" cy="822960"/>
          </a:xfrm>
          <a:prstGeom prst="rect">
            <a:avLst/>
          </a:prstGeom>
          <a:noFill/>
        </p:spPr>
        <p:txBody>
          <a:bodyPr wrap="square">
            <a:spAutoFit/>
          </a:bodyPr>
          <a:lstStyle/>
          <a:p>
            <a:pPr algn="l"/>
            <a:r>
              <a:rPr sz="3400" b="1">
                <a:solidFill>
                  <a:srgbClr val="FFFFFF"/>
                </a:solidFill>
                <a:latin typeface="Bricolage Grotesque"/>
              </a:rPr>
              <a:t>Gemini : vos deux questions</a:t>
            </a:r>
          </a:p>
        </p:txBody>
      </p:sp>
      <p:sp>
        <p:nvSpPr>
          <p:cNvPr id="5" name="TextBox 4"/>
          <p:cNvSpPr txBox="1"/>
          <p:nvPr/>
        </p:nvSpPr>
        <p:spPr>
          <a:xfrm>
            <a:off x="640080" y="1554480"/>
            <a:ext cx="10881360" cy="411480"/>
          </a:xfrm>
          <a:prstGeom prst="rect">
            <a:avLst/>
          </a:prstGeom>
          <a:noFill/>
        </p:spPr>
        <p:txBody>
          <a:bodyPr wrap="square">
            <a:spAutoFit/>
          </a:bodyPr>
          <a:lstStyle/>
          <a:p>
            <a:r>
              <a:rPr sz="2000" b="1">
                <a:solidFill>
                  <a:srgbClr val="1B5E6B"/>
                </a:solidFill>
                <a:latin typeface="Bricolage Grotesque"/>
              </a:rPr>
              <a:t>Activité coupée = plus d'historique : vous avez bien lu.</a:t>
            </a:r>
          </a:p>
        </p:txBody>
      </p:sp>
      <p:sp>
        <p:nvSpPr>
          <p:cNvPr id="6" name="TextBox 5"/>
          <p:cNvSpPr txBox="1"/>
          <p:nvPr/>
        </p:nvSpPr>
        <p:spPr>
          <a:xfrm>
            <a:off x="640080" y="2075688"/>
            <a:ext cx="10881360" cy="411480"/>
          </a:xfrm>
          <a:prstGeom prst="rect">
            <a:avLst/>
          </a:prstGeom>
          <a:noFill/>
        </p:spPr>
        <p:txBody>
          <a:bodyPr wrap="square">
            <a:spAutoFit/>
          </a:bodyPr>
          <a:lstStyle/>
          <a:p>
            <a:r>
              <a:rPr sz="2000" b="0">
                <a:solidFill>
                  <a:srgbClr val="333333"/>
                </a:solidFill>
                <a:latin typeface="Bricolage Grotesque"/>
              </a:rPr>
              <a:t>Un seul réglage couvre l'historique et l'entraînement.</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143000"/>
          </a:xfrm>
          <a:prstGeom prst="rect">
            <a:avLst/>
          </a:prstGeom>
          <a:ln>
            <a:noFill/>
          </a:ln>
          <a:gradFill>
            <a:gsLst>
              <a:gs pos="0">
                <a:srgbClr val="0A2530"/>
              </a:gs>
              <a:gs pos="100000">
                <a:srgbClr val="1E5565"/>
              </a:gs>
            </a:gsLst>
            <a:lin ang="0" scaled="1"/>
          </a:gra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143000"/>
            <a:ext cx="12191695" cy="18288"/>
          </a:xfrm>
          <a:prstGeom prst="rect">
            <a:avLst/>
          </a:prstGeom>
          <a:solidFill>
            <a:srgbClr val="E8A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182880"/>
            <a:ext cx="10515600" cy="822960"/>
          </a:xfrm>
          <a:prstGeom prst="rect">
            <a:avLst/>
          </a:prstGeom>
          <a:noFill/>
        </p:spPr>
        <p:txBody>
          <a:bodyPr wrap="square">
            <a:spAutoFit/>
          </a:bodyPr>
          <a:lstStyle/>
          <a:p>
            <a:pPr algn="l"/>
            <a:r>
              <a:rPr sz="3400" b="1">
                <a:solidFill>
                  <a:srgbClr val="FFFFFF"/>
                </a:solidFill>
                <a:latin typeface="Bricolage Grotesque"/>
              </a:rPr>
              <a:t>Gemini : vos deux questions</a:t>
            </a:r>
          </a:p>
        </p:txBody>
      </p:sp>
      <p:sp>
        <p:nvSpPr>
          <p:cNvPr id="5" name="TextBox 4"/>
          <p:cNvSpPr txBox="1"/>
          <p:nvPr/>
        </p:nvSpPr>
        <p:spPr>
          <a:xfrm>
            <a:off x="640080" y="1554480"/>
            <a:ext cx="10881360" cy="411480"/>
          </a:xfrm>
          <a:prstGeom prst="rect">
            <a:avLst/>
          </a:prstGeom>
          <a:noFill/>
        </p:spPr>
        <p:txBody>
          <a:bodyPr wrap="square">
            <a:spAutoFit/>
          </a:bodyPr>
          <a:lstStyle/>
          <a:p>
            <a:r>
              <a:rPr sz="2000" b="1">
                <a:solidFill>
                  <a:srgbClr val="1B5E6B"/>
                </a:solidFill>
                <a:latin typeface="Bricolage Grotesque"/>
              </a:rPr>
              <a:t>Activité coupée = plus d'historique : vous avez bien lu.</a:t>
            </a:r>
          </a:p>
        </p:txBody>
      </p:sp>
      <p:sp>
        <p:nvSpPr>
          <p:cNvPr id="6" name="TextBox 5"/>
          <p:cNvSpPr txBox="1"/>
          <p:nvPr/>
        </p:nvSpPr>
        <p:spPr>
          <a:xfrm>
            <a:off x="640080" y="2075688"/>
            <a:ext cx="10881360" cy="411480"/>
          </a:xfrm>
          <a:prstGeom prst="rect">
            <a:avLst/>
          </a:prstGeom>
          <a:noFill/>
        </p:spPr>
        <p:txBody>
          <a:bodyPr wrap="square">
            <a:spAutoFit/>
          </a:bodyPr>
          <a:lstStyle/>
          <a:p>
            <a:r>
              <a:rPr sz="2000" b="0">
                <a:solidFill>
                  <a:srgbClr val="333333"/>
                </a:solidFill>
                <a:latin typeface="Bricolage Grotesque"/>
              </a:rPr>
              <a:t>Un seul réglage couvre l'historique et l'entraînement.</a:t>
            </a:r>
          </a:p>
        </p:txBody>
      </p:sp>
      <p:sp>
        <p:nvSpPr>
          <p:cNvPr id="7" name="TextBox 6"/>
          <p:cNvSpPr txBox="1"/>
          <p:nvPr/>
        </p:nvSpPr>
        <p:spPr>
          <a:xfrm>
            <a:off x="640080" y="2834640"/>
            <a:ext cx="10881360" cy="411480"/>
          </a:xfrm>
          <a:prstGeom prst="rect">
            <a:avLst/>
          </a:prstGeom>
          <a:noFill/>
        </p:spPr>
        <p:txBody>
          <a:bodyPr wrap="square">
            <a:spAutoFit/>
          </a:bodyPr>
          <a:lstStyle/>
          <a:p>
            <a:r>
              <a:rPr sz="2000" b="1">
                <a:solidFill>
                  <a:srgbClr val="1B5E6B"/>
                </a:solidFill>
                <a:latin typeface="Bricolage Grotesque"/>
              </a:rPr>
              <a:t>« Validation de Mon activité » : un mot de passe en plus</a:t>
            </a:r>
          </a:p>
        </p:txBody>
      </p:sp>
      <p:sp>
        <p:nvSpPr>
          <p:cNvPr id="8" name="TextBox 7"/>
          <p:cNvSpPr txBox="1"/>
          <p:nvPr/>
        </p:nvSpPr>
        <p:spPr>
          <a:xfrm>
            <a:off x="640080" y="3355848"/>
            <a:ext cx="10881360" cy="411480"/>
          </a:xfrm>
          <a:prstGeom prst="rect">
            <a:avLst/>
          </a:prstGeom>
          <a:noFill/>
        </p:spPr>
        <p:txBody>
          <a:bodyPr wrap="square">
            <a:spAutoFit/>
          </a:bodyPr>
          <a:lstStyle/>
          <a:p>
            <a:r>
              <a:rPr sz="2000" b="0">
                <a:solidFill>
                  <a:srgbClr val="333333"/>
                </a:solidFill>
                <a:latin typeface="Bricolage Grotesque"/>
              </a:rPr>
              <a:t>pour consulter votre historique. Rien à voir avec l'entraînement.</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143000"/>
          </a:xfrm>
          <a:prstGeom prst="rect">
            <a:avLst/>
          </a:prstGeom>
          <a:ln>
            <a:noFill/>
          </a:ln>
          <a:gradFill>
            <a:gsLst>
              <a:gs pos="0">
                <a:srgbClr val="0A2530"/>
              </a:gs>
              <a:gs pos="100000">
                <a:srgbClr val="1E5565"/>
              </a:gs>
            </a:gsLst>
            <a:lin ang="0" scaled="1"/>
          </a:gra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143000"/>
            <a:ext cx="12191695" cy="18288"/>
          </a:xfrm>
          <a:prstGeom prst="rect">
            <a:avLst/>
          </a:prstGeom>
          <a:solidFill>
            <a:srgbClr val="E8A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182880"/>
            <a:ext cx="10515600" cy="822960"/>
          </a:xfrm>
          <a:prstGeom prst="rect">
            <a:avLst/>
          </a:prstGeom>
          <a:noFill/>
        </p:spPr>
        <p:txBody>
          <a:bodyPr wrap="square">
            <a:spAutoFit/>
          </a:bodyPr>
          <a:lstStyle/>
          <a:p>
            <a:pPr algn="l"/>
            <a:r>
              <a:rPr sz="3400" b="1">
                <a:solidFill>
                  <a:srgbClr val="FFFFFF"/>
                </a:solidFill>
                <a:latin typeface="Bricolage Grotesque"/>
              </a:rPr>
              <a:t>Gemini : vos deux questions</a:t>
            </a:r>
          </a:p>
        </p:txBody>
      </p:sp>
      <p:sp>
        <p:nvSpPr>
          <p:cNvPr id="5" name="TextBox 4"/>
          <p:cNvSpPr txBox="1"/>
          <p:nvPr/>
        </p:nvSpPr>
        <p:spPr>
          <a:xfrm>
            <a:off x="640080" y="1554480"/>
            <a:ext cx="10881360" cy="411480"/>
          </a:xfrm>
          <a:prstGeom prst="rect">
            <a:avLst/>
          </a:prstGeom>
          <a:noFill/>
        </p:spPr>
        <p:txBody>
          <a:bodyPr wrap="square">
            <a:spAutoFit/>
          </a:bodyPr>
          <a:lstStyle/>
          <a:p>
            <a:r>
              <a:rPr sz="2000" b="1">
                <a:solidFill>
                  <a:srgbClr val="1B5E6B"/>
                </a:solidFill>
                <a:latin typeface="Bricolage Grotesque"/>
              </a:rPr>
              <a:t>Activité coupée = plus d'historique : vous avez bien lu.</a:t>
            </a:r>
          </a:p>
        </p:txBody>
      </p:sp>
      <p:sp>
        <p:nvSpPr>
          <p:cNvPr id="6" name="TextBox 5"/>
          <p:cNvSpPr txBox="1"/>
          <p:nvPr/>
        </p:nvSpPr>
        <p:spPr>
          <a:xfrm>
            <a:off x="640080" y="2075688"/>
            <a:ext cx="10881360" cy="411480"/>
          </a:xfrm>
          <a:prstGeom prst="rect">
            <a:avLst/>
          </a:prstGeom>
          <a:noFill/>
        </p:spPr>
        <p:txBody>
          <a:bodyPr wrap="square">
            <a:spAutoFit/>
          </a:bodyPr>
          <a:lstStyle/>
          <a:p>
            <a:r>
              <a:rPr sz="2000" b="0">
                <a:solidFill>
                  <a:srgbClr val="333333"/>
                </a:solidFill>
                <a:latin typeface="Bricolage Grotesque"/>
              </a:rPr>
              <a:t>Un seul réglage couvre l'historique et l'entraînement.</a:t>
            </a:r>
          </a:p>
        </p:txBody>
      </p:sp>
      <p:sp>
        <p:nvSpPr>
          <p:cNvPr id="7" name="TextBox 6"/>
          <p:cNvSpPr txBox="1"/>
          <p:nvPr/>
        </p:nvSpPr>
        <p:spPr>
          <a:xfrm>
            <a:off x="640080" y="2834640"/>
            <a:ext cx="10881360" cy="411480"/>
          </a:xfrm>
          <a:prstGeom prst="rect">
            <a:avLst/>
          </a:prstGeom>
          <a:noFill/>
        </p:spPr>
        <p:txBody>
          <a:bodyPr wrap="square">
            <a:spAutoFit/>
          </a:bodyPr>
          <a:lstStyle/>
          <a:p>
            <a:r>
              <a:rPr sz="2000" b="1">
                <a:solidFill>
                  <a:srgbClr val="1B5E6B"/>
                </a:solidFill>
                <a:latin typeface="Bricolage Grotesque"/>
              </a:rPr>
              <a:t>« Validation de Mon activité » : un mot de passe en plus</a:t>
            </a:r>
          </a:p>
        </p:txBody>
      </p:sp>
      <p:sp>
        <p:nvSpPr>
          <p:cNvPr id="8" name="TextBox 7"/>
          <p:cNvSpPr txBox="1"/>
          <p:nvPr/>
        </p:nvSpPr>
        <p:spPr>
          <a:xfrm>
            <a:off x="640080" y="3355848"/>
            <a:ext cx="10881360" cy="411480"/>
          </a:xfrm>
          <a:prstGeom prst="rect">
            <a:avLst/>
          </a:prstGeom>
          <a:noFill/>
        </p:spPr>
        <p:txBody>
          <a:bodyPr wrap="square">
            <a:spAutoFit/>
          </a:bodyPr>
          <a:lstStyle/>
          <a:p>
            <a:r>
              <a:rPr sz="2000" b="0">
                <a:solidFill>
                  <a:srgbClr val="333333"/>
                </a:solidFill>
                <a:latin typeface="Bricolage Grotesque"/>
              </a:rPr>
              <a:t>pour consulter votre historique. Rien à voir avec l'entraînement.</a:t>
            </a:r>
          </a:p>
        </p:txBody>
      </p:sp>
      <p:sp>
        <p:nvSpPr>
          <p:cNvPr id="9" name="TextBox 8"/>
          <p:cNvSpPr txBox="1"/>
          <p:nvPr/>
        </p:nvSpPr>
        <p:spPr>
          <a:xfrm>
            <a:off x="640080" y="4114800"/>
            <a:ext cx="10881360" cy="411480"/>
          </a:xfrm>
          <a:prstGeom prst="rect">
            <a:avLst/>
          </a:prstGeom>
          <a:noFill/>
        </p:spPr>
        <p:txBody>
          <a:bodyPr wrap="square">
            <a:spAutoFit/>
          </a:bodyPr>
          <a:lstStyle/>
          <a:p>
            <a:r>
              <a:rPr sz="2000" b="1">
                <a:solidFill>
                  <a:srgbClr val="1B5E6B"/>
                </a:solidFill>
                <a:latin typeface="Bricolage Grotesque"/>
              </a:rPr>
              <a:t>Donc : Gemini pour des images, jamais pour une donnée personnelle.</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2B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640080" y="1965960"/>
            <a:ext cx="2743200" cy="36576"/>
          </a:xfrm>
          <a:prstGeom prst="rect">
            <a:avLst/>
          </a:prstGeom>
          <a:solidFill>
            <a:srgbClr val="E8A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1371600"/>
            <a:ext cx="10515600" cy="731520"/>
          </a:xfrm>
          <a:prstGeom prst="rect">
            <a:avLst/>
          </a:prstGeom>
          <a:noFill/>
        </p:spPr>
        <p:txBody>
          <a:bodyPr wrap="square">
            <a:spAutoFit/>
          </a:bodyPr>
          <a:lstStyle/>
          <a:p>
            <a:pPr algn="l"/>
            <a:r>
              <a:rPr sz="2200" b="1">
                <a:solidFill>
                  <a:srgbClr val="E8A000"/>
                </a:solidFill>
                <a:latin typeface="Bricolage Grotesque"/>
              </a:rPr>
              <a:t>Séquence 3</a:t>
            </a:r>
          </a:p>
        </p:txBody>
      </p:sp>
      <p:sp>
        <p:nvSpPr>
          <p:cNvPr id="5" name="TextBox 4"/>
          <p:cNvSpPr txBox="1"/>
          <p:nvPr/>
        </p:nvSpPr>
        <p:spPr>
          <a:xfrm>
            <a:off x="640080" y="2286000"/>
            <a:ext cx="10698480" cy="1645920"/>
          </a:xfrm>
          <a:prstGeom prst="rect">
            <a:avLst/>
          </a:prstGeom>
          <a:noFill/>
        </p:spPr>
        <p:txBody>
          <a:bodyPr wrap="square">
            <a:spAutoFit/>
          </a:bodyPr>
          <a:lstStyle/>
          <a:p>
            <a:pPr algn="l"/>
            <a:r>
              <a:rPr sz="4200" b="1">
                <a:solidFill>
                  <a:srgbClr val="FFFFFF"/>
                </a:solidFill>
                <a:latin typeface="Bricolage Grotesque"/>
              </a:rPr>
              <a:t>Claude Pro : vos questions</a:t>
            </a:r>
          </a:p>
        </p:txBody>
      </p:sp>
      <p:sp>
        <p:nvSpPr>
          <p:cNvPr id="6" name="TextBox 5"/>
          <p:cNvSpPr txBox="1"/>
          <p:nvPr/>
        </p:nvSpPr>
        <p:spPr>
          <a:xfrm>
            <a:off x="640080" y="4023360"/>
            <a:ext cx="10515600" cy="731520"/>
          </a:xfrm>
          <a:prstGeom prst="rect">
            <a:avLst/>
          </a:prstGeom>
          <a:noFill/>
        </p:spPr>
        <p:txBody>
          <a:bodyPr wrap="square">
            <a:spAutoFit/>
          </a:bodyPr>
          <a:lstStyle/>
          <a:p>
            <a:pPr algn="l"/>
            <a:r>
              <a:rPr sz="2000" b="0">
                <a:solidFill>
                  <a:srgbClr val="5A8A8F"/>
                </a:solidFill>
                <a:latin typeface="Bricolage Grotesque"/>
              </a:rPr>
              <a:t>Vos réglages, votre liste du 19 octobre, vos limites</a:t>
            </a:r>
          </a:p>
        </p:txBody>
      </p:sp>
      <p:pic>
        <p:nvPicPr>
          <p:cNvPr id="7" name="Picture 6" descr="ia-round.png"/>
          <p:cNvPicPr>
            <a:picLocks noChangeAspect="1"/>
          </p:cNvPicPr>
          <p:nvPr/>
        </p:nvPicPr>
        <p:blipFill>
          <a:blip r:embed="rId2"/>
          <a:stretch>
            <a:fillRect/>
          </a:stretch>
        </p:blipFill>
        <p:spPr>
          <a:xfrm>
            <a:off x="457200" y="6217920"/>
            <a:ext cx="320040" cy="320040"/>
          </a:xfrm>
          <a:prstGeom prst="rect">
            <a:avLst/>
          </a:prstGeom>
        </p:spPr>
      </p:pic>
      <p:sp>
        <p:nvSpPr>
          <p:cNvPr id="8" name="TextBox 7"/>
          <p:cNvSpPr txBox="1"/>
          <p:nvPr/>
        </p:nvSpPr>
        <p:spPr>
          <a:xfrm>
            <a:off x="868680" y="6199632"/>
            <a:ext cx="3657600" cy="365760"/>
          </a:xfrm>
          <a:prstGeom prst="rect">
            <a:avLst/>
          </a:prstGeom>
          <a:noFill/>
        </p:spPr>
        <p:txBody>
          <a:bodyPr wrap="square">
            <a:spAutoFit/>
          </a:bodyPr>
          <a:lstStyle/>
          <a:p>
            <a:pPr algn="l"/>
            <a:r>
              <a:rPr sz="1400" b="0">
                <a:solidFill>
                  <a:srgbClr val="FFFFFF"/>
                </a:solidFill>
                <a:latin typeface="Bricolage Grotesque"/>
              </a:rPr>
              <a:t>intelligence academy</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143000"/>
          </a:xfrm>
          <a:prstGeom prst="rect">
            <a:avLst/>
          </a:prstGeom>
          <a:ln>
            <a:noFill/>
          </a:ln>
          <a:gradFill>
            <a:gsLst>
              <a:gs pos="0">
                <a:srgbClr val="0A2530"/>
              </a:gs>
              <a:gs pos="100000">
                <a:srgbClr val="1E5565"/>
              </a:gs>
            </a:gsLst>
            <a:lin ang="0" scaled="1"/>
          </a:gra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143000"/>
            <a:ext cx="12191695" cy="18288"/>
          </a:xfrm>
          <a:prstGeom prst="rect">
            <a:avLst/>
          </a:prstGeom>
          <a:solidFill>
            <a:srgbClr val="E8A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182880"/>
            <a:ext cx="10515600" cy="822960"/>
          </a:xfrm>
          <a:prstGeom prst="rect">
            <a:avLst/>
          </a:prstGeom>
          <a:noFill/>
        </p:spPr>
        <p:txBody>
          <a:bodyPr wrap="square">
            <a:spAutoFit/>
          </a:bodyPr>
          <a:lstStyle/>
          <a:p>
            <a:pPr algn="l"/>
            <a:r>
              <a:rPr sz="3400" b="1">
                <a:solidFill>
                  <a:srgbClr val="FFFFFF"/>
                </a:solidFill>
                <a:latin typeface="Bricolage Grotesque"/>
              </a:rPr>
              <a:t>Trois réglages à vérifier</a:t>
            </a:r>
          </a:p>
        </p:txBody>
      </p:sp>
      <p:sp>
        <p:nvSpPr>
          <p:cNvPr id="5" name="TextBox 4"/>
          <p:cNvSpPr txBox="1"/>
          <p:nvPr/>
        </p:nvSpPr>
        <p:spPr>
          <a:xfrm>
            <a:off x="640080" y="1463040"/>
            <a:ext cx="10515600" cy="640080"/>
          </a:xfrm>
          <a:prstGeom prst="rect">
            <a:avLst/>
          </a:prstGeom>
          <a:noFill/>
        </p:spPr>
        <p:txBody>
          <a:bodyPr wrap="square">
            <a:spAutoFit/>
          </a:bodyPr>
          <a:lstStyle/>
          <a:p>
            <a:pPr algn="l"/>
            <a:r>
              <a:rPr sz="2600" b="1">
                <a:solidFill>
                  <a:srgbClr val="1A1A1A"/>
                </a:solidFill>
                <a:latin typeface="Bricolage Grotesque"/>
              </a:rPr>
              <a:t>Dans les paramètres de Claude, cinq minutes</a:t>
            </a:r>
          </a:p>
        </p:txBody>
      </p:sp>
      <p:sp>
        <p:nvSpPr>
          <p:cNvPr id="6" name="TextBox 5"/>
          <p:cNvSpPr txBox="1"/>
          <p:nvPr/>
        </p:nvSpPr>
        <p:spPr>
          <a:xfrm>
            <a:off x="640080" y="2331720"/>
            <a:ext cx="10881360" cy="411480"/>
          </a:xfrm>
          <a:prstGeom prst="rect">
            <a:avLst/>
          </a:prstGeom>
          <a:noFill/>
        </p:spPr>
        <p:txBody>
          <a:bodyPr wrap="square">
            <a:spAutoFit/>
          </a:bodyPr>
          <a:lstStyle/>
          <a:p>
            <a:r>
              <a:rPr sz="2000" b="1">
                <a:solidFill>
                  <a:srgbClr val="1B5E6B"/>
                </a:solidFill>
                <a:latin typeface="Bricolage Grotesque"/>
              </a:rPr>
              <a:t>☐  Confidentialité : l'aide à l'amélioration des modèles, désactivée.</a:t>
            </a:r>
          </a:p>
        </p:txBody>
      </p:sp>
      <p:sp>
        <p:nvSpPr>
          <p:cNvPr id="7" name="TextBox 6"/>
          <p:cNvSpPr txBox="1"/>
          <p:nvPr/>
        </p:nvSpPr>
        <p:spPr>
          <a:xfrm>
            <a:off x="640080" y="2852928"/>
            <a:ext cx="10881360" cy="411480"/>
          </a:xfrm>
          <a:prstGeom prst="rect">
            <a:avLst/>
          </a:prstGeom>
          <a:noFill/>
        </p:spPr>
        <p:txBody>
          <a:bodyPr wrap="square">
            <a:spAutoFit/>
          </a:bodyPr>
          <a:lstStyle/>
          <a:p>
            <a:r>
              <a:rPr sz="2000" b="0">
                <a:solidFill>
                  <a:srgbClr val="333333"/>
                </a:solidFill>
                <a:latin typeface="Bricolage Grotesque"/>
              </a:rPr>
              <a:t>Vous l'aviez coupée sur le compte gratuit : on vérifie qu'elle l'est encore.</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143000"/>
          </a:xfrm>
          <a:prstGeom prst="rect">
            <a:avLst/>
          </a:prstGeom>
          <a:ln>
            <a:noFill/>
          </a:ln>
          <a:gradFill>
            <a:gsLst>
              <a:gs pos="0">
                <a:srgbClr val="0A2530"/>
              </a:gs>
              <a:gs pos="100000">
                <a:srgbClr val="1E5565"/>
              </a:gs>
            </a:gsLst>
            <a:lin ang="0" scaled="1"/>
          </a:gra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143000"/>
            <a:ext cx="12191695" cy="18288"/>
          </a:xfrm>
          <a:prstGeom prst="rect">
            <a:avLst/>
          </a:prstGeom>
          <a:solidFill>
            <a:srgbClr val="E8A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182880"/>
            <a:ext cx="10515600" cy="822960"/>
          </a:xfrm>
          <a:prstGeom prst="rect">
            <a:avLst/>
          </a:prstGeom>
          <a:noFill/>
        </p:spPr>
        <p:txBody>
          <a:bodyPr wrap="square">
            <a:spAutoFit/>
          </a:bodyPr>
          <a:lstStyle/>
          <a:p>
            <a:pPr algn="l"/>
            <a:r>
              <a:rPr sz="3400" b="1">
                <a:solidFill>
                  <a:srgbClr val="FFFFFF"/>
                </a:solidFill>
                <a:latin typeface="Bricolage Grotesque"/>
              </a:rPr>
              <a:t>Trois réglages à vérifier</a:t>
            </a:r>
          </a:p>
        </p:txBody>
      </p:sp>
      <p:sp>
        <p:nvSpPr>
          <p:cNvPr id="5" name="TextBox 4"/>
          <p:cNvSpPr txBox="1"/>
          <p:nvPr/>
        </p:nvSpPr>
        <p:spPr>
          <a:xfrm>
            <a:off x="640080" y="1463040"/>
            <a:ext cx="10515600" cy="640080"/>
          </a:xfrm>
          <a:prstGeom prst="rect">
            <a:avLst/>
          </a:prstGeom>
          <a:noFill/>
        </p:spPr>
        <p:txBody>
          <a:bodyPr wrap="square">
            <a:spAutoFit/>
          </a:bodyPr>
          <a:lstStyle/>
          <a:p>
            <a:pPr algn="l"/>
            <a:r>
              <a:rPr sz="2600" b="1">
                <a:solidFill>
                  <a:srgbClr val="1A1A1A"/>
                </a:solidFill>
                <a:latin typeface="Bricolage Grotesque"/>
              </a:rPr>
              <a:t>Dans les paramètres de Claude, cinq minutes</a:t>
            </a:r>
          </a:p>
        </p:txBody>
      </p:sp>
      <p:sp>
        <p:nvSpPr>
          <p:cNvPr id="6" name="TextBox 5"/>
          <p:cNvSpPr txBox="1"/>
          <p:nvPr/>
        </p:nvSpPr>
        <p:spPr>
          <a:xfrm>
            <a:off x="640080" y="2331720"/>
            <a:ext cx="10881360" cy="411480"/>
          </a:xfrm>
          <a:prstGeom prst="rect">
            <a:avLst/>
          </a:prstGeom>
          <a:noFill/>
        </p:spPr>
        <p:txBody>
          <a:bodyPr wrap="square">
            <a:spAutoFit/>
          </a:bodyPr>
          <a:lstStyle/>
          <a:p>
            <a:r>
              <a:rPr sz="2000" b="1">
                <a:solidFill>
                  <a:srgbClr val="1B5E6B"/>
                </a:solidFill>
                <a:latin typeface="Bricolage Grotesque"/>
              </a:rPr>
              <a:t>☐  Confidentialité : l'aide à l'amélioration des modèles, désactivée.</a:t>
            </a:r>
          </a:p>
        </p:txBody>
      </p:sp>
      <p:sp>
        <p:nvSpPr>
          <p:cNvPr id="7" name="TextBox 6"/>
          <p:cNvSpPr txBox="1"/>
          <p:nvPr/>
        </p:nvSpPr>
        <p:spPr>
          <a:xfrm>
            <a:off x="640080" y="2852928"/>
            <a:ext cx="10881360" cy="411480"/>
          </a:xfrm>
          <a:prstGeom prst="rect">
            <a:avLst/>
          </a:prstGeom>
          <a:noFill/>
        </p:spPr>
        <p:txBody>
          <a:bodyPr wrap="square">
            <a:spAutoFit/>
          </a:bodyPr>
          <a:lstStyle/>
          <a:p>
            <a:r>
              <a:rPr sz="2000" b="0">
                <a:solidFill>
                  <a:srgbClr val="333333"/>
                </a:solidFill>
                <a:latin typeface="Bricolage Grotesque"/>
              </a:rPr>
              <a:t>Vous l'aviez coupée sur le compte gratuit : on vérifie qu'elle l'est encore.</a:t>
            </a:r>
          </a:p>
        </p:txBody>
      </p:sp>
      <p:sp>
        <p:nvSpPr>
          <p:cNvPr id="8" name="TextBox 7"/>
          <p:cNvSpPr txBox="1"/>
          <p:nvPr/>
        </p:nvSpPr>
        <p:spPr>
          <a:xfrm>
            <a:off x="640080" y="3611880"/>
            <a:ext cx="10881360" cy="411480"/>
          </a:xfrm>
          <a:prstGeom prst="rect">
            <a:avLst/>
          </a:prstGeom>
          <a:noFill/>
        </p:spPr>
        <p:txBody>
          <a:bodyPr wrap="square">
            <a:spAutoFit/>
          </a:bodyPr>
          <a:lstStyle/>
          <a:p>
            <a:r>
              <a:rPr sz="2000" b="1">
                <a:solidFill>
                  <a:srgbClr val="1B5E6B"/>
                </a:solidFill>
                <a:latin typeface="Bricolage Grotesque"/>
              </a:rPr>
              <a:t>☐  Capacités : « Exécution de code et création de fichiers », activée.</a:t>
            </a:r>
          </a:p>
        </p:txBody>
      </p:sp>
      <p:sp>
        <p:nvSpPr>
          <p:cNvPr id="9" name="TextBox 8"/>
          <p:cNvSpPr txBox="1"/>
          <p:nvPr/>
        </p:nvSpPr>
        <p:spPr>
          <a:xfrm>
            <a:off x="640080" y="4133088"/>
            <a:ext cx="10881360" cy="411480"/>
          </a:xfrm>
          <a:prstGeom prst="rect">
            <a:avLst/>
          </a:prstGeom>
          <a:noFill/>
        </p:spPr>
        <p:txBody>
          <a:bodyPr wrap="square">
            <a:spAutoFit/>
          </a:bodyPr>
          <a:lstStyle/>
          <a:p>
            <a:r>
              <a:rPr sz="2000" b="0">
                <a:solidFill>
                  <a:srgbClr val="333333"/>
                </a:solidFill>
                <a:latin typeface="Bricolage Grotesque"/>
              </a:rPr>
              <a:t>C'est ce qui permet à Claude de vous rendre un vrai fichier Excel.</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143000"/>
          </a:xfrm>
          <a:prstGeom prst="rect">
            <a:avLst/>
          </a:prstGeom>
          <a:ln>
            <a:noFill/>
          </a:ln>
          <a:gradFill>
            <a:gsLst>
              <a:gs pos="0">
                <a:srgbClr val="0A2530"/>
              </a:gs>
              <a:gs pos="100000">
                <a:srgbClr val="1E5565"/>
              </a:gs>
            </a:gsLst>
            <a:lin ang="0" scaled="1"/>
          </a:gra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143000"/>
            <a:ext cx="12191695" cy="18288"/>
          </a:xfrm>
          <a:prstGeom prst="rect">
            <a:avLst/>
          </a:prstGeom>
          <a:solidFill>
            <a:srgbClr val="E8A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182880"/>
            <a:ext cx="10515600" cy="822960"/>
          </a:xfrm>
          <a:prstGeom prst="rect">
            <a:avLst/>
          </a:prstGeom>
          <a:noFill/>
        </p:spPr>
        <p:txBody>
          <a:bodyPr wrap="square">
            <a:spAutoFit/>
          </a:bodyPr>
          <a:lstStyle/>
          <a:p>
            <a:pPr algn="l"/>
            <a:r>
              <a:rPr sz="3400" b="1">
                <a:solidFill>
                  <a:srgbClr val="FFFFFF"/>
                </a:solidFill>
                <a:latin typeface="Bricolage Grotesque"/>
              </a:rPr>
              <a:t>Trois réglages à vérifier</a:t>
            </a:r>
          </a:p>
        </p:txBody>
      </p:sp>
      <p:sp>
        <p:nvSpPr>
          <p:cNvPr id="5" name="TextBox 4"/>
          <p:cNvSpPr txBox="1"/>
          <p:nvPr/>
        </p:nvSpPr>
        <p:spPr>
          <a:xfrm>
            <a:off x="640080" y="1463040"/>
            <a:ext cx="10515600" cy="640080"/>
          </a:xfrm>
          <a:prstGeom prst="rect">
            <a:avLst/>
          </a:prstGeom>
          <a:noFill/>
        </p:spPr>
        <p:txBody>
          <a:bodyPr wrap="square">
            <a:spAutoFit/>
          </a:bodyPr>
          <a:lstStyle/>
          <a:p>
            <a:pPr algn="l"/>
            <a:r>
              <a:rPr sz="2600" b="1">
                <a:solidFill>
                  <a:srgbClr val="1A1A1A"/>
                </a:solidFill>
                <a:latin typeface="Bricolage Grotesque"/>
              </a:rPr>
              <a:t>Dans les paramètres de Claude, cinq minutes</a:t>
            </a:r>
          </a:p>
        </p:txBody>
      </p:sp>
      <p:sp>
        <p:nvSpPr>
          <p:cNvPr id="6" name="TextBox 5"/>
          <p:cNvSpPr txBox="1"/>
          <p:nvPr/>
        </p:nvSpPr>
        <p:spPr>
          <a:xfrm>
            <a:off x="640080" y="2331720"/>
            <a:ext cx="10881360" cy="411480"/>
          </a:xfrm>
          <a:prstGeom prst="rect">
            <a:avLst/>
          </a:prstGeom>
          <a:noFill/>
        </p:spPr>
        <p:txBody>
          <a:bodyPr wrap="square">
            <a:spAutoFit/>
          </a:bodyPr>
          <a:lstStyle/>
          <a:p>
            <a:r>
              <a:rPr sz="2000" b="1">
                <a:solidFill>
                  <a:srgbClr val="1B5E6B"/>
                </a:solidFill>
                <a:latin typeface="Bricolage Grotesque"/>
              </a:rPr>
              <a:t>☐  Confidentialité : l'aide à l'amélioration des modèles, désactivée.</a:t>
            </a:r>
          </a:p>
        </p:txBody>
      </p:sp>
      <p:sp>
        <p:nvSpPr>
          <p:cNvPr id="7" name="TextBox 6"/>
          <p:cNvSpPr txBox="1"/>
          <p:nvPr/>
        </p:nvSpPr>
        <p:spPr>
          <a:xfrm>
            <a:off x="640080" y="2852928"/>
            <a:ext cx="10881360" cy="411480"/>
          </a:xfrm>
          <a:prstGeom prst="rect">
            <a:avLst/>
          </a:prstGeom>
          <a:noFill/>
        </p:spPr>
        <p:txBody>
          <a:bodyPr wrap="square">
            <a:spAutoFit/>
          </a:bodyPr>
          <a:lstStyle/>
          <a:p>
            <a:r>
              <a:rPr sz="2000" b="0">
                <a:solidFill>
                  <a:srgbClr val="333333"/>
                </a:solidFill>
                <a:latin typeface="Bricolage Grotesque"/>
              </a:rPr>
              <a:t>Vous l'aviez coupée sur le compte gratuit : on vérifie qu'elle l'est encore.</a:t>
            </a:r>
          </a:p>
        </p:txBody>
      </p:sp>
      <p:sp>
        <p:nvSpPr>
          <p:cNvPr id="8" name="TextBox 7"/>
          <p:cNvSpPr txBox="1"/>
          <p:nvPr/>
        </p:nvSpPr>
        <p:spPr>
          <a:xfrm>
            <a:off x="640080" y="3611880"/>
            <a:ext cx="10881360" cy="411480"/>
          </a:xfrm>
          <a:prstGeom prst="rect">
            <a:avLst/>
          </a:prstGeom>
          <a:noFill/>
        </p:spPr>
        <p:txBody>
          <a:bodyPr wrap="square">
            <a:spAutoFit/>
          </a:bodyPr>
          <a:lstStyle/>
          <a:p>
            <a:r>
              <a:rPr sz="2000" b="1">
                <a:solidFill>
                  <a:srgbClr val="1B5E6B"/>
                </a:solidFill>
                <a:latin typeface="Bricolage Grotesque"/>
              </a:rPr>
              <a:t>☐  Capacités : « Exécution de code et création de fichiers », activée.</a:t>
            </a:r>
          </a:p>
        </p:txBody>
      </p:sp>
      <p:sp>
        <p:nvSpPr>
          <p:cNvPr id="9" name="TextBox 8"/>
          <p:cNvSpPr txBox="1"/>
          <p:nvPr/>
        </p:nvSpPr>
        <p:spPr>
          <a:xfrm>
            <a:off x="640080" y="4133088"/>
            <a:ext cx="10881360" cy="411480"/>
          </a:xfrm>
          <a:prstGeom prst="rect">
            <a:avLst/>
          </a:prstGeom>
          <a:noFill/>
        </p:spPr>
        <p:txBody>
          <a:bodyPr wrap="square">
            <a:spAutoFit/>
          </a:bodyPr>
          <a:lstStyle/>
          <a:p>
            <a:r>
              <a:rPr sz="2000" b="0">
                <a:solidFill>
                  <a:srgbClr val="333333"/>
                </a:solidFill>
                <a:latin typeface="Bricolage Grotesque"/>
              </a:rPr>
              <a:t>C'est ce qui permet à Claude de vous rendre un vrai fichier Excel.</a:t>
            </a:r>
          </a:p>
        </p:txBody>
      </p:sp>
      <p:sp>
        <p:nvSpPr>
          <p:cNvPr id="10" name="TextBox 9"/>
          <p:cNvSpPr txBox="1"/>
          <p:nvPr/>
        </p:nvSpPr>
        <p:spPr>
          <a:xfrm>
            <a:off x="640080" y="4892040"/>
            <a:ext cx="10881360" cy="411480"/>
          </a:xfrm>
          <a:prstGeom prst="rect">
            <a:avLst/>
          </a:prstGeom>
          <a:noFill/>
        </p:spPr>
        <p:txBody>
          <a:bodyPr wrap="square">
            <a:spAutoFit/>
          </a:bodyPr>
          <a:lstStyle/>
          <a:p>
            <a:r>
              <a:rPr sz="2000" b="1">
                <a:solidFill>
                  <a:srgbClr val="1B5E6B"/>
                </a:solidFill>
                <a:latin typeface="Bricolage Grotesque"/>
              </a:rPr>
              <a:t>☐  Le bon compte : l'appli ordinateur affiche bien « Pro ».</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143000"/>
          </a:xfrm>
          <a:prstGeom prst="rect">
            <a:avLst/>
          </a:prstGeom>
          <a:ln>
            <a:noFill/>
          </a:ln>
          <a:gradFill>
            <a:gsLst>
              <a:gs pos="0">
                <a:srgbClr val="0A2530"/>
              </a:gs>
              <a:gs pos="100000">
                <a:srgbClr val="1E5565"/>
              </a:gs>
            </a:gsLst>
            <a:lin ang="0" scaled="1"/>
          </a:gra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143000"/>
            <a:ext cx="12191695" cy="18288"/>
          </a:xfrm>
          <a:prstGeom prst="rect">
            <a:avLst/>
          </a:prstGeom>
          <a:solidFill>
            <a:srgbClr val="E8A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182880"/>
            <a:ext cx="10515600" cy="822960"/>
          </a:xfrm>
          <a:prstGeom prst="rect">
            <a:avLst/>
          </a:prstGeom>
          <a:noFill/>
        </p:spPr>
        <p:txBody>
          <a:bodyPr wrap="square">
            <a:spAutoFit/>
          </a:bodyPr>
          <a:lstStyle/>
          <a:p>
            <a:pPr algn="l"/>
            <a:r>
              <a:rPr sz="3400" b="1">
                <a:solidFill>
                  <a:srgbClr val="FFFFFF"/>
                </a:solidFill>
                <a:latin typeface="Bricolage Grotesque"/>
              </a:rPr>
              <a:t>Les limites du forfait Pro</a:t>
            </a:r>
          </a:p>
        </p:txBody>
      </p:sp>
      <p:sp>
        <p:nvSpPr>
          <p:cNvPr id="5" name="TextBox 4"/>
          <p:cNvSpPr txBox="1"/>
          <p:nvPr/>
        </p:nvSpPr>
        <p:spPr>
          <a:xfrm>
            <a:off x="640080" y="1463040"/>
            <a:ext cx="10515600" cy="640080"/>
          </a:xfrm>
          <a:prstGeom prst="rect">
            <a:avLst/>
          </a:prstGeom>
          <a:noFill/>
        </p:spPr>
        <p:txBody>
          <a:bodyPr wrap="square">
            <a:spAutoFit/>
          </a:bodyPr>
          <a:lstStyle/>
          <a:p>
            <a:pPr algn="l"/>
            <a:r>
              <a:rPr sz="2600" b="1">
                <a:solidFill>
                  <a:srgbClr val="1A1A1A"/>
                </a:solidFill>
                <a:latin typeface="Bricolage Grotesque"/>
              </a:rPr>
              <a:t>Visibles dans Paramètres › Utilisation</a:t>
            </a:r>
          </a:p>
        </p:txBody>
      </p:sp>
      <p:sp>
        <p:nvSpPr>
          <p:cNvPr id="6" name="Rectangle 5"/>
          <p:cNvSpPr/>
          <p:nvPr/>
        </p:nvSpPr>
        <p:spPr>
          <a:xfrm>
            <a:off x="5897880" y="2286000"/>
            <a:ext cx="27432" cy="2450592"/>
          </a:xfrm>
          <a:prstGeom prst="rect">
            <a:avLst/>
          </a:prstGeom>
          <a:solidFill>
            <a:srgbClr val="E8A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0080" y="2286000"/>
            <a:ext cx="5029200" cy="411480"/>
          </a:xfrm>
          <a:prstGeom prst="rect">
            <a:avLst/>
          </a:prstGeom>
          <a:noFill/>
        </p:spPr>
        <p:txBody>
          <a:bodyPr wrap="square">
            <a:spAutoFit/>
          </a:bodyPr>
          <a:lstStyle/>
          <a:p>
            <a:pPr algn="l"/>
            <a:r>
              <a:rPr sz="2100" b="1">
                <a:solidFill>
                  <a:srgbClr val="1B5E6B"/>
                </a:solidFill>
                <a:latin typeface="Bricolage Grotesque"/>
              </a:rPr>
              <a:t>Deux compteurs</a:t>
            </a:r>
          </a:p>
        </p:txBody>
      </p:sp>
      <p:sp>
        <p:nvSpPr>
          <p:cNvPr id="8" name="TextBox 7"/>
          <p:cNvSpPr txBox="1"/>
          <p:nvPr/>
        </p:nvSpPr>
        <p:spPr>
          <a:xfrm>
            <a:off x="640080" y="2880360"/>
            <a:ext cx="5120640" cy="384048"/>
          </a:xfrm>
          <a:prstGeom prst="rect">
            <a:avLst/>
          </a:prstGeom>
          <a:noFill/>
        </p:spPr>
        <p:txBody>
          <a:bodyPr wrap="square">
            <a:spAutoFit/>
          </a:bodyPr>
          <a:lstStyle/>
          <a:p>
            <a:pPr algn="l"/>
            <a:r>
              <a:rPr sz="1800" b="0">
                <a:solidFill>
                  <a:srgbClr val="333333"/>
                </a:solidFill>
                <a:latin typeface="Bricolage Grotesque"/>
              </a:rPr>
              <a:t>Session : remise à zéro toutes les 5 h</a:t>
            </a:r>
          </a:p>
        </p:txBody>
      </p:sp>
      <p:sp>
        <p:nvSpPr>
          <p:cNvPr id="9" name="TextBox 8"/>
          <p:cNvSpPr txBox="1"/>
          <p:nvPr/>
        </p:nvSpPr>
        <p:spPr>
          <a:xfrm>
            <a:off x="640080" y="3355848"/>
            <a:ext cx="5120640" cy="384048"/>
          </a:xfrm>
          <a:prstGeom prst="rect">
            <a:avLst/>
          </a:prstGeom>
          <a:noFill/>
        </p:spPr>
        <p:txBody>
          <a:bodyPr wrap="square">
            <a:spAutoFit/>
          </a:bodyPr>
          <a:lstStyle/>
          <a:p>
            <a:pPr algn="l"/>
            <a:r>
              <a:rPr sz="1800" b="0">
                <a:solidFill>
                  <a:srgbClr val="333333"/>
                </a:solidFill>
                <a:latin typeface="Bricolage Grotesque"/>
              </a:rPr>
              <a:t>Semaine : tous modèles confondus</a:t>
            </a:r>
          </a:p>
        </p:txBody>
      </p:sp>
      <p:sp>
        <p:nvSpPr>
          <p:cNvPr id="10" name="TextBox 9"/>
          <p:cNvSpPr txBox="1"/>
          <p:nvPr/>
        </p:nvSpPr>
        <p:spPr>
          <a:xfrm>
            <a:off x="640080" y="3831335"/>
            <a:ext cx="5120640" cy="384048"/>
          </a:xfrm>
          <a:prstGeom prst="rect">
            <a:avLst/>
          </a:prstGeom>
          <a:noFill/>
        </p:spPr>
        <p:txBody>
          <a:bodyPr wrap="square">
            <a:spAutoFit/>
          </a:bodyPr>
          <a:lstStyle/>
          <a:p>
            <a:pPr algn="l"/>
            <a:r>
              <a:rPr sz="1800" b="0">
                <a:solidFill>
                  <a:srgbClr val="333333"/>
                </a:solidFill>
                <a:latin typeface="Bricolage Grotesque"/>
              </a:rPr>
              <a:t>Web, appli, Excel : même compteur</a:t>
            </a:r>
          </a:p>
        </p:txBody>
      </p:sp>
      <p:sp>
        <p:nvSpPr>
          <p:cNvPr id="11" name="TextBox 10"/>
          <p:cNvSpPr txBox="1"/>
          <p:nvPr/>
        </p:nvSpPr>
        <p:spPr>
          <a:xfrm>
            <a:off x="6172200" y="2286000"/>
            <a:ext cx="5029200" cy="411480"/>
          </a:xfrm>
          <a:prstGeom prst="rect">
            <a:avLst/>
          </a:prstGeom>
          <a:noFill/>
        </p:spPr>
        <p:txBody>
          <a:bodyPr wrap="square">
            <a:spAutoFit/>
          </a:bodyPr>
          <a:lstStyle/>
          <a:p>
            <a:pPr algn="l"/>
            <a:r>
              <a:rPr sz="2100" b="1">
                <a:solidFill>
                  <a:srgbClr val="1B5E6B"/>
                </a:solidFill>
                <a:latin typeface="Bricolage Grotesque"/>
              </a:rPr>
              <a:t>Pour faire durer</a:t>
            </a:r>
          </a:p>
        </p:txBody>
      </p:sp>
      <p:sp>
        <p:nvSpPr>
          <p:cNvPr id="12" name="TextBox 11"/>
          <p:cNvSpPr txBox="1"/>
          <p:nvPr/>
        </p:nvSpPr>
        <p:spPr>
          <a:xfrm>
            <a:off x="6172200" y="2880360"/>
            <a:ext cx="5120640" cy="384048"/>
          </a:xfrm>
          <a:prstGeom prst="rect">
            <a:avLst/>
          </a:prstGeom>
          <a:noFill/>
        </p:spPr>
        <p:txBody>
          <a:bodyPr wrap="square">
            <a:spAutoFit/>
          </a:bodyPr>
          <a:lstStyle/>
          <a:p>
            <a:pPr algn="l"/>
            <a:r>
              <a:rPr sz="1800" b="0">
                <a:solidFill>
                  <a:srgbClr val="333333"/>
                </a:solidFill>
                <a:latin typeface="Bricolage Grotesque"/>
              </a:rPr>
              <a:t>Une conversation par tâche</a:t>
            </a:r>
          </a:p>
        </p:txBody>
      </p:sp>
      <p:sp>
        <p:nvSpPr>
          <p:cNvPr id="13" name="TextBox 12"/>
          <p:cNvSpPr txBox="1"/>
          <p:nvPr/>
        </p:nvSpPr>
        <p:spPr>
          <a:xfrm>
            <a:off x="6172200" y="3355848"/>
            <a:ext cx="5120640" cy="384048"/>
          </a:xfrm>
          <a:prstGeom prst="rect">
            <a:avLst/>
          </a:prstGeom>
          <a:noFill/>
        </p:spPr>
        <p:txBody>
          <a:bodyPr wrap="square">
            <a:spAutoFit/>
          </a:bodyPr>
          <a:lstStyle/>
          <a:p>
            <a:pPr algn="l"/>
            <a:r>
              <a:rPr sz="1800" b="0">
                <a:solidFill>
                  <a:srgbClr val="333333"/>
                </a:solidFill>
                <a:latin typeface="Bricolage Grotesque"/>
              </a:rPr>
              <a:t>Une nouvelle quand ça s'allonge</a:t>
            </a:r>
          </a:p>
        </p:txBody>
      </p:sp>
      <p:sp>
        <p:nvSpPr>
          <p:cNvPr id="14" name="TextBox 13"/>
          <p:cNvSpPr txBox="1"/>
          <p:nvPr/>
        </p:nvSpPr>
        <p:spPr>
          <a:xfrm>
            <a:off x="6172200" y="3831335"/>
            <a:ext cx="5120640" cy="384048"/>
          </a:xfrm>
          <a:prstGeom prst="rect">
            <a:avLst/>
          </a:prstGeom>
          <a:noFill/>
        </p:spPr>
        <p:txBody>
          <a:bodyPr wrap="square">
            <a:spAutoFit/>
          </a:bodyPr>
          <a:lstStyle/>
          <a:p>
            <a:pPr algn="l"/>
            <a:r>
              <a:rPr sz="1800" b="0">
                <a:solidFill>
                  <a:srgbClr val="333333"/>
                </a:solidFill>
                <a:latin typeface="Bricolage Grotesque"/>
              </a:rPr>
              <a:t>Vos documents dans un projet</a:t>
            </a:r>
          </a:p>
        </p:txBody>
      </p:sp>
      <p:sp>
        <p:nvSpPr>
          <p:cNvPr id="15" name="TextBox 14"/>
          <p:cNvSpPr txBox="1"/>
          <p:nvPr/>
        </p:nvSpPr>
        <p:spPr>
          <a:xfrm>
            <a:off x="6172200" y="4306823"/>
            <a:ext cx="5120640" cy="384048"/>
          </a:xfrm>
          <a:prstGeom prst="rect">
            <a:avLst/>
          </a:prstGeom>
          <a:noFill/>
        </p:spPr>
        <p:txBody>
          <a:bodyPr wrap="square">
            <a:spAutoFit/>
          </a:bodyPr>
          <a:lstStyle/>
          <a:p>
            <a:pPr algn="l"/>
            <a:r>
              <a:rPr sz="1800" b="0">
                <a:solidFill>
                  <a:srgbClr val="333333"/>
                </a:solidFill>
                <a:latin typeface="Bricolage Grotesque"/>
              </a:rPr>
              <a:t>Opus pour le difficile, sinon Sonnet</a:t>
            </a:r>
          </a:p>
        </p:txBody>
      </p:sp>
      <p:sp>
        <p:nvSpPr>
          <p:cNvPr id="16" name="TextBox 15"/>
          <p:cNvSpPr txBox="1"/>
          <p:nvPr/>
        </p:nvSpPr>
        <p:spPr>
          <a:xfrm>
            <a:off x="640080" y="4919472"/>
            <a:ext cx="10881360" cy="411480"/>
          </a:xfrm>
          <a:prstGeom prst="rect">
            <a:avLst/>
          </a:prstGeom>
          <a:noFill/>
        </p:spPr>
        <p:txBody>
          <a:bodyPr wrap="square">
            <a:spAutoFit/>
          </a:bodyPr>
          <a:lstStyle/>
          <a:p>
            <a:pPr algn="l"/>
            <a:r>
              <a:rPr sz="1800" b="1">
                <a:solidFill>
                  <a:srgbClr val="E8A000"/>
                </a:solidFill>
                <a:latin typeface="Bricolage Grotesque"/>
              </a:rPr>
              <a:t>Un document rangé dans un projet compte moins que s'il est recollé.</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143000"/>
          </a:xfrm>
          <a:prstGeom prst="rect">
            <a:avLst/>
          </a:prstGeom>
          <a:ln>
            <a:noFill/>
          </a:ln>
          <a:gradFill>
            <a:gsLst>
              <a:gs pos="0">
                <a:srgbClr val="0A2530"/>
              </a:gs>
              <a:gs pos="100000">
                <a:srgbClr val="1E5565"/>
              </a:gs>
            </a:gsLst>
            <a:lin ang="0" scaled="1"/>
          </a:gra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143000"/>
            <a:ext cx="12191695" cy="18288"/>
          </a:xfrm>
          <a:prstGeom prst="rect">
            <a:avLst/>
          </a:prstGeom>
          <a:solidFill>
            <a:srgbClr val="E8A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182880"/>
            <a:ext cx="10515600" cy="822960"/>
          </a:xfrm>
          <a:prstGeom prst="rect">
            <a:avLst/>
          </a:prstGeom>
          <a:noFill/>
        </p:spPr>
        <p:txBody>
          <a:bodyPr wrap="square">
            <a:spAutoFit/>
          </a:bodyPr>
          <a:lstStyle/>
          <a:p>
            <a:pPr algn="l"/>
            <a:r>
              <a:rPr sz="3400" b="1">
                <a:solidFill>
                  <a:srgbClr val="FFFFFF"/>
                </a:solidFill>
                <a:latin typeface="Bricolage Grotesque"/>
              </a:rPr>
              <a:t>Vos questions sur le module</a:t>
            </a:r>
          </a:p>
        </p:txBody>
      </p:sp>
      <p:sp>
        <p:nvSpPr>
          <p:cNvPr id="5" name="Rounded Rectangle 4"/>
          <p:cNvSpPr/>
          <p:nvPr/>
        </p:nvSpPr>
        <p:spPr>
          <a:xfrm>
            <a:off x="640080" y="1463040"/>
            <a:ext cx="7040880" cy="713232"/>
          </a:xfrm>
          <a:prstGeom prst="roundRect">
            <a:avLst/>
          </a:prstGeom>
          <a:solidFill>
            <a:srgbClr val="EDED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68680" y="1618488"/>
            <a:ext cx="6675120" cy="411480"/>
          </a:xfrm>
          <a:prstGeom prst="rect">
            <a:avLst/>
          </a:prstGeom>
          <a:noFill/>
        </p:spPr>
        <p:txBody>
          <a:bodyPr wrap="square">
            <a:spAutoFit/>
          </a:bodyPr>
          <a:lstStyle/>
          <a:p>
            <a:pPr algn="l"/>
            <a:r>
              <a:rPr sz="1900" b="0">
                <a:solidFill>
                  <a:srgbClr val="1A1A1A"/>
                </a:solidFill>
                <a:latin typeface="Bricolage Grotesque"/>
              </a:rPr>
              <a:t>Pas de « Recherche web » dans le menu « + » ?</a:t>
            </a:r>
          </a:p>
        </p:txBody>
      </p:sp>
      <p:sp>
        <p:nvSpPr>
          <p:cNvPr id="7" name="TextBox 6"/>
          <p:cNvSpPr txBox="1"/>
          <p:nvPr/>
        </p:nvSpPr>
        <p:spPr>
          <a:xfrm>
            <a:off x="7726679" y="1572768"/>
            <a:ext cx="457200" cy="457200"/>
          </a:xfrm>
          <a:prstGeom prst="rect">
            <a:avLst/>
          </a:prstGeom>
          <a:noFill/>
        </p:spPr>
        <p:txBody>
          <a:bodyPr wrap="square">
            <a:spAutoFit/>
          </a:bodyPr>
          <a:lstStyle/>
          <a:p>
            <a:pPr algn="ctr"/>
            <a:r>
              <a:rPr sz="2600" b="1">
                <a:solidFill>
                  <a:srgbClr val="E8A000"/>
                </a:solidFill>
                <a:latin typeface="Bricolage Grotesque"/>
              </a:rPr>
              <a:t>→</a:t>
            </a:r>
          </a:p>
        </p:txBody>
      </p:sp>
      <p:sp>
        <p:nvSpPr>
          <p:cNvPr id="8" name="Rounded Rectangle 7"/>
          <p:cNvSpPr/>
          <p:nvPr/>
        </p:nvSpPr>
        <p:spPr>
          <a:xfrm>
            <a:off x="8229600" y="1463040"/>
            <a:ext cx="3291840" cy="713232"/>
          </a:xfrm>
          <a:prstGeom prst="roundRect">
            <a:avLst/>
          </a:prstGeom>
          <a:solidFill>
            <a:srgbClr val="1B5E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321040" y="1627632"/>
            <a:ext cx="3108960" cy="411480"/>
          </a:xfrm>
          <a:prstGeom prst="rect">
            <a:avLst/>
          </a:prstGeom>
          <a:noFill/>
        </p:spPr>
        <p:txBody>
          <a:bodyPr wrap="square">
            <a:spAutoFit/>
          </a:bodyPr>
          <a:lstStyle/>
          <a:p>
            <a:pPr algn="ctr"/>
            <a:r>
              <a:rPr sz="1800" b="1">
                <a:solidFill>
                  <a:srgbClr val="FFFFFF"/>
                </a:solidFill>
                <a:latin typeface="Bricolage Grotesque"/>
              </a:rPr>
              <a:t>Elle est automatique</a:t>
            </a:r>
          </a:p>
        </p:txBody>
      </p:sp>
      <p:sp>
        <p:nvSpPr>
          <p:cNvPr id="10" name="Rounded Rectangle 9"/>
          <p:cNvSpPr/>
          <p:nvPr/>
        </p:nvSpPr>
        <p:spPr>
          <a:xfrm>
            <a:off x="640080" y="2331720"/>
            <a:ext cx="7040880" cy="713232"/>
          </a:xfrm>
          <a:prstGeom prst="roundRect">
            <a:avLst/>
          </a:prstGeom>
          <a:solidFill>
            <a:srgbClr val="EDED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68680" y="2487168"/>
            <a:ext cx="6675120" cy="411480"/>
          </a:xfrm>
          <a:prstGeom prst="rect">
            <a:avLst/>
          </a:prstGeom>
          <a:noFill/>
        </p:spPr>
        <p:txBody>
          <a:bodyPr wrap="square">
            <a:spAutoFit/>
          </a:bodyPr>
          <a:lstStyle/>
          <a:p>
            <a:pPr algn="l"/>
            <a:r>
              <a:rPr sz="1900" b="0">
                <a:solidFill>
                  <a:srgbClr val="1A1A1A"/>
                </a:solidFill>
                <a:latin typeface="Bricolage Grotesque"/>
              </a:rPr>
              <a:t>L'icône Cowork ne fait rien ?</a:t>
            </a:r>
          </a:p>
        </p:txBody>
      </p:sp>
      <p:sp>
        <p:nvSpPr>
          <p:cNvPr id="12" name="TextBox 11"/>
          <p:cNvSpPr txBox="1"/>
          <p:nvPr/>
        </p:nvSpPr>
        <p:spPr>
          <a:xfrm>
            <a:off x="7726679" y="2441448"/>
            <a:ext cx="457200" cy="457200"/>
          </a:xfrm>
          <a:prstGeom prst="rect">
            <a:avLst/>
          </a:prstGeom>
          <a:noFill/>
        </p:spPr>
        <p:txBody>
          <a:bodyPr wrap="square">
            <a:spAutoFit/>
          </a:bodyPr>
          <a:lstStyle/>
          <a:p>
            <a:pPr algn="ctr"/>
            <a:r>
              <a:rPr sz="2600" b="1">
                <a:solidFill>
                  <a:srgbClr val="E8A000"/>
                </a:solidFill>
                <a:latin typeface="Bricolage Grotesque"/>
              </a:rPr>
              <a:t>→</a:t>
            </a:r>
          </a:p>
        </p:txBody>
      </p:sp>
      <p:sp>
        <p:nvSpPr>
          <p:cNvPr id="13" name="Rounded Rectangle 12"/>
          <p:cNvSpPr/>
          <p:nvPr/>
        </p:nvSpPr>
        <p:spPr>
          <a:xfrm>
            <a:off x="8229600" y="2331720"/>
            <a:ext cx="3291840" cy="713232"/>
          </a:xfrm>
          <a:prstGeom prst="roundRect">
            <a:avLst/>
          </a:prstGeom>
          <a:solidFill>
            <a:srgbClr val="1B5E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321040" y="2496312"/>
            <a:ext cx="3108960" cy="411480"/>
          </a:xfrm>
          <a:prstGeom prst="rect">
            <a:avLst/>
          </a:prstGeom>
          <a:noFill/>
        </p:spPr>
        <p:txBody>
          <a:bodyPr wrap="square">
            <a:spAutoFit/>
          </a:bodyPr>
          <a:lstStyle/>
          <a:p>
            <a:pPr algn="ctr"/>
            <a:r>
              <a:rPr sz="1800" b="1">
                <a:solidFill>
                  <a:srgbClr val="FFFFFF"/>
                </a:solidFill>
                <a:latin typeface="Bricolage Grotesque"/>
              </a:rPr>
              <a:t>Demandez, simplement</a:t>
            </a:r>
          </a:p>
        </p:txBody>
      </p:sp>
      <p:sp>
        <p:nvSpPr>
          <p:cNvPr id="15" name="Rounded Rectangle 14"/>
          <p:cNvSpPr/>
          <p:nvPr/>
        </p:nvSpPr>
        <p:spPr>
          <a:xfrm>
            <a:off x="640080" y="3200400"/>
            <a:ext cx="7040880" cy="713232"/>
          </a:xfrm>
          <a:prstGeom prst="roundRect">
            <a:avLst/>
          </a:prstGeom>
          <a:solidFill>
            <a:srgbClr val="EDED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68680" y="3355848"/>
            <a:ext cx="6675120" cy="411480"/>
          </a:xfrm>
          <a:prstGeom prst="rect">
            <a:avLst/>
          </a:prstGeom>
          <a:noFill/>
        </p:spPr>
        <p:txBody>
          <a:bodyPr wrap="square">
            <a:spAutoFit/>
          </a:bodyPr>
          <a:lstStyle/>
          <a:p>
            <a:pPr algn="l"/>
            <a:r>
              <a:rPr sz="1900" b="0">
                <a:solidFill>
                  <a:srgbClr val="1A1A1A"/>
                </a:solidFill>
                <a:latin typeface="Bricolage Grotesque"/>
              </a:rPr>
              <a:t>Excel et PowerPoint : introuvables ?</a:t>
            </a:r>
          </a:p>
        </p:txBody>
      </p:sp>
      <p:sp>
        <p:nvSpPr>
          <p:cNvPr id="17" name="TextBox 16"/>
          <p:cNvSpPr txBox="1"/>
          <p:nvPr/>
        </p:nvSpPr>
        <p:spPr>
          <a:xfrm>
            <a:off x="7726679" y="3310128"/>
            <a:ext cx="457200" cy="457200"/>
          </a:xfrm>
          <a:prstGeom prst="rect">
            <a:avLst/>
          </a:prstGeom>
          <a:noFill/>
        </p:spPr>
        <p:txBody>
          <a:bodyPr wrap="square">
            <a:spAutoFit/>
          </a:bodyPr>
          <a:lstStyle/>
          <a:p>
            <a:pPr algn="ctr"/>
            <a:r>
              <a:rPr sz="2600" b="1">
                <a:solidFill>
                  <a:srgbClr val="E8A000"/>
                </a:solidFill>
                <a:latin typeface="Bricolage Grotesque"/>
              </a:rPr>
              <a:t>→</a:t>
            </a:r>
          </a:p>
        </p:txBody>
      </p:sp>
      <p:sp>
        <p:nvSpPr>
          <p:cNvPr id="18" name="Rounded Rectangle 17"/>
          <p:cNvSpPr/>
          <p:nvPr/>
        </p:nvSpPr>
        <p:spPr>
          <a:xfrm>
            <a:off x="8229600" y="3200400"/>
            <a:ext cx="3291840" cy="713232"/>
          </a:xfrm>
          <a:prstGeom prst="roundRect">
            <a:avLst/>
          </a:prstGeom>
          <a:solidFill>
            <a:srgbClr val="1B5E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321040" y="3364992"/>
            <a:ext cx="3108960" cy="411480"/>
          </a:xfrm>
          <a:prstGeom prst="rect">
            <a:avLst/>
          </a:prstGeom>
          <a:noFill/>
        </p:spPr>
        <p:txBody>
          <a:bodyPr wrap="square">
            <a:spAutoFit/>
          </a:bodyPr>
          <a:lstStyle/>
          <a:p>
            <a:pPr algn="ctr"/>
            <a:r>
              <a:rPr sz="1800" b="1">
                <a:solidFill>
                  <a:srgbClr val="FFFFFF"/>
                </a:solidFill>
                <a:latin typeface="Bricolage Grotesque"/>
              </a:rPr>
              <a:t>Chercher le bon nom</a:t>
            </a:r>
          </a:p>
        </p:txBody>
      </p:sp>
      <p:sp>
        <p:nvSpPr>
          <p:cNvPr id="20" name="Rounded Rectangle 19"/>
          <p:cNvSpPr/>
          <p:nvPr/>
        </p:nvSpPr>
        <p:spPr>
          <a:xfrm>
            <a:off x="640080" y="4069080"/>
            <a:ext cx="7040880" cy="713232"/>
          </a:xfrm>
          <a:prstGeom prst="roundRect">
            <a:avLst/>
          </a:prstGeom>
          <a:solidFill>
            <a:srgbClr val="EDED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68680" y="4224528"/>
            <a:ext cx="6675120" cy="411480"/>
          </a:xfrm>
          <a:prstGeom prst="rect">
            <a:avLst/>
          </a:prstGeom>
          <a:noFill/>
        </p:spPr>
        <p:txBody>
          <a:bodyPr wrap="square">
            <a:spAutoFit/>
          </a:bodyPr>
          <a:lstStyle/>
          <a:p>
            <a:pPr algn="l"/>
            <a:r>
              <a:rPr sz="1900" b="0">
                <a:solidFill>
                  <a:srgbClr val="1A1A1A"/>
                </a:solidFill>
                <a:latin typeface="Bricolage Grotesque"/>
              </a:rPr>
              <a:t>Importer la mémoire de ChatGPT ?</a:t>
            </a:r>
          </a:p>
        </p:txBody>
      </p:sp>
      <p:sp>
        <p:nvSpPr>
          <p:cNvPr id="22" name="TextBox 21"/>
          <p:cNvSpPr txBox="1"/>
          <p:nvPr/>
        </p:nvSpPr>
        <p:spPr>
          <a:xfrm>
            <a:off x="7726679" y="4178808"/>
            <a:ext cx="457200" cy="457200"/>
          </a:xfrm>
          <a:prstGeom prst="rect">
            <a:avLst/>
          </a:prstGeom>
          <a:noFill/>
        </p:spPr>
        <p:txBody>
          <a:bodyPr wrap="square">
            <a:spAutoFit/>
          </a:bodyPr>
          <a:lstStyle/>
          <a:p>
            <a:pPr algn="ctr"/>
            <a:r>
              <a:rPr sz="2600" b="1">
                <a:solidFill>
                  <a:srgbClr val="E8A000"/>
                </a:solidFill>
                <a:latin typeface="Bricolage Grotesque"/>
              </a:rPr>
              <a:t>→</a:t>
            </a:r>
          </a:p>
        </p:txBody>
      </p:sp>
      <p:sp>
        <p:nvSpPr>
          <p:cNvPr id="23" name="Rounded Rectangle 22"/>
          <p:cNvSpPr/>
          <p:nvPr/>
        </p:nvSpPr>
        <p:spPr>
          <a:xfrm>
            <a:off x="8229600" y="4069080"/>
            <a:ext cx="3291840" cy="713232"/>
          </a:xfrm>
          <a:prstGeom prst="roundRect">
            <a:avLst/>
          </a:prstGeom>
          <a:solidFill>
            <a:srgbClr val="1B5E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8321040" y="4233672"/>
            <a:ext cx="3108960" cy="411480"/>
          </a:xfrm>
          <a:prstGeom prst="rect">
            <a:avLst/>
          </a:prstGeom>
          <a:noFill/>
        </p:spPr>
        <p:txBody>
          <a:bodyPr wrap="square">
            <a:spAutoFit/>
          </a:bodyPr>
          <a:lstStyle/>
          <a:p>
            <a:pPr algn="ctr"/>
            <a:r>
              <a:rPr sz="1800" b="1">
                <a:solidFill>
                  <a:srgbClr val="FFFFFF"/>
                </a:solidFill>
                <a:latin typeface="Bricolage Grotesque"/>
              </a:rPr>
              <a:t>Oui, en triant avant</a:t>
            </a:r>
          </a:p>
        </p:txBody>
      </p:sp>
      <p:sp>
        <p:nvSpPr>
          <p:cNvPr id="25" name="TextBox 24"/>
          <p:cNvSpPr txBox="1"/>
          <p:nvPr/>
        </p:nvSpPr>
        <p:spPr>
          <a:xfrm>
            <a:off x="640080" y="5074920"/>
            <a:ext cx="10881360" cy="411480"/>
          </a:xfrm>
          <a:prstGeom prst="rect">
            <a:avLst/>
          </a:prstGeom>
          <a:noFill/>
        </p:spPr>
        <p:txBody>
          <a:bodyPr wrap="square">
            <a:spAutoFit/>
          </a:bodyPr>
          <a:lstStyle/>
          <a:p>
            <a:pPr algn="l"/>
            <a:r>
              <a:rPr sz="1800" b="1">
                <a:solidFill>
                  <a:srgbClr val="1B5E6B"/>
                </a:solidFill>
                <a:latin typeface="Bricolage Grotesque"/>
              </a:rPr>
              <a:t>Le point commun : vous avez la nouvelle version de Claude, sans modes.</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143000"/>
          </a:xfrm>
          <a:prstGeom prst="rect">
            <a:avLst/>
          </a:prstGeom>
          <a:ln>
            <a:noFill/>
          </a:ln>
          <a:gradFill>
            <a:gsLst>
              <a:gs pos="0">
                <a:srgbClr val="0A2530"/>
              </a:gs>
              <a:gs pos="100000">
                <a:srgbClr val="1E5565"/>
              </a:gs>
            </a:gsLst>
            <a:lin ang="0" scaled="1"/>
          </a:gra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143000"/>
            <a:ext cx="12191695" cy="18288"/>
          </a:xfrm>
          <a:prstGeom prst="rect">
            <a:avLst/>
          </a:prstGeom>
          <a:solidFill>
            <a:srgbClr val="E8A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182880"/>
            <a:ext cx="10515600" cy="822960"/>
          </a:xfrm>
          <a:prstGeom prst="rect">
            <a:avLst/>
          </a:prstGeom>
          <a:noFill/>
        </p:spPr>
        <p:txBody>
          <a:bodyPr wrap="square">
            <a:spAutoFit/>
          </a:bodyPr>
          <a:lstStyle/>
          <a:p>
            <a:pPr algn="l"/>
            <a:r>
              <a:rPr sz="3400" b="1">
                <a:solidFill>
                  <a:srgbClr val="FFFFFF"/>
                </a:solidFill>
                <a:latin typeface="Bricolage Grotesque"/>
              </a:rPr>
              <a:t>La nouvelle version de Claude</a:t>
            </a:r>
          </a:p>
        </p:txBody>
      </p:sp>
      <p:sp>
        <p:nvSpPr>
          <p:cNvPr id="5" name="TextBox 4"/>
          <p:cNvSpPr txBox="1"/>
          <p:nvPr/>
        </p:nvSpPr>
        <p:spPr>
          <a:xfrm>
            <a:off x="640080" y="1554480"/>
            <a:ext cx="10881360" cy="411480"/>
          </a:xfrm>
          <a:prstGeom prst="rect">
            <a:avLst/>
          </a:prstGeom>
          <a:noFill/>
        </p:spPr>
        <p:txBody>
          <a:bodyPr wrap="square">
            <a:spAutoFit/>
          </a:bodyPr>
          <a:lstStyle/>
          <a:p>
            <a:r>
              <a:rPr sz="2000" b="1">
                <a:solidFill>
                  <a:srgbClr val="1B5E6B"/>
                </a:solidFill>
                <a:latin typeface="Bricolage Grotesque"/>
              </a:rPr>
              <a:t>Depuis le 16 septembre, Chat et Cowork ne font plus qu'un.</a:t>
            </a:r>
          </a:p>
        </p:txBody>
      </p:sp>
      <p:sp>
        <p:nvSpPr>
          <p:cNvPr id="6" name="TextBox 5"/>
          <p:cNvSpPr txBox="1"/>
          <p:nvPr/>
        </p:nvSpPr>
        <p:spPr>
          <a:xfrm>
            <a:off x="640080" y="2075688"/>
            <a:ext cx="10881360" cy="411480"/>
          </a:xfrm>
          <a:prstGeom prst="rect">
            <a:avLst/>
          </a:prstGeom>
          <a:noFill/>
        </p:spPr>
        <p:txBody>
          <a:bodyPr wrap="square">
            <a:spAutoFit/>
          </a:bodyPr>
          <a:lstStyle/>
          <a:p>
            <a:r>
              <a:rPr sz="2000" b="0">
                <a:solidFill>
                  <a:srgbClr val="333333"/>
                </a:solidFill>
                <a:latin typeface="Bricolage Grotesque"/>
              </a:rPr>
              <a:t>Plus de mode à choisir : décrivez la tâche dans la conversation.</a:t>
            </a:r>
          </a:p>
        </p:txBody>
      </p:sp>
      <p:sp>
        <p:nvSpPr>
          <p:cNvPr id="7" name="TextBox 6"/>
          <p:cNvSpPr txBox="1"/>
          <p:nvPr/>
        </p:nvSpPr>
        <p:spPr>
          <a:xfrm>
            <a:off x="640080" y="2596896"/>
            <a:ext cx="10881360" cy="411480"/>
          </a:xfrm>
          <a:prstGeom prst="rect">
            <a:avLst/>
          </a:prstGeom>
          <a:noFill/>
        </p:spPr>
        <p:txBody>
          <a:bodyPr wrap="square">
            <a:spAutoFit/>
          </a:bodyPr>
          <a:lstStyle/>
          <a:p>
            <a:r>
              <a:rPr sz="2000" b="1">
                <a:solidFill>
                  <a:srgbClr val="1B5E6B"/>
                </a:solidFill>
                <a:latin typeface="Bricolage Grotesque"/>
              </a:rPr>
              <a:t>La recherche web aussi est automatique : plus de bouton dans « + ».</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143000"/>
          </a:xfrm>
          <a:prstGeom prst="rect">
            <a:avLst/>
          </a:prstGeom>
          <a:ln>
            <a:noFill/>
          </a:ln>
          <a:gradFill>
            <a:gsLst>
              <a:gs pos="0">
                <a:srgbClr val="0A2530"/>
              </a:gs>
              <a:gs pos="100000">
                <a:srgbClr val="1E5565"/>
              </a:gs>
            </a:gsLst>
            <a:lin ang="0" scaled="1"/>
          </a:gra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143000"/>
            <a:ext cx="12191695" cy="18288"/>
          </a:xfrm>
          <a:prstGeom prst="rect">
            <a:avLst/>
          </a:prstGeom>
          <a:solidFill>
            <a:srgbClr val="E8A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182880"/>
            <a:ext cx="10515600" cy="822960"/>
          </a:xfrm>
          <a:prstGeom prst="rect">
            <a:avLst/>
          </a:prstGeom>
          <a:noFill/>
        </p:spPr>
        <p:txBody>
          <a:bodyPr wrap="square">
            <a:spAutoFit/>
          </a:bodyPr>
          <a:lstStyle/>
          <a:p>
            <a:pPr algn="l"/>
            <a:r>
              <a:rPr sz="3400" b="1">
                <a:solidFill>
                  <a:srgbClr val="FFFFFF"/>
                </a:solidFill>
                <a:latin typeface="Bricolage Grotesque"/>
              </a:rPr>
              <a:t>La nouvelle version de Claude</a:t>
            </a:r>
          </a:p>
        </p:txBody>
      </p:sp>
      <p:sp>
        <p:nvSpPr>
          <p:cNvPr id="5" name="TextBox 4"/>
          <p:cNvSpPr txBox="1"/>
          <p:nvPr/>
        </p:nvSpPr>
        <p:spPr>
          <a:xfrm>
            <a:off x="640080" y="1554480"/>
            <a:ext cx="10881360" cy="411480"/>
          </a:xfrm>
          <a:prstGeom prst="rect">
            <a:avLst/>
          </a:prstGeom>
          <a:noFill/>
        </p:spPr>
        <p:txBody>
          <a:bodyPr wrap="square">
            <a:spAutoFit/>
          </a:bodyPr>
          <a:lstStyle/>
          <a:p>
            <a:r>
              <a:rPr sz="2000" b="1">
                <a:solidFill>
                  <a:srgbClr val="1B5E6B"/>
                </a:solidFill>
                <a:latin typeface="Bricolage Grotesque"/>
              </a:rPr>
              <a:t>Depuis le 16 septembre, Chat et Cowork ne font plus qu'un.</a:t>
            </a:r>
          </a:p>
        </p:txBody>
      </p:sp>
      <p:sp>
        <p:nvSpPr>
          <p:cNvPr id="6" name="TextBox 5"/>
          <p:cNvSpPr txBox="1"/>
          <p:nvPr/>
        </p:nvSpPr>
        <p:spPr>
          <a:xfrm>
            <a:off x="640080" y="2075688"/>
            <a:ext cx="10881360" cy="411480"/>
          </a:xfrm>
          <a:prstGeom prst="rect">
            <a:avLst/>
          </a:prstGeom>
          <a:noFill/>
        </p:spPr>
        <p:txBody>
          <a:bodyPr wrap="square">
            <a:spAutoFit/>
          </a:bodyPr>
          <a:lstStyle/>
          <a:p>
            <a:r>
              <a:rPr sz="2000" b="0">
                <a:solidFill>
                  <a:srgbClr val="333333"/>
                </a:solidFill>
                <a:latin typeface="Bricolage Grotesque"/>
              </a:rPr>
              <a:t>Plus de mode à choisir : décrivez la tâche dans la conversation.</a:t>
            </a:r>
          </a:p>
        </p:txBody>
      </p:sp>
      <p:sp>
        <p:nvSpPr>
          <p:cNvPr id="7" name="TextBox 6"/>
          <p:cNvSpPr txBox="1"/>
          <p:nvPr/>
        </p:nvSpPr>
        <p:spPr>
          <a:xfrm>
            <a:off x="640080" y="2596896"/>
            <a:ext cx="10881360" cy="411480"/>
          </a:xfrm>
          <a:prstGeom prst="rect">
            <a:avLst/>
          </a:prstGeom>
          <a:noFill/>
        </p:spPr>
        <p:txBody>
          <a:bodyPr wrap="square">
            <a:spAutoFit/>
          </a:bodyPr>
          <a:lstStyle/>
          <a:p>
            <a:r>
              <a:rPr sz="2000" b="1">
                <a:solidFill>
                  <a:srgbClr val="1B5E6B"/>
                </a:solidFill>
                <a:latin typeface="Bricolage Grotesque"/>
              </a:rPr>
              <a:t>La recherche web aussi est automatique : plus de bouton dans « + ».</a:t>
            </a:r>
          </a:p>
        </p:txBody>
      </p:sp>
      <p:sp>
        <p:nvSpPr>
          <p:cNvPr id="8" name="TextBox 7"/>
          <p:cNvSpPr txBox="1"/>
          <p:nvPr/>
        </p:nvSpPr>
        <p:spPr>
          <a:xfrm>
            <a:off x="640080" y="3355848"/>
            <a:ext cx="10881360" cy="411480"/>
          </a:xfrm>
          <a:prstGeom prst="rect">
            <a:avLst/>
          </a:prstGeom>
          <a:noFill/>
        </p:spPr>
        <p:txBody>
          <a:bodyPr wrap="square">
            <a:spAutoFit/>
          </a:bodyPr>
          <a:lstStyle/>
          <a:p>
            <a:r>
              <a:rPr sz="2000" b="1">
                <a:solidFill>
                  <a:srgbClr val="1B5E6B"/>
                </a:solidFill>
                <a:latin typeface="Bricolage Grotesque"/>
              </a:rPr>
              <a:t>L'icône Cowork ne répond pas ? Mettez l'appli à jour.</a:t>
            </a:r>
          </a:p>
        </p:txBody>
      </p:sp>
      <p:sp>
        <p:nvSpPr>
          <p:cNvPr id="9" name="TextBox 8"/>
          <p:cNvSpPr txBox="1"/>
          <p:nvPr/>
        </p:nvSpPr>
        <p:spPr>
          <a:xfrm>
            <a:off x="640080" y="3877056"/>
            <a:ext cx="10881360" cy="411480"/>
          </a:xfrm>
          <a:prstGeom prst="rect">
            <a:avLst/>
          </a:prstGeom>
          <a:noFill/>
        </p:spPr>
        <p:txBody>
          <a:bodyPr wrap="square">
            <a:spAutoFit/>
          </a:bodyPr>
          <a:lstStyle/>
          <a:p>
            <a:r>
              <a:rPr sz="2000" b="0">
                <a:solidFill>
                  <a:srgbClr val="333333"/>
                </a:solidFill>
                <a:latin typeface="Bricolage Grotesque"/>
              </a:rPr>
              <a:t>claude.com/download, puis redémarrez l'appli.</a:t>
            </a:r>
          </a:p>
        </p:txBody>
      </p:sp>
      <p:sp>
        <p:nvSpPr>
          <p:cNvPr id="10" name="TextBox 9"/>
          <p:cNvSpPr txBox="1"/>
          <p:nvPr/>
        </p:nvSpPr>
        <p:spPr>
          <a:xfrm>
            <a:off x="640080" y="4398264"/>
            <a:ext cx="10881360" cy="411480"/>
          </a:xfrm>
          <a:prstGeom prst="rect">
            <a:avLst/>
          </a:prstGeom>
          <a:noFill/>
        </p:spPr>
        <p:txBody>
          <a:bodyPr wrap="square">
            <a:spAutoFit/>
          </a:bodyPr>
          <a:lstStyle/>
          <a:p>
            <a:r>
              <a:rPr sz="2000" b="1">
                <a:solidFill>
                  <a:srgbClr val="1B5E6B"/>
                </a:solidFill>
                <a:latin typeface="Bricolage Grotesque"/>
              </a:rPr>
              <a:t>Windows Pro ? Rien de tel chez Anthropic : Windows 10 ou plus.</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143000"/>
          </a:xfrm>
          <a:prstGeom prst="rect">
            <a:avLst/>
          </a:prstGeom>
          <a:ln>
            <a:noFill/>
          </a:ln>
          <a:gradFill>
            <a:gsLst>
              <a:gs pos="0">
                <a:srgbClr val="0A2530"/>
              </a:gs>
              <a:gs pos="100000">
                <a:srgbClr val="1E5565"/>
              </a:gs>
            </a:gsLst>
            <a:lin ang="0" scaled="1"/>
          </a:gra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143000"/>
            <a:ext cx="12191695" cy="18288"/>
          </a:xfrm>
          <a:prstGeom prst="rect">
            <a:avLst/>
          </a:prstGeom>
          <a:solidFill>
            <a:srgbClr val="E8A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182880"/>
            <a:ext cx="10515600" cy="822960"/>
          </a:xfrm>
          <a:prstGeom prst="rect">
            <a:avLst/>
          </a:prstGeom>
          <a:noFill/>
        </p:spPr>
        <p:txBody>
          <a:bodyPr wrap="square">
            <a:spAutoFit/>
          </a:bodyPr>
          <a:lstStyle/>
          <a:p>
            <a:pPr algn="l"/>
            <a:r>
              <a:rPr sz="3400" b="1">
                <a:solidFill>
                  <a:srgbClr val="FFFFFF"/>
                </a:solidFill>
                <a:latin typeface="Bricolage Grotesque"/>
              </a:rPr>
              <a:t>Votre mémoire Claude</a:t>
            </a:r>
          </a:p>
        </p:txBody>
      </p:sp>
      <p:sp>
        <p:nvSpPr>
          <p:cNvPr id="5" name="TextBox 4"/>
          <p:cNvSpPr txBox="1"/>
          <p:nvPr/>
        </p:nvSpPr>
        <p:spPr>
          <a:xfrm>
            <a:off x="640080" y="1554480"/>
            <a:ext cx="10881360" cy="411480"/>
          </a:xfrm>
          <a:prstGeom prst="rect">
            <a:avLst/>
          </a:prstGeom>
          <a:noFill/>
        </p:spPr>
        <p:txBody>
          <a:bodyPr wrap="square">
            <a:spAutoFit/>
          </a:bodyPr>
          <a:lstStyle/>
          <a:p>
            <a:r>
              <a:rPr sz="2000" b="1">
                <a:solidFill>
                  <a:srgbClr val="1B5E6B"/>
                </a:solidFill>
                <a:latin typeface="Bricolage Grotesque"/>
              </a:rPr>
              <a:t>Générer la mémoire à partir des conversations : bon choix.</a:t>
            </a:r>
          </a:p>
        </p:txBody>
      </p:sp>
      <p:sp>
        <p:nvSpPr>
          <p:cNvPr id="6" name="TextBox 5"/>
          <p:cNvSpPr txBox="1"/>
          <p:nvPr/>
        </p:nvSpPr>
        <p:spPr>
          <a:xfrm>
            <a:off x="640080" y="2075688"/>
            <a:ext cx="10881360" cy="411480"/>
          </a:xfrm>
          <a:prstGeom prst="rect">
            <a:avLst/>
          </a:prstGeom>
          <a:noFill/>
        </p:spPr>
        <p:txBody>
          <a:bodyPr wrap="square">
            <a:spAutoFit/>
          </a:bodyPr>
          <a:lstStyle/>
          <a:p>
            <a:r>
              <a:rPr sz="2000" b="0">
                <a:solidFill>
                  <a:srgbClr val="333333"/>
                </a:solidFill>
                <a:latin typeface="Bricolage Grotesque"/>
              </a:rPr>
              <a:t>Claude retient des sujets ; vous les relisez dans Paramètres › Mémoire.</a:t>
            </a:r>
          </a:p>
        </p:txBody>
      </p:sp>
      <p:sp>
        <p:nvSpPr>
          <p:cNvPr id="7" name="TextBox 6"/>
          <p:cNvSpPr txBox="1"/>
          <p:nvPr/>
        </p:nvSpPr>
        <p:spPr>
          <a:xfrm>
            <a:off x="640080" y="2596896"/>
            <a:ext cx="10881360" cy="411480"/>
          </a:xfrm>
          <a:prstGeom prst="rect">
            <a:avLst/>
          </a:prstGeom>
          <a:noFill/>
        </p:spPr>
        <p:txBody>
          <a:bodyPr wrap="square">
            <a:spAutoFit/>
          </a:bodyPr>
          <a:lstStyle/>
          <a:p>
            <a:r>
              <a:rPr sz="2000" b="0">
                <a:solidFill>
                  <a:srgbClr val="333333"/>
                </a:solidFill>
                <a:latin typeface="Bricolage Grotesque"/>
              </a:rPr>
              <a:t>Santé, religion, politique : jamais retenus, sauf si vous l'activez.</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143000"/>
          </a:xfrm>
          <a:prstGeom prst="rect">
            <a:avLst/>
          </a:prstGeom>
          <a:ln>
            <a:noFill/>
          </a:ln>
          <a:gradFill>
            <a:gsLst>
              <a:gs pos="0">
                <a:srgbClr val="0A2530"/>
              </a:gs>
              <a:gs pos="100000">
                <a:srgbClr val="1E5565"/>
              </a:gs>
            </a:gsLst>
            <a:lin ang="0" scaled="1"/>
          </a:gra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143000"/>
            <a:ext cx="12191695" cy="18288"/>
          </a:xfrm>
          <a:prstGeom prst="rect">
            <a:avLst/>
          </a:prstGeom>
          <a:solidFill>
            <a:srgbClr val="E8A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182880"/>
            <a:ext cx="10515600" cy="822960"/>
          </a:xfrm>
          <a:prstGeom prst="rect">
            <a:avLst/>
          </a:prstGeom>
          <a:noFill/>
        </p:spPr>
        <p:txBody>
          <a:bodyPr wrap="square">
            <a:spAutoFit/>
          </a:bodyPr>
          <a:lstStyle/>
          <a:p>
            <a:pPr algn="l"/>
            <a:r>
              <a:rPr sz="3400" b="1">
                <a:solidFill>
                  <a:srgbClr val="FFFFFF"/>
                </a:solidFill>
                <a:latin typeface="Bricolage Grotesque"/>
              </a:rPr>
              <a:t>Votre mémoire Claude</a:t>
            </a:r>
          </a:p>
        </p:txBody>
      </p:sp>
      <p:sp>
        <p:nvSpPr>
          <p:cNvPr id="5" name="TextBox 4"/>
          <p:cNvSpPr txBox="1"/>
          <p:nvPr/>
        </p:nvSpPr>
        <p:spPr>
          <a:xfrm>
            <a:off x="640080" y="1554480"/>
            <a:ext cx="10881360" cy="411480"/>
          </a:xfrm>
          <a:prstGeom prst="rect">
            <a:avLst/>
          </a:prstGeom>
          <a:noFill/>
        </p:spPr>
        <p:txBody>
          <a:bodyPr wrap="square">
            <a:spAutoFit/>
          </a:bodyPr>
          <a:lstStyle/>
          <a:p>
            <a:r>
              <a:rPr sz="2000" b="1">
                <a:solidFill>
                  <a:srgbClr val="1B5E6B"/>
                </a:solidFill>
                <a:latin typeface="Bricolage Grotesque"/>
              </a:rPr>
              <a:t>Générer la mémoire à partir des conversations : bon choix.</a:t>
            </a:r>
          </a:p>
        </p:txBody>
      </p:sp>
      <p:sp>
        <p:nvSpPr>
          <p:cNvPr id="6" name="TextBox 5"/>
          <p:cNvSpPr txBox="1"/>
          <p:nvPr/>
        </p:nvSpPr>
        <p:spPr>
          <a:xfrm>
            <a:off x="640080" y="2075688"/>
            <a:ext cx="10881360" cy="411480"/>
          </a:xfrm>
          <a:prstGeom prst="rect">
            <a:avLst/>
          </a:prstGeom>
          <a:noFill/>
        </p:spPr>
        <p:txBody>
          <a:bodyPr wrap="square">
            <a:spAutoFit/>
          </a:bodyPr>
          <a:lstStyle/>
          <a:p>
            <a:r>
              <a:rPr sz="2000" b="0">
                <a:solidFill>
                  <a:srgbClr val="333333"/>
                </a:solidFill>
                <a:latin typeface="Bricolage Grotesque"/>
              </a:rPr>
              <a:t>Claude retient des sujets ; vous les relisez dans Paramètres › Mémoire.</a:t>
            </a:r>
          </a:p>
        </p:txBody>
      </p:sp>
      <p:sp>
        <p:nvSpPr>
          <p:cNvPr id="7" name="TextBox 6"/>
          <p:cNvSpPr txBox="1"/>
          <p:nvPr/>
        </p:nvSpPr>
        <p:spPr>
          <a:xfrm>
            <a:off x="640080" y="2596896"/>
            <a:ext cx="10881360" cy="411480"/>
          </a:xfrm>
          <a:prstGeom prst="rect">
            <a:avLst/>
          </a:prstGeom>
          <a:noFill/>
        </p:spPr>
        <p:txBody>
          <a:bodyPr wrap="square">
            <a:spAutoFit/>
          </a:bodyPr>
          <a:lstStyle/>
          <a:p>
            <a:r>
              <a:rPr sz="2000" b="0">
                <a:solidFill>
                  <a:srgbClr val="333333"/>
                </a:solidFill>
                <a:latin typeface="Bricolage Grotesque"/>
              </a:rPr>
              <a:t>Santé, religion, politique : jamais retenus, sauf si vous l'activez.</a:t>
            </a:r>
          </a:p>
        </p:txBody>
      </p:sp>
      <p:sp>
        <p:nvSpPr>
          <p:cNvPr id="8" name="TextBox 7"/>
          <p:cNvSpPr txBox="1"/>
          <p:nvPr/>
        </p:nvSpPr>
        <p:spPr>
          <a:xfrm>
            <a:off x="640080" y="3355848"/>
            <a:ext cx="10881360" cy="411480"/>
          </a:xfrm>
          <a:prstGeom prst="rect">
            <a:avLst/>
          </a:prstGeom>
          <a:noFill/>
        </p:spPr>
        <p:txBody>
          <a:bodyPr wrap="square">
            <a:spAutoFit/>
          </a:bodyPr>
          <a:lstStyle/>
          <a:p>
            <a:r>
              <a:rPr sz="2000" b="1">
                <a:solidFill>
                  <a:srgbClr val="1B5E6B"/>
                </a:solidFill>
                <a:latin typeface="Bricolage Grotesque"/>
              </a:rPr>
              <a:t>Importer la mémoire de ChatGPT : oui, en trois temps.</a:t>
            </a:r>
          </a:p>
        </p:txBody>
      </p:sp>
      <p:sp>
        <p:nvSpPr>
          <p:cNvPr id="9" name="TextBox 8"/>
          <p:cNvSpPr txBox="1"/>
          <p:nvPr/>
        </p:nvSpPr>
        <p:spPr>
          <a:xfrm>
            <a:off x="640080" y="3877056"/>
            <a:ext cx="10881360" cy="411480"/>
          </a:xfrm>
          <a:prstGeom prst="rect">
            <a:avLst/>
          </a:prstGeom>
          <a:noFill/>
        </p:spPr>
        <p:txBody>
          <a:bodyPr wrap="square">
            <a:spAutoFit/>
          </a:bodyPr>
          <a:lstStyle/>
          <a:p>
            <a:r>
              <a:rPr sz="2000" b="0">
                <a:solidFill>
                  <a:srgbClr val="333333"/>
                </a:solidFill>
                <a:latin typeface="Bricolage Grotesque"/>
              </a:rPr>
              <a:t>1. Paramètres › Mémoire › Importer : copiez le prompt dans ChatGPT.</a:t>
            </a:r>
          </a:p>
        </p:txBody>
      </p:sp>
      <p:sp>
        <p:nvSpPr>
          <p:cNvPr id="10" name="TextBox 9"/>
          <p:cNvSpPr txBox="1"/>
          <p:nvPr/>
        </p:nvSpPr>
        <p:spPr>
          <a:xfrm>
            <a:off x="640080" y="4398264"/>
            <a:ext cx="10881360" cy="411480"/>
          </a:xfrm>
          <a:prstGeom prst="rect">
            <a:avLst/>
          </a:prstGeom>
          <a:noFill/>
        </p:spPr>
        <p:txBody>
          <a:bodyPr wrap="square">
            <a:spAutoFit/>
          </a:bodyPr>
          <a:lstStyle/>
          <a:p>
            <a:r>
              <a:rPr sz="2000" b="0">
                <a:solidFill>
                  <a:srgbClr val="333333"/>
                </a:solidFill>
                <a:latin typeface="Bricolage Grotesque"/>
              </a:rPr>
              <a:t>2. Ajoutez-y : « sans rien sur ma santé ni sur ma famille ».</a:t>
            </a:r>
          </a:p>
        </p:txBody>
      </p:sp>
      <p:sp>
        <p:nvSpPr>
          <p:cNvPr id="11" name="TextBox 10"/>
          <p:cNvSpPr txBox="1"/>
          <p:nvPr/>
        </p:nvSpPr>
        <p:spPr>
          <a:xfrm>
            <a:off x="640080" y="4919472"/>
            <a:ext cx="10881360" cy="411480"/>
          </a:xfrm>
          <a:prstGeom prst="rect">
            <a:avLst/>
          </a:prstGeom>
          <a:noFill/>
        </p:spPr>
        <p:txBody>
          <a:bodyPr wrap="square">
            <a:spAutoFit/>
          </a:bodyPr>
          <a:lstStyle/>
          <a:p>
            <a:r>
              <a:rPr sz="2000" b="0">
                <a:solidFill>
                  <a:srgbClr val="333333"/>
                </a:solidFill>
                <a:latin typeface="Bricolage Grotesque"/>
              </a:rPr>
              <a:t>3. Collez la réponse dans Claude, puis relisez les sujets créés.</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2B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914400"/>
            <a:ext cx="10515600" cy="731520"/>
          </a:xfrm>
          <a:prstGeom prst="rect">
            <a:avLst/>
          </a:prstGeom>
          <a:noFill/>
        </p:spPr>
        <p:txBody>
          <a:bodyPr wrap="square">
            <a:spAutoFit/>
          </a:bodyPr>
          <a:lstStyle/>
          <a:p>
            <a:pPr algn="l"/>
            <a:r>
              <a:rPr sz="3600" b="1">
                <a:solidFill>
                  <a:srgbClr val="E8A000"/>
                </a:solidFill>
                <a:latin typeface="Bricolage Grotesque"/>
              </a:rPr>
              <a:t>À retenir</a:t>
            </a:r>
          </a:p>
        </p:txBody>
      </p:sp>
      <p:sp>
        <p:nvSpPr>
          <p:cNvPr id="4" name="TextBox 3"/>
          <p:cNvSpPr txBox="1"/>
          <p:nvPr/>
        </p:nvSpPr>
        <p:spPr>
          <a:xfrm>
            <a:off x="640080" y="1645920"/>
            <a:ext cx="10515600" cy="548640"/>
          </a:xfrm>
          <a:prstGeom prst="rect">
            <a:avLst/>
          </a:prstGeom>
          <a:noFill/>
        </p:spPr>
        <p:txBody>
          <a:bodyPr wrap="square">
            <a:spAutoFit/>
          </a:bodyPr>
          <a:lstStyle/>
          <a:p>
            <a:pPr algn="l"/>
            <a:r>
              <a:rPr sz="1800" b="0">
                <a:solidFill>
                  <a:srgbClr val="5A8A8F"/>
                </a:solidFill>
                <a:latin typeface="Bricolage Grotesque"/>
              </a:rPr>
              <a:t>Claude Pro, vos questions</a:t>
            </a:r>
          </a:p>
        </p:txBody>
      </p:sp>
      <p:sp>
        <p:nvSpPr>
          <p:cNvPr id="5" name="Rectangle 4"/>
          <p:cNvSpPr/>
          <p:nvPr/>
        </p:nvSpPr>
        <p:spPr>
          <a:xfrm>
            <a:off x="640080" y="2286000"/>
            <a:ext cx="2743200" cy="27432"/>
          </a:xfrm>
          <a:prstGeom prst="rect">
            <a:avLst/>
          </a:prstGeom>
          <a:solidFill>
            <a:srgbClr val="E8A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40080" y="2651760"/>
            <a:ext cx="10881360" cy="3383280"/>
          </a:xfrm>
          <a:prstGeom prst="rect">
            <a:avLst/>
          </a:prstGeom>
          <a:noFill/>
        </p:spPr>
        <p:txBody>
          <a:bodyPr wrap="square">
            <a:spAutoFit/>
          </a:bodyPr>
          <a:lstStyle/>
          <a:p>
            <a:pPr>
              <a:spcBef>
                <a:spcPts val="1200"/>
              </a:spcBef>
            </a:pPr>
            <a:r>
              <a:rPr sz="2000">
                <a:solidFill>
                  <a:srgbClr val="FFFFFF"/>
                </a:solidFill>
                <a:latin typeface="Bricolage Grotesque"/>
              </a:rPr>
              <a:t>1.  Claude pour écrire et analyser, ChatGPT pour les images.</a:t>
            </a:r>
          </a:p>
          <a:p>
            <a:pPr>
              <a:spcBef>
                <a:spcPts val="1200"/>
              </a:spcBef>
            </a:pPr>
            <a:r>
              <a:rPr sz="2000">
                <a:solidFill>
                  <a:srgbClr val="FFFFFF"/>
                </a:solidFill>
                <a:latin typeface="Bricolage Grotesque"/>
              </a:rPr>
              <a:t>2.  L'appli ordinateur, pour chaque outil : un seul historique.</a:t>
            </a:r>
          </a:p>
          <a:p>
            <a:pPr>
              <a:spcBef>
                <a:spcPts val="1200"/>
              </a:spcBef>
            </a:pPr>
            <a:r>
              <a:rPr sz="2000">
                <a:solidFill>
                  <a:srgbClr val="FFFFFF"/>
                </a:solidFill>
                <a:latin typeface="Bricolage Grotesque"/>
              </a:rPr>
              <a:t>3.  Plus de mode à choisir : demandez, Claude cherche et agit.</a:t>
            </a:r>
          </a:p>
          <a:p>
            <a:pPr>
              <a:spcBef>
                <a:spcPts val="1200"/>
              </a:spcBef>
            </a:pPr>
            <a:r>
              <a:rPr sz="2000">
                <a:solidFill>
                  <a:srgbClr val="FFFFFF"/>
                </a:solidFill>
                <a:latin typeface="Bricolage Grotesque"/>
              </a:rPr>
              <a:t>4.  La mémoire : importée triée, relue dans Paramètres › Mémoire.</a:t>
            </a:r>
          </a:p>
          <a:p>
            <a:pPr>
              <a:spcBef>
                <a:spcPts val="1200"/>
              </a:spcBef>
            </a:pPr>
            <a:r>
              <a:rPr sz="2000">
                <a:solidFill>
                  <a:srgbClr val="FFFFFF"/>
                </a:solidFill>
                <a:latin typeface="Bricolage Grotesque"/>
              </a:rPr>
              <a:t>5.  Une conversation par tâche, vos documents dans un projet.</a:t>
            </a:r>
          </a:p>
        </p:txBody>
      </p:sp>
      <p:pic>
        <p:nvPicPr>
          <p:cNvPr id="7" name="Picture 6" descr="ia-round.png"/>
          <p:cNvPicPr>
            <a:picLocks noChangeAspect="1"/>
          </p:cNvPicPr>
          <p:nvPr/>
        </p:nvPicPr>
        <p:blipFill>
          <a:blip r:embed="rId2"/>
          <a:stretch>
            <a:fillRect/>
          </a:stretch>
        </p:blipFill>
        <p:spPr>
          <a:xfrm>
            <a:off x="457200" y="6355080"/>
            <a:ext cx="320040" cy="320040"/>
          </a:xfrm>
          <a:prstGeom prst="rect">
            <a:avLst/>
          </a:prstGeom>
        </p:spPr>
      </p:pic>
      <p:sp>
        <p:nvSpPr>
          <p:cNvPr id="8" name="TextBox 7"/>
          <p:cNvSpPr txBox="1"/>
          <p:nvPr/>
        </p:nvSpPr>
        <p:spPr>
          <a:xfrm>
            <a:off x="868680" y="6336792"/>
            <a:ext cx="3657600" cy="365760"/>
          </a:xfrm>
          <a:prstGeom prst="rect">
            <a:avLst/>
          </a:prstGeom>
          <a:noFill/>
        </p:spPr>
        <p:txBody>
          <a:bodyPr wrap="square">
            <a:spAutoFit/>
          </a:bodyPr>
          <a:lstStyle/>
          <a:p>
            <a:pPr algn="l"/>
            <a:r>
              <a:rPr sz="1400" b="0">
                <a:solidFill>
                  <a:srgbClr val="FFFFFF"/>
                </a:solidFill>
                <a:latin typeface="Bricolage Grotesque"/>
              </a:rPr>
              <a:t>intelligence academy</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2B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640080" y="1965960"/>
            <a:ext cx="2743200" cy="36576"/>
          </a:xfrm>
          <a:prstGeom prst="rect">
            <a:avLst/>
          </a:prstGeom>
          <a:solidFill>
            <a:srgbClr val="E8A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1371600"/>
            <a:ext cx="10515600" cy="731520"/>
          </a:xfrm>
          <a:prstGeom prst="rect">
            <a:avLst/>
          </a:prstGeom>
          <a:noFill/>
        </p:spPr>
        <p:txBody>
          <a:bodyPr wrap="square">
            <a:spAutoFit/>
          </a:bodyPr>
          <a:lstStyle/>
          <a:p>
            <a:pPr algn="l"/>
            <a:r>
              <a:rPr sz="2200" b="1">
                <a:solidFill>
                  <a:srgbClr val="E8A000"/>
                </a:solidFill>
                <a:latin typeface="Bricolage Grotesque"/>
              </a:rPr>
              <a:t>Séquence 4</a:t>
            </a:r>
          </a:p>
        </p:txBody>
      </p:sp>
      <p:sp>
        <p:nvSpPr>
          <p:cNvPr id="5" name="TextBox 4"/>
          <p:cNvSpPr txBox="1"/>
          <p:nvPr/>
        </p:nvSpPr>
        <p:spPr>
          <a:xfrm>
            <a:off x="640080" y="2286000"/>
            <a:ext cx="10698480" cy="1645920"/>
          </a:xfrm>
          <a:prstGeom prst="rect">
            <a:avLst/>
          </a:prstGeom>
          <a:noFill/>
        </p:spPr>
        <p:txBody>
          <a:bodyPr wrap="square">
            <a:spAutoFit/>
          </a:bodyPr>
          <a:lstStyle/>
          <a:p>
            <a:pPr algn="l"/>
            <a:r>
              <a:rPr sz="4200" b="1">
                <a:solidFill>
                  <a:srgbClr val="FFFFFF"/>
                </a:solidFill>
                <a:latin typeface="Bricolage Grotesque"/>
              </a:rPr>
              <a:t>Pratique 1 : du Word au tableau de suivi</a:t>
            </a:r>
          </a:p>
        </p:txBody>
      </p:sp>
      <p:sp>
        <p:nvSpPr>
          <p:cNvPr id="6" name="TextBox 5"/>
          <p:cNvSpPr txBox="1"/>
          <p:nvPr/>
        </p:nvSpPr>
        <p:spPr>
          <a:xfrm>
            <a:off x="640080" y="4023360"/>
            <a:ext cx="10515600" cy="731520"/>
          </a:xfrm>
          <a:prstGeom prst="rect">
            <a:avLst/>
          </a:prstGeom>
          <a:noFill/>
        </p:spPr>
        <p:txBody>
          <a:bodyPr wrap="square">
            <a:spAutoFit/>
          </a:bodyPr>
          <a:lstStyle/>
          <a:p>
            <a:pPr algn="l"/>
            <a:r>
              <a:rPr sz="2000" b="0">
                <a:solidFill>
                  <a:srgbClr val="5A8A8F"/>
                </a:solidFill>
                <a:latin typeface="Bricolage Grotesque"/>
              </a:rPr>
              <a:t>Votre liste d'établissements, prête pour les relances</a:t>
            </a:r>
          </a:p>
        </p:txBody>
      </p:sp>
      <p:pic>
        <p:nvPicPr>
          <p:cNvPr id="7" name="Picture 6" descr="ia-round.png"/>
          <p:cNvPicPr>
            <a:picLocks noChangeAspect="1"/>
          </p:cNvPicPr>
          <p:nvPr/>
        </p:nvPicPr>
        <p:blipFill>
          <a:blip r:embed="rId2"/>
          <a:stretch>
            <a:fillRect/>
          </a:stretch>
        </p:blipFill>
        <p:spPr>
          <a:xfrm>
            <a:off x="457200" y="6217920"/>
            <a:ext cx="320040" cy="320040"/>
          </a:xfrm>
          <a:prstGeom prst="rect">
            <a:avLst/>
          </a:prstGeom>
        </p:spPr>
      </p:pic>
      <p:sp>
        <p:nvSpPr>
          <p:cNvPr id="8" name="TextBox 7"/>
          <p:cNvSpPr txBox="1"/>
          <p:nvPr/>
        </p:nvSpPr>
        <p:spPr>
          <a:xfrm>
            <a:off x="868680" y="6199632"/>
            <a:ext cx="3657600" cy="365760"/>
          </a:xfrm>
          <a:prstGeom prst="rect">
            <a:avLst/>
          </a:prstGeom>
          <a:noFill/>
        </p:spPr>
        <p:txBody>
          <a:bodyPr wrap="square">
            <a:spAutoFit/>
          </a:bodyPr>
          <a:lstStyle/>
          <a:p>
            <a:pPr algn="l"/>
            <a:r>
              <a:rPr sz="1400" b="0">
                <a:solidFill>
                  <a:srgbClr val="FFFFFF"/>
                </a:solidFill>
                <a:latin typeface="Bricolage Grotesque"/>
              </a:rPr>
              <a:t>intelligence academy</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143000"/>
          </a:xfrm>
          <a:prstGeom prst="rect">
            <a:avLst/>
          </a:prstGeom>
          <a:ln>
            <a:noFill/>
          </a:ln>
          <a:gradFill>
            <a:gsLst>
              <a:gs pos="0">
                <a:srgbClr val="0A2530"/>
              </a:gs>
              <a:gs pos="100000">
                <a:srgbClr val="1E5565"/>
              </a:gs>
            </a:gsLst>
            <a:lin ang="0" scaled="1"/>
          </a:gra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143000"/>
            <a:ext cx="12191695" cy="18288"/>
          </a:xfrm>
          <a:prstGeom prst="rect">
            <a:avLst/>
          </a:prstGeom>
          <a:solidFill>
            <a:srgbClr val="E8A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182880"/>
            <a:ext cx="10515600" cy="822960"/>
          </a:xfrm>
          <a:prstGeom prst="rect">
            <a:avLst/>
          </a:prstGeom>
          <a:noFill/>
        </p:spPr>
        <p:txBody>
          <a:bodyPr wrap="square">
            <a:spAutoFit/>
          </a:bodyPr>
          <a:lstStyle/>
          <a:p>
            <a:pPr algn="l"/>
            <a:r>
              <a:rPr sz="3400" b="1">
                <a:solidFill>
                  <a:srgbClr val="FFFFFF"/>
                </a:solidFill>
                <a:latin typeface="Bricolage Grotesque"/>
              </a:rPr>
              <a:t>Excel : dans le chat ou dans Excel ?</a:t>
            </a:r>
          </a:p>
        </p:txBody>
      </p:sp>
      <p:sp>
        <p:nvSpPr>
          <p:cNvPr id="5" name="TextBox 4"/>
          <p:cNvSpPr txBox="1"/>
          <p:nvPr/>
        </p:nvSpPr>
        <p:spPr>
          <a:xfrm>
            <a:off x="777240" y="1463040"/>
            <a:ext cx="2194560" cy="365760"/>
          </a:xfrm>
          <a:prstGeom prst="rect">
            <a:avLst/>
          </a:prstGeom>
          <a:noFill/>
        </p:spPr>
        <p:txBody>
          <a:bodyPr wrap="square">
            <a:spAutoFit/>
          </a:bodyPr>
          <a:lstStyle/>
          <a:p>
            <a:pPr algn="l"/>
            <a:r>
              <a:rPr sz="1800" b="1">
                <a:solidFill>
                  <a:srgbClr val="1B5E6B"/>
                </a:solidFill>
                <a:latin typeface="Bricolage Grotesque"/>
              </a:rPr>
              <a:t/>
            </a:r>
          </a:p>
        </p:txBody>
      </p:sp>
      <p:sp>
        <p:nvSpPr>
          <p:cNvPr id="6" name="TextBox 5"/>
          <p:cNvSpPr txBox="1"/>
          <p:nvPr/>
        </p:nvSpPr>
        <p:spPr>
          <a:xfrm>
            <a:off x="3154679" y="1463040"/>
            <a:ext cx="4069080" cy="365760"/>
          </a:xfrm>
          <a:prstGeom prst="rect">
            <a:avLst/>
          </a:prstGeom>
          <a:noFill/>
        </p:spPr>
        <p:txBody>
          <a:bodyPr wrap="square">
            <a:spAutoFit/>
          </a:bodyPr>
          <a:lstStyle/>
          <a:p>
            <a:pPr algn="l"/>
            <a:r>
              <a:rPr sz="1800" b="1">
                <a:solidFill>
                  <a:srgbClr val="1B5E6B"/>
                </a:solidFill>
                <a:latin typeface="Bricolage Grotesque"/>
              </a:rPr>
              <a:t>Dans le chat Claude</a:t>
            </a:r>
          </a:p>
        </p:txBody>
      </p:sp>
      <p:sp>
        <p:nvSpPr>
          <p:cNvPr id="7" name="TextBox 6"/>
          <p:cNvSpPr txBox="1"/>
          <p:nvPr/>
        </p:nvSpPr>
        <p:spPr>
          <a:xfrm>
            <a:off x="7406640" y="1463040"/>
            <a:ext cx="4069080" cy="365760"/>
          </a:xfrm>
          <a:prstGeom prst="rect">
            <a:avLst/>
          </a:prstGeom>
          <a:noFill/>
        </p:spPr>
        <p:txBody>
          <a:bodyPr wrap="square">
            <a:spAutoFit/>
          </a:bodyPr>
          <a:lstStyle/>
          <a:p>
            <a:pPr algn="l"/>
            <a:r>
              <a:rPr sz="1800" b="1">
                <a:solidFill>
                  <a:srgbClr val="1B5E6B"/>
                </a:solidFill>
                <a:latin typeface="Bricolage Grotesque"/>
              </a:rPr>
              <a:t>L'add-in dans Excel</a:t>
            </a:r>
          </a:p>
        </p:txBody>
      </p:sp>
      <p:sp>
        <p:nvSpPr>
          <p:cNvPr id="8" name="Rectangle 7"/>
          <p:cNvSpPr/>
          <p:nvPr/>
        </p:nvSpPr>
        <p:spPr>
          <a:xfrm>
            <a:off x="640080" y="1874520"/>
            <a:ext cx="10881360" cy="27432"/>
          </a:xfrm>
          <a:prstGeom prst="rect">
            <a:avLst/>
          </a:prstGeom>
          <a:solidFill>
            <a:srgbClr val="E8A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640080" y="1965960"/>
            <a:ext cx="10881360" cy="457200"/>
          </a:xfrm>
          <a:prstGeom prst="rect">
            <a:avLst/>
          </a:prstGeom>
          <a:solidFill>
            <a:srgbClr val="EDED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77240" y="2020824"/>
            <a:ext cx="2194560" cy="347472"/>
          </a:xfrm>
          <a:prstGeom prst="rect">
            <a:avLst/>
          </a:prstGeom>
          <a:noFill/>
        </p:spPr>
        <p:txBody>
          <a:bodyPr wrap="square">
            <a:spAutoFit/>
          </a:bodyPr>
          <a:lstStyle/>
          <a:p>
            <a:pPr algn="l"/>
            <a:r>
              <a:rPr sz="1600" b="1">
                <a:solidFill>
                  <a:srgbClr val="1A1A1A"/>
                </a:solidFill>
                <a:latin typeface="Bricolage Grotesque"/>
              </a:rPr>
              <a:t>Où</a:t>
            </a:r>
          </a:p>
        </p:txBody>
      </p:sp>
      <p:sp>
        <p:nvSpPr>
          <p:cNvPr id="11" name="TextBox 10"/>
          <p:cNvSpPr txBox="1"/>
          <p:nvPr/>
        </p:nvSpPr>
        <p:spPr>
          <a:xfrm>
            <a:off x="3154679" y="2020824"/>
            <a:ext cx="4069080" cy="347472"/>
          </a:xfrm>
          <a:prstGeom prst="rect">
            <a:avLst/>
          </a:prstGeom>
          <a:noFill/>
        </p:spPr>
        <p:txBody>
          <a:bodyPr wrap="square">
            <a:spAutoFit/>
          </a:bodyPr>
          <a:lstStyle/>
          <a:p>
            <a:pPr algn="l"/>
            <a:r>
              <a:rPr sz="1600" b="0">
                <a:solidFill>
                  <a:srgbClr val="333333"/>
                </a:solidFill>
                <a:latin typeface="Bricolage Grotesque"/>
              </a:rPr>
              <a:t>Dans Claude, fichier joint</a:t>
            </a:r>
          </a:p>
        </p:txBody>
      </p:sp>
      <p:sp>
        <p:nvSpPr>
          <p:cNvPr id="12" name="TextBox 11"/>
          <p:cNvSpPr txBox="1"/>
          <p:nvPr/>
        </p:nvSpPr>
        <p:spPr>
          <a:xfrm>
            <a:off x="7406640" y="2020824"/>
            <a:ext cx="4069080" cy="347472"/>
          </a:xfrm>
          <a:prstGeom prst="rect">
            <a:avLst/>
          </a:prstGeom>
          <a:noFill/>
        </p:spPr>
        <p:txBody>
          <a:bodyPr wrap="square">
            <a:spAutoFit/>
          </a:bodyPr>
          <a:lstStyle/>
          <a:p>
            <a:pPr algn="l"/>
            <a:r>
              <a:rPr sz="1600" b="0">
                <a:solidFill>
                  <a:srgbClr val="333333"/>
                </a:solidFill>
                <a:latin typeface="Bricolage Grotesque"/>
              </a:rPr>
              <a:t>Un panneau Claude dans Excel</a:t>
            </a:r>
          </a:p>
        </p:txBody>
      </p:sp>
      <p:sp>
        <p:nvSpPr>
          <p:cNvPr id="13" name="TextBox 12"/>
          <p:cNvSpPr txBox="1"/>
          <p:nvPr/>
        </p:nvSpPr>
        <p:spPr>
          <a:xfrm>
            <a:off x="777240" y="2478024"/>
            <a:ext cx="2194560" cy="347472"/>
          </a:xfrm>
          <a:prstGeom prst="rect">
            <a:avLst/>
          </a:prstGeom>
          <a:noFill/>
        </p:spPr>
        <p:txBody>
          <a:bodyPr wrap="square">
            <a:spAutoFit/>
          </a:bodyPr>
          <a:lstStyle/>
          <a:p>
            <a:pPr algn="l"/>
            <a:r>
              <a:rPr sz="1600" b="1">
                <a:solidFill>
                  <a:srgbClr val="1A1A1A"/>
                </a:solidFill>
                <a:latin typeface="Bricolage Grotesque"/>
              </a:rPr>
              <a:t>Ce qu'il rend</a:t>
            </a:r>
          </a:p>
        </p:txBody>
      </p:sp>
      <p:sp>
        <p:nvSpPr>
          <p:cNvPr id="14" name="TextBox 13"/>
          <p:cNvSpPr txBox="1"/>
          <p:nvPr/>
        </p:nvSpPr>
        <p:spPr>
          <a:xfrm>
            <a:off x="3154679" y="2478024"/>
            <a:ext cx="4069080" cy="347472"/>
          </a:xfrm>
          <a:prstGeom prst="rect">
            <a:avLst/>
          </a:prstGeom>
          <a:noFill/>
        </p:spPr>
        <p:txBody>
          <a:bodyPr wrap="square">
            <a:spAutoFit/>
          </a:bodyPr>
          <a:lstStyle/>
          <a:p>
            <a:pPr algn="l"/>
            <a:r>
              <a:rPr sz="1600" b="0">
                <a:solidFill>
                  <a:srgbClr val="333333"/>
                </a:solidFill>
                <a:latin typeface="Bricolage Grotesque"/>
              </a:rPr>
              <a:t>Un nouveau fichier à télécharger</a:t>
            </a:r>
          </a:p>
        </p:txBody>
      </p:sp>
      <p:sp>
        <p:nvSpPr>
          <p:cNvPr id="15" name="TextBox 14"/>
          <p:cNvSpPr txBox="1"/>
          <p:nvPr/>
        </p:nvSpPr>
        <p:spPr>
          <a:xfrm>
            <a:off x="7406640" y="2478024"/>
            <a:ext cx="4069080" cy="347472"/>
          </a:xfrm>
          <a:prstGeom prst="rect">
            <a:avLst/>
          </a:prstGeom>
          <a:noFill/>
        </p:spPr>
        <p:txBody>
          <a:bodyPr wrap="square">
            <a:spAutoFit/>
          </a:bodyPr>
          <a:lstStyle/>
          <a:p>
            <a:pPr algn="l"/>
            <a:r>
              <a:rPr sz="1600" b="0">
                <a:solidFill>
                  <a:srgbClr val="333333"/>
                </a:solidFill>
                <a:latin typeface="Bricolage Grotesque"/>
              </a:rPr>
              <a:t>Le classeur ouvert, modifié</a:t>
            </a:r>
          </a:p>
        </p:txBody>
      </p:sp>
      <p:sp>
        <p:nvSpPr>
          <p:cNvPr id="16" name="Rectangle 15"/>
          <p:cNvSpPr/>
          <p:nvPr/>
        </p:nvSpPr>
        <p:spPr>
          <a:xfrm>
            <a:off x="640080" y="2880360"/>
            <a:ext cx="10881360" cy="457200"/>
          </a:xfrm>
          <a:prstGeom prst="rect">
            <a:avLst/>
          </a:prstGeom>
          <a:solidFill>
            <a:srgbClr val="EDED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77240" y="2935224"/>
            <a:ext cx="2194560" cy="347472"/>
          </a:xfrm>
          <a:prstGeom prst="rect">
            <a:avLst/>
          </a:prstGeom>
          <a:noFill/>
        </p:spPr>
        <p:txBody>
          <a:bodyPr wrap="square">
            <a:spAutoFit/>
          </a:bodyPr>
          <a:lstStyle/>
          <a:p>
            <a:pPr algn="l"/>
            <a:r>
              <a:rPr sz="1600" b="1">
                <a:solidFill>
                  <a:srgbClr val="1A1A1A"/>
                </a:solidFill>
                <a:latin typeface="Bricolage Grotesque"/>
              </a:rPr>
              <a:t>L'original</a:t>
            </a:r>
          </a:p>
        </p:txBody>
      </p:sp>
      <p:sp>
        <p:nvSpPr>
          <p:cNvPr id="18" name="TextBox 17"/>
          <p:cNvSpPr txBox="1"/>
          <p:nvPr/>
        </p:nvSpPr>
        <p:spPr>
          <a:xfrm>
            <a:off x="3154679" y="2935224"/>
            <a:ext cx="4069080" cy="347472"/>
          </a:xfrm>
          <a:prstGeom prst="rect">
            <a:avLst/>
          </a:prstGeom>
          <a:noFill/>
        </p:spPr>
        <p:txBody>
          <a:bodyPr wrap="square">
            <a:spAutoFit/>
          </a:bodyPr>
          <a:lstStyle/>
          <a:p>
            <a:pPr algn="l"/>
            <a:r>
              <a:rPr sz="1600" b="0">
                <a:solidFill>
                  <a:srgbClr val="333333"/>
                </a:solidFill>
                <a:latin typeface="Bricolage Grotesque"/>
              </a:rPr>
              <a:t>Jamais touché</a:t>
            </a:r>
          </a:p>
        </p:txBody>
      </p:sp>
      <p:sp>
        <p:nvSpPr>
          <p:cNvPr id="19" name="TextBox 18"/>
          <p:cNvSpPr txBox="1"/>
          <p:nvPr/>
        </p:nvSpPr>
        <p:spPr>
          <a:xfrm>
            <a:off x="7406640" y="2935224"/>
            <a:ext cx="4069080" cy="347472"/>
          </a:xfrm>
          <a:prstGeom prst="rect">
            <a:avLst/>
          </a:prstGeom>
          <a:noFill/>
        </p:spPr>
        <p:txBody>
          <a:bodyPr wrap="square">
            <a:spAutoFit/>
          </a:bodyPr>
          <a:lstStyle/>
          <a:p>
            <a:pPr algn="l"/>
            <a:r>
              <a:rPr sz="1600" b="0">
                <a:solidFill>
                  <a:srgbClr val="333333"/>
                </a:solidFill>
                <a:latin typeface="Bricolage Grotesque"/>
              </a:rPr>
              <a:t>Modifié, il prévient avant</a:t>
            </a:r>
          </a:p>
        </p:txBody>
      </p:sp>
      <p:sp>
        <p:nvSpPr>
          <p:cNvPr id="20" name="TextBox 19"/>
          <p:cNvSpPr txBox="1"/>
          <p:nvPr/>
        </p:nvSpPr>
        <p:spPr>
          <a:xfrm>
            <a:off x="777240" y="3392424"/>
            <a:ext cx="2194560" cy="347472"/>
          </a:xfrm>
          <a:prstGeom prst="rect">
            <a:avLst/>
          </a:prstGeom>
          <a:noFill/>
        </p:spPr>
        <p:txBody>
          <a:bodyPr wrap="square">
            <a:spAutoFit/>
          </a:bodyPr>
          <a:lstStyle/>
          <a:p>
            <a:pPr algn="l"/>
            <a:r>
              <a:rPr sz="1600" b="1">
                <a:solidFill>
                  <a:srgbClr val="1A1A1A"/>
                </a:solidFill>
                <a:latin typeface="Bricolage Grotesque"/>
              </a:rPr>
              <a:t>Idéal pour</a:t>
            </a:r>
          </a:p>
        </p:txBody>
      </p:sp>
      <p:sp>
        <p:nvSpPr>
          <p:cNvPr id="21" name="TextBox 20"/>
          <p:cNvSpPr txBox="1"/>
          <p:nvPr/>
        </p:nvSpPr>
        <p:spPr>
          <a:xfrm>
            <a:off x="3154679" y="3392424"/>
            <a:ext cx="4069080" cy="347472"/>
          </a:xfrm>
          <a:prstGeom prst="rect">
            <a:avLst/>
          </a:prstGeom>
          <a:noFill/>
        </p:spPr>
        <p:txBody>
          <a:bodyPr wrap="square">
            <a:spAutoFit/>
          </a:bodyPr>
          <a:lstStyle/>
          <a:p>
            <a:pPr algn="l"/>
            <a:r>
              <a:rPr sz="1600" b="0">
                <a:solidFill>
                  <a:srgbClr val="333333"/>
                </a:solidFill>
                <a:latin typeface="Bricolage Grotesque"/>
              </a:rPr>
              <a:t>Convertir, créer, nettoyer</a:t>
            </a:r>
          </a:p>
        </p:txBody>
      </p:sp>
      <p:sp>
        <p:nvSpPr>
          <p:cNvPr id="22" name="TextBox 21"/>
          <p:cNvSpPr txBox="1"/>
          <p:nvPr/>
        </p:nvSpPr>
        <p:spPr>
          <a:xfrm>
            <a:off x="7406640" y="3392424"/>
            <a:ext cx="4069080" cy="347472"/>
          </a:xfrm>
          <a:prstGeom prst="rect">
            <a:avLst/>
          </a:prstGeom>
          <a:noFill/>
        </p:spPr>
        <p:txBody>
          <a:bodyPr wrap="square">
            <a:spAutoFit/>
          </a:bodyPr>
          <a:lstStyle/>
          <a:p>
            <a:pPr algn="l"/>
            <a:r>
              <a:rPr sz="1600" b="0">
                <a:solidFill>
                  <a:srgbClr val="333333"/>
                </a:solidFill>
                <a:latin typeface="Bricolage Grotesque"/>
              </a:rPr>
              <a:t>Faire vivre un tableau existant</a:t>
            </a:r>
          </a:p>
        </p:txBody>
      </p:sp>
      <p:sp>
        <p:nvSpPr>
          <p:cNvPr id="23" name="Rectangle 22"/>
          <p:cNvSpPr/>
          <p:nvPr/>
        </p:nvSpPr>
        <p:spPr>
          <a:xfrm>
            <a:off x="640080" y="3794760"/>
            <a:ext cx="10881360" cy="457200"/>
          </a:xfrm>
          <a:prstGeom prst="rect">
            <a:avLst/>
          </a:prstGeom>
          <a:solidFill>
            <a:srgbClr val="EDED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77240" y="3849624"/>
            <a:ext cx="2194560" cy="347472"/>
          </a:xfrm>
          <a:prstGeom prst="rect">
            <a:avLst/>
          </a:prstGeom>
          <a:noFill/>
        </p:spPr>
        <p:txBody>
          <a:bodyPr wrap="square">
            <a:spAutoFit/>
          </a:bodyPr>
          <a:lstStyle/>
          <a:p>
            <a:pPr algn="l"/>
            <a:r>
              <a:rPr sz="1600" b="1">
                <a:solidFill>
                  <a:srgbClr val="1A1A1A"/>
                </a:solidFill>
                <a:latin typeface="Bricolage Grotesque"/>
              </a:rPr>
              <a:t>Aujourd'hui</a:t>
            </a:r>
          </a:p>
        </p:txBody>
      </p:sp>
      <p:sp>
        <p:nvSpPr>
          <p:cNvPr id="25" name="TextBox 24"/>
          <p:cNvSpPr txBox="1"/>
          <p:nvPr/>
        </p:nvSpPr>
        <p:spPr>
          <a:xfrm>
            <a:off x="3154679" y="3849624"/>
            <a:ext cx="4069080" cy="347472"/>
          </a:xfrm>
          <a:prstGeom prst="rect">
            <a:avLst/>
          </a:prstGeom>
          <a:noFill/>
        </p:spPr>
        <p:txBody>
          <a:bodyPr wrap="square">
            <a:spAutoFit/>
          </a:bodyPr>
          <a:lstStyle/>
          <a:p>
            <a:pPr algn="l"/>
            <a:r>
              <a:rPr sz="1600" b="0">
                <a:solidFill>
                  <a:srgbClr val="333333"/>
                </a:solidFill>
                <a:latin typeface="Bricolage Grotesque"/>
              </a:rPr>
              <a:t>A : le Word devient Excel</a:t>
            </a:r>
          </a:p>
        </p:txBody>
      </p:sp>
      <p:sp>
        <p:nvSpPr>
          <p:cNvPr id="26" name="TextBox 25"/>
          <p:cNvSpPr txBox="1"/>
          <p:nvPr/>
        </p:nvSpPr>
        <p:spPr>
          <a:xfrm>
            <a:off x="7406640" y="3849624"/>
            <a:ext cx="4069080" cy="347472"/>
          </a:xfrm>
          <a:prstGeom prst="rect">
            <a:avLst/>
          </a:prstGeom>
          <a:noFill/>
        </p:spPr>
        <p:txBody>
          <a:bodyPr wrap="square">
            <a:spAutoFit/>
          </a:bodyPr>
          <a:lstStyle/>
          <a:p>
            <a:pPr algn="l"/>
            <a:r>
              <a:rPr sz="1600" b="0">
                <a:solidFill>
                  <a:srgbClr val="333333"/>
                </a:solidFill>
                <a:latin typeface="Bricolage Grotesque"/>
              </a:rPr>
              <a:t>B : le tableau de suivi</a:t>
            </a:r>
          </a:p>
        </p:txBody>
      </p:sp>
      <p:sp>
        <p:nvSpPr>
          <p:cNvPr id="27" name="TextBox 26"/>
          <p:cNvSpPr txBox="1"/>
          <p:nvPr/>
        </p:nvSpPr>
        <p:spPr>
          <a:xfrm>
            <a:off x="640080" y="4480560"/>
            <a:ext cx="10881360" cy="457200"/>
          </a:xfrm>
          <a:prstGeom prst="rect">
            <a:avLst/>
          </a:prstGeom>
          <a:noFill/>
        </p:spPr>
        <p:txBody>
          <a:bodyPr wrap="square">
            <a:spAutoFit/>
          </a:bodyPr>
          <a:lstStyle/>
          <a:p>
            <a:pPr algn="l"/>
            <a:r>
              <a:rPr sz="1700" b="1">
                <a:solidFill>
                  <a:srgbClr val="1B5E6B"/>
                </a:solidFill>
                <a:latin typeface="Bricolage Grotesque"/>
              </a:rPr>
              <a:t>Les deux sont inclus dans votre forfait Pro et puisent dans le même compteur.</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143000"/>
          </a:xfrm>
          <a:prstGeom prst="rect">
            <a:avLst/>
          </a:prstGeom>
          <a:ln>
            <a:noFill/>
          </a:ln>
          <a:gradFill>
            <a:gsLst>
              <a:gs pos="0">
                <a:srgbClr val="0A2530"/>
              </a:gs>
              <a:gs pos="100000">
                <a:srgbClr val="1E5565"/>
              </a:gs>
            </a:gsLst>
            <a:lin ang="0" scaled="1"/>
          </a:gra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143000"/>
            <a:ext cx="12191695" cy="18288"/>
          </a:xfrm>
          <a:prstGeom prst="rect">
            <a:avLst/>
          </a:prstGeom>
          <a:solidFill>
            <a:srgbClr val="E8A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182880"/>
            <a:ext cx="10515600" cy="822960"/>
          </a:xfrm>
          <a:prstGeom prst="rect">
            <a:avLst/>
          </a:prstGeom>
          <a:noFill/>
        </p:spPr>
        <p:txBody>
          <a:bodyPr wrap="square">
            <a:spAutoFit/>
          </a:bodyPr>
          <a:lstStyle/>
          <a:p>
            <a:pPr algn="l"/>
            <a:r>
              <a:rPr sz="3400" b="1">
                <a:solidFill>
                  <a:srgbClr val="FFFFFF"/>
                </a:solidFill>
                <a:latin typeface="Bricolage Grotesque"/>
              </a:rPr>
              <a:t>Vos contacts : ce que vous confiez</a:t>
            </a:r>
          </a:p>
        </p:txBody>
      </p:sp>
      <p:sp>
        <p:nvSpPr>
          <p:cNvPr id="5" name="TextBox 4"/>
          <p:cNvSpPr txBox="1"/>
          <p:nvPr/>
        </p:nvSpPr>
        <p:spPr>
          <a:xfrm>
            <a:off x="640080" y="1463040"/>
            <a:ext cx="10515600" cy="640080"/>
          </a:xfrm>
          <a:prstGeom prst="rect">
            <a:avLst/>
          </a:prstGeom>
          <a:noFill/>
        </p:spPr>
        <p:txBody>
          <a:bodyPr wrap="square">
            <a:spAutoFit/>
          </a:bodyPr>
          <a:lstStyle/>
          <a:p>
            <a:pPr algn="l"/>
            <a:r>
              <a:rPr sz="2600" b="1">
                <a:solidFill>
                  <a:srgbClr val="1A1A1A"/>
                </a:solidFill>
                <a:latin typeface="Bricolage Grotesque"/>
              </a:rPr>
              <a:t>Trois minutes avant d'ouvrir le fichier</a:t>
            </a:r>
          </a:p>
        </p:txBody>
      </p:sp>
      <p:sp>
        <p:nvSpPr>
          <p:cNvPr id="6" name="TextBox 5"/>
          <p:cNvSpPr txBox="1"/>
          <p:nvPr/>
        </p:nvSpPr>
        <p:spPr>
          <a:xfrm>
            <a:off x="640080" y="2331720"/>
            <a:ext cx="10881360" cy="411480"/>
          </a:xfrm>
          <a:prstGeom prst="rect">
            <a:avLst/>
          </a:prstGeom>
          <a:noFill/>
        </p:spPr>
        <p:txBody>
          <a:bodyPr wrap="square">
            <a:spAutoFit/>
          </a:bodyPr>
          <a:lstStyle/>
          <a:p>
            <a:r>
              <a:rPr sz="2000" b="1">
                <a:solidFill>
                  <a:srgbClr val="1B5E6B"/>
                </a:solidFill>
                <a:latin typeface="Bricolage Grotesque"/>
              </a:rPr>
              <a:t>contact@, accueil@ : adresses d'établissement, sans souci.</a:t>
            </a:r>
          </a:p>
        </p:txBody>
      </p:sp>
      <p:sp>
        <p:nvSpPr>
          <p:cNvPr id="7" name="TextBox 6"/>
          <p:cNvSpPr txBox="1"/>
          <p:nvPr/>
        </p:nvSpPr>
        <p:spPr>
          <a:xfrm>
            <a:off x="640080" y="2852928"/>
            <a:ext cx="10881360" cy="411480"/>
          </a:xfrm>
          <a:prstGeom prst="rect">
            <a:avLst/>
          </a:prstGeom>
          <a:noFill/>
        </p:spPr>
        <p:txBody>
          <a:bodyPr wrap="square">
            <a:spAutoFit/>
          </a:bodyPr>
          <a:lstStyle/>
          <a:p>
            <a:r>
              <a:rPr sz="2000" b="1">
                <a:solidFill>
                  <a:srgbClr val="1B5E6B"/>
                </a:solidFill>
                <a:latin typeface="Bricolage Grotesque"/>
              </a:rPr>
              <a:t>Nom et mail direct d'une personne : donnée personnelle.</a:t>
            </a:r>
          </a:p>
        </p:txBody>
      </p:sp>
      <p:sp>
        <p:nvSpPr>
          <p:cNvPr id="8" name="TextBox 7"/>
          <p:cNvSpPr txBox="1"/>
          <p:nvPr/>
        </p:nvSpPr>
        <p:spPr>
          <a:xfrm>
            <a:off x="640080" y="3374136"/>
            <a:ext cx="10881360" cy="411480"/>
          </a:xfrm>
          <a:prstGeom prst="rect">
            <a:avLst/>
          </a:prstGeom>
          <a:noFill/>
        </p:spPr>
        <p:txBody>
          <a:bodyPr wrap="square">
            <a:spAutoFit/>
          </a:bodyPr>
          <a:lstStyle/>
          <a:p>
            <a:r>
              <a:rPr sz="2000" b="0">
                <a:solidFill>
                  <a:srgbClr val="333333"/>
                </a:solidFill>
                <a:latin typeface="Bricolage Grotesque"/>
              </a:rPr>
              <a:t>Ne confiez que les colonnes utiles, entraînement désactivé.</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143000"/>
          </a:xfrm>
          <a:prstGeom prst="rect">
            <a:avLst/>
          </a:prstGeom>
          <a:ln>
            <a:noFill/>
          </a:ln>
          <a:gradFill>
            <a:gsLst>
              <a:gs pos="0">
                <a:srgbClr val="0A2530"/>
              </a:gs>
              <a:gs pos="100000">
                <a:srgbClr val="1E5565"/>
              </a:gs>
            </a:gsLst>
            <a:lin ang="0" scaled="1"/>
          </a:gra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143000"/>
            <a:ext cx="12191695" cy="18288"/>
          </a:xfrm>
          <a:prstGeom prst="rect">
            <a:avLst/>
          </a:prstGeom>
          <a:solidFill>
            <a:srgbClr val="E8A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182880"/>
            <a:ext cx="10515600" cy="822960"/>
          </a:xfrm>
          <a:prstGeom prst="rect">
            <a:avLst/>
          </a:prstGeom>
          <a:noFill/>
        </p:spPr>
        <p:txBody>
          <a:bodyPr wrap="square">
            <a:spAutoFit/>
          </a:bodyPr>
          <a:lstStyle/>
          <a:p>
            <a:pPr algn="l"/>
            <a:r>
              <a:rPr sz="3400" b="1">
                <a:solidFill>
                  <a:srgbClr val="FFFFFF"/>
                </a:solidFill>
                <a:latin typeface="Bricolage Grotesque"/>
              </a:rPr>
              <a:t>Vos contacts : ce que vous confiez</a:t>
            </a:r>
          </a:p>
        </p:txBody>
      </p:sp>
      <p:sp>
        <p:nvSpPr>
          <p:cNvPr id="5" name="TextBox 4"/>
          <p:cNvSpPr txBox="1"/>
          <p:nvPr/>
        </p:nvSpPr>
        <p:spPr>
          <a:xfrm>
            <a:off x="640080" y="1463040"/>
            <a:ext cx="10515600" cy="640080"/>
          </a:xfrm>
          <a:prstGeom prst="rect">
            <a:avLst/>
          </a:prstGeom>
          <a:noFill/>
        </p:spPr>
        <p:txBody>
          <a:bodyPr wrap="square">
            <a:spAutoFit/>
          </a:bodyPr>
          <a:lstStyle/>
          <a:p>
            <a:pPr algn="l"/>
            <a:r>
              <a:rPr sz="2600" b="1">
                <a:solidFill>
                  <a:srgbClr val="1A1A1A"/>
                </a:solidFill>
                <a:latin typeface="Bricolage Grotesque"/>
              </a:rPr>
              <a:t>Trois minutes avant d'ouvrir le fichier</a:t>
            </a:r>
          </a:p>
        </p:txBody>
      </p:sp>
      <p:sp>
        <p:nvSpPr>
          <p:cNvPr id="6" name="TextBox 5"/>
          <p:cNvSpPr txBox="1"/>
          <p:nvPr/>
        </p:nvSpPr>
        <p:spPr>
          <a:xfrm>
            <a:off x="640080" y="2331720"/>
            <a:ext cx="10881360" cy="411480"/>
          </a:xfrm>
          <a:prstGeom prst="rect">
            <a:avLst/>
          </a:prstGeom>
          <a:noFill/>
        </p:spPr>
        <p:txBody>
          <a:bodyPr wrap="square">
            <a:spAutoFit/>
          </a:bodyPr>
          <a:lstStyle/>
          <a:p>
            <a:r>
              <a:rPr sz="2000" b="1">
                <a:solidFill>
                  <a:srgbClr val="1B5E6B"/>
                </a:solidFill>
                <a:latin typeface="Bricolage Grotesque"/>
              </a:rPr>
              <a:t>contact@, accueil@ : adresses d'établissement, sans souci.</a:t>
            </a:r>
          </a:p>
        </p:txBody>
      </p:sp>
      <p:sp>
        <p:nvSpPr>
          <p:cNvPr id="7" name="TextBox 6"/>
          <p:cNvSpPr txBox="1"/>
          <p:nvPr/>
        </p:nvSpPr>
        <p:spPr>
          <a:xfrm>
            <a:off x="640080" y="2852928"/>
            <a:ext cx="10881360" cy="411480"/>
          </a:xfrm>
          <a:prstGeom prst="rect">
            <a:avLst/>
          </a:prstGeom>
          <a:noFill/>
        </p:spPr>
        <p:txBody>
          <a:bodyPr wrap="square">
            <a:spAutoFit/>
          </a:bodyPr>
          <a:lstStyle/>
          <a:p>
            <a:r>
              <a:rPr sz="2000" b="1">
                <a:solidFill>
                  <a:srgbClr val="1B5E6B"/>
                </a:solidFill>
                <a:latin typeface="Bricolage Grotesque"/>
              </a:rPr>
              <a:t>Nom et mail direct d'une personne : donnée personnelle.</a:t>
            </a:r>
          </a:p>
        </p:txBody>
      </p:sp>
      <p:sp>
        <p:nvSpPr>
          <p:cNvPr id="8" name="TextBox 7"/>
          <p:cNvSpPr txBox="1"/>
          <p:nvPr/>
        </p:nvSpPr>
        <p:spPr>
          <a:xfrm>
            <a:off x="640080" y="3374136"/>
            <a:ext cx="10881360" cy="411480"/>
          </a:xfrm>
          <a:prstGeom prst="rect">
            <a:avLst/>
          </a:prstGeom>
          <a:noFill/>
        </p:spPr>
        <p:txBody>
          <a:bodyPr wrap="square">
            <a:spAutoFit/>
          </a:bodyPr>
          <a:lstStyle/>
          <a:p>
            <a:r>
              <a:rPr sz="2000" b="0">
                <a:solidFill>
                  <a:srgbClr val="333333"/>
                </a:solidFill>
                <a:latin typeface="Bricolage Grotesque"/>
              </a:rPr>
              <a:t>Ne confiez que les colonnes utiles, entraînement désactivé.</a:t>
            </a:r>
          </a:p>
        </p:txBody>
      </p:sp>
      <p:sp>
        <p:nvSpPr>
          <p:cNvPr id="9" name="TextBox 8"/>
          <p:cNvSpPr txBox="1"/>
          <p:nvPr/>
        </p:nvSpPr>
        <p:spPr>
          <a:xfrm>
            <a:off x="640080" y="4133088"/>
            <a:ext cx="10881360" cy="411480"/>
          </a:xfrm>
          <a:prstGeom prst="rect">
            <a:avLst/>
          </a:prstGeom>
          <a:noFill/>
        </p:spPr>
        <p:txBody>
          <a:bodyPr wrap="square">
            <a:spAutoFit/>
          </a:bodyPr>
          <a:lstStyle/>
          <a:p>
            <a:r>
              <a:rPr sz="2000" b="1">
                <a:solidFill>
                  <a:srgbClr val="1B5E6B"/>
                </a:solidFill>
                <a:latin typeface="Bricolage Grotesque"/>
              </a:rPr>
              <a:t>Démarcher un professionnel par mail : possible sans accord préalable,</a:t>
            </a:r>
          </a:p>
        </p:txBody>
      </p:sp>
      <p:sp>
        <p:nvSpPr>
          <p:cNvPr id="10" name="TextBox 9"/>
          <p:cNvSpPr txBox="1"/>
          <p:nvPr/>
        </p:nvSpPr>
        <p:spPr>
          <a:xfrm>
            <a:off x="640080" y="4654296"/>
            <a:ext cx="10881360" cy="411480"/>
          </a:xfrm>
          <a:prstGeom prst="rect">
            <a:avLst/>
          </a:prstGeom>
          <a:noFill/>
        </p:spPr>
        <p:txBody>
          <a:bodyPr wrap="square">
            <a:spAutoFit/>
          </a:bodyPr>
          <a:lstStyle/>
          <a:p>
            <a:r>
              <a:rPr sz="2000" b="0">
                <a:solidFill>
                  <a:srgbClr val="333333"/>
                </a:solidFill>
                <a:latin typeface="Bricolage Grotesque"/>
              </a:rPr>
              <a:t>si le message concerne son métier et propose de se désinscrire.</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143000"/>
          </a:xfrm>
          <a:prstGeom prst="rect">
            <a:avLst/>
          </a:prstGeom>
          <a:ln>
            <a:noFill/>
          </a:ln>
          <a:gradFill>
            <a:gsLst>
              <a:gs pos="0">
                <a:srgbClr val="0A2530"/>
              </a:gs>
              <a:gs pos="100000">
                <a:srgbClr val="1E5565"/>
              </a:gs>
            </a:gsLst>
            <a:lin ang="0" scaled="1"/>
          </a:gra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143000"/>
            <a:ext cx="12191695" cy="18288"/>
          </a:xfrm>
          <a:prstGeom prst="rect">
            <a:avLst/>
          </a:prstGeom>
          <a:solidFill>
            <a:srgbClr val="E8A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182880"/>
            <a:ext cx="10515600" cy="822960"/>
          </a:xfrm>
          <a:prstGeom prst="rect">
            <a:avLst/>
          </a:prstGeom>
          <a:noFill/>
        </p:spPr>
        <p:txBody>
          <a:bodyPr wrap="square">
            <a:spAutoFit/>
          </a:bodyPr>
          <a:lstStyle/>
          <a:p>
            <a:pPr algn="l"/>
            <a:r>
              <a:rPr sz="3400" b="1">
                <a:solidFill>
                  <a:srgbClr val="FFFFFF"/>
                </a:solidFill>
                <a:latin typeface="Bricolage Grotesque"/>
              </a:rPr>
              <a:t>Pratique 1 · A : du Word à l'Excel</a:t>
            </a:r>
          </a:p>
        </p:txBody>
      </p:sp>
      <p:sp>
        <p:nvSpPr>
          <p:cNvPr id="5" name="Rounded Rectangle 4"/>
          <p:cNvSpPr/>
          <p:nvPr/>
        </p:nvSpPr>
        <p:spPr>
          <a:xfrm>
            <a:off x="640080" y="1417320"/>
            <a:ext cx="10881360" cy="1143000"/>
          </a:xfrm>
          <a:prstGeom prst="roundRect">
            <a:avLst/>
          </a:prstGeom>
          <a:solidFill>
            <a:srgbClr val="EDED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68680" y="1508760"/>
            <a:ext cx="4023359" cy="320040"/>
          </a:xfrm>
          <a:prstGeom prst="rect">
            <a:avLst/>
          </a:prstGeom>
          <a:noFill/>
        </p:spPr>
        <p:txBody>
          <a:bodyPr wrap="square">
            <a:spAutoFit/>
          </a:bodyPr>
          <a:lstStyle/>
          <a:p>
            <a:pPr algn="l"/>
            <a:r>
              <a:rPr sz="1400" b="1">
                <a:solidFill>
                  <a:srgbClr val="E8A000"/>
                </a:solidFill>
                <a:latin typeface="Bricolage Grotesque"/>
              </a:rPr>
              <a:t>OBJECTIF</a:t>
            </a:r>
          </a:p>
        </p:txBody>
      </p:sp>
      <p:sp>
        <p:nvSpPr>
          <p:cNvPr id="7" name="TextBox 6"/>
          <p:cNvSpPr txBox="1"/>
          <p:nvPr/>
        </p:nvSpPr>
        <p:spPr>
          <a:xfrm>
            <a:off x="868680" y="1810512"/>
            <a:ext cx="4023359" cy="685800"/>
          </a:xfrm>
          <a:prstGeom prst="rect">
            <a:avLst/>
          </a:prstGeom>
          <a:noFill/>
        </p:spPr>
        <p:txBody>
          <a:bodyPr wrap="square">
            <a:spAutoFit/>
          </a:bodyPr>
          <a:lstStyle/>
          <a:p>
            <a:pPr algn="l"/>
            <a:r>
              <a:rPr sz="1600" b="0">
                <a:solidFill>
                  <a:srgbClr val="1A1A1A"/>
                </a:solidFill>
                <a:latin typeface="Bricolage Grotesque"/>
              </a:rPr>
              <a:t>Votre liste d'établissements dans un vrai tableau</a:t>
            </a:r>
          </a:p>
        </p:txBody>
      </p:sp>
      <p:sp>
        <p:nvSpPr>
          <p:cNvPr id="8" name="TextBox 7"/>
          <p:cNvSpPr txBox="1"/>
          <p:nvPr/>
        </p:nvSpPr>
        <p:spPr>
          <a:xfrm>
            <a:off x="5074920" y="1508760"/>
            <a:ext cx="4389120" cy="320040"/>
          </a:xfrm>
          <a:prstGeom prst="rect">
            <a:avLst/>
          </a:prstGeom>
          <a:noFill/>
        </p:spPr>
        <p:txBody>
          <a:bodyPr wrap="square">
            <a:spAutoFit/>
          </a:bodyPr>
          <a:lstStyle/>
          <a:p>
            <a:pPr algn="l"/>
            <a:r>
              <a:rPr sz="1400" b="1">
                <a:solidFill>
                  <a:srgbClr val="E8A000"/>
                </a:solidFill>
                <a:latin typeface="Bricolage Grotesque"/>
              </a:rPr>
              <a:t>LIVRABLE</a:t>
            </a:r>
          </a:p>
        </p:txBody>
      </p:sp>
      <p:sp>
        <p:nvSpPr>
          <p:cNvPr id="9" name="TextBox 8"/>
          <p:cNvSpPr txBox="1"/>
          <p:nvPr/>
        </p:nvSpPr>
        <p:spPr>
          <a:xfrm>
            <a:off x="5074920" y="1810512"/>
            <a:ext cx="4389120" cy="685800"/>
          </a:xfrm>
          <a:prstGeom prst="rect">
            <a:avLst/>
          </a:prstGeom>
          <a:noFill/>
        </p:spPr>
        <p:txBody>
          <a:bodyPr wrap="square">
            <a:spAutoFit/>
          </a:bodyPr>
          <a:lstStyle/>
          <a:p>
            <a:pPr algn="l"/>
            <a:r>
              <a:rPr sz="1600" b="0">
                <a:solidFill>
                  <a:srgbClr val="1A1A1A"/>
                </a:solidFill>
                <a:latin typeface="Bricolage Grotesque"/>
              </a:rPr>
              <a:t>Un fichier .xlsx propre, une ligne par établissement</a:t>
            </a:r>
          </a:p>
        </p:txBody>
      </p:sp>
      <p:sp>
        <p:nvSpPr>
          <p:cNvPr id="10" name="TextBox 9"/>
          <p:cNvSpPr txBox="1"/>
          <p:nvPr/>
        </p:nvSpPr>
        <p:spPr>
          <a:xfrm>
            <a:off x="9646920" y="1508760"/>
            <a:ext cx="1554480" cy="320040"/>
          </a:xfrm>
          <a:prstGeom prst="rect">
            <a:avLst/>
          </a:prstGeom>
          <a:noFill/>
        </p:spPr>
        <p:txBody>
          <a:bodyPr wrap="square">
            <a:spAutoFit/>
          </a:bodyPr>
          <a:lstStyle/>
          <a:p>
            <a:pPr algn="l"/>
            <a:r>
              <a:rPr sz="1400" b="1">
                <a:solidFill>
                  <a:srgbClr val="E8A000"/>
                </a:solidFill>
                <a:latin typeface="Bricolage Grotesque"/>
              </a:rPr>
              <a:t>DURÉE</a:t>
            </a:r>
          </a:p>
        </p:txBody>
      </p:sp>
      <p:sp>
        <p:nvSpPr>
          <p:cNvPr id="11" name="TextBox 10"/>
          <p:cNvSpPr txBox="1"/>
          <p:nvPr/>
        </p:nvSpPr>
        <p:spPr>
          <a:xfrm>
            <a:off x="9646920" y="1810512"/>
            <a:ext cx="1554480" cy="685800"/>
          </a:xfrm>
          <a:prstGeom prst="rect">
            <a:avLst/>
          </a:prstGeom>
          <a:noFill/>
        </p:spPr>
        <p:txBody>
          <a:bodyPr wrap="square">
            <a:spAutoFit/>
          </a:bodyPr>
          <a:lstStyle/>
          <a:p>
            <a:pPr algn="l"/>
            <a:r>
              <a:rPr sz="1600" b="0">
                <a:solidFill>
                  <a:srgbClr val="1A1A1A"/>
                </a:solidFill>
                <a:latin typeface="Bricolage Grotesque"/>
              </a:rPr>
              <a:t>15 min</a:t>
            </a:r>
          </a:p>
        </p:txBody>
      </p:sp>
      <p:sp>
        <p:nvSpPr>
          <p:cNvPr id="12" name="TextBox 11"/>
          <p:cNvSpPr txBox="1"/>
          <p:nvPr/>
        </p:nvSpPr>
        <p:spPr>
          <a:xfrm>
            <a:off x="640080" y="2834640"/>
            <a:ext cx="10881360" cy="411480"/>
          </a:xfrm>
          <a:prstGeom prst="rect">
            <a:avLst/>
          </a:prstGeom>
          <a:noFill/>
        </p:spPr>
        <p:txBody>
          <a:bodyPr wrap="square">
            <a:spAutoFit/>
          </a:bodyPr>
          <a:lstStyle/>
          <a:p>
            <a:r>
              <a:rPr sz="1900" b="1">
                <a:solidFill>
                  <a:srgbClr val="1B5E6B"/>
                </a:solidFill>
                <a:latin typeface="Bricolage Grotesque"/>
              </a:rPr>
              <a:t>1.  </a:t>
            </a:r>
            <a:r>
              <a:rPr sz="1900">
                <a:solidFill>
                  <a:srgbClr val="333333"/>
                </a:solidFill>
                <a:latin typeface="Bricolage Grotesque"/>
              </a:rPr>
              <a:t>Nouvelle conversation Claude, hors projet : joignez votre fichier Word.</a:t>
            </a:r>
          </a:p>
        </p:txBody>
      </p:sp>
      <p:sp>
        <p:nvSpPr>
          <p:cNvPr id="13" name="TextBox 12"/>
          <p:cNvSpPr txBox="1"/>
          <p:nvPr/>
        </p:nvSpPr>
        <p:spPr>
          <a:xfrm>
            <a:off x="640080" y="3355848"/>
            <a:ext cx="10881360" cy="411480"/>
          </a:xfrm>
          <a:prstGeom prst="rect">
            <a:avLst/>
          </a:prstGeom>
          <a:noFill/>
        </p:spPr>
        <p:txBody>
          <a:bodyPr wrap="square">
            <a:spAutoFit/>
          </a:bodyPr>
          <a:lstStyle/>
          <a:p>
            <a:r>
              <a:rPr sz="1900" b="1">
                <a:solidFill>
                  <a:srgbClr val="1B5E6B"/>
                </a:solidFill>
                <a:latin typeface="Bricolage Grotesque"/>
              </a:rPr>
              <a:t>2.  </a:t>
            </a:r>
            <a:r>
              <a:rPr sz="1900">
                <a:solidFill>
                  <a:srgbClr val="333333"/>
                </a:solidFill>
                <a:latin typeface="Bricolage Grotesque"/>
              </a:rPr>
              <a:t>Collez le prompt de conversion (je l'envoie dans le chat de la visio).</a:t>
            </a:r>
          </a:p>
        </p:txBody>
      </p:sp>
      <p:sp>
        <p:nvSpPr>
          <p:cNvPr id="14" name="TextBox 13"/>
          <p:cNvSpPr txBox="1"/>
          <p:nvPr/>
        </p:nvSpPr>
        <p:spPr>
          <a:xfrm>
            <a:off x="640080" y="3877056"/>
            <a:ext cx="10881360" cy="411480"/>
          </a:xfrm>
          <a:prstGeom prst="rect">
            <a:avLst/>
          </a:prstGeom>
          <a:noFill/>
        </p:spPr>
        <p:txBody>
          <a:bodyPr wrap="square">
            <a:spAutoFit/>
          </a:bodyPr>
          <a:lstStyle/>
          <a:p>
            <a:r>
              <a:rPr sz="1900" b="1">
                <a:solidFill>
                  <a:srgbClr val="1B5E6B"/>
                </a:solidFill>
                <a:latin typeface="Bricolage Grotesque"/>
              </a:rPr>
              <a:t>3.  </a:t>
            </a:r>
            <a:r>
              <a:rPr sz="1900">
                <a:solidFill>
                  <a:srgbClr val="333333"/>
                </a:solidFill>
                <a:latin typeface="Bricolage Grotesque"/>
              </a:rPr>
              <a:t>Vérifiez l'aperçu : une ligne par établissement, rien d'inventé.</a:t>
            </a:r>
          </a:p>
        </p:txBody>
      </p:sp>
      <p:sp>
        <p:nvSpPr>
          <p:cNvPr id="15" name="TextBox 14"/>
          <p:cNvSpPr txBox="1"/>
          <p:nvPr/>
        </p:nvSpPr>
        <p:spPr>
          <a:xfrm>
            <a:off x="640080" y="4398264"/>
            <a:ext cx="10881360" cy="411480"/>
          </a:xfrm>
          <a:prstGeom prst="rect">
            <a:avLst/>
          </a:prstGeom>
          <a:noFill/>
        </p:spPr>
        <p:txBody>
          <a:bodyPr wrap="square">
            <a:spAutoFit/>
          </a:bodyPr>
          <a:lstStyle/>
          <a:p>
            <a:r>
              <a:rPr sz="1900" b="1">
                <a:solidFill>
                  <a:srgbClr val="1B5E6B"/>
                </a:solidFill>
                <a:latin typeface="Bricolage Grotesque"/>
              </a:rPr>
              <a:t>4.  </a:t>
            </a:r>
            <a:r>
              <a:rPr sz="1900">
                <a:solidFill>
                  <a:srgbClr val="333333"/>
                </a:solidFill>
                <a:latin typeface="Bricolage Grotesque"/>
              </a:rPr>
              <a:t>Lisez la liste des établissements sans mail ni téléphone.</a:t>
            </a:r>
          </a:p>
        </p:txBody>
      </p:sp>
      <p:sp>
        <p:nvSpPr>
          <p:cNvPr id="16" name="TextBox 15"/>
          <p:cNvSpPr txBox="1"/>
          <p:nvPr/>
        </p:nvSpPr>
        <p:spPr>
          <a:xfrm>
            <a:off x="640080" y="4919472"/>
            <a:ext cx="10881360" cy="411480"/>
          </a:xfrm>
          <a:prstGeom prst="rect">
            <a:avLst/>
          </a:prstGeom>
          <a:noFill/>
        </p:spPr>
        <p:txBody>
          <a:bodyPr wrap="square">
            <a:spAutoFit/>
          </a:bodyPr>
          <a:lstStyle/>
          <a:p>
            <a:r>
              <a:rPr sz="1900" b="1">
                <a:solidFill>
                  <a:srgbClr val="1B5E6B"/>
                </a:solidFill>
                <a:latin typeface="Bricolage Grotesque"/>
              </a:rPr>
              <a:t>5.  </a:t>
            </a:r>
            <a:r>
              <a:rPr sz="1900">
                <a:solidFill>
                  <a:srgbClr val="333333"/>
                </a:solidFill>
                <a:latin typeface="Bricolage Grotesque"/>
              </a:rPr>
              <a:t>Téléchargez le fichier .xlsx et ouvrez-le dans Excel.</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143000"/>
          </a:xfrm>
          <a:prstGeom prst="rect">
            <a:avLst/>
          </a:prstGeom>
          <a:ln>
            <a:noFill/>
          </a:ln>
          <a:gradFill>
            <a:gsLst>
              <a:gs pos="0">
                <a:srgbClr val="0A2530"/>
              </a:gs>
              <a:gs pos="100000">
                <a:srgbClr val="1E5565"/>
              </a:gs>
            </a:gsLst>
            <a:lin ang="0" scaled="1"/>
          </a:gra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143000"/>
            <a:ext cx="12191695" cy="18288"/>
          </a:xfrm>
          <a:prstGeom prst="rect">
            <a:avLst/>
          </a:prstGeom>
          <a:solidFill>
            <a:srgbClr val="E8A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182880"/>
            <a:ext cx="10515600" cy="822960"/>
          </a:xfrm>
          <a:prstGeom prst="rect">
            <a:avLst/>
          </a:prstGeom>
          <a:noFill/>
        </p:spPr>
        <p:txBody>
          <a:bodyPr wrap="square">
            <a:spAutoFit/>
          </a:bodyPr>
          <a:lstStyle/>
          <a:p>
            <a:pPr algn="l"/>
            <a:r>
              <a:rPr sz="3400" b="1">
                <a:solidFill>
                  <a:srgbClr val="FFFFFF"/>
                </a:solidFill>
                <a:latin typeface="Bricolage Grotesque"/>
              </a:rPr>
              <a:t>Pratique 1 · A : le prompt</a:t>
            </a:r>
          </a:p>
        </p:txBody>
      </p:sp>
      <p:sp>
        <p:nvSpPr>
          <p:cNvPr id="5" name="TextBox 4"/>
          <p:cNvSpPr txBox="1"/>
          <p:nvPr/>
        </p:nvSpPr>
        <p:spPr>
          <a:xfrm>
            <a:off x="640080" y="1554480"/>
            <a:ext cx="10881360" cy="411480"/>
          </a:xfrm>
          <a:prstGeom prst="rect">
            <a:avLst/>
          </a:prstGeom>
          <a:noFill/>
        </p:spPr>
        <p:txBody>
          <a:bodyPr wrap="square">
            <a:spAutoFit/>
          </a:bodyPr>
          <a:lstStyle/>
          <a:p>
            <a:r>
              <a:rPr sz="2000" b="0">
                <a:solidFill>
                  <a:srgbClr val="0F2B3A"/>
                </a:solidFill>
                <a:latin typeface="Consolas"/>
              </a:rPr>
              <a:t>Voici la liste des établissements que je démarche (fichier joint).</a:t>
            </a:r>
          </a:p>
        </p:txBody>
      </p:sp>
      <p:sp>
        <p:nvSpPr>
          <p:cNvPr id="6" name="TextBox 5"/>
          <p:cNvSpPr txBox="1"/>
          <p:nvPr/>
        </p:nvSpPr>
        <p:spPr>
          <a:xfrm>
            <a:off x="640080" y="2075688"/>
            <a:ext cx="10881360" cy="411480"/>
          </a:xfrm>
          <a:prstGeom prst="rect">
            <a:avLst/>
          </a:prstGeom>
          <a:noFill/>
        </p:spPr>
        <p:txBody>
          <a:bodyPr wrap="square">
            <a:spAutoFit/>
          </a:bodyPr>
          <a:lstStyle/>
          <a:p>
            <a:r>
              <a:rPr sz="2000" b="0">
                <a:solidFill>
                  <a:srgbClr val="0F2B3A"/>
                </a:solidFill>
                <a:latin typeface="Consolas"/>
              </a:rPr>
              <a:t>Transforme-la en fichier Excel, une ligne par établissement.</a:t>
            </a:r>
          </a:p>
        </p:txBody>
      </p:sp>
      <p:sp>
        <p:nvSpPr>
          <p:cNvPr id="7" name="TextBox 6"/>
          <p:cNvSpPr txBox="1"/>
          <p:nvPr/>
        </p:nvSpPr>
        <p:spPr>
          <a:xfrm>
            <a:off x="640080" y="2596896"/>
            <a:ext cx="10881360" cy="411480"/>
          </a:xfrm>
          <a:prstGeom prst="rect">
            <a:avLst/>
          </a:prstGeom>
          <a:noFill/>
        </p:spPr>
        <p:txBody>
          <a:bodyPr wrap="square">
            <a:spAutoFit/>
          </a:bodyPr>
          <a:lstStyle/>
          <a:p>
            <a:r>
              <a:rPr sz="2000" b="0">
                <a:solidFill>
                  <a:srgbClr val="0F2B3A"/>
                </a:solidFill>
                <a:latin typeface="Consolas"/>
              </a:rPr>
              <a:t>Garde chaque information dans sa colonne. N'invente rien :</a:t>
            </a:r>
          </a:p>
        </p:txBody>
      </p:sp>
      <p:sp>
        <p:nvSpPr>
          <p:cNvPr id="8" name="TextBox 7"/>
          <p:cNvSpPr txBox="1"/>
          <p:nvPr/>
        </p:nvSpPr>
        <p:spPr>
          <a:xfrm>
            <a:off x="640080" y="3118104"/>
            <a:ext cx="10881360" cy="411480"/>
          </a:xfrm>
          <a:prstGeom prst="rect">
            <a:avLst/>
          </a:prstGeom>
          <a:noFill/>
        </p:spPr>
        <p:txBody>
          <a:bodyPr wrap="square">
            <a:spAutoFit/>
          </a:bodyPr>
          <a:lstStyle/>
          <a:p>
            <a:r>
              <a:rPr sz="2000" b="0">
                <a:solidFill>
                  <a:srgbClr val="0F2B3A"/>
                </a:solidFill>
                <a:latin typeface="Consolas"/>
              </a:rPr>
              <a:t>une information absente reste vide.</a:t>
            </a:r>
          </a:p>
        </p:txBody>
      </p:sp>
      <p:sp>
        <p:nvSpPr>
          <p:cNvPr id="9" name="TextBox 8"/>
          <p:cNvSpPr txBox="1"/>
          <p:nvPr/>
        </p:nvSpPr>
        <p:spPr>
          <a:xfrm>
            <a:off x="640080" y="3639312"/>
            <a:ext cx="10881360" cy="411480"/>
          </a:xfrm>
          <a:prstGeom prst="rect">
            <a:avLst/>
          </a:prstGeom>
          <a:noFill/>
        </p:spPr>
        <p:txBody>
          <a:bodyPr wrap="square">
            <a:spAutoFit/>
          </a:bodyPr>
          <a:lstStyle/>
          <a:p>
            <a:r>
              <a:rPr sz="2000" b="0">
                <a:solidFill>
                  <a:srgbClr val="0F2B3A"/>
                </a:solidFill>
                <a:latin typeface="Consolas"/>
              </a:rPr>
              <a:t>Si je joins deux fichiers, fusionne-les et signale les doublons.</a:t>
            </a:r>
          </a:p>
        </p:txBody>
      </p:sp>
      <p:sp>
        <p:nvSpPr>
          <p:cNvPr id="10" name="TextBox 9"/>
          <p:cNvSpPr txBox="1"/>
          <p:nvPr/>
        </p:nvSpPr>
        <p:spPr>
          <a:xfrm>
            <a:off x="640080" y="4160520"/>
            <a:ext cx="10881360" cy="411480"/>
          </a:xfrm>
          <a:prstGeom prst="rect">
            <a:avLst/>
          </a:prstGeom>
          <a:noFill/>
        </p:spPr>
        <p:txBody>
          <a:bodyPr wrap="square">
            <a:spAutoFit/>
          </a:bodyPr>
          <a:lstStyle/>
          <a:p>
            <a:r>
              <a:rPr sz="2000" b="0">
                <a:solidFill>
                  <a:srgbClr val="0F2B3A"/>
                </a:solidFill>
                <a:latin typeface="Consolas"/>
              </a:rPr>
              <a:t>À la fin, liste les établissements sans mail ni téléphone.</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143000"/>
          </a:xfrm>
          <a:prstGeom prst="rect">
            <a:avLst/>
          </a:prstGeom>
          <a:ln>
            <a:noFill/>
          </a:ln>
          <a:gradFill>
            <a:gsLst>
              <a:gs pos="0">
                <a:srgbClr val="0A2530"/>
              </a:gs>
              <a:gs pos="100000">
                <a:srgbClr val="1E5565"/>
              </a:gs>
            </a:gsLst>
            <a:lin ang="0" scaled="1"/>
          </a:gra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143000"/>
            <a:ext cx="12191695" cy="18288"/>
          </a:xfrm>
          <a:prstGeom prst="rect">
            <a:avLst/>
          </a:prstGeom>
          <a:solidFill>
            <a:srgbClr val="E8A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182880"/>
            <a:ext cx="10515600" cy="822960"/>
          </a:xfrm>
          <a:prstGeom prst="rect">
            <a:avLst/>
          </a:prstGeom>
          <a:noFill/>
        </p:spPr>
        <p:txBody>
          <a:bodyPr wrap="square">
            <a:spAutoFit/>
          </a:bodyPr>
          <a:lstStyle/>
          <a:p>
            <a:pPr algn="l"/>
            <a:r>
              <a:rPr sz="3400" b="1">
                <a:solidFill>
                  <a:srgbClr val="FFFFFF"/>
                </a:solidFill>
                <a:latin typeface="Bricolage Grotesque"/>
              </a:rPr>
              <a:t>Installer Claude dans Excel</a:t>
            </a:r>
          </a:p>
        </p:txBody>
      </p:sp>
      <p:sp>
        <p:nvSpPr>
          <p:cNvPr id="5" name="TextBox 4"/>
          <p:cNvSpPr txBox="1"/>
          <p:nvPr/>
        </p:nvSpPr>
        <p:spPr>
          <a:xfrm>
            <a:off x="640080" y="1463040"/>
            <a:ext cx="10515600" cy="640080"/>
          </a:xfrm>
          <a:prstGeom prst="rect">
            <a:avLst/>
          </a:prstGeom>
          <a:noFill/>
        </p:spPr>
        <p:txBody>
          <a:bodyPr wrap="square">
            <a:spAutoFit/>
          </a:bodyPr>
          <a:lstStyle/>
          <a:p>
            <a:pPr algn="l"/>
            <a:r>
              <a:rPr sz="2600" b="1">
                <a:solidFill>
                  <a:srgbClr val="1A1A1A"/>
                </a:solidFill>
                <a:latin typeface="Bricolage Grotesque"/>
              </a:rPr>
              <a:t>Un seul complément, aussi pour PowerPoint</a:t>
            </a:r>
          </a:p>
        </p:txBody>
      </p:sp>
      <p:sp>
        <p:nvSpPr>
          <p:cNvPr id="6" name="Rounded Rectangle 5"/>
          <p:cNvSpPr/>
          <p:nvPr/>
        </p:nvSpPr>
        <p:spPr>
          <a:xfrm>
            <a:off x="640080" y="2743200"/>
            <a:ext cx="2331720" cy="777240"/>
          </a:xfrm>
          <a:prstGeom prst="roundRect">
            <a:avLst/>
          </a:prstGeom>
          <a:solidFill>
            <a:srgbClr val="1B5E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31520" y="2907792"/>
            <a:ext cx="2148840" cy="502920"/>
          </a:xfrm>
          <a:prstGeom prst="rect">
            <a:avLst/>
          </a:prstGeom>
          <a:noFill/>
        </p:spPr>
        <p:txBody>
          <a:bodyPr wrap="square">
            <a:spAutoFit/>
          </a:bodyPr>
          <a:lstStyle/>
          <a:p>
            <a:pPr algn="ctr"/>
            <a:r>
              <a:rPr sz="1400" b="1">
                <a:solidFill>
                  <a:srgbClr val="FFFFFF"/>
                </a:solidFill>
                <a:latin typeface="Bricolage Grotesque"/>
              </a:rPr>
              <a:t>1. Marketplace
Microsoft</a:t>
            </a:r>
          </a:p>
        </p:txBody>
      </p:sp>
      <p:sp>
        <p:nvSpPr>
          <p:cNvPr id="8" name="TextBox 7"/>
          <p:cNvSpPr txBox="1"/>
          <p:nvPr/>
        </p:nvSpPr>
        <p:spPr>
          <a:xfrm>
            <a:off x="3008376" y="2926080"/>
            <a:ext cx="310896" cy="457200"/>
          </a:xfrm>
          <a:prstGeom prst="rect">
            <a:avLst/>
          </a:prstGeom>
          <a:noFill/>
        </p:spPr>
        <p:txBody>
          <a:bodyPr wrap="square">
            <a:spAutoFit/>
          </a:bodyPr>
          <a:lstStyle/>
          <a:p>
            <a:pPr algn="ctr"/>
            <a:r>
              <a:rPr sz="2200" b="1">
                <a:solidFill>
                  <a:srgbClr val="E8A000"/>
                </a:solidFill>
                <a:latin typeface="Bricolage Grotesque"/>
              </a:rPr>
              <a:t>→</a:t>
            </a:r>
          </a:p>
        </p:txBody>
      </p:sp>
      <p:sp>
        <p:nvSpPr>
          <p:cNvPr id="9" name="Rounded Rectangle 8"/>
          <p:cNvSpPr/>
          <p:nvPr/>
        </p:nvSpPr>
        <p:spPr>
          <a:xfrm>
            <a:off x="3355848" y="2743200"/>
            <a:ext cx="2331720" cy="777240"/>
          </a:xfrm>
          <a:prstGeom prst="roundRect">
            <a:avLst/>
          </a:prstGeom>
          <a:solidFill>
            <a:srgbClr val="1E556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447288" y="2907792"/>
            <a:ext cx="2148840" cy="502920"/>
          </a:xfrm>
          <a:prstGeom prst="rect">
            <a:avLst/>
          </a:prstGeom>
          <a:noFill/>
        </p:spPr>
        <p:txBody>
          <a:bodyPr wrap="square">
            <a:spAutoFit/>
          </a:bodyPr>
          <a:lstStyle/>
          <a:p>
            <a:pPr algn="ctr"/>
            <a:r>
              <a:rPr sz="1400" b="1">
                <a:solidFill>
                  <a:srgbClr val="FFFFFF"/>
                </a:solidFill>
                <a:latin typeface="Bricolage Grotesque"/>
              </a:rPr>
              <a:t>2. Chercher « Claude
for Microsoft 365 »</a:t>
            </a:r>
          </a:p>
        </p:txBody>
      </p:sp>
      <p:sp>
        <p:nvSpPr>
          <p:cNvPr id="11" name="TextBox 10"/>
          <p:cNvSpPr txBox="1"/>
          <p:nvPr/>
        </p:nvSpPr>
        <p:spPr>
          <a:xfrm>
            <a:off x="5724144" y="2926080"/>
            <a:ext cx="310896" cy="457200"/>
          </a:xfrm>
          <a:prstGeom prst="rect">
            <a:avLst/>
          </a:prstGeom>
          <a:noFill/>
        </p:spPr>
        <p:txBody>
          <a:bodyPr wrap="square">
            <a:spAutoFit/>
          </a:bodyPr>
          <a:lstStyle/>
          <a:p>
            <a:pPr algn="ctr"/>
            <a:r>
              <a:rPr sz="2200" b="1">
                <a:solidFill>
                  <a:srgbClr val="E8A000"/>
                </a:solidFill>
                <a:latin typeface="Bricolage Grotesque"/>
              </a:rPr>
              <a:t>→</a:t>
            </a:r>
          </a:p>
        </p:txBody>
      </p:sp>
      <p:sp>
        <p:nvSpPr>
          <p:cNvPr id="12" name="Rounded Rectangle 11"/>
          <p:cNvSpPr/>
          <p:nvPr/>
        </p:nvSpPr>
        <p:spPr>
          <a:xfrm>
            <a:off x="6071616" y="2743200"/>
            <a:ext cx="2331720" cy="777240"/>
          </a:xfrm>
          <a:prstGeom prst="roundRect">
            <a:avLst/>
          </a:prstGeom>
          <a:solidFill>
            <a:srgbClr val="1B5E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163056" y="2907792"/>
            <a:ext cx="2148840" cy="502920"/>
          </a:xfrm>
          <a:prstGeom prst="rect">
            <a:avLst/>
          </a:prstGeom>
          <a:noFill/>
        </p:spPr>
        <p:txBody>
          <a:bodyPr wrap="square">
            <a:spAutoFit/>
          </a:bodyPr>
          <a:lstStyle/>
          <a:p>
            <a:pPr algn="ctr"/>
            <a:r>
              <a:rPr sz="1400" b="1">
                <a:solidFill>
                  <a:srgbClr val="FFFFFF"/>
                </a:solidFill>
                <a:latin typeface="Bricolage Grotesque"/>
              </a:rPr>
              <a:t>3. « Obtenir
maintenant »</a:t>
            </a:r>
          </a:p>
        </p:txBody>
      </p:sp>
      <p:sp>
        <p:nvSpPr>
          <p:cNvPr id="14" name="TextBox 13"/>
          <p:cNvSpPr txBox="1"/>
          <p:nvPr/>
        </p:nvSpPr>
        <p:spPr>
          <a:xfrm>
            <a:off x="8439912" y="2926080"/>
            <a:ext cx="310896" cy="457200"/>
          </a:xfrm>
          <a:prstGeom prst="rect">
            <a:avLst/>
          </a:prstGeom>
          <a:noFill/>
        </p:spPr>
        <p:txBody>
          <a:bodyPr wrap="square">
            <a:spAutoFit/>
          </a:bodyPr>
          <a:lstStyle/>
          <a:p>
            <a:pPr algn="ctr"/>
            <a:r>
              <a:rPr sz="2200" b="1">
                <a:solidFill>
                  <a:srgbClr val="E8A000"/>
                </a:solidFill>
                <a:latin typeface="Bricolage Grotesque"/>
              </a:rPr>
              <a:t>→</a:t>
            </a:r>
          </a:p>
        </p:txBody>
      </p:sp>
      <p:sp>
        <p:nvSpPr>
          <p:cNvPr id="15" name="Rounded Rectangle 14"/>
          <p:cNvSpPr/>
          <p:nvPr/>
        </p:nvSpPr>
        <p:spPr>
          <a:xfrm>
            <a:off x="8787384" y="2743200"/>
            <a:ext cx="2331720" cy="777240"/>
          </a:xfrm>
          <a:prstGeom prst="roundRect">
            <a:avLst/>
          </a:prstGeom>
          <a:solidFill>
            <a:srgbClr val="1E556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878824" y="2907792"/>
            <a:ext cx="2148840" cy="502920"/>
          </a:xfrm>
          <a:prstGeom prst="rect">
            <a:avLst/>
          </a:prstGeom>
          <a:noFill/>
        </p:spPr>
        <p:txBody>
          <a:bodyPr wrap="square">
            <a:spAutoFit/>
          </a:bodyPr>
          <a:lstStyle/>
          <a:p>
            <a:pPr algn="ctr"/>
            <a:r>
              <a:rPr sz="1400" b="1">
                <a:solidFill>
                  <a:srgbClr val="FFFFFF"/>
                </a:solidFill>
                <a:latin typeface="Bricolage Grotesque"/>
              </a:rPr>
              <a:t>4. Excel › Accueil
› Compléments</a:t>
            </a:r>
          </a:p>
        </p:txBody>
      </p:sp>
      <p:sp>
        <p:nvSpPr>
          <p:cNvPr id="17" name="Rounded Rectangle 16"/>
          <p:cNvSpPr/>
          <p:nvPr/>
        </p:nvSpPr>
        <p:spPr>
          <a:xfrm>
            <a:off x="640080" y="4160520"/>
            <a:ext cx="2331720" cy="777240"/>
          </a:xfrm>
          <a:prstGeom prst="roundRect">
            <a:avLst/>
          </a:prstGeom>
          <a:solidFill>
            <a:srgbClr val="1B5E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31520" y="4325112"/>
            <a:ext cx="2148840" cy="502920"/>
          </a:xfrm>
          <a:prstGeom prst="rect">
            <a:avLst/>
          </a:prstGeom>
          <a:noFill/>
        </p:spPr>
        <p:txBody>
          <a:bodyPr wrap="square">
            <a:spAutoFit/>
          </a:bodyPr>
          <a:lstStyle/>
          <a:p>
            <a:pPr algn="ctr"/>
            <a:r>
              <a:rPr sz="1400" b="1">
                <a:solidFill>
                  <a:srgbClr val="FFFFFF"/>
                </a:solidFill>
                <a:latin typeface="Bricolage Grotesque"/>
              </a:rPr>
              <a:t>5. Connexion
avec votre compte</a:t>
            </a:r>
          </a:p>
        </p:txBody>
      </p:sp>
      <p:sp>
        <p:nvSpPr>
          <p:cNvPr id="19" name="TextBox 18"/>
          <p:cNvSpPr txBox="1"/>
          <p:nvPr/>
        </p:nvSpPr>
        <p:spPr>
          <a:xfrm>
            <a:off x="640080" y="5029200"/>
            <a:ext cx="10972800" cy="411480"/>
          </a:xfrm>
          <a:prstGeom prst="rect">
            <a:avLst/>
          </a:prstGeom>
          <a:noFill/>
        </p:spPr>
        <p:txBody>
          <a:bodyPr wrap="square">
            <a:spAutoFit/>
          </a:bodyPr>
          <a:lstStyle/>
          <a:p>
            <a:pPr algn="l"/>
            <a:r>
              <a:rPr sz="1800" b="1">
                <a:solidFill>
                  <a:srgbClr val="1B5E6B"/>
                </a:solidFill>
                <a:latin typeface="Bricolage Grotesque"/>
              </a:rPr>
              <a:t>Pas « Claude by Anthropic » : le complément s'appelle « Claude for Microsoft 365 ».</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143000"/>
          </a:xfrm>
          <a:prstGeom prst="rect">
            <a:avLst/>
          </a:prstGeom>
          <a:ln>
            <a:noFill/>
          </a:ln>
          <a:gradFill>
            <a:gsLst>
              <a:gs pos="0">
                <a:srgbClr val="0A2530"/>
              </a:gs>
              <a:gs pos="100000">
                <a:srgbClr val="1E5565"/>
              </a:gs>
            </a:gsLst>
            <a:lin ang="0" scaled="1"/>
          </a:gra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143000"/>
            <a:ext cx="12191695" cy="18288"/>
          </a:xfrm>
          <a:prstGeom prst="rect">
            <a:avLst/>
          </a:prstGeom>
          <a:solidFill>
            <a:srgbClr val="E8A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182880"/>
            <a:ext cx="10515600" cy="822960"/>
          </a:xfrm>
          <a:prstGeom prst="rect">
            <a:avLst/>
          </a:prstGeom>
          <a:noFill/>
        </p:spPr>
        <p:txBody>
          <a:bodyPr wrap="square">
            <a:spAutoFit/>
          </a:bodyPr>
          <a:lstStyle/>
          <a:p>
            <a:pPr algn="l"/>
            <a:r>
              <a:rPr sz="3400" b="1">
                <a:solidFill>
                  <a:srgbClr val="FFFFFF"/>
                </a:solidFill>
                <a:latin typeface="Bricolage Grotesque"/>
              </a:rPr>
              <a:t>Pratique 1 · B : le tableau de suivi</a:t>
            </a:r>
          </a:p>
        </p:txBody>
      </p:sp>
      <p:sp>
        <p:nvSpPr>
          <p:cNvPr id="5" name="Rounded Rectangle 4"/>
          <p:cNvSpPr/>
          <p:nvPr/>
        </p:nvSpPr>
        <p:spPr>
          <a:xfrm>
            <a:off x="640080" y="1417320"/>
            <a:ext cx="10881360" cy="1143000"/>
          </a:xfrm>
          <a:prstGeom prst="roundRect">
            <a:avLst/>
          </a:prstGeom>
          <a:solidFill>
            <a:srgbClr val="EDED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68680" y="1508760"/>
            <a:ext cx="4023359" cy="320040"/>
          </a:xfrm>
          <a:prstGeom prst="rect">
            <a:avLst/>
          </a:prstGeom>
          <a:noFill/>
        </p:spPr>
        <p:txBody>
          <a:bodyPr wrap="square">
            <a:spAutoFit/>
          </a:bodyPr>
          <a:lstStyle/>
          <a:p>
            <a:pPr algn="l"/>
            <a:r>
              <a:rPr sz="1400" b="1">
                <a:solidFill>
                  <a:srgbClr val="E8A000"/>
                </a:solidFill>
                <a:latin typeface="Bricolage Grotesque"/>
              </a:rPr>
              <a:t>OBJECTIF</a:t>
            </a:r>
          </a:p>
        </p:txBody>
      </p:sp>
      <p:sp>
        <p:nvSpPr>
          <p:cNvPr id="7" name="TextBox 6"/>
          <p:cNvSpPr txBox="1"/>
          <p:nvPr/>
        </p:nvSpPr>
        <p:spPr>
          <a:xfrm>
            <a:off x="868680" y="1810512"/>
            <a:ext cx="4023359" cy="685800"/>
          </a:xfrm>
          <a:prstGeom prst="rect">
            <a:avLst/>
          </a:prstGeom>
          <a:noFill/>
        </p:spPr>
        <p:txBody>
          <a:bodyPr wrap="square">
            <a:spAutoFit/>
          </a:bodyPr>
          <a:lstStyle/>
          <a:p>
            <a:pPr algn="l"/>
            <a:r>
              <a:rPr sz="1600" b="0">
                <a:solidFill>
                  <a:srgbClr val="1A1A1A"/>
                </a:solidFill>
                <a:latin typeface="Bricolage Grotesque"/>
              </a:rPr>
              <a:t>Savoir chaque semaine qui relancer, sans chercher</a:t>
            </a:r>
          </a:p>
        </p:txBody>
      </p:sp>
      <p:sp>
        <p:nvSpPr>
          <p:cNvPr id="8" name="TextBox 7"/>
          <p:cNvSpPr txBox="1"/>
          <p:nvPr/>
        </p:nvSpPr>
        <p:spPr>
          <a:xfrm>
            <a:off x="5074920" y="1508760"/>
            <a:ext cx="4389120" cy="320040"/>
          </a:xfrm>
          <a:prstGeom prst="rect">
            <a:avLst/>
          </a:prstGeom>
          <a:noFill/>
        </p:spPr>
        <p:txBody>
          <a:bodyPr wrap="square">
            <a:spAutoFit/>
          </a:bodyPr>
          <a:lstStyle/>
          <a:p>
            <a:pPr algn="l"/>
            <a:r>
              <a:rPr sz="1400" b="1">
                <a:solidFill>
                  <a:srgbClr val="E8A000"/>
                </a:solidFill>
                <a:latin typeface="Bricolage Grotesque"/>
              </a:rPr>
              <a:t>LIVRABLE</a:t>
            </a:r>
          </a:p>
        </p:txBody>
      </p:sp>
      <p:sp>
        <p:nvSpPr>
          <p:cNvPr id="9" name="TextBox 8"/>
          <p:cNvSpPr txBox="1"/>
          <p:nvPr/>
        </p:nvSpPr>
        <p:spPr>
          <a:xfrm>
            <a:off x="5074920" y="1810512"/>
            <a:ext cx="4389120" cy="685800"/>
          </a:xfrm>
          <a:prstGeom prst="rect">
            <a:avLst/>
          </a:prstGeom>
          <a:noFill/>
        </p:spPr>
        <p:txBody>
          <a:bodyPr wrap="square">
            <a:spAutoFit/>
          </a:bodyPr>
          <a:lstStyle/>
          <a:p>
            <a:pPr algn="l"/>
            <a:r>
              <a:rPr sz="1600" b="0">
                <a:solidFill>
                  <a:srgbClr val="1A1A1A"/>
                </a:solidFill>
                <a:latin typeface="Bricolage Grotesque"/>
              </a:rPr>
              <a:t>Le tableau de suivi de votre mailing de Noël</a:t>
            </a:r>
          </a:p>
        </p:txBody>
      </p:sp>
      <p:sp>
        <p:nvSpPr>
          <p:cNvPr id="10" name="TextBox 9"/>
          <p:cNvSpPr txBox="1"/>
          <p:nvPr/>
        </p:nvSpPr>
        <p:spPr>
          <a:xfrm>
            <a:off x="9646920" y="1508760"/>
            <a:ext cx="1554480" cy="320040"/>
          </a:xfrm>
          <a:prstGeom prst="rect">
            <a:avLst/>
          </a:prstGeom>
          <a:noFill/>
        </p:spPr>
        <p:txBody>
          <a:bodyPr wrap="square">
            <a:spAutoFit/>
          </a:bodyPr>
          <a:lstStyle/>
          <a:p>
            <a:pPr algn="l"/>
            <a:r>
              <a:rPr sz="1400" b="1">
                <a:solidFill>
                  <a:srgbClr val="E8A000"/>
                </a:solidFill>
                <a:latin typeface="Bricolage Grotesque"/>
              </a:rPr>
              <a:t>DURÉE</a:t>
            </a:r>
          </a:p>
        </p:txBody>
      </p:sp>
      <p:sp>
        <p:nvSpPr>
          <p:cNvPr id="11" name="TextBox 10"/>
          <p:cNvSpPr txBox="1"/>
          <p:nvPr/>
        </p:nvSpPr>
        <p:spPr>
          <a:xfrm>
            <a:off x="9646920" y="1810512"/>
            <a:ext cx="1554480" cy="685800"/>
          </a:xfrm>
          <a:prstGeom prst="rect">
            <a:avLst/>
          </a:prstGeom>
          <a:noFill/>
        </p:spPr>
        <p:txBody>
          <a:bodyPr wrap="square">
            <a:spAutoFit/>
          </a:bodyPr>
          <a:lstStyle/>
          <a:p>
            <a:pPr algn="l"/>
            <a:r>
              <a:rPr sz="1600" b="0">
                <a:solidFill>
                  <a:srgbClr val="1A1A1A"/>
                </a:solidFill>
                <a:latin typeface="Bricolage Grotesque"/>
              </a:rPr>
              <a:t>25 min</a:t>
            </a:r>
          </a:p>
        </p:txBody>
      </p:sp>
      <p:sp>
        <p:nvSpPr>
          <p:cNvPr id="12" name="TextBox 11"/>
          <p:cNvSpPr txBox="1"/>
          <p:nvPr/>
        </p:nvSpPr>
        <p:spPr>
          <a:xfrm>
            <a:off x="640080" y="2834640"/>
            <a:ext cx="10881360" cy="411480"/>
          </a:xfrm>
          <a:prstGeom prst="rect">
            <a:avLst/>
          </a:prstGeom>
          <a:noFill/>
        </p:spPr>
        <p:txBody>
          <a:bodyPr wrap="square">
            <a:spAutoFit/>
          </a:bodyPr>
          <a:lstStyle/>
          <a:p>
            <a:r>
              <a:rPr sz="1900" b="1">
                <a:solidFill>
                  <a:srgbClr val="1B5E6B"/>
                </a:solidFill>
                <a:latin typeface="Bricolage Grotesque"/>
              </a:rPr>
              <a:t>1.  </a:t>
            </a:r>
            <a:r>
              <a:rPr sz="1900">
                <a:solidFill>
                  <a:srgbClr val="333333"/>
                </a:solidFill>
                <a:latin typeface="Bricolage Grotesque"/>
              </a:rPr>
              <a:t>Installez l'add-in, puis ouvrez Claude dans votre fichier Excel.</a:t>
            </a:r>
          </a:p>
        </p:txBody>
      </p:sp>
      <p:sp>
        <p:nvSpPr>
          <p:cNvPr id="13" name="TextBox 12"/>
          <p:cNvSpPr txBox="1"/>
          <p:nvPr/>
        </p:nvSpPr>
        <p:spPr>
          <a:xfrm>
            <a:off x="640080" y="3355848"/>
            <a:ext cx="10881360" cy="411480"/>
          </a:xfrm>
          <a:prstGeom prst="rect">
            <a:avLst/>
          </a:prstGeom>
          <a:noFill/>
        </p:spPr>
        <p:txBody>
          <a:bodyPr wrap="square">
            <a:spAutoFit/>
          </a:bodyPr>
          <a:lstStyle/>
          <a:p>
            <a:r>
              <a:rPr sz="1900" b="1">
                <a:solidFill>
                  <a:srgbClr val="1B5E6B"/>
                </a:solidFill>
                <a:latin typeface="Bricolage Grotesque"/>
              </a:rPr>
              <a:t>2.  </a:t>
            </a:r>
            <a:r>
              <a:rPr sz="1900">
                <a:solidFill>
                  <a:srgbClr val="333333"/>
                </a:solidFill>
                <a:latin typeface="Bricolage Grotesque"/>
              </a:rPr>
              <a:t>Collez le prompt du tableau de suivi (dans le chat de la visio).</a:t>
            </a:r>
          </a:p>
        </p:txBody>
      </p:sp>
      <p:sp>
        <p:nvSpPr>
          <p:cNvPr id="14" name="TextBox 13"/>
          <p:cNvSpPr txBox="1"/>
          <p:nvPr/>
        </p:nvSpPr>
        <p:spPr>
          <a:xfrm>
            <a:off x="640080" y="3877056"/>
            <a:ext cx="10881360" cy="411480"/>
          </a:xfrm>
          <a:prstGeom prst="rect">
            <a:avLst/>
          </a:prstGeom>
          <a:noFill/>
        </p:spPr>
        <p:txBody>
          <a:bodyPr wrap="square">
            <a:spAutoFit/>
          </a:bodyPr>
          <a:lstStyle/>
          <a:p>
            <a:r>
              <a:rPr sz="1900" b="1">
                <a:solidFill>
                  <a:srgbClr val="1B5E6B"/>
                </a:solidFill>
                <a:latin typeface="Bricolage Grotesque"/>
              </a:rPr>
              <a:t>3.  </a:t>
            </a:r>
            <a:r>
              <a:rPr sz="1900">
                <a:solidFill>
                  <a:srgbClr val="333333"/>
                </a:solidFill>
                <a:latin typeface="Bricolage Grotesque"/>
              </a:rPr>
              <a:t>Contrôlez : vos données d'origine n'ont pas bougé.</a:t>
            </a:r>
          </a:p>
        </p:txBody>
      </p:sp>
      <p:sp>
        <p:nvSpPr>
          <p:cNvPr id="15" name="TextBox 14"/>
          <p:cNvSpPr txBox="1"/>
          <p:nvPr/>
        </p:nvSpPr>
        <p:spPr>
          <a:xfrm>
            <a:off x="640080" y="4398264"/>
            <a:ext cx="10881360" cy="411480"/>
          </a:xfrm>
          <a:prstGeom prst="rect">
            <a:avLst/>
          </a:prstGeom>
          <a:noFill/>
        </p:spPr>
        <p:txBody>
          <a:bodyPr wrap="square">
            <a:spAutoFit/>
          </a:bodyPr>
          <a:lstStyle/>
          <a:p>
            <a:r>
              <a:rPr sz="1900" b="1">
                <a:solidFill>
                  <a:srgbClr val="1B5E6B"/>
                </a:solidFill>
                <a:latin typeface="Bricolage Grotesque"/>
              </a:rPr>
              <a:t>4.  </a:t>
            </a:r>
            <a:r>
              <a:rPr sz="1900">
                <a:solidFill>
                  <a:srgbClr val="333333"/>
                </a:solidFill>
                <a:latin typeface="Bricolage Grotesque"/>
              </a:rPr>
              <a:t>Saisissez deux ou trois dates d'envoi, puis sélectionnez ces lignes.</a:t>
            </a:r>
          </a:p>
        </p:txBody>
      </p:sp>
      <p:sp>
        <p:nvSpPr>
          <p:cNvPr id="16" name="TextBox 15"/>
          <p:cNvSpPr txBox="1"/>
          <p:nvPr/>
        </p:nvSpPr>
        <p:spPr>
          <a:xfrm>
            <a:off x="640080" y="4919472"/>
            <a:ext cx="10881360" cy="411480"/>
          </a:xfrm>
          <a:prstGeom prst="rect">
            <a:avLst/>
          </a:prstGeom>
          <a:noFill/>
        </p:spPr>
        <p:txBody>
          <a:bodyPr wrap="square">
            <a:spAutoFit/>
          </a:bodyPr>
          <a:lstStyle/>
          <a:p>
            <a:r>
              <a:rPr sz="1900" b="1">
                <a:solidFill>
                  <a:srgbClr val="1B5E6B"/>
                </a:solidFill>
                <a:latin typeface="Bricolage Grotesque"/>
              </a:rPr>
              <a:t>5.  </a:t>
            </a:r>
            <a:r>
              <a:rPr sz="1900">
                <a:solidFill>
                  <a:srgbClr val="333333"/>
                </a:solidFill>
                <a:latin typeface="Bricolage Grotesque"/>
              </a:rPr>
              <a:t>Demandez : « Quels établissements dois-je relancer cette semaine ? »</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143000"/>
          </a:xfrm>
          <a:prstGeom prst="rect">
            <a:avLst/>
          </a:prstGeom>
          <a:ln>
            <a:noFill/>
          </a:ln>
          <a:gradFill>
            <a:gsLst>
              <a:gs pos="0">
                <a:srgbClr val="0A2530"/>
              </a:gs>
              <a:gs pos="100000">
                <a:srgbClr val="1E5565"/>
              </a:gs>
            </a:gsLst>
            <a:lin ang="0" scaled="1"/>
          </a:gra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143000"/>
            <a:ext cx="12191695" cy="18288"/>
          </a:xfrm>
          <a:prstGeom prst="rect">
            <a:avLst/>
          </a:prstGeom>
          <a:solidFill>
            <a:srgbClr val="E8A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182880"/>
            <a:ext cx="10515600" cy="822960"/>
          </a:xfrm>
          <a:prstGeom prst="rect">
            <a:avLst/>
          </a:prstGeom>
          <a:noFill/>
        </p:spPr>
        <p:txBody>
          <a:bodyPr wrap="square">
            <a:spAutoFit/>
          </a:bodyPr>
          <a:lstStyle/>
          <a:p>
            <a:pPr algn="l"/>
            <a:r>
              <a:rPr sz="3400" b="1">
                <a:solidFill>
                  <a:srgbClr val="FFFFFF"/>
                </a:solidFill>
                <a:latin typeface="Bricolage Grotesque"/>
              </a:rPr>
              <a:t>Pratique 1 · B : le prompt</a:t>
            </a:r>
          </a:p>
        </p:txBody>
      </p:sp>
      <p:sp>
        <p:nvSpPr>
          <p:cNvPr id="5" name="TextBox 4"/>
          <p:cNvSpPr txBox="1"/>
          <p:nvPr/>
        </p:nvSpPr>
        <p:spPr>
          <a:xfrm>
            <a:off x="640080" y="1554480"/>
            <a:ext cx="10881360" cy="411480"/>
          </a:xfrm>
          <a:prstGeom prst="rect">
            <a:avLst/>
          </a:prstGeom>
          <a:noFill/>
        </p:spPr>
        <p:txBody>
          <a:bodyPr wrap="square">
            <a:spAutoFit/>
          </a:bodyPr>
          <a:lstStyle/>
          <a:p>
            <a:r>
              <a:rPr sz="2000" b="0">
                <a:solidFill>
                  <a:srgbClr val="0F2B3A"/>
                </a:solidFill>
                <a:latin typeface="Consolas"/>
              </a:rPr>
              <a:t>Ce classeur est ma liste d'établissements pour mon mailing de Noël.</a:t>
            </a:r>
          </a:p>
        </p:txBody>
      </p:sp>
      <p:sp>
        <p:nvSpPr>
          <p:cNvPr id="6" name="TextBox 5"/>
          <p:cNvSpPr txBox="1"/>
          <p:nvPr/>
        </p:nvSpPr>
        <p:spPr>
          <a:xfrm>
            <a:off x="640080" y="2075688"/>
            <a:ext cx="10881360" cy="411480"/>
          </a:xfrm>
          <a:prstGeom prst="rect">
            <a:avLst/>
          </a:prstGeom>
          <a:noFill/>
        </p:spPr>
        <p:txBody>
          <a:bodyPr wrap="square">
            <a:spAutoFit/>
          </a:bodyPr>
          <a:lstStyle/>
          <a:p>
            <a:r>
              <a:rPr sz="2000" b="0">
                <a:solidFill>
                  <a:srgbClr val="0F2B3A"/>
                </a:solidFill>
                <a:latin typeface="Consolas"/>
              </a:rPr>
              <a:t>Ajoute quatre colonnes : Date d'envoi, Relance prévue, Réponse,</a:t>
            </a:r>
          </a:p>
        </p:txBody>
      </p:sp>
      <p:sp>
        <p:nvSpPr>
          <p:cNvPr id="7" name="TextBox 6"/>
          <p:cNvSpPr txBox="1"/>
          <p:nvPr/>
        </p:nvSpPr>
        <p:spPr>
          <a:xfrm>
            <a:off x="640080" y="2596896"/>
            <a:ext cx="10881360" cy="411480"/>
          </a:xfrm>
          <a:prstGeom prst="rect">
            <a:avLst/>
          </a:prstGeom>
          <a:noFill/>
        </p:spPr>
        <p:txBody>
          <a:bodyPr wrap="square">
            <a:spAutoFit/>
          </a:bodyPr>
          <a:lstStyle/>
          <a:p>
            <a:r>
              <a:rPr sz="2000" b="0">
                <a:solidFill>
                  <a:srgbClr val="0F2B3A"/>
                </a:solidFill>
                <a:latin typeface="Consolas"/>
              </a:rPr>
              <a:t>Prochaine action. Relance prévue : date d'envoi + 10 jours.</a:t>
            </a:r>
          </a:p>
        </p:txBody>
      </p:sp>
      <p:sp>
        <p:nvSpPr>
          <p:cNvPr id="8" name="TextBox 7"/>
          <p:cNvSpPr txBox="1"/>
          <p:nvPr/>
        </p:nvSpPr>
        <p:spPr>
          <a:xfrm>
            <a:off x="640080" y="3118104"/>
            <a:ext cx="10881360" cy="411480"/>
          </a:xfrm>
          <a:prstGeom prst="rect">
            <a:avLst/>
          </a:prstGeom>
          <a:noFill/>
        </p:spPr>
        <p:txBody>
          <a:bodyPr wrap="square">
            <a:spAutoFit/>
          </a:bodyPr>
          <a:lstStyle/>
          <a:p>
            <a:r>
              <a:rPr sz="2000" b="0">
                <a:solidFill>
                  <a:srgbClr val="0F2B3A"/>
                </a:solidFill>
                <a:latin typeface="Consolas"/>
              </a:rPr>
              <a:t>Réponse : liste déroulante (En attente, Intéressé, Devis envoyé,</a:t>
            </a:r>
          </a:p>
        </p:txBody>
      </p:sp>
      <p:sp>
        <p:nvSpPr>
          <p:cNvPr id="9" name="TextBox 8"/>
          <p:cNvSpPr txBox="1"/>
          <p:nvPr/>
        </p:nvSpPr>
        <p:spPr>
          <a:xfrm>
            <a:off x="640080" y="3639312"/>
            <a:ext cx="10881360" cy="411480"/>
          </a:xfrm>
          <a:prstGeom prst="rect">
            <a:avLst/>
          </a:prstGeom>
          <a:noFill/>
        </p:spPr>
        <p:txBody>
          <a:bodyPr wrap="square">
            <a:spAutoFit/>
          </a:bodyPr>
          <a:lstStyle/>
          <a:p>
            <a:r>
              <a:rPr sz="2000" b="0">
                <a:solidFill>
                  <a:srgbClr val="0F2B3A"/>
                </a:solidFill>
                <a:latin typeface="Consolas"/>
              </a:rPr>
              <a:t>Pas intéressé), avec une couleur par réponse.</a:t>
            </a:r>
          </a:p>
        </p:txBody>
      </p:sp>
      <p:sp>
        <p:nvSpPr>
          <p:cNvPr id="10" name="TextBox 9"/>
          <p:cNvSpPr txBox="1"/>
          <p:nvPr/>
        </p:nvSpPr>
        <p:spPr>
          <a:xfrm>
            <a:off x="640080" y="4160520"/>
            <a:ext cx="10881360" cy="411480"/>
          </a:xfrm>
          <a:prstGeom prst="rect">
            <a:avLst/>
          </a:prstGeom>
          <a:noFill/>
        </p:spPr>
        <p:txBody>
          <a:bodyPr wrap="square">
            <a:spAutoFit/>
          </a:bodyPr>
          <a:lstStyle/>
          <a:p>
            <a:r>
              <a:rPr sz="2000" b="0">
                <a:solidFill>
                  <a:srgbClr val="0F2B3A"/>
                </a:solidFill>
                <a:latin typeface="Consolas"/>
              </a:rPr>
              <a:t>Ne modifie aucune donnée existante.</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2B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640080" y="1965960"/>
            <a:ext cx="2743200" cy="36576"/>
          </a:xfrm>
          <a:prstGeom prst="rect">
            <a:avLst/>
          </a:prstGeom>
          <a:solidFill>
            <a:srgbClr val="E8A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1371600"/>
            <a:ext cx="10515600" cy="731520"/>
          </a:xfrm>
          <a:prstGeom prst="rect">
            <a:avLst/>
          </a:prstGeom>
          <a:noFill/>
        </p:spPr>
        <p:txBody>
          <a:bodyPr wrap="square">
            <a:spAutoFit/>
          </a:bodyPr>
          <a:lstStyle/>
          <a:p>
            <a:pPr algn="l"/>
            <a:r>
              <a:rPr sz="2200" b="1">
                <a:solidFill>
                  <a:srgbClr val="E8A000"/>
                </a:solidFill>
                <a:latin typeface="Bricolage Grotesque"/>
              </a:rPr>
              <a:t>Séquence 5</a:t>
            </a:r>
          </a:p>
        </p:txBody>
      </p:sp>
      <p:sp>
        <p:nvSpPr>
          <p:cNvPr id="5" name="TextBox 4"/>
          <p:cNvSpPr txBox="1"/>
          <p:nvPr/>
        </p:nvSpPr>
        <p:spPr>
          <a:xfrm>
            <a:off x="640080" y="2286000"/>
            <a:ext cx="10698480" cy="1645920"/>
          </a:xfrm>
          <a:prstGeom prst="rect">
            <a:avLst/>
          </a:prstGeom>
          <a:noFill/>
        </p:spPr>
        <p:txBody>
          <a:bodyPr wrap="square">
            <a:spAutoFit/>
          </a:bodyPr>
          <a:lstStyle/>
          <a:p>
            <a:pPr algn="l"/>
            <a:r>
              <a:rPr sz="4200" b="1">
                <a:solidFill>
                  <a:srgbClr val="FFFFFF"/>
                </a:solidFill>
                <a:latin typeface="Bricolage Grotesque"/>
              </a:rPr>
              <a:t>Pratique 2 : votre CV adapté à une offre</a:t>
            </a:r>
          </a:p>
        </p:txBody>
      </p:sp>
      <p:sp>
        <p:nvSpPr>
          <p:cNvPr id="6" name="TextBox 5"/>
          <p:cNvSpPr txBox="1"/>
          <p:nvPr/>
        </p:nvSpPr>
        <p:spPr>
          <a:xfrm>
            <a:off x="640080" y="4023360"/>
            <a:ext cx="10515600" cy="731520"/>
          </a:xfrm>
          <a:prstGeom prst="rect">
            <a:avLst/>
          </a:prstGeom>
          <a:noFill/>
        </p:spPr>
        <p:txBody>
          <a:bodyPr wrap="square">
            <a:spAutoFit/>
          </a:bodyPr>
          <a:lstStyle/>
          <a:p>
            <a:pPr algn="l"/>
            <a:r>
              <a:rPr sz="2000" b="0">
                <a:solidFill>
                  <a:srgbClr val="5A8A8F"/>
                </a:solidFill>
                <a:latin typeface="Bricolage Grotesque"/>
              </a:rPr>
              <a:t>Tout dans Claude, jusqu'à Canva</a:t>
            </a:r>
          </a:p>
        </p:txBody>
      </p:sp>
      <p:pic>
        <p:nvPicPr>
          <p:cNvPr id="7" name="Picture 6" descr="ia-round.png"/>
          <p:cNvPicPr>
            <a:picLocks noChangeAspect="1"/>
          </p:cNvPicPr>
          <p:nvPr/>
        </p:nvPicPr>
        <p:blipFill>
          <a:blip r:embed="rId2"/>
          <a:stretch>
            <a:fillRect/>
          </a:stretch>
        </p:blipFill>
        <p:spPr>
          <a:xfrm>
            <a:off x="457200" y="6217920"/>
            <a:ext cx="320040" cy="320040"/>
          </a:xfrm>
          <a:prstGeom prst="rect">
            <a:avLst/>
          </a:prstGeom>
        </p:spPr>
      </p:pic>
      <p:sp>
        <p:nvSpPr>
          <p:cNvPr id="8" name="TextBox 7"/>
          <p:cNvSpPr txBox="1"/>
          <p:nvPr/>
        </p:nvSpPr>
        <p:spPr>
          <a:xfrm>
            <a:off x="868680" y="6199632"/>
            <a:ext cx="3657600" cy="365760"/>
          </a:xfrm>
          <a:prstGeom prst="rect">
            <a:avLst/>
          </a:prstGeom>
          <a:noFill/>
        </p:spPr>
        <p:txBody>
          <a:bodyPr wrap="square">
            <a:spAutoFit/>
          </a:bodyPr>
          <a:lstStyle/>
          <a:p>
            <a:pPr algn="l"/>
            <a:r>
              <a:rPr sz="1400" b="0">
                <a:solidFill>
                  <a:srgbClr val="FFFFFF"/>
                </a:solidFill>
                <a:latin typeface="Bricolage Grotesque"/>
              </a:rPr>
              <a:t>intelligence academy</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143000"/>
          </a:xfrm>
          <a:prstGeom prst="rect">
            <a:avLst/>
          </a:prstGeom>
          <a:ln>
            <a:noFill/>
          </a:ln>
          <a:gradFill>
            <a:gsLst>
              <a:gs pos="0">
                <a:srgbClr val="0A2530"/>
              </a:gs>
              <a:gs pos="100000">
                <a:srgbClr val="1E5565"/>
              </a:gs>
            </a:gsLst>
            <a:lin ang="0" scaled="1"/>
          </a:gra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143000"/>
            <a:ext cx="12191695" cy="18288"/>
          </a:xfrm>
          <a:prstGeom prst="rect">
            <a:avLst/>
          </a:prstGeom>
          <a:solidFill>
            <a:srgbClr val="E8A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182880"/>
            <a:ext cx="10515600" cy="822960"/>
          </a:xfrm>
          <a:prstGeom prst="rect">
            <a:avLst/>
          </a:prstGeom>
          <a:noFill/>
        </p:spPr>
        <p:txBody>
          <a:bodyPr wrap="square">
            <a:spAutoFit/>
          </a:bodyPr>
          <a:lstStyle/>
          <a:p>
            <a:pPr algn="l"/>
            <a:r>
              <a:rPr sz="3400" b="1">
                <a:solidFill>
                  <a:srgbClr val="FFFFFF"/>
                </a:solidFill>
                <a:latin typeface="Bricolage Grotesque"/>
              </a:rPr>
              <a:t>Une candidature, de l'offre au CV</a:t>
            </a:r>
          </a:p>
        </p:txBody>
      </p:sp>
      <p:sp>
        <p:nvSpPr>
          <p:cNvPr id="5" name="TextBox 4"/>
          <p:cNvSpPr txBox="1"/>
          <p:nvPr/>
        </p:nvSpPr>
        <p:spPr>
          <a:xfrm>
            <a:off x="640080" y="1463040"/>
            <a:ext cx="10515600" cy="640080"/>
          </a:xfrm>
          <a:prstGeom prst="rect">
            <a:avLst/>
          </a:prstGeom>
          <a:noFill/>
        </p:spPr>
        <p:txBody>
          <a:bodyPr wrap="square">
            <a:spAutoFit/>
          </a:bodyPr>
          <a:lstStyle/>
          <a:p>
            <a:pPr algn="l"/>
            <a:r>
              <a:rPr sz="2600" b="1">
                <a:solidFill>
                  <a:srgbClr val="1A1A1A"/>
                </a:solidFill>
                <a:latin typeface="Bricolage Grotesque"/>
              </a:rPr>
              <a:t>Six étapes, votre validation au milieu</a:t>
            </a:r>
          </a:p>
        </p:txBody>
      </p:sp>
      <p:sp>
        <p:nvSpPr>
          <p:cNvPr id="6" name="Rounded Rectangle 5"/>
          <p:cNvSpPr/>
          <p:nvPr/>
        </p:nvSpPr>
        <p:spPr>
          <a:xfrm>
            <a:off x="640080" y="2743200"/>
            <a:ext cx="2331720" cy="777240"/>
          </a:xfrm>
          <a:prstGeom prst="roundRect">
            <a:avLst/>
          </a:prstGeom>
          <a:solidFill>
            <a:srgbClr val="1B5E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31520" y="2907792"/>
            <a:ext cx="2148840" cy="502920"/>
          </a:xfrm>
          <a:prstGeom prst="rect">
            <a:avLst/>
          </a:prstGeom>
          <a:noFill/>
        </p:spPr>
        <p:txBody>
          <a:bodyPr wrap="square">
            <a:spAutoFit/>
          </a:bodyPr>
          <a:lstStyle/>
          <a:p>
            <a:pPr algn="ctr"/>
            <a:r>
              <a:rPr sz="1400" b="1">
                <a:solidFill>
                  <a:srgbClr val="FFFFFF"/>
                </a:solidFill>
                <a:latin typeface="Bricolage Grotesque"/>
              </a:rPr>
              <a:t>1. L'offre
lien ou texte</a:t>
            </a:r>
          </a:p>
        </p:txBody>
      </p:sp>
      <p:sp>
        <p:nvSpPr>
          <p:cNvPr id="8" name="TextBox 7"/>
          <p:cNvSpPr txBox="1"/>
          <p:nvPr/>
        </p:nvSpPr>
        <p:spPr>
          <a:xfrm>
            <a:off x="3008376" y="2926080"/>
            <a:ext cx="310896" cy="457200"/>
          </a:xfrm>
          <a:prstGeom prst="rect">
            <a:avLst/>
          </a:prstGeom>
          <a:noFill/>
        </p:spPr>
        <p:txBody>
          <a:bodyPr wrap="square">
            <a:spAutoFit/>
          </a:bodyPr>
          <a:lstStyle/>
          <a:p>
            <a:pPr algn="ctr"/>
            <a:r>
              <a:rPr sz="2200" b="1">
                <a:solidFill>
                  <a:srgbClr val="E8A000"/>
                </a:solidFill>
                <a:latin typeface="Bricolage Grotesque"/>
              </a:rPr>
              <a:t>→</a:t>
            </a:r>
          </a:p>
        </p:txBody>
      </p:sp>
      <p:sp>
        <p:nvSpPr>
          <p:cNvPr id="9" name="Rounded Rectangle 8"/>
          <p:cNvSpPr/>
          <p:nvPr/>
        </p:nvSpPr>
        <p:spPr>
          <a:xfrm>
            <a:off x="3355848" y="2743200"/>
            <a:ext cx="2331720" cy="777240"/>
          </a:xfrm>
          <a:prstGeom prst="roundRect">
            <a:avLst/>
          </a:prstGeom>
          <a:solidFill>
            <a:srgbClr val="1E556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447288" y="2907792"/>
            <a:ext cx="2148840" cy="502920"/>
          </a:xfrm>
          <a:prstGeom prst="rect">
            <a:avLst/>
          </a:prstGeom>
          <a:noFill/>
        </p:spPr>
        <p:txBody>
          <a:bodyPr wrap="square">
            <a:spAutoFit/>
          </a:bodyPr>
          <a:lstStyle/>
          <a:p>
            <a:pPr algn="ctr"/>
            <a:r>
              <a:rPr sz="1400" b="1">
                <a:solidFill>
                  <a:srgbClr val="FFFFFF"/>
                </a:solidFill>
                <a:latin typeface="Bricolage Grotesque"/>
              </a:rPr>
              <a:t>2. L'analyse
attentes clés</a:t>
            </a:r>
          </a:p>
        </p:txBody>
      </p:sp>
      <p:sp>
        <p:nvSpPr>
          <p:cNvPr id="11" name="TextBox 10"/>
          <p:cNvSpPr txBox="1"/>
          <p:nvPr/>
        </p:nvSpPr>
        <p:spPr>
          <a:xfrm>
            <a:off x="5724144" y="2926080"/>
            <a:ext cx="310896" cy="457200"/>
          </a:xfrm>
          <a:prstGeom prst="rect">
            <a:avLst/>
          </a:prstGeom>
          <a:noFill/>
        </p:spPr>
        <p:txBody>
          <a:bodyPr wrap="square">
            <a:spAutoFit/>
          </a:bodyPr>
          <a:lstStyle/>
          <a:p>
            <a:pPr algn="ctr"/>
            <a:r>
              <a:rPr sz="2200" b="1">
                <a:solidFill>
                  <a:srgbClr val="E8A000"/>
                </a:solidFill>
                <a:latin typeface="Bricolage Grotesque"/>
              </a:rPr>
              <a:t>→</a:t>
            </a:r>
          </a:p>
        </p:txBody>
      </p:sp>
      <p:sp>
        <p:nvSpPr>
          <p:cNvPr id="12" name="Rounded Rectangle 11"/>
          <p:cNvSpPr/>
          <p:nvPr/>
        </p:nvSpPr>
        <p:spPr>
          <a:xfrm>
            <a:off x="6071616" y="2743200"/>
            <a:ext cx="2331720" cy="777240"/>
          </a:xfrm>
          <a:prstGeom prst="roundRect">
            <a:avLst/>
          </a:prstGeom>
          <a:solidFill>
            <a:srgbClr val="1B5E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163056" y="2907792"/>
            <a:ext cx="2148840" cy="502920"/>
          </a:xfrm>
          <a:prstGeom prst="rect">
            <a:avLst/>
          </a:prstGeom>
          <a:noFill/>
        </p:spPr>
        <p:txBody>
          <a:bodyPr wrap="square">
            <a:spAutoFit/>
          </a:bodyPr>
          <a:lstStyle/>
          <a:p>
            <a:pPr algn="ctr"/>
            <a:r>
              <a:rPr sz="1400" b="1">
                <a:solidFill>
                  <a:srgbClr val="FFFFFF"/>
                </a:solidFill>
                <a:latin typeface="Bricolage Grotesque"/>
              </a:rPr>
              <a:t>3. Propositions
avant / après</a:t>
            </a:r>
          </a:p>
        </p:txBody>
      </p:sp>
      <p:sp>
        <p:nvSpPr>
          <p:cNvPr id="14" name="TextBox 13"/>
          <p:cNvSpPr txBox="1"/>
          <p:nvPr/>
        </p:nvSpPr>
        <p:spPr>
          <a:xfrm>
            <a:off x="8439912" y="2926080"/>
            <a:ext cx="310896" cy="457200"/>
          </a:xfrm>
          <a:prstGeom prst="rect">
            <a:avLst/>
          </a:prstGeom>
          <a:noFill/>
        </p:spPr>
        <p:txBody>
          <a:bodyPr wrap="square">
            <a:spAutoFit/>
          </a:bodyPr>
          <a:lstStyle/>
          <a:p>
            <a:pPr algn="ctr"/>
            <a:r>
              <a:rPr sz="2200" b="1">
                <a:solidFill>
                  <a:srgbClr val="E8A000"/>
                </a:solidFill>
                <a:latin typeface="Bricolage Grotesque"/>
              </a:rPr>
              <a:t>→</a:t>
            </a:r>
          </a:p>
        </p:txBody>
      </p:sp>
      <p:sp>
        <p:nvSpPr>
          <p:cNvPr id="15" name="Rounded Rectangle 14"/>
          <p:cNvSpPr/>
          <p:nvPr/>
        </p:nvSpPr>
        <p:spPr>
          <a:xfrm>
            <a:off x="8787384" y="2743200"/>
            <a:ext cx="2331720" cy="777240"/>
          </a:xfrm>
          <a:prstGeom prst="roundRect">
            <a:avLst/>
          </a:prstGeom>
          <a:solidFill>
            <a:srgbClr val="1E556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878824" y="2907792"/>
            <a:ext cx="2148840" cy="502920"/>
          </a:xfrm>
          <a:prstGeom prst="rect">
            <a:avLst/>
          </a:prstGeom>
          <a:noFill/>
        </p:spPr>
        <p:txBody>
          <a:bodyPr wrap="square">
            <a:spAutoFit/>
          </a:bodyPr>
          <a:lstStyle/>
          <a:p>
            <a:pPr algn="ctr"/>
            <a:r>
              <a:rPr sz="1400" b="1">
                <a:solidFill>
                  <a:srgbClr val="FFFFFF"/>
                </a:solidFill>
                <a:latin typeface="Bricolage Grotesque"/>
              </a:rPr>
              <a:t>4. Votre « go »
rien avant</a:t>
            </a:r>
          </a:p>
        </p:txBody>
      </p:sp>
      <p:sp>
        <p:nvSpPr>
          <p:cNvPr id="17" name="Rounded Rectangle 16"/>
          <p:cNvSpPr/>
          <p:nvPr/>
        </p:nvSpPr>
        <p:spPr>
          <a:xfrm>
            <a:off x="640080" y="4160520"/>
            <a:ext cx="2331720" cy="777240"/>
          </a:xfrm>
          <a:prstGeom prst="roundRect">
            <a:avLst/>
          </a:prstGeom>
          <a:solidFill>
            <a:srgbClr val="1B5E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31520" y="4325112"/>
            <a:ext cx="2148840" cy="502920"/>
          </a:xfrm>
          <a:prstGeom prst="rect">
            <a:avLst/>
          </a:prstGeom>
          <a:noFill/>
        </p:spPr>
        <p:txBody>
          <a:bodyPr wrap="square">
            <a:spAutoFit/>
          </a:bodyPr>
          <a:lstStyle/>
          <a:p>
            <a:pPr algn="ctr"/>
            <a:r>
              <a:rPr sz="1400" b="1">
                <a:solidFill>
                  <a:srgbClr val="FFFFFF"/>
                </a:solidFill>
                <a:latin typeface="Bricolage Grotesque"/>
              </a:rPr>
              <a:t>5. Canva
la copie du CV</a:t>
            </a:r>
          </a:p>
        </p:txBody>
      </p:sp>
      <p:sp>
        <p:nvSpPr>
          <p:cNvPr id="19" name="TextBox 18"/>
          <p:cNvSpPr txBox="1"/>
          <p:nvPr/>
        </p:nvSpPr>
        <p:spPr>
          <a:xfrm>
            <a:off x="3008376" y="4343400"/>
            <a:ext cx="310896" cy="457200"/>
          </a:xfrm>
          <a:prstGeom prst="rect">
            <a:avLst/>
          </a:prstGeom>
          <a:noFill/>
        </p:spPr>
        <p:txBody>
          <a:bodyPr wrap="square">
            <a:spAutoFit/>
          </a:bodyPr>
          <a:lstStyle/>
          <a:p>
            <a:pPr algn="ctr"/>
            <a:r>
              <a:rPr sz="2200" b="1">
                <a:solidFill>
                  <a:srgbClr val="E8A000"/>
                </a:solidFill>
                <a:latin typeface="Bricolage Grotesque"/>
              </a:rPr>
              <a:t>→</a:t>
            </a:r>
          </a:p>
        </p:txBody>
      </p:sp>
      <p:sp>
        <p:nvSpPr>
          <p:cNvPr id="20" name="Rounded Rectangle 19"/>
          <p:cNvSpPr/>
          <p:nvPr/>
        </p:nvSpPr>
        <p:spPr>
          <a:xfrm>
            <a:off x="3355848" y="4160520"/>
            <a:ext cx="2331720" cy="777240"/>
          </a:xfrm>
          <a:prstGeom prst="roundRect">
            <a:avLst/>
          </a:prstGeom>
          <a:solidFill>
            <a:srgbClr val="1E556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3447288" y="4325112"/>
            <a:ext cx="2148840" cy="502920"/>
          </a:xfrm>
          <a:prstGeom prst="rect">
            <a:avLst/>
          </a:prstGeom>
          <a:noFill/>
        </p:spPr>
        <p:txBody>
          <a:bodyPr wrap="square">
            <a:spAutoFit/>
          </a:bodyPr>
          <a:lstStyle/>
          <a:p>
            <a:pPr algn="ctr"/>
            <a:r>
              <a:rPr sz="1400" b="1">
                <a:solidFill>
                  <a:srgbClr val="FFFFFF"/>
                </a:solidFill>
                <a:latin typeface="Bricolage Grotesque"/>
              </a:rPr>
              <a:t>6. Relecture
puis export PDF</a:t>
            </a:r>
          </a:p>
        </p:txBody>
      </p:sp>
      <p:sp>
        <p:nvSpPr>
          <p:cNvPr id="22" name="TextBox 21"/>
          <p:cNvSpPr txBox="1"/>
          <p:nvPr/>
        </p:nvSpPr>
        <p:spPr>
          <a:xfrm>
            <a:off x="640080" y="5029200"/>
            <a:ext cx="10972800" cy="411480"/>
          </a:xfrm>
          <a:prstGeom prst="rect">
            <a:avLst/>
          </a:prstGeom>
          <a:noFill/>
        </p:spPr>
        <p:txBody>
          <a:bodyPr wrap="square">
            <a:spAutoFit/>
          </a:bodyPr>
          <a:lstStyle/>
          <a:p>
            <a:pPr algn="l"/>
            <a:r>
              <a:rPr sz="1800" b="1">
                <a:solidFill>
                  <a:srgbClr val="1B5E6B"/>
                </a:solidFill>
                <a:latin typeface="Bricolage Grotesque"/>
              </a:rPr>
              <a:t>Claude propose, vous décidez : aucune modification avant votre « go ».</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143000"/>
          </a:xfrm>
          <a:prstGeom prst="rect">
            <a:avLst/>
          </a:prstGeom>
          <a:ln>
            <a:noFill/>
          </a:ln>
          <a:gradFill>
            <a:gsLst>
              <a:gs pos="0">
                <a:srgbClr val="0A2530"/>
              </a:gs>
              <a:gs pos="100000">
                <a:srgbClr val="1E5565"/>
              </a:gs>
            </a:gsLst>
            <a:lin ang="0" scaled="1"/>
          </a:gra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143000"/>
            <a:ext cx="12191695" cy="18288"/>
          </a:xfrm>
          <a:prstGeom prst="rect">
            <a:avLst/>
          </a:prstGeom>
          <a:solidFill>
            <a:srgbClr val="E8A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182880"/>
            <a:ext cx="10515600" cy="822960"/>
          </a:xfrm>
          <a:prstGeom prst="rect">
            <a:avLst/>
          </a:prstGeom>
          <a:noFill/>
        </p:spPr>
        <p:txBody>
          <a:bodyPr wrap="square">
            <a:spAutoFit/>
          </a:bodyPr>
          <a:lstStyle/>
          <a:p>
            <a:pPr algn="l"/>
            <a:r>
              <a:rPr sz="3400" b="1">
                <a:solidFill>
                  <a:srgbClr val="FFFFFF"/>
                </a:solidFill>
                <a:latin typeface="Bricolage Grotesque"/>
              </a:rPr>
              <a:t>Le projet « Recherche d'emploi »</a:t>
            </a:r>
          </a:p>
        </p:txBody>
      </p:sp>
      <p:sp>
        <p:nvSpPr>
          <p:cNvPr id="5" name="TextBox 4"/>
          <p:cNvSpPr txBox="1"/>
          <p:nvPr/>
        </p:nvSpPr>
        <p:spPr>
          <a:xfrm>
            <a:off x="640080" y="1463040"/>
            <a:ext cx="10515600" cy="640080"/>
          </a:xfrm>
          <a:prstGeom prst="rect">
            <a:avLst/>
          </a:prstGeom>
          <a:noFill/>
        </p:spPr>
        <p:txBody>
          <a:bodyPr wrap="square">
            <a:spAutoFit/>
          </a:bodyPr>
          <a:lstStyle/>
          <a:p>
            <a:pPr algn="l"/>
            <a:r>
              <a:rPr sz="2600" b="1">
                <a:solidFill>
                  <a:srgbClr val="1A1A1A"/>
                </a:solidFill>
                <a:latin typeface="Bricolage Grotesque"/>
              </a:rPr>
              <a:t>Ce qui reste, ce qui change à chaque offre</a:t>
            </a:r>
          </a:p>
        </p:txBody>
      </p:sp>
      <p:sp>
        <p:nvSpPr>
          <p:cNvPr id="6" name="Rectangle 5"/>
          <p:cNvSpPr/>
          <p:nvPr/>
        </p:nvSpPr>
        <p:spPr>
          <a:xfrm>
            <a:off x="5897880" y="2286000"/>
            <a:ext cx="27432" cy="2450592"/>
          </a:xfrm>
          <a:prstGeom prst="rect">
            <a:avLst/>
          </a:prstGeom>
          <a:solidFill>
            <a:srgbClr val="E8A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0080" y="2286000"/>
            <a:ext cx="5029200" cy="411480"/>
          </a:xfrm>
          <a:prstGeom prst="rect">
            <a:avLst/>
          </a:prstGeom>
          <a:noFill/>
        </p:spPr>
        <p:txBody>
          <a:bodyPr wrap="square">
            <a:spAutoFit/>
          </a:bodyPr>
          <a:lstStyle/>
          <a:p>
            <a:pPr algn="l"/>
            <a:r>
              <a:rPr sz="2100" b="1">
                <a:solidFill>
                  <a:srgbClr val="1B5E6B"/>
                </a:solidFill>
                <a:latin typeface="Bricolage Grotesque"/>
              </a:rPr>
              <a:t>Le projet : ce qui reste</a:t>
            </a:r>
          </a:p>
        </p:txBody>
      </p:sp>
      <p:sp>
        <p:nvSpPr>
          <p:cNvPr id="8" name="TextBox 7"/>
          <p:cNvSpPr txBox="1"/>
          <p:nvPr/>
        </p:nvSpPr>
        <p:spPr>
          <a:xfrm>
            <a:off x="640080" y="2880360"/>
            <a:ext cx="5120640" cy="384048"/>
          </a:xfrm>
          <a:prstGeom prst="rect">
            <a:avLst/>
          </a:prstGeom>
          <a:noFill/>
        </p:spPr>
        <p:txBody>
          <a:bodyPr wrap="square">
            <a:spAutoFit/>
          </a:bodyPr>
          <a:lstStyle/>
          <a:p>
            <a:pPr algn="l"/>
            <a:r>
              <a:rPr sz="1800" b="0">
                <a:solidFill>
                  <a:srgbClr val="333333"/>
                </a:solidFill>
                <a:latin typeface="Bricolage Grotesque"/>
              </a:rPr>
              <a:t>Instructions : votre démarche</a:t>
            </a:r>
          </a:p>
        </p:txBody>
      </p:sp>
      <p:sp>
        <p:nvSpPr>
          <p:cNvPr id="9" name="TextBox 8"/>
          <p:cNvSpPr txBox="1"/>
          <p:nvPr/>
        </p:nvSpPr>
        <p:spPr>
          <a:xfrm>
            <a:off x="640080" y="3355848"/>
            <a:ext cx="5120640" cy="384048"/>
          </a:xfrm>
          <a:prstGeom prst="rect">
            <a:avLst/>
          </a:prstGeom>
          <a:noFill/>
        </p:spPr>
        <p:txBody>
          <a:bodyPr wrap="square">
            <a:spAutoFit/>
          </a:bodyPr>
          <a:lstStyle/>
          <a:p>
            <a:pPr algn="l"/>
            <a:r>
              <a:rPr sz="1800" b="0">
                <a:solidFill>
                  <a:srgbClr val="333333"/>
                </a:solidFill>
                <a:latin typeface="Bricolage Grotesque"/>
              </a:rPr>
              <a:t>Fichiers : CV, carte de positionnement</a:t>
            </a:r>
          </a:p>
        </p:txBody>
      </p:sp>
      <p:sp>
        <p:nvSpPr>
          <p:cNvPr id="10" name="TextBox 9"/>
          <p:cNvSpPr txBox="1"/>
          <p:nvPr/>
        </p:nvSpPr>
        <p:spPr>
          <a:xfrm>
            <a:off x="640080" y="3831335"/>
            <a:ext cx="5120640" cy="384048"/>
          </a:xfrm>
          <a:prstGeom prst="rect">
            <a:avLst/>
          </a:prstGeom>
          <a:noFill/>
        </p:spPr>
        <p:txBody>
          <a:bodyPr wrap="square">
            <a:spAutoFit/>
          </a:bodyPr>
          <a:lstStyle/>
          <a:p>
            <a:pPr algn="l"/>
            <a:r>
              <a:rPr sz="1800" b="0">
                <a:solidFill>
                  <a:srgbClr val="333333"/>
                </a:solidFill>
                <a:latin typeface="Bricolage Grotesque"/>
              </a:rPr>
              <a:t>Vos candidatures réussies, en exemple</a:t>
            </a:r>
          </a:p>
        </p:txBody>
      </p:sp>
      <p:sp>
        <p:nvSpPr>
          <p:cNvPr id="11" name="TextBox 10"/>
          <p:cNvSpPr txBox="1"/>
          <p:nvPr/>
        </p:nvSpPr>
        <p:spPr>
          <a:xfrm>
            <a:off x="640080" y="4306823"/>
            <a:ext cx="5120640" cy="384048"/>
          </a:xfrm>
          <a:prstGeom prst="rect">
            <a:avLst/>
          </a:prstGeom>
          <a:noFill/>
        </p:spPr>
        <p:txBody>
          <a:bodyPr wrap="square">
            <a:spAutoFit/>
          </a:bodyPr>
          <a:lstStyle/>
          <a:p>
            <a:pPr algn="l"/>
            <a:r>
              <a:rPr sz="1800" b="0">
                <a:solidFill>
                  <a:srgbClr val="333333"/>
                </a:solidFill>
                <a:latin typeface="Bricolage Grotesque"/>
              </a:rPr>
              <a:t>La règle : rien d'inventé</a:t>
            </a:r>
          </a:p>
        </p:txBody>
      </p:sp>
      <p:sp>
        <p:nvSpPr>
          <p:cNvPr id="12" name="TextBox 11"/>
          <p:cNvSpPr txBox="1"/>
          <p:nvPr/>
        </p:nvSpPr>
        <p:spPr>
          <a:xfrm>
            <a:off x="6172200" y="2286000"/>
            <a:ext cx="5029200" cy="411480"/>
          </a:xfrm>
          <a:prstGeom prst="rect">
            <a:avLst/>
          </a:prstGeom>
          <a:noFill/>
        </p:spPr>
        <p:txBody>
          <a:bodyPr wrap="square">
            <a:spAutoFit/>
          </a:bodyPr>
          <a:lstStyle/>
          <a:p>
            <a:pPr algn="l"/>
            <a:r>
              <a:rPr sz="2100" b="1">
                <a:solidFill>
                  <a:srgbClr val="1B5E6B"/>
                </a:solidFill>
                <a:latin typeface="Bricolage Grotesque"/>
              </a:rPr>
              <a:t>La conversation : chaque offre</a:t>
            </a:r>
          </a:p>
        </p:txBody>
      </p:sp>
      <p:sp>
        <p:nvSpPr>
          <p:cNvPr id="13" name="TextBox 12"/>
          <p:cNvSpPr txBox="1"/>
          <p:nvPr/>
        </p:nvSpPr>
        <p:spPr>
          <a:xfrm>
            <a:off x="6172200" y="2880360"/>
            <a:ext cx="5120640" cy="384048"/>
          </a:xfrm>
          <a:prstGeom prst="rect">
            <a:avLst/>
          </a:prstGeom>
          <a:noFill/>
        </p:spPr>
        <p:txBody>
          <a:bodyPr wrap="square">
            <a:spAutoFit/>
          </a:bodyPr>
          <a:lstStyle/>
          <a:p>
            <a:pPr algn="l"/>
            <a:r>
              <a:rPr sz="1800" b="0">
                <a:solidFill>
                  <a:srgbClr val="333333"/>
                </a:solidFill>
                <a:latin typeface="Bricolage Grotesque"/>
              </a:rPr>
              <a:t>Le lien ou le texte de l'offre</a:t>
            </a:r>
          </a:p>
        </p:txBody>
      </p:sp>
      <p:sp>
        <p:nvSpPr>
          <p:cNvPr id="14" name="TextBox 13"/>
          <p:cNvSpPr txBox="1"/>
          <p:nvPr/>
        </p:nvSpPr>
        <p:spPr>
          <a:xfrm>
            <a:off x="6172200" y="3355848"/>
            <a:ext cx="5120640" cy="384048"/>
          </a:xfrm>
          <a:prstGeom prst="rect">
            <a:avLst/>
          </a:prstGeom>
          <a:noFill/>
        </p:spPr>
        <p:txBody>
          <a:bodyPr wrap="square">
            <a:spAutoFit/>
          </a:bodyPr>
          <a:lstStyle/>
          <a:p>
            <a:pPr algn="l"/>
            <a:r>
              <a:rPr sz="1800" b="0">
                <a:solidFill>
                  <a:srgbClr val="333333"/>
                </a:solidFill>
                <a:latin typeface="Bricolage Grotesque"/>
              </a:rPr>
              <a:t>Spontanée ou réponse à une annonce</a:t>
            </a:r>
          </a:p>
        </p:txBody>
      </p:sp>
      <p:sp>
        <p:nvSpPr>
          <p:cNvPr id="15" name="TextBox 14"/>
          <p:cNvSpPr txBox="1"/>
          <p:nvPr/>
        </p:nvSpPr>
        <p:spPr>
          <a:xfrm>
            <a:off x="6172200" y="3831335"/>
            <a:ext cx="5120640" cy="384048"/>
          </a:xfrm>
          <a:prstGeom prst="rect">
            <a:avLst/>
          </a:prstGeom>
          <a:noFill/>
        </p:spPr>
        <p:txBody>
          <a:bodyPr wrap="square">
            <a:spAutoFit/>
          </a:bodyPr>
          <a:lstStyle/>
          <a:p>
            <a:pPr algn="l"/>
            <a:r>
              <a:rPr sz="1800" b="0">
                <a:solidFill>
                  <a:srgbClr val="333333"/>
                </a:solidFill>
                <a:latin typeface="Bricolage Grotesque"/>
              </a:rPr>
              <a:t>Vos remarques sur le poste</a:t>
            </a:r>
          </a:p>
        </p:txBody>
      </p:sp>
      <p:sp>
        <p:nvSpPr>
          <p:cNvPr id="16" name="TextBox 15"/>
          <p:cNvSpPr txBox="1"/>
          <p:nvPr/>
        </p:nvSpPr>
        <p:spPr>
          <a:xfrm>
            <a:off x="6172200" y="4306823"/>
            <a:ext cx="5120640" cy="384048"/>
          </a:xfrm>
          <a:prstGeom prst="rect">
            <a:avLst/>
          </a:prstGeom>
          <a:noFill/>
        </p:spPr>
        <p:txBody>
          <a:bodyPr wrap="square">
            <a:spAutoFit/>
          </a:bodyPr>
          <a:lstStyle/>
          <a:p>
            <a:pPr algn="l"/>
            <a:r>
              <a:rPr sz="1800" b="0">
                <a:solidFill>
                  <a:srgbClr val="333333"/>
                </a:solidFill>
                <a:latin typeface="Bricolage Grotesque"/>
              </a:rPr>
              <a:t>Une conversation par offre</a:t>
            </a:r>
          </a:p>
        </p:txBody>
      </p:sp>
      <p:sp>
        <p:nvSpPr>
          <p:cNvPr id="17" name="TextBox 16"/>
          <p:cNvSpPr txBox="1"/>
          <p:nvPr/>
        </p:nvSpPr>
        <p:spPr>
          <a:xfrm>
            <a:off x="640080" y="4919472"/>
            <a:ext cx="10881360" cy="411480"/>
          </a:xfrm>
          <a:prstGeom prst="rect">
            <a:avLst/>
          </a:prstGeom>
          <a:noFill/>
        </p:spPr>
        <p:txBody>
          <a:bodyPr wrap="square">
            <a:spAutoFit/>
          </a:bodyPr>
          <a:lstStyle/>
          <a:p>
            <a:pPr algn="l"/>
            <a:r>
              <a:rPr sz="1800" b="1">
                <a:solidFill>
                  <a:srgbClr val="E8A000"/>
                </a:solidFill>
                <a:latin typeface="Bricolage Grotesque"/>
              </a:rPr>
              <a:t>Vous n'apportez que la nouveauté : le projet connaît déjà votre parcours.</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143000"/>
          </a:xfrm>
          <a:prstGeom prst="rect">
            <a:avLst/>
          </a:prstGeom>
          <a:ln>
            <a:noFill/>
          </a:ln>
          <a:gradFill>
            <a:gsLst>
              <a:gs pos="0">
                <a:srgbClr val="0A2530"/>
              </a:gs>
              <a:gs pos="100000">
                <a:srgbClr val="1E5565"/>
              </a:gs>
            </a:gsLst>
            <a:lin ang="0" scaled="1"/>
          </a:gra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143000"/>
            <a:ext cx="12191695" cy="18288"/>
          </a:xfrm>
          <a:prstGeom prst="rect">
            <a:avLst/>
          </a:prstGeom>
          <a:solidFill>
            <a:srgbClr val="E8A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182880"/>
            <a:ext cx="10515600" cy="822960"/>
          </a:xfrm>
          <a:prstGeom prst="rect">
            <a:avLst/>
          </a:prstGeom>
          <a:noFill/>
        </p:spPr>
        <p:txBody>
          <a:bodyPr wrap="square">
            <a:spAutoFit/>
          </a:bodyPr>
          <a:lstStyle/>
          <a:p>
            <a:pPr algn="l"/>
            <a:r>
              <a:rPr sz="3400" b="1">
                <a:solidFill>
                  <a:srgbClr val="FFFFFF"/>
                </a:solidFill>
                <a:latin typeface="Bricolage Grotesque"/>
              </a:rPr>
              <a:t>Pratique 2 · L'énoncé</a:t>
            </a:r>
          </a:p>
        </p:txBody>
      </p:sp>
      <p:sp>
        <p:nvSpPr>
          <p:cNvPr id="5" name="Rounded Rectangle 4"/>
          <p:cNvSpPr/>
          <p:nvPr/>
        </p:nvSpPr>
        <p:spPr>
          <a:xfrm>
            <a:off x="640080" y="1417320"/>
            <a:ext cx="10881360" cy="1143000"/>
          </a:xfrm>
          <a:prstGeom prst="roundRect">
            <a:avLst/>
          </a:prstGeom>
          <a:solidFill>
            <a:srgbClr val="EDED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68680" y="1508760"/>
            <a:ext cx="4023359" cy="320040"/>
          </a:xfrm>
          <a:prstGeom prst="rect">
            <a:avLst/>
          </a:prstGeom>
          <a:noFill/>
        </p:spPr>
        <p:txBody>
          <a:bodyPr wrap="square">
            <a:spAutoFit/>
          </a:bodyPr>
          <a:lstStyle/>
          <a:p>
            <a:pPr algn="l"/>
            <a:r>
              <a:rPr sz="1400" b="1">
                <a:solidFill>
                  <a:srgbClr val="E8A000"/>
                </a:solidFill>
                <a:latin typeface="Bricolage Grotesque"/>
              </a:rPr>
              <a:t>OBJECTIF</a:t>
            </a:r>
          </a:p>
        </p:txBody>
      </p:sp>
      <p:sp>
        <p:nvSpPr>
          <p:cNvPr id="7" name="TextBox 6"/>
          <p:cNvSpPr txBox="1"/>
          <p:nvPr/>
        </p:nvSpPr>
        <p:spPr>
          <a:xfrm>
            <a:off x="868680" y="1810512"/>
            <a:ext cx="4023359" cy="685800"/>
          </a:xfrm>
          <a:prstGeom prst="rect">
            <a:avLst/>
          </a:prstGeom>
          <a:noFill/>
        </p:spPr>
        <p:txBody>
          <a:bodyPr wrap="square">
            <a:spAutoFit/>
          </a:bodyPr>
          <a:lstStyle/>
          <a:p>
            <a:pPr algn="l"/>
            <a:r>
              <a:rPr sz="1600" b="0">
                <a:solidFill>
                  <a:srgbClr val="1A1A1A"/>
                </a:solidFill>
                <a:latin typeface="Bricolage Grotesque"/>
              </a:rPr>
              <a:t>Un CV adapté à une offre réelle, sans rien inventer</a:t>
            </a:r>
          </a:p>
        </p:txBody>
      </p:sp>
      <p:sp>
        <p:nvSpPr>
          <p:cNvPr id="8" name="TextBox 7"/>
          <p:cNvSpPr txBox="1"/>
          <p:nvPr/>
        </p:nvSpPr>
        <p:spPr>
          <a:xfrm>
            <a:off x="5074920" y="1508760"/>
            <a:ext cx="4389120" cy="320040"/>
          </a:xfrm>
          <a:prstGeom prst="rect">
            <a:avLst/>
          </a:prstGeom>
          <a:noFill/>
        </p:spPr>
        <p:txBody>
          <a:bodyPr wrap="square">
            <a:spAutoFit/>
          </a:bodyPr>
          <a:lstStyle/>
          <a:p>
            <a:pPr algn="l"/>
            <a:r>
              <a:rPr sz="1400" b="1">
                <a:solidFill>
                  <a:srgbClr val="E8A000"/>
                </a:solidFill>
                <a:latin typeface="Bricolage Grotesque"/>
              </a:rPr>
              <a:t>LIVRABLE</a:t>
            </a:r>
          </a:p>
        </p:txBody>
      </p:sp>
      <p:sp>
        <p:nvSpPr>
          <p:cNvPr id="9" name="TextBox 8"/>
          <p:cNvSpPr txBox="1"/>
          <p:nvPr/>
        </p:nvSpPr>
        <p:spPr>
          <a:xfrm>
            <a:off x="5074920" y="1810512"/>
            <a:ext cx="4389120" cy="685800"/>
          </a:xfrm>
          <a:prstGeom prst="rect">
            <a:avLst/>
          </a:prstGeom>
          <a:noFill/>
        </p:spPr>
        <p:txBody>
          <a:bodyPr wrap="square">
            <a:spAutoFit/>
          </a:bodyPr>
          <a:lstStyle/>
          <a:p>
            <a:pPr algn="l"/>
            <a:r>
              <a:rPr sz="1600" b="0">
                <a:solidFill>
                  <a:srgbClr val="1A1A1A"/>
                </a:solidFill>
                <a:latin typeface="Bricolage Grotesque"/>
              </a:rPr>
              <a:t>La copie de votre CV modifiée dans Canva, en PDF</a:t>
            </a:r>
          </a:p>
        </p:txBody>
      </p:sp>
      <p:sp>
        <p:nvSpPr>
          <p:cNvPr id="10" name="TextBox 9"/>
          <p:cNvSpPr txBox="1"/>
          <p:nvPr/>
        </p:nvSpPr>
        <p:spPr>
          <a:xfrm>
            <a:off x="9646920" y="1508760"/>
            <a:ext cx="1554480" cy="320040"/>
          </a:xfrm>
          <a:prstGeom prst="rect">
            <a:avLst/>
          </a:prstGeom>
          <a:noFill/>
        </p:spPr>
        <p:txBody>
          <a:bodyPr wrap="square">
            <a:spAutoFit/>
          </a:bodyPr>
          <a:lstStyle/>
          <a:p>
            <a:pPr algn="l"/>
            <a:r>
              <a:rPr sz="1400" b="1">
                <a:solidFill>
                  <a:srgbClr val="E8A000"/>
                </a:solidFill>
                <a:latin typeface="Bricolage Grotesque"/>
              </a:rPr>
              <a:t>DURÉE</a:t>
            </a:r>
          </a:p>
        </p:txBody>
      </p:sp>
      <p:sp>
        <p:nvSpPr>
          <p:cNvPr id="11" name="TextBox 10"/>
          <p:cNvSpPr txBox="1"/>
          <p:nvPr/>
        </p:nvSpPr>
        <p:spPr>
          <a:xfrm>
            <a:off x="9646920" y="1810512"/>
            <a:ext cx="1554480" cy="685800"/>
          </a:xfrm>
          <a:prstGeom prst="rect">
            <a:avLst/>
          </a:prstGeom>
          <a:noFill/>
        </p:spPr>
        <p:txBody>
          <a:bodyPr wrap="square">
            <a:spAutoFit/>
          </a:bodyPr>
          <a:lstStyle/>
          <a:p>
            <a:pPr algn="l"/>
            <a:r>
              <a:rPr sz="1600" b="0">
                <a:solidFill>
                  <a:srgbClr val="1A1A1A"/>
                </a:solidFill>
                <a:latin typeface="Bricolage Grotesque"/>
              </a:rPr>
              <a:t>35 min</a:t>
            </a:r>
          </a:p>
        </p:txBody>
      </p:sp>
      <p:sp>
        <p:nvSpPr>
          <p:cNvPr id="12" name="TextBox 11"/>
          <p:cNvSpPr txBox="1"/>
          <p:nvPr/>
        </p:nvSpPr>
        <p:spPr>
          <a:xfrm>
            <a:off x="640080" y="2834640"/>
            <a:ext cx="10881360" cy="411480"/>
          </a:xfrm>
          <a:prstGeom prst="rect">
            <a:avLst/>
          </a:prstGeom>
          <a:noFill/>
        </p:spPr>
        <p:txBody>
          <a:bodyPr wrap="square">
            <a:spAutoFit/>
          </a:bodyPr>
          <a:lstStyle/>
          <a:p>
            <a:r>
              <a:rPr sz="1900" b="1">
                <a:solidFill>
                  <a:srgbClr val="1B5E6B"/>
                </a:solidFill>
                <a:latin typeface="Bricolage Grotesque"/>
              </a:rPr>
              <a:t>1.  </a:t>
            </a:r>
            <a:r>
              <a:rPr sz="1900">
                <a:solidFill>
                  <a:srgbClr val="333333"/>
                </a:solidFill>
                <a:latin typeface="Bricolage Grotesque"/>
              </a:rPr>
              <a:t>Personnaliser › Connecteurs › « + » › Canva › Connecter.</a:t>
            </a:r>
          </a:p>
        </p:txBody>
      </p:sp>
      <p:sp>
        <p:nvSpPr>
          <p:cNvPr id="13" name="TextBox 12"/>
          <p:cNvSpPr txBox="1"/>
          <p:nvPr/>
        </p:nvSpPr>
        <p:spPr>
          <a:xfrm>
            <a:off x="640080" y="3355848"/>
            <a:ext cx="10881360" cy="411480"/>
          </a:xfrm>
          <a:prstGeom prst="rect">
            <a:avLst/>
          </a:prstGeom>
          <a:noFill/>
        </p:spPr>
        <p:txBody>
          <a:bodyPr wrap="square">
            <a:spAutoFit/>
          </a:bodyPr>
          <a:lstStyle/>
          <a:p>
            <a:r>
              <a:rPr sz="1900" b="1">
                <a:solidFill>
                  <a:srgbClr val="1B5E6B"/>
                </a:solidFill>
                <a:latin typeface="Bricolage Grotesque"/>
              </a:rPr>
              <a:t>2.  </a:t>
            </a:r>
            <a:r>
              <a:rPr sz="1900">
                <a:solidFill>
                  <a:srgbClr val="333333"/>
                </a:solidFill>
                <a:latin typeface="Bricolage Grotesque"/>
              </a:rPr>
              <a:t>Créez le projet : vos instructions, votre CV et votre carte en fichiers.</a:t>
            </a:r>
          </a:p>
        </p:txBody>
      </p:sp>
      <p:sp>
        <p:nvSpPr>
          <p:cNvPr id="14" name="TextBox 13"/>
          <p:cNvSpPr txBox="1"/>
          <p:nvPr/>
        </p:nvSpPr>
        <p:spPr>
          <a:xfrm>
            <a:off x="640080" y="3877056"/>
            <a:ext cx="10881360" cy="411480"/>
          </a:xfrm>
          <a:prstGeom prst="rect">
            <a:avLst/>
          </a:prstGeom>
          <a:noFill/>
        </p:spPr>
        <p:txBody>
          <a:bodyPr wrap="square">
            <a:spAutoFit/>
          </a:bodyPr>
          <a:lstStyle/>
          <a:p>
            <a:r>
              <a:rPr sz="1900" b="1">
                <a:solidFill>
                  <a:srgbClr val="1B5E6B"/>
                </a:solidFill>
                <a:latin typeface="Bricolage Grotesque"/>
              </a:rPr>
              <a:t>3.  </a:t>
            </a:r>
            <a:r>
              <a:rPr sz="1900">
                <a:solidFill>
                  <a:srgbClr val="333333"/>
                </a:solidFill>
                <a:latin typeface="Bricolage Grotesque"/>
              </a:rPr>
              <a:t>Nouvelle conversation : l'offre, puis votre prompt préparé.</a:t>
            </a:r>
          </a:p>
        </p:txBody>
      </p:sp>
      <p:sp>
        <p:nvSpPr>
          <p:cNvPr id="15" name="TextBox 14"/>
          <p:cNvSpPr txBox="1"/>
          <p:nvPr/>
        </p:nvSpPr>
        <p:spPr>
          <a:xfrm>
            <a:off x="640080" y="4398264"/>
            <a:ext cx="10881360" cy="411480"/>
          </a:xfrm>
          <a:prstGeom prst="rect">
            <a:avLst/>
          </a:prstGeom>
          <a:noFill/>
        </p:spPr>
        <p:txBody>
          <a:bodyPr wrap="square">
            <a:spAutoFit/>
          </a:bodyPr>
          <a:lstStyle/>
          <a:p>
            <a:r>
              <a:rPr sz="1900" b="1">
                <a:solidFill>
                  <a:srgbClr val="1B5E6B"/>
                </a:solidFill>
                <a:latin typeface="Bricolage Grotesque"/>
              </a:rPr>
              <a:t>4.  </a:t>
            </a:r>
            <a:r>
              <a:rPr sz="1900">
                <a:solidFill>
                  <a:srgbClr val="333333"/>
                </a:solidFill>
                <a:latin typeface="Bricolage Grotesque"/>
              </a:rPr>
              <a:t>Validez les propositions une par une, puis dites « go ».</a:t>
            </a:r>
          </a:p>
        </p:txBody>
      </p:sp>
      <p:sp>
        <p:nvSpPr>
          <p:cNvPr id="16" name="TextBox 15"/>
          <p:cNvSpPr txBox="1"/>
          <p:nvPr/>
        </p:nvSpPr>
        <p:spPr>
          <a:xfrm>
            <a:off x="640080" y="4919472"/>
            <a:ext cx="10881360" cy="411480"/>
          </a:xfrm>
          <a:prstGeom prst="rect">
            <a:avLst/>
          </a:prstGeom>
          <a:noFill/>
        </p:spPr>
        <p:txBody>
          <a:bodyPr wrap="square">
            <a:spAutoFit/>
          </a:bodyPr>
          <a:lstStyle/>
          <a:p>
            <a:r>
              <a:rPr sz="1900" b="1">
                <a:solidFill>
                  <a:srgbClr val="1B5E6B"/>
                </a:solidFill>
                <a:latin typeface="Bricolage Grotesque"/>
              </a:rPr>
              <a:t>5.  </a:t>
            </a:r>
            <a:r>
              <a:rPr sz="1900">
                <a:solidFill>
                  <a:srgbClr val="333333"/>
                </a:solidFill>
                <a:latin typeface="Bricolage Grotesque"/>
              </a:rPr>
              <a:t>Claude modifie la COPIE dans Canva : relisez-la dans l'éditeur.</a:t>
            </a: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143000"/>
          </a:xfrm>
          <a:prstGeom prst="rect">
            <a:avLst/>
          </a:prstGeom>
          <a:ln>
            <a:noFill/>
          </a:ln>
          <a:gradFill>
            <a:gsLst>
              <a:gs pos="0">
                <a:srgbClr val="0A2530"/>
              </a:gs>
              <a:gs pos="100000">
                <a:srgbClr val="1E5565"/>
              </a:gs>
            </a:gsLst>
            <a:lin ang="0" scaled="1"/>
          </a:gra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143000"/>
            <a:ext cx="12191695" cy="18288"/>
          </a:xfrm>
          <a:prstGeom prst="rect">
            <a:avLst/>
          </a:prstGeom>
          <a:solidFill>
            <a:srgbClr val="E8A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182880"/>
            <a:ext cx="10515600" cy="822960"/>
          </a:xfrm>
          <a:prstGeom prst="rect">
            <a:avLst/>
          </a:prstGeom>
          <a:noFill/>
        </p:spPr>
        <p:txBody>
          <a:bodyPr wrap="square">
            <a:spAutoFit/>
          </a:bodyPr>
          <a:lstStyle/>
          <a:p>
            <a:pPr algn="l"/>
            <a:r>
              <a:rPr sz="3400" b="1">
                <a:solidFill>
                  <a:srgbClr val="FFFFFF"/>
                </a:solidFill>
                <a:latin typeface="Bricolage Grotesque"/>
              </a:rPr>
              <a:t>Pratique 2 · Le modèle d'instructions</a:t>
            </a:r>
          </a:p>
        </p:txBody>
      </p:sp>
      <p:sp>
        <p:nvSpPr>
          <p:cNvPr id="5" name="TextBox 4"/>
          <p:cNvSpPr txBox="1"/>
          <p:nvPr/>
        </p:nvSpPr>
        <p:spPr>
          <a:xfrm>
            <a:off x="640080" y="1554480"/>
            <a:ext cx="10881360" cy="411480"/>
          </a:xfrm>
          <a:prstGeom prst="rect">
            <a:avLst/>
          </a:prstGeom>
          <a:noFill/>
        </p:spPr>
        <p:txBody>
          <a:bodyPr wrap="square">
            <a:spAutoFit/>
          </a:bodyPr>
          <a:lstStyle/>
          <a:p>
            <a:r>
              <a:rPr sz="2000" b="0">
                <a:solidFill>
                  <a:srgbClr val="0F2B3A"/>
                </a:solidFill>
                <a:latin typeface="Consolas"/>
              </a:rPr>
              <a:t>Pour chaque offre : 1. Résume ses attentes (missions, mots-clés).</a:t>
            </a:r>
          </a:p>
        </p:txBody>
      </p:sp>
      <p:sp>
        <p:nvSpPr>
          <p:cNvPr id="6" name="TextBox 5"/>
          <p:cNvSpPr txBox="1"/>
          <p:nvPr/>
        </p:nvSpPr>
        <p:spPr>
          <a:xfrm>
            <a:off x="640080" y="2075688"/>
            <a:ext cx="10881360" cy="411480"/>
          </a:xfrm>
          <a:prstGeom prst="rect">
            <a:avLst/>
          </a:prstGeom>
          <a:noFill/>
        </p:spPr>
        <p:txBody>
          <a:bodyPr wrap="square">
            <a:spAutoFit/>
          </a:bodyPr>
          <a:lstStyle/>
          <a:p>
            <a:r>
              <a:rPr sz="2000" b="0">
                <a:solidFill>
                  <a:srgbClr val="0F2B3A"/>
                </a:solidFill>
                <a:latin typeface="Consolas"/>
              </a:rPr>
              <a:t>2. Compare avec mon CV : ce qui correspond, ce qui manque.</a:t>
            </a:r>
          </a:p>
        </p:txBody>
      </p:sp>
      <p:sp>
        <p:nvSpPr>
          <p:cNvPr id="7" name="TextBox 6"/>
          <p:cNvSpPr txBox="1"/>
          <p:nvPr/>
        </p:nvSpPr>
        <p:spPr>
          <a:xfrm>
            <a:off x="640080" y="2596896"/>
            <a:ext cx="10881360" cy="411480"/>
          </a:xfrm>
          <a:prstGeom prst="rect">
            <a:avLst/>
          </a:prstGeom>
          <a:noFill/>
        </p:spPr>
        <p:txBody>
          <a:bodyPr wrap="square">
            <a:spAutoFit/>
          </a:bodyPr>
          <a:lstStyle/>
          <a:p>
            <a:r>
              <a:rPr sz="2000" b="0">
                <a:solidFill>
                  <a:srgbClr val="0F2B3A"/>
                </a:solidFill>
                <a:latin typeface="Consolas"/>
              </a:rPr>
              <a:t>3. Propose les modifications une par une, avec avant / après.</a:t>
            </a:r>
          </a:p>
        </p:txBody>
      </p:sp>
      <p:sp>
        <p:nvSpPr>
          <p:cNvPr id="8" name="TextBox 7"/>
          <p:cNvSpPr txBox="1"/>
          <p:nvPr/>
        </p:nvSpPr>
        <p:spPr>
          <a:xfrm>
            <a:off x="640080" y="3118104"/>
            <a:ext cx="10881360" cy="411480"/>
          </a:xfrm>
          <a:prstGeom prst="rect">
            <a:avLst/>
          </a:prstGeom>
          <a:noFill/>
        </p:spPr>
        <p:txBody>
          <a:bodyPr wrap="square">
            <a:spAutoFit/>
          </a:bodyPr>
          <a:lstStyle/>
          <a:p>
            <a:r>
              <a:rPr sz="2000" b="0">
                <a:solidFill>
                  <a:srgbClr val="0F2B3A"/>
                </a:solidFill>
                <a:latin typeface="Consolas"/>
              </a:rPr>
              <a:t>4. Attends mon « go » avant toute modification dans Canva.</a:t>
            </a:r>
          </a:p>
        </p:txBody>
      </p:sp>
      <p:sp>
        <p:nvSpPr>
          <p:cNvPr id="9" name="TextBox 8"/>
          <p:cNvSpPr txBox="1"/>
          <p:nvPr/>
        </p:nvSpPr>
        <p:spPr>
          <a:xfrm>
            <a:off x="640080" y="3639312"/>
            <a:ext cx="10881360" cy="411480"/>
          </a:xfrm>
          <a:prstGeom prst="rect">
            <a:avLst/>
          </a:prstGeom>
          <a:noFill/>
        </p:spPr>
        <p:txBody>
          <a:bodyPr wrap="square">
            <a:spAutoFit/>
          </a:bodyPr>
          <a:lstStyle/>
          <a:p>
            <a:r>
              <a:rPr sz="2000" b="0">
                <a:solidFill>
                  <a:srgbClr val="0F2B3A"/>
                </a:solidFill>
                <a:latin typeface="Consolas"/>
              </a:rPr>
              <a:t>5. Ne modifie que la copie du CV que je t'indique.</a:t>
            </a:r>
          </a:p>
        </p:txBody>
      </p:sp>
      <p:sp>
        <p:nvSpPr>
          <p:cNvPr id="10" name="TextBox 9"/>
          <p:cNvSpPr txBox="1"/>
          <p:nvPr/>
        </p:nvSpPr>
        <p:spPr>
          <a:xfrm>
            <a:off x="640080" y="4160520"/>
            <a:ext cx="10881360" cy="411480"/>
          </a:xfrm>
          <a:prstGeom prst="rect">
            <a:avLst/>
          </a:prstGeom>
          <a:noFill/>
        </p:spPr>
        <p:txBody>
          <a:bodyPr wrap="square">
            <a:spAutoFit/>
          </a:bodyPr>
          <a:lstStyle/>
          <a:p>
            <a:r>
              <a:rPr sz="2000" b="0">
                <a:solidFill>
                  <a:srgbClr val="0F2B3A"/>
                </a:solidFill>
                <a:latin typeface="Consolas"/>
              </a:rPr>
              <a:t>Règles : n'invente aucune expérience. Signale ce qui est à vérifier.</a:t>
            </a:r>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143000"/>
          </a:xfrm>
          <a:prstGeom prst="rect">
            <a:avLst/>
          </a:prstGeom>
          <a:ln>
            <a:noFill/>
          </a:ln>
          <a:gradFill>
            <a:gsLst>
              <a:gs pos="0">
                <a:srgbClr val="0A2530"/>
              </a:gs>
              <a:gs pos="100000">
                <a:srgbClr val="1E5565"/>
              </a:gs>
            </a:gsLst>
            <a:lin ang="0" scaled="1"/>
          </a:gra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143000"/>
            <a:ext cx="12191695" cy="18288"/>
          </a:xfrm>
          <a:prstGeom prst="rect">
            <a:avLst/>
          </a:prstGeom>
          <a:solidFill>
            <a:srgbClr val="E8A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182880"/>
            <a:ext cx="10515600" cy="822960"/>
          </a:xfrm>
          <a:prstGeom prst="rect">
            <a:avLst/>
          </a:prstGeom>
          <a:noFill/>
        </p:spPr>
        <p:txBody>
          <a:bodyPr wrap="square">
            <a:spAutoFit/>
          </a:bodyPr>
          <a:lstStyle/>
          <a:p>
            <a:pPr algn="l"/>
            <a:r>
              <a:rPr sz="3400" b="1">
                <a:solidFill>
                  <a:srgbClr val="FFFFFF"/>
                </a:solidFill>
                <a:latin typeface="Bricolage Grotesque"/>
              </a:rPr>
              <a:t>Avant d'envoyer : votre relecture</a:t>
            </a:r>
          </a:p>
        </p:txBody>
      </p:sp>
      <p:sp>
        <p:nvSpPr>
          <p:cNvPr id="5" name="TextBox 4"/>
          <p:cNvSpPr txBox="1"/>
          <p:nvPr/>
        </p:nvSpPr>
        <p:spPr>
          <a:xfrm>
            <a:off x="640080" y="1463040"/>
            <a:ext cx="10515600" cy="640080"/>
          </a:xfrm>
          <a:prstGeom prst="rect">
            <a:avLst/>
          </a:prstGeom>
          <a:noFill/>
        </p:spPr>
        <p:txBody>
          <a:bodyPr wrap="square">
            <a:spAutoFit/>
          </a:bodyPr>
          <a:lstStyle/>
          <a:p>
            <a:pPr algn="l"/>
            <a:r>
              <a:rPr sz="2600" b="1">
                <a:solidFill>
                  <a:srgbClr val="1A1A1A"/>
                </a:solidFill>
                <a:latin typeface="Bricolage Grotesque"/>
              </a:rPr>
              <a:t>Quatre contrôles, à chaque candidature</a:t>
            </a:r>
          </a:p>
        </p:txBody>
      </p:sp>
      <p:sp>
        <p:nvSpPr>
          <p:cNvPr id="6" name="TextBox 5"/>
          <p:cNvSpPr txBox="1"/>
          <p:nvPr/>
        </p:nvSpPr>
        <p:spPr>
          <a:xfrm>
            <a:off x="640080" y="2331720"/>
            <a:ext cx="10881360" cy="411480"/>
          </a:xfrm>
          <a:prstGeom prst="rect">
            <a:avLst/>
          </a:prstGeom>
          <a:noFill/>
        </p:spPr>
        <p:txBody>
          <a:bodyPr wrap="square">
            <a:spAutoFit/>
          </a:bodyPr>
          <a:lstStyle/>
          <a:p>
            <a:r>
              <a:rPr sz="2000" b="1">
                <a:solidFill>
                  <a:srgbClr val="1B5E6B"/>
                </a:solidFill>
                <a:latin typeface="Bricolage Grotesque"/>
              </a:rPr>
              <a:t>☐  Chaque ligne du CV est vraie : rien n'a été ajouté par Claude.</a:t>
            </a:r>
          </a:p>
        </p:txBody>
      </p:sp>
      <p:sp>
        <p:nvSpPr>
          <p:cNvPr id="7" name="TextBox 6"/>
          <p:cNvSpPr txBox="1"/>
          <p:nvPr/>
        </p:nvSpPr>
        <p:spPr>
          <a:xfrm>
            <a:off x="640080" y="2852928"/>
            <a:ext cx="10881360" cy="411480"/>
          </a:xfrm>
          <a:prstGeom prst="rect">
            <a:avLst/>
          </a:prstGeom>
          <a:noFill/>
        </p:spPr>
        <p:txBody>
          <a:bodyPr wrap="square">
            <a:spAutoFit/>
          </a:bodyPr>
          <a:lstStyle/>
          <a:p>
            <a:r>
              <a:rPr sz="2000" b="1">
                <a:solidFill>
                  <a:srgbClr val="1B5E6B"/>
                </a:solidFill>
                <a:latin typeface="Bricolage Grotesque"/>
              </a:rPr>
              <a:t>☐  Les mots-clés de l'offre apparaissent, sans forcer.</a:t>
            </a:r>
          </a:p>
        </p:txBody>
      </p:sp>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143000"/>
          </a:xfrm>
          <a:prstGeom prst="rect">
            <a:avLst/>
          </a:prstGeom>
          <a:ln>
            <a:noFill/>
          </a:ln>
          <a:gradFill>
            <a:gsLst>
              <a:gs pos="0">
                <a:srgbClr val="0A2530"/>
              </a:gs>
              <a:gs pos="100000">
                <a:srgbClr val="1E5565"/>
              </a:gs>
            </a:gsLst>
            <a:lin ang="0" scaled="1"/>
          </a:gra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143000"/>
            <a:ext cx="12191695" cy="18288"/>
          </a:xfrm>
          <a:prstGeom prst="rect">
            <a:avLst/>
          </a:prstGeom>
          <a:solidFill>
            <a:srgbClr val="E8A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182880"/>
            <a:ext cx="10515600" cy="822960"/>
          </a:xfrm>
          <a:prstGeom prst="rect">
            <a:avLst/>
          </a:prstGeom>
          <a:noFill/>
        </p:spPr>
        <p:txBody>
          <a:bodyPr wrap="square">
            <a:spAutoFit/>
          </a:bodyPr>
          <a:lstStyle/>
          <a:p>
            <a:pPr algn="l"/>
            <a:r>
              <a:rPr sz="3400" b="1">
                <a:solidFill>
                  <a:srgbClr val="FFFFFF"/>
                </a:solidFill>
                <a:latin typeface="Bricolage Grotesque"/>
              </a:rPr>
              <a:t>Avant d'envoyer : votre relecture</a:t>
            </a:r>
          </a:p>
        </p:txBody>
      </p:sp>
      <p:sp>
        <p:nvSpPr>
          <p:cNvPr id="5" name="TextBox 4"/>
          <p:cNvSpPr txBox="1"/>
          <p:nvPr/>
        </p:nvSpPr>
        <p:spPr>
          <a:xfrm>
            <a:off x="640080" y="1463040"/>
            <a:ext cx="10515600" cy="640080"/>
          </a:xfrm>
          <a:prstGeom prst="rect">
            <a:avLst/>
          </a:prstGeom>
          <a:noFill/>
        </p:spPr>
        <p:txBody>
          <a:bodyPr wrap="square">
            <a:spAutoFit/>
          </a:bodyPr>
          <a:lstStyle/>
          <a:p>
            <a:pPr algn="l"/>
            <a:r>
              <a:rPr sz="2600" b="1">
                <a:solidFill>
                  <a:srgbClr val="1A1A1A"/>
                </a:solidFill>
                <a:latin typeface="Bricolage Grotesque"/>
              </a:rPr>
              <a:t>Quatre contrôles, à chaque candidature</a:t>
            </a:r>
          </a:p>
        </p:txBody>
      </p:sp>
      <p:sp>
        <p:nvSpPr>
          <p:cNvPr id="6" name="TextBox 5"/>
          <p:cNvSpPr txBox="1"/>
          <p:nvPr/>
        </p:nvSpPr>
        <p:spPr>
          <a:xfrm>
            <a:off x="640080" y="2331720"/>
            <a:ext cx="10881360" cy="411480"/>
          </a:xfrm>
          <a:prstGeom prst="rect">
            <a:avLst/>
          </a:prstGeom>
          <a:noFill/>
        </p:spPr>
        <p:txBody>
          <a:bodyPr wrap="square">
            <a:spAutoFit/>
          </a:bodyPr>
          <a:lstStyle/>
          <a:p>
            <a:r>
              <a:rPr sz="2000" b="1">
                <a:solidFill>
                  <a:srgbClr val="1B5E6B"/>
                </a:solidFill>
                <a:latin typeface="Bricolage Grotesque"/>
              </a:rPr>
              <a:t>☐  Chaque ligne du CV est vraie : rien n'a été ajouté par Claude.</a:t>
            </a:r>
          </a:p>
        </p:txBody>
      </p:sp>
      <p:sp>
        <p:nvSpPr>
          <p:cNvPr id="7" name="TextBox 6"/>
          <p:cNvSpPr txBox="1"/>
          <p:nvPr/>
        </p:nvSpPr>
        <p:spPr>
          <a:xfrm>
            <a:off x="640080" y="2852928"/>
            <a:ext cx="10881360" cy="411480"/>
          </a:xfrm>
          <a:prstGeom prst="rect">
            <a:avLst/>
          </a:prstGeom>
          <a:noFill/>
        </p:spPr>
        <p:txBody>
          <a:bodyPr wrap="square">
            <a:spAutoFit/>
          </a:bodyPr>
          <a:lstStyle/>
          <a:p>
            <a:r>
              <a:rPr sz="2000" b="1">
                <a:solidFill>
                  <a:srgbClr val="1B5E6B"/>
                </a:solidFill>
                <a:latin typeface="Bricolage Grotesque"/>
              </a:rPr>
              <a:t>☐  Les mots-clés de l'offre apparaissent, sans forcer.</a:t>
            </a:r>
          </a:p>
        </p:txBody>
      </p:sp>
      <p:sp>
        <p:nvSpPr>
          <p:cNvPr id="8" name="TextBox 7"/>
          <p:cNvSpPr txBox="1"/>
          <p:nvPr/>
        </p:nvSpPr>
        <p:spPr>
          <a:xfrm>
            <a:off x="640080" y="3611880"/>
            <a:ext cx="10881360" cy="411480"/>
          </a:xfrm>
          <a:prstGeom prst="rect">
            <a:avLst/>
          </a:prstGeom>
          <a:noFill/>
        </p:spPr>
        <p:txBody>
          <a:bodyPr wrap="square">
            <a:spAutoFit/>
          </a:bodyPr>
          <a:lstStyle/>
          <a:p>
            <a:r>
              <a:rPr sz="2000" b="1">
                <a:solidFill>
                  <a:srgbClr val="1B5E6B"/>
                </a:solidFill>
                <a:latin typeface="Bricolage Grotesque"/>
              </a:rPr>
              <a:t>☐  La mise en page a tenu : rien ne déborde dans Canva.</a:t>
            </a:r>
          </a:p>
        </p:txBody>
      </p:sp>
      <p:sp>
        <p:nvSpPr>
          <p:cNvPr id="9" name="TextBox 8"/>
          <p:cNvSpPr txBox="1"/>
          <p:nvPr/>
        </p:nvSpPr>
        <p:spPr>
          <a:xfrm>
            <a:off x="640080" y="4133088"/>
            <a:ext cx="10881360" cy="411480"/>
          </a:xfrm>
          <a:prstGeom prst="rect">
            <a:avLst/>
          </a:prstGeom>
          <a:noFill/>
        </p:spPr>
        <p:txBody>
          <a:bodyPr wrap="square">
            <a:spAutoFit/>
          </a:bodyPr>
          <a:lstStyle/>
          <a:p>
            <a:r>
              <a:rPr sz="2000" b="1">
                <a:solidFill>
                  <a:srgbClr val="1B5E6B"/>
                </a:solidFill>
                <a:latin typeface="Bricolage Grotesque"/>
              </a:rPr>
              <a:t>☐  L'original est intact, la copie porte le nom de l'offre.</a:t>
            </a:r>
          </a:p>
        </p:txBody>
      </p:sp>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2B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640080" y="1965960"/>
            <a:ext cx="2743200" cy="36576"/>
          </a:xfrm>
          <a:prstGeom prst="rect">
            <a:avLst/>
          </a:prstGeom>
          <a:solidFill>
            <a:srgbClr val="E8A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1371600"/>
            <a:ext cx="10515600" cy="731520"/>
          </a:xfrm>
          <a:prstGeom prst="rect">
            <a:avLst/>
          </a:prstGeom>
          <a:noFill/>
        </p:spPr>
        <p:txBody>
          <a:bodyPr wrap="square">
            <a:spAutoFit/>
          </a:bodyPr>
          <a:lstStyle/>
          <a:p>
            <a:pPr algn="l"/>
            <a:r>
              <a:rPr sz="2200" b="1">
                <a:solidFill>
                  <a:srgbClr val="E8A000"/>
                </a:solidFill>
                <a:latin typeface="Bricolage Grotesque"/>
              </a:rPr>
              <a:t>Séquence 6</a:t>
            </a:r>
          </a:p>
        </p:txBody>
      </p:sp>
      <p:sp>
        <p:nvSpPr>
          <p:cNvPr id="5" name="TextBox 4"/>
          <p:cNvSpPr txBox="1"/>
          <p:nvPr/>
        </p:nvSpPr>
        <p:spPr>
          <a:xfrm>
            <a:off x="640080" y="2286000"/>
            <a:ext cx="10698480" cy="1645920"/>
          </a:xfrm>
          <a:prstGeom prst="rect">
            <a:avLst/>
          </a:prstGeom>
          <a:noFill/>
        </p:spPr>
        <p:txBody>
          <a:bodyPr wrap="square">
            <a:spAutoFit/>
          </a:bodyPr>
          <a:lstStyle/>
          <a:p>
            <a:pPr algn="l"/>
            <a:r>
              <a:rPr sz="4200" b="1">
                <a:solidFill>
                  <a:srgbClr val="FFFFFF"/>
                </a:solidFill>
                <a:latin typeface="Bricolage Grotesque"/>
              </a:rPr>
              <a:t>Bonus : le compte-rendu</a:t>
            </a:r>
          </a:p>
        </p:txBody>
      </p:sp>
      <p:sp>
        <p:nvSpPr>
          <p:cNvPr id="6" name="TextBox 5"/>
          <p:cNvSpPr txBox="1"/>
          <p:nvPr/>
        </p:nvSpPr>
        <p:spPr>
          <a:xfrm>
            <a:off x="640080" y="4023360"/>
            <a:ext cx="10515600" cy="731520"/>
          </a:xfrm>
          <a:prstGeom prst="rect">
            <a:avLst/>
          </a:prstGeom>
          <a:noFill/>
        </p:spPr>
        <p:txBody>
          <a:bodyPr wrap="square">
            <a:spAutoFit/>
          </a:bodyPr>
          <a:lstStyle/>
          <a:p>
            <a:pPr algn="l"/>
            <a:r>
              <a:rPr sz="2000" b="0">
                <a:solidFill>
                  <a:srgbClr val="5A8A8F"/>
                </a:solidFill>
                <a:latin typeface="Bricolage Grotesque"/>
              </a:rPr>
              <a:t>Si le temps le permet, sinon en devoir</a:t>
            </a:r>
          </a:p>
        </p:txBody>
      </p:sp>
      <p:pic>
        <p:nvPicPr>
          <p:cNvPr id="7" name="Picture 6" descr="ia-round.png"/>
          <p:cNvPicPr>
            <a:picLocks noChangeAspect="1"/>
          </p:cNvPicPr>
          <p:nvPr/>
        </p:nvPicPr>
        <p:blipFill>
          <a:blip r:embed="rId2"/>
          <a:stretch>
            <a:fillRect/>
          </a:stretch>
        </p:blipFill>
        <p:spPr>
          <a:xfrm>
            <a:off x="457200" y="6217920"/>
            <a:ext cx="320040" cy="320040"/>
          </a:xfrm>
          <a:prstGeom prst="rect">
            <a:avLst/>
          </a:prstGeom>
        </p:spPr>
      </p:pic>
      <p:sp>
        <p:nvSpPr>
          <p:cNvPr id="8" name="TextBox 7"/>
          <p:cNvSpPr txBox="1"/>
          <p:nvPr/>
        </p:nvSpPr>
        <p:spPr>
          <a:xfrm>
            <a:off x="868680" y="6199632"/>
            <a:ext cx="3657600" cy="365760"/>
          </a:xfrm>
          <a:prstGeom prst="rect">
            <a:avLst/>
          </a:prstGeom>
          <a:noFill/>
        </p:spPr>
        <p:txBody>
          <a:bodyPr wrap="square">
            <a:spAutoFit/>
          </a:bodyPr>
          <a:lstStyle/>
          <a:p>
            <a:pPr algn="l"/>
            <a:r>
              <a:rPr sz="1400" b="0">
                <a:solidFill>
                  <a:srgbClr val="FFFFFF"/>
                </a:solidFill>
                <a:latin typeface="Bricolage Grotesque"/>
              </a:rPr>
              <a:t>intelligence academy</a:t>
            </a:r>
          </a:p>
        </p:txBody>
      </p:sp>
    </p:spTree>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143000"/>
          </a:xfrm>
          <a:prstGeom prst="rect">
            <a:avLst/>
          </a:prstGeom>
          <a:ln>
            <a:noFill/>
          </a:ln>
          <a:gradFill>
            <a:gsLst>
              <a:gs pos="0">
                <a:srgbClr val="0A2530"/>
              </a:gs>
              <a:gs pos="100000">
                <a:srgbClr val="1E5565"/>
              </a:gs>
            </a:gsLst>
            <a:lin ang="0" scaled="1"/>
          </a:gra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143000"/>
            <a:ext cx="12191695" cy="18288"/>
          </a:xfrm>
          <a:prstGeom prst="rect">
            <a:avLst/>
          </a:prstGeom>
          <a:solidFill>
            <a:srgbClr val="E8A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182880"/>
            <a:ext cx="10515600" cy="822960"/>
          </a:xfrm>
          <a:prstGeom prst="rect">
            <a:avLst/>
          </a:prstGeom>
          <a:noFill/>
        </p:spPr>
        <p:txBody>
          <a:bodyPr wrap="square">
            <a:spAutoFit/>
          </a:bodyPr>
          <a:lstStyle/>
          <a:p>
            <a:pPr algn="l"/>
            <a:r>
              <a:rPr sz="3400" b="1">
                <a:solidFill>
                  <a:srgbClr val="FFFFFF"/>
                </a:solidFill>
                <a:latin typeface="Bricolage Grotesque"/>
              </a:rPr>
              <a:t>Un compte-rendu instruit</a:t>
            </a:r>
          </a:p>
        </p:txBody>
      </p:sp>
      <p:sp>
        <p:nvSpPr>
          <p:cNvPr id="5" name="TextBox 4"/>
          <p:cNvSpPr txBox="1"/>
          <p:nvPr/>
        </p:nvSpPr>
        <p:spPr>
          <a:xfrm>
            <a:off x="640080" y="1463040"/>
            <a:ext cx="10515600" cy="640080"/>
          </a:xfrm>
          <a:prstGeom prst="rect">
            <a:avLst/>
          </a:prstGeom>
          <a:noFill/>
        </p:spPr>
        <p:txBody>
          <a:bodyPr wrap="square">
            <a:spAutoFit/>
          </a:bodyPr>
          <a:lstStyle/>
          <a:p>
            <a:pPr algn="l"/>
            <a:r>
              <a:rPr sz="2600" b="1">
                <a:solidFill>
                  <a:srgbClr val="1A1A1A"/>
                </a:solidFill>
                <a:latin typeface="Bricolage Grotesque"/>
              </a:rPr>
              <a:t>Vos règles, écrites une fois</a:t>
            </a:r>
          </a:p>
        </p:txBody>
      </p:sp>
      <p:sp>
        <p:nvSpPr>
          <p:cNvPr id="6" name="Rounded Rectangle 5"/>
          <p:cNvSpPr/>
          <p:nvPr/>
        </p:nvSpPr>
        <p:spPr>
          <a:xfrm>
            <a:off x="640080" y="2743200"/>
            <a:ext cx="2331720" cy="777240"/>
          </a:xfrm>
          <a:prstGeom prst="roundRect">
            <a:avLst/>
          </a:prstGeom>
          <a:solidFill>
            <a:srgbClr val="1B5E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31520" y="2907792"/>
            <a:ext cx="2148840" cy="502920"/>
          </a:xfrm>
          <a:prstGeom prst="rect">
            <a:avLst/>
          </a:prstGeom>
          <a:noFill/>
        </p:spPr>
        <p:txBody>
          <a:bodyPr wrap="square">
            <a:spAutoFit/>
          </a:bodyPr>
          <a:lstStyle/>
          <a:p>
            <a:pPr algn="ctr"/>
            <a:r>
              <a:rPr sz="1400" b="1">
                <a:solidFill>
                  <a:srgbClr val="FFFFFF"/>
                </a:solidFill>
                <a:latin typeface="Bricolage Grotesque"/>
              </a:rPr>
              <a:t>1. Notes brutes
fictives ici</a:t>
            </a:r>
          </a:p>
        </p:txBody>
      </p:sp>
      <p:sp>
        <p:nvSpPr>
          <p:cNvPr id="8" name="TextBox 7"/>
          <p:cNvSpPr txBox="1"/>
          <p:nvPr/>
        </p:nvSpPr>
        <p:spPr>
          <a:xfrm>
            <a:off x="3008376" y="2926080"/>
            <a:ext cx="310896" cy="457200"/>
          </a:xfrm>
          <a:prstGeom prst="rect">
            <a:avLst/>
          </a:prstGeom>
          <a:noFill/>
        </p:spPr>
        <p:txBody>
          <a:bodyPr wrap="square">
            <a:spAutoFit/>
          </a:bodyPr>
          <a:lstStyle/>
          <a:p>
            <a:pPr algn="ctr"/>
            <a:r>
              <a:rPr sz="2200" b="1">
                <a:solidFill>
                  <a:srgbClr val="E8A000"/>
                </a:solidFill>
                <a:latin typeface="Bricolage Grotesque"/>
              </a:rPr>
              <a:t>→</a:t>
            </a:r>
          </a:p>
        </p:txBody>
      </p:sp>
      <p:sp>
        <p:nvSpPr>
          <p:cNvPr id="9" name="Rounded Rectangle 8"/>
          <p:cNvSpPr/>
          <p:nvPr/>
        </p:nvSpPr>
        <p:spPr>
          <a:xfrm>
            <a:off x="3355848" y="2743200"/>
            <a:ext cx="2331720" cy="777240"/>
          </a:xfrm>
          <a:prstGeom prst="roundRect">
            <a:avLst/>
          </a:prstGeom>
          <a:solidFill>
            <a:srgbClr val="1E556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447288" y="2907792"/>
            <a:ext cx="2148840" cy="502920"/>
          </a:xfrm>
          <a:prstGeom prst="rect">
            <a:avLst/>
          </a:prstGeom>
          <a:noFill/>
        </p:spPr>
        <p:txBody>
          <a:bodyPr wrap="square">
            <a:spAutoFit/>
          </a:bodyPr>
          <a:lstStyle/>
          <a:p>
            <a:pPr algn="ctr"/>
            <a:r>
              <a:rPr sz="1400" b="1">
                <a:solidFill>
                  <a:srgbClr val="FFFFFF"/>
                </a:solidFill>
                <a:latin typeface="Bricolage Grotesque"/>
              </a:rPr>
              <a:t>2. Vos règles
format et ton</a:t>
            </a:r>
          </a:p>
        </p:txBody>
      </p:sp>
      <p:sp>
        <p:nvSpPr>
          <p:cNvPr id="11" name="TextBox 10"/>
          <p:cNvSpPr txBox="1"/>
          <p:nvPr/>
        </p:nvSpPr>
        <p:spPr>
          <a:xfrm>
            <a:off x="5724144" y="2926080"/>
            <a:ext cx="310896" cy="457200"/>
          </a:xfrm>
          <a:prstGeom prst="rect">
            <a:avLst/>
          </a:prstGeom>
          <a:noFill/>
        </p:spPr>
        <p:txBody>
          <a:bodyPr wrap="square">
            <a:spAutoFit/>
          </a:bodyPr>
          <a:lstStyle/>
          <a:p>
            <a:pPr algn="ctr"/>
            <a:r>
              <a:rPr sz="2200" b="1">
                <a:solidFill>
                  <a:srgbClr val="E8A000"/>
                </a:solidFill>
                <a:latin typeface="Bricolage Grotesque"/>
              </a:rPr>
              <a:t>→</a:t>
            </a:r>
          </a:p>
        </p:txBody>
      </p:sp>
      <p:sp>
        <p:nvSpPr>
          <p:cNvPr id="12" name="Rounded Rectangle 11"/>
          <p:cNvSpPr/>
          <p:nvPr/>
        </p:nvSpPr>
        <p:spPr>
          <a:xfrm>
            <a:off x="6071616" y="2743200"/>
            <a:ext cx="2331720" cy="777240"/>
          </a:xfrm>
          <a:prstGeom prst="roundRect">
            <a:avLst/>
          </a:prstGeom>
          <a:solidFill>
            <a:srgbClr val="1B5E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163056" y="2907792"/>
            <a:ext cx="2148840" cy="502920"/>
          </a:xfrm>
          <a:prstGeom prst="rect">
            <a:avLst/>
          </a:prstGeom>
          <a:noFill/>
        </p:spPr>
        <p:txBody>
          <a:bodyPr wrap="square">
            <a:spAutoFit/>
          </a:bodyPr>
          <a:lstStyle/>
          <a:p>
            <a:pPr algn="ctr"/>
            <a:r>
              <a:rPr sz="1400" b="1">
                <a:solidFill>
                  <a:srgbClr val="FFFFFF"/>
                </a:solidFill>
                <a:latin typeface="Bricolage Grotesque"/>
              </a:rPr>
              <a:t>3. Le CR
par Claude</a:t>
            </a:r>
          </a:p>
        </p:txBody>
      </p:sp>
      <p:sp>
        <p:nvSpPr>
          <p:cNvPr id="14" name="TextBox 13"/>
          <p:cNvSpPr txBox="1"/>
          <p:nvPr/>
        </p:nvSpPr>
        <p:spPr>
          <a:xfrm>
            <a:off x="8439912" y="2926080"/>
            <a:ext cx="310896" cy="457200"/>
          </a:xfrm>
          <a:prstGeom prst="rect">
            <a:avLst/>
          </a:prstGeom>
          <a:noFill/>
        </p:spPr>
        <p:txBody>
          <a:bodyPr wrap="square">
            <a:spAutoFit/>
          </a:bodyPr>
          <a:lstStyle/>
          <a:p>
            <a:pPr algn="ctr"/>
            <a:r>
              <a:rPr sz="2200" b="1">
                <a:solidFill>
                  <a:srgbClr val="E8A000"/>
                </a:solidFill>
                <a:latin typeface="Bricolage Grotesque"/>
              </a:rPr>
              <a:t>→</a:t>
            </a:r>
          </a:p>
        </p:txBody>
      </p:sp>
      <p:sp>
        <p:nvSpPr>
          <p:cNvPr id="15" name="Rounded Rectangle 14"/>
          <p:cNvSpPr/>
          <p:nvPr/>
        </p:nvSpPr>
        <p:spPr>
          <a:xfrm>
            <a:off x="8787384" y="2743200"/>
            <a:ext cx="2331720" cy="777240"/>
          </a:xfrm>
          <a:prstGeom prst="roundRect">
            <a:avLst/>
          </a:prstGeom>
          <a:solidFill>
            <a:srgbClr val="1E556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878824" y="2907792"/>
            <a:ext cx="2148840" cy="502920"/>
          </a:xfrm>
          <a:prstGeom prst="rect">
            <a:avLst/>
          </a:prstGeom>
          <a:noFill/>
        </p:spPr>
        <p:txBody>
          <a:bodyPr wrap="square">
            <a:spAutoFit/>
          </a:bodyPr>
          <a:lstStyle/>
          <a:p>
            <a:pPr algn="ctr"/>
            <a:r>
              <a:rPr sz="1400" b="1">
                <a:solidFill>
                  <a:srgbClr val="FFFFFF"/>
                </a:solidFill>
                <a:latin typeface="Bricolage Grotesque"/>
              </a:rPr>
              <a:t>4. Relecture
points sensibles</a:t>
            </a:r>
          </a:p>
        </p:txBody>
      </p:sp>
      <p:sp>
        <p:nvSpPr>
          <p:cNvPr id="17" name="TextBox 16"/>
          <p:cNvSpPr txBox="1"/>
          <p:nvPr/>
        </p:nvSpPr>
        <p:spPr>
          <a:xfrm>
            <a:off x="640080" y="4114800"/>
            <a:ext cx="10972800" cy="411480"/>
          </a:xfrm>
          <a:prstGeom prst="rect">
            <a:avLst/>
          </a:prstGeom>
          <a:noFill/>
        </p:spPr>
        <p:txBody>
          <a:bodyPr wrap="square">
            <a:spAutoFit/>
          </a:bodyPr>
          <a:lstStyle/>
          <a:p>
            <a:pPr algn="l"/>
            <a:r>
              <a:rPr sz="1800" b="1">
                <a:solidFill>
                  <a:srgbClr val="1B5E6B"/>
                </a:solidFill>
                <a:latin typeface="Bricolage Grotesque"/>
              </a:rPr>
              <a:t>Points sensibles : des faits, aucun nom de résident, aucun détail médical.</a:t>
            </a:r>
          </a:p>
        </p:txBody>
      </p:sp>
    </p:spTree>
  </p:cSld>
  <p:clrMapOvr>
    <a:masterClrMapping/>
  </p:clrMapOvr>
</p:sld>
</file>

<file path=ppt/slides/slide5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143000"/>
          </a:xfrm>
          <a:prstGeom prst="rect">
            <a:avLst/>
          </a:prstGeom>
          <a:ln>
            <a:noFill/>
          </a:ln>
          <a:gradFill>
            <a:gsLst>
              <a:gs pos="0">
                <a:srgbClr val="0A2530"/>
              </a:gs>
              <a:gs pos="100000">
                <a:srgbClr val="1E5565"/>
              </a:gs>
            </a:gsLst>
            <a:lin ang="0" scaled="1"/>
          </a:gra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143000"/>
            <a:ext cx="12191695" cy="18288"/>
          </a:xfrm>
          <a:prstGeom prst="rect">
            <a:avLst/>
          </a:prstGeom>
          <a:solidFill>
            <a:srgbClr val="E8A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182880"/>
            <a:ext cx="10515600" cy="822960"/>
          </a:xfrm>
          <a:prstGeom prst="rect">
            <a:avLst/>
          </a:prstGeom>
          <a:noFill/>
        </p:spPr>
        <p:txBody>
          <a:bodyPr wrap="square">
            <a:spAutoFit/>
          </a:bodyPr>
          <a:lstStyle/>
          <a:p>
            <a:pPr algn="l"/>
            <a:r>
              <a:rPr sz="3400" b="1">
                <a:solidFill>
                  <a:srgbClr val="FFFFFF"/>
                </a:solidFill>
                <a:latin typeface="Bricolage Grotesque"/>
              </a:rPr>
              <a:t>Bonus · L'énoncé</a:t>
            </a:r>
          </a:p>
        </p:txBody>
      </p:sp>
      <p:sp>
        <p:nvSpPr>
          <p:cNvPr id="5" name="Rounded Rectangle 4"/>
          <p:cNvSpPr/>
          <p:nvPr/>
        </p:nvSpPr>
        <p:spPr>
          <a:xfrm>
            <a:off x="640080" y="1417320"/>
            <a:ext cx="10881360" cy="1143000"/>
          </a:xfrm>
          <a:prstGeom prst="roundRect">
            <a:avLst/>
          </a:prstGeom>
          <a:solidFill>
            <a:srgbClr val="EDED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68680" y="1508760"/>
            <a:ext cx="4023359" cy="320040"/>
          </a:xfrm>
          <a:prstGeom prst="rect">
            <a:avLst/>
          </a:prstGeom>
          <a:noFill/>
        </p:spPr>
        <p:txBody>
          <a:bodyPr wrap="square">
            <a:spAutoFit/>
          </a:bodyPr>
          <a:lstStyle/>
          <a:p>
            <a:pPr algn="l"/>
            <a:r>
              <a:rPr sz="1400" b="1">
                <a:solidFill>
                  <a:srgbClr val="E8A000"/>
                </a:solidFill>
                <a:latin typeface="Bricolage Grotesque"/>
              </a:rPr>
              <a:t>OBJECTIF</a:t>
            </a:r>
          </a:p>
        </p:txBody>
      </p:sp>
      <p:sp>
        <p:nvSpPr>
          <p:cNvPr id="7" name="TextBox 6"/>
          <p:cNvSpPr txBox="1"/>
          <p:nvPr/>
        </p:nvSpPr>
        <p:spPr>
          <a:xfrm>
            <a:off x="868680" y="1810512"/>
            <a:ext cx="4023359" cy="685800"/>
          </a:xfrm>
          <a:prstGeom prst="rect">
            <a:avLst/>
          </a:prstGeom>
          <a:noFill/>
        </p:spPr>
        <p:txBody>
          <a:bodyPr wrap="square">
            <a:spAutoFit/>
          </a:bodyPr>
          <a:lstStyle/>
          <a:p>
            <a:pPr algn="l"/>
            <a:r>
              <a:rPr sz="1600" b="0">
                <a:solidFill>
                  <a:srgbClr val="1A1A1A"/>
                </a:solidFill>
                <a:latin typeface="Bricolage Grotesque"/>
              </a:rPr>
              <a:t>Un compte-rendu prêt à envoyer, rédigé selon vos règles</a:t>
            </a:r>
          </a:p>
        </p:txBody>
      </p:sp>
      <p:sp>
        <p:nvSpPr>
          <p:cNvPr id="8" name="TextBox 7"/>
          <p:cNvSpPr txBox="1"/>
          <p:nvPr/>
        </p:nvSpPr>
        <p:spPr>
          <a:xfrm>
            <a:off x="5074920" y="1508760"/>
            <a:ext cx="4389120" cy="320040"/>
          </a:xfrm>
          <a:prstGeom prst="rect">
            <a:avLst/>
          </a:prstGeom>
          <a:noFill/>
        </p:spPr>
        <p:txBody>
          <a:bodyPr wrap="square">
            <a:spAutoFit/>
          </a:bodyPr>
          <a:lstStyle/>
          <a:p>
            <a:pPr algn="l"/>
            <a:r>
              <a:rPr sz="1400" b="1">
                <a:solidFill>
                  <a:srgbClr val="E8A000"/>
                </a:solidFill>
                <a:latin typeface="Bricolage Grotesque"/>
              </a:rPr>
              <a:t>LIVRABLE</a:t>
            </a:r>
          </a:p>
        </p:txBody>
      </p:sp>
      <p:sp>
        <p:nvSpPr>
          <p:cNvPr id="9" name="TextBox 8"/>
          <p:cNvSpPr txBox="1"/>
          <p:nvPr/>
        </p:nvSpPr>
        <p:spPr>
          <a:xfrm>
            <a:off x="5074920" y="1810512"/>
            <a:ext cx="4389120" cy="685800"/>
          </a:xfrm>
          <a:prstGeom prst="rect">
            <a:avLst/>
          </a:prstGeom>
          <a:noFill/>
        </p:spPr>
        <p:txBody>
          <a:bodyPr wrap="square">
            <a:spAutoFit/>
          </a:bodyPr>
          <a:lstStyle/>
          <a:p>
            <a:pPr algn="l"/>
            <a:r>
              <a:rPr sz="1600" b="0">
                <a:solidFill>
                  <a:srgbClr val="1A1A1A"/>
                </a:solidFill>
                <a:latin typeface="Bricolage Grotesque"/>
              </a:rPr>
              <a:t>Le CR d'une réunion fictive de préparation</a:t>
            </a:r>
          </a:p>
        </p:txBody>
      </p:sp>
      <p:sp>
        <p:nvSpPr>
          <p:cNvPr id="10" name="TextBox 9"/>
          <p:cNvSpPr txBox="1"/>
          <p:nvPr/>
        </p:nvSpPr>
        <p:spPr>
          <a:xfrm>
            <a:off x="9646920" y="1508760"/>
            <a:ext cx="1554480" cy="320040"/>
          </a:xfrm>
          <a:prstGeom prst="rect">
            <a:avLst/>
          </a:prstGeom>
          <a:noFill/>
        </p:spPr>
        <p:txBody>
          <a:bodyPr wrap="square">
            <a:spAutoFit/>
          </a:bodyPr>
          <a:lstStyle/>
          <a:p>
            <a:pPr algn="l"/>
            <a:r>
              <a:rPr sz="1400" b="1">
                <a:solidFill>
                  <a:srgbClr val="E8A000"/>
                </a:solidFill>
                <a:latin typeface="Bricolage Grotesque"/>
              </a:rPr>
              <a:t>DURÉE</a:t>
            </a:r>
          </a:p>
        </p:txBody>
      </p:sp>
      <p:sp>
        <p:nvSpPr>
          <p:cNvPr id="11" name="TextBox 10"/>
          <p:cNvSpPr txBox="1"/>
          <p:nvPr/>
        </p:nvSpPr>
        <p:spPr>
          <a:xfrm>
            <a:off x="9646920" y="1810512"/>
            <a:ext cx="1554480" cy="685800"/>
          </a:xfrm>
          <a:prstGeom prst="rect">
            <a:avLst/>
          </a:prstGeom>
          <a:noFill/>
        </p:spPr>
        <p:txBody>
          <a:bodyPr wrap="square">
            <a:spAutoFit/>
          </a:bodyPr>
          <a:lstStyle/>
          <a:p>
            <a:pPr algn="l"/>
            <a:r>
              <a:rPr sz="1600" b="0">
                <a:solidFill>
                  <a:srgbClr val="1A1A1A"/>
                </a:solidFill>
                <a:latin typeface="Bricolage Grotesque"/>
              </a:rPr>
              <a:t>10 min</a:t>
            </a:r>
          </a:p>
        </p:txBody>
      </p:sp>
      <p:sp>
        <p:nvSpPr>
          <p:cNvPr id="12" name="TextBox 11"/>
          <p:cNvSpPr txBox="1"/>
          <p:nvPr/>
        </p:nvSpPr>
        <p:spPr>
          <a:xfrm>
            <a:off x="640080" y="2834640"/>
            <a:ext cx="10881360" cy="411480"/>
          </a:xfrm>
          <a:prstGeom prst="rect">
            <a:avLst/>
          </a:prstGeom>
          <a:noFill/>
        </p:spPr>
        <p:txBody>
          <a:bodyPr wrap="square">
            <a:spAutoFit/>
          </a:bodyPr>
          <a:lstStyle/>
          <a:p>
            <a:r>
              <a:rPr sz="1900" b="1">
                <a:solidFill>
                  <a:srgbClr val="1B5E6B"/>
                </a:solidFill>
                <a:latin typeface="Bricolage Grotesque"/>
              </a:rPr>
              <a:t>1.  </a:t>
            </a:r>
            <a:r>
              <a:rPr sz="1900">
                <a:solidFill>
                  <a:srgbClr val="333333"/>
                </a:solidFill>
                <a:latin typeface="Bricolage Grotesque"/>
              </a:rPr>
              <a:t>Nouvelle conversation Claude : collez les notes fictives.</a:t>
            </a:r>
          </a:p>
        </p:txBody>
      </p:sp>
      <p:sp>
        <p:nvSpPr>
          <p:cNvPr id="13" name="TextBox 12"/>
          <p:cNvSpPr txBox="1"/>
          <p:nvPr/>
        </p:nvSpPr>
        <p:spPr>
          <a:xfrm>
            <a:off x="640080" y="3355848"/>
            <a:ext cx="10881360" cy="411480"/>
          </a:xfrm>
          <a:prstGeom prst="rect">
            <a:avLst/>
          </a:prstGeom>
          <a:noFill/>
        </p:spPr>
        <p:txBody>
          <a:bodyPr wrap="square">
            <a:spAutoFit/>
          </a:bodyPr>
          <a:lstStyle/>
          <a:p>
            <a:r>
              <a:rPr sz="1900" b="1">
                <a:solidFill>
                  <a:srgbClr val="1B5E6B"/>
                </a:solidFill>
                <a:latin typeface="Bricolage Grotesque"/>
              </a:rPr>
              <a:t>2.  </a:t>
            </a:r>
            <a:r>
              <a:rPr sz="1900">
                <a:solidFill>
                  <a:srgbClr val="333333"/>
                </a:solidFill>
                <a:latin typeface="Bricolage Grotesque"/>
              </a:rPr>
              <a:t>Ajoutez le prompt et ses règles (dans le chat de la visio).</a:t>
            </a:r>
          </a:p>
        </p:txBody>
      </p:sp>
      <p:sp>
        <p:nvSpPr>
          <p:cNvPr id="14" name="TextBox 13"/>
          <p:cNvSpPr txBox="1"/>
          <p:nvPr/>
        </p:nvSpPr>
        <p:spPr>
          <a:xfrm>
            <a:off x="640080" y="3877056"/>
            <a:ext cx="10881360" cy="411480"/>
          </a:xfrm>
          <a:prstGeom prst="rect">
            <a:avLst/>
          </a:prstGeom>
          <a:noFill/>
        </p:spPr>
        <p:txBody>
          <a:bodyPr wrap="square">
            <a:spAutoFit/>
          </a:bodyPr>
          <a:lstStyle/>
          <a:p>
            <a:r>
              <a:rPr sz="1900" b="1">
                <a:solidFill>
                  <a:srgbClr val="1B5E6B"/>
                </a:solidFill>
                <a:latin typeface="Bricolage Grotesque"/>
              </a:rPr>
              <a:t>3.  </a:t>
            </a:r>
            <a:r>
              <a:rPr sz="1900">
                <a:solidFill>
                  <a:srgbClr val="333333"/>
                </a:solidFill>
                <a:latin typeface="Bricolage Grotesque"/>
              </a:rPr>
              <a:t>Relisez les points sensibles : la chute, l'unité protégée, les photos.</a:t>
            </a:r>
          </a:p>
        </p:txBody>
      </p:sp>
      <p:sp>
        <p:nvSpPr>
          <p:cNvPr id="15" name="TextBox 14"/>
          <p:cNvSpPr txBox="1"/>
          <p:nvPr/>
        </p:nvSpPr>
        <p:spPr>
          <a:xfrm>
            <a:off x="640080" y="4398264"/>
            <a:ext cx="10881360" cy="411480"/>
          </a:xfrm>
          <a:prstGeom prst="rect">
            <a:avLst/>
          </a:prstGeom>
          <a:noFill/>
        </p:spPr>
        <p:txBody>
          <a:bodyPr wrap="square">
            <a:spAutoFit/>
          </a:bodyPr>
          <a:lstStyle/>
          <a:p>
            <a:r>
              <a:rPr sz="1900" b="1">
                <a:solidFill>
                  <a:srgbClr val="1B5E6B"/>
                </a:solidFill>
                <a:latin typeface="Bricolage Grotesque"/>
              </a:rPr>
              <a:t>4.  </a:t>
            </a:r>
            <a:r>
              <a:rPr sz="1900">
                <a:solidFill>
                  <a:srgbClr val="333333"/>
                </a:solidFill>
                <a:latin typeface="Bricolage Grotesque"/>
              </a:rPr>
              <a:t>Gardez le prompt : il resservira à chacune de vos réunions.</a:t>
            </a:r>
          </a:p>
        </p:txBody>
      </p:sp>
    </p:spTree>
  </p:cSld>
  <p:clrMapOvr>
    <a:masterClrMapping/>
  </p:clrMapOvr>
</p:sld>
</file>

<file path=ppt/slides/slide5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2B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914400"/>
            <a:ext cx="10515600" cy="731520"/>
          </a:xfrm>
          <a:prstGeom prst="rect">
            <a:avLst/>
          </a:prstGeom>
          <a:noFill/>
        </p:spPr>
        <p:txBody>
          <a:bodyPr wrap="square">
            <a:spAutoFit/>
          </a:bodyPr>
          <a:lstStyle/>
          <a:p>
            <a:pPr algn="l"/>
            <a:r>
              <a:rPr sz="3600" b="1">
                <a:solidFill>
                  <a:srgbClr val="E8A000"/>
                </a:solidFill>
                <a:latin typeface="Bricolage Grotesque"/>
              </a:rPr>
              <a:t>À retenir</a:t>
            </a:r>
          </a:p>
        </p:txBody>
      </p:sp>
      <p:sp>
        <p:nvSpPr>
          <p:cNvPr id="4" name="TextBox 3"/>
          <p:cNvSpPr txBox="1"/>
          <p:nvPr/>
        </p:nvSpPr>
        <p:spPr>
          <a:xfrm>
            <a:off x="640080" y="1645920"/>
            <a:ext cx="10515600" cy="548640"/>
          </a:xfrm>
          <a:prstGeom prst="rect">
            <a:avLst/>
          </a:prstGeom>
          <a:noFill/>
        </p:spPr>
        <p:txBody>
          <a:bodyPr wrap="square">
            <a:spAutoFit/>
          </a:bodyPr>
          <a:lstStyle/>
          <a:p>
            <a:pPr algn="l"/>
            <a:r>
              <a:rPr sz="1800" b="0">
                <a:solidFill>
                  <a:srgbClr val="5A8A8F"/>
                </a:solidFill>
                <a:latin typeface="Bricolage Grotesque"/>
              </a:rPr>
              <a:t>Ce matin</a:t>
            </a:r>
          </a:p>
        </p:txBody>
      </p:sp>
      <p:sp>
        <p:nvSpPr>
          <p:cNvPr id="5" name="Rectangle 4"/>
          <p:cNvSpPr/>
          <p:nvPr/>
        </p:nvSpPr>
        <p:spPr>
          <a:xfrm>
            <a:off x="640080" y="2286000"/>
            <a:ext cx="2743200" cy="27432"/>
          </a:xfrm>
          <a:prstGeom prst="rect">
            <a:avLst/>
          </a:prstGeom>
          <a:solidFill>
            <a:srgbClr val="E8A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40080" y="2651760"/>
            <a:ext cx="10881360" cy="3383280"/>
          </a:xfrm>
          <a:prstGeom prst="rect">
            <a:avLst/>
          </a:prstGeom>
          <a:noFill/>
        </p:spPr>
        <p:txBody>
          <a:bodyPr wrap="square">
            <a:spAutoFit/>
          </a:bodyPr>
          <a:lstStyle/>
          <a:p>
            <a:pPr>
              <a:spcBef>
                <a:spcPts val="1200"/>
              </a:spcBef>
            </a:pPr>
            <a:r>
              <a:rPr sz="2000">
                <a:solidFill>
                  <a:srgbClr val="FFFFFF"/>
                </a:solidFill>
                <a:latin typeface="Bricolage Grotesque"/>
              </a:rPr>
              <a:t>1.  Excel : le chat pour convertir, l'add-in pour faire vivre le tableau.</a:t>
            </a:r>
          </a:p>
          <a:p>
            <a:pPr>
              <a:spcBef>
                <a:spcPts val="1200"/>
              </a:spcBef>
            </a:pPr>
            <a:r>
              <a:rPr sz="2000">
                <a:solidFill>
                  <a:srgbClr val="FFFFFF"/>
                </a:solidFill>
                <a:latin typeface="Bricolage Grotesque"/>
              </a:rPr>
              <a:t>2.  Vos contacts : seulement les colonnes utiles, et un lien pour se désinscrire.</a:t>
            </a:r>
          </a:p>
          <a:p>
            <a:pPr>
              <a:spcBef>
                <a:spcPts val="1200"/>
              </a:spcBef>
            </a:pPr>
            <a:r>
              <a:rPr sz="2000">
                <a:solidFill>
                  <a:srgbClr val="FFFFFF"/>
                </a:solidFill>
                <a:latin typeface="Bricolage Grotesque"/>
              </a:rPr>
              <a:t>3.  Le projet garde ce qui reste, la conversation apporte la nouveauté.</a:t>
            </a:r>
          </a:p>
          <a:p>
            <a:pPr>
              <a:spcBef>
                <a:spcPts val="1200"/>
              </a:spcBef>
            </a:pPr>
            <a:r>
              <a:rPr sz="2000">
                <a:solidFill>
                  <a:srgbClr val="FFFFFF"/>
                </a:solidFill>
                <a:latin typeface="Bricolage Grotesque"/>
              </a:rPr>
              <a:t>4.  Claude propose, vous validez : rien ne change avant votre « go ».</a:t>
            </a:r>
          </a:p>
          <a:p>
            <a:pPr>
              <a:spcBef>
                <a:spcPts val="1200"/>
              </a:spcBef>
            </a:pPr>
            <a:r>
              <a:rPr sz="2000">
                <a:solidFill>
                  <a:srgbClr val="FFFFFF"/>
                </a:solidFill>
                <a:latin typeface="Bricolage Grotesque"/>
              </a:rPr>
              <a:t>5.  Un CV adapté reste un CV vrai : chaque ligne se relit.</a:t>
            </a:r>
          </a:p>
        </p:txBody>
      </p:sp>
      <p:pic>
        <p:nvPicPr>
          <p:cNvPr id="7" name="Picture 6" descr="ia-round.png"/>
          <p:cNvPicPr>
            <a:picLocks noChangeAspect="1"/>
          </p:cNvPicPr>
          <p:nvPr/>
        </p:nvPicPr>
        <p:blipFill>
          <a:blip r:embed="rId2"/>
          <a:stretch>
            <a:fillRect/>
          </a:stretch>
        </p:blipFill>
        <p:spPr>
          <a:xfrm>
            <a:off x="457200" y="6355080"/>
            <a:ext cx="320040" cy="320040"/>
          </a:xfrm>
          <a:prstGeom prst="rect">
            <a:avLst/>
          </a:prstGeom>
        </p:spPr>
      </p:pic>
      <p:sp>
        <p:nvSpPr>
          <p:cNvPr id="8" name="TextBox 7"/>
          <p:cNvSpPr txBox="1"/>
          <p:nvPr/>
        </p:nvSpPr>
        <p:spPr>
          <a:xfrm>
            <a:off x="868680" y="6336792"/>
            <a:ext cx="3657600" cy="365760"/>
          </a:xfrm>
          <a:prstGeom prst="rect">
            <a:avLst/>
          </a:prstGeom>
          <a:noFill/>
        </p:spPr>
        <p:txBody>
          <a:bodyPr wrap="square">
            <a:spAutoFit/>
          </a:bodyPr>
          <a:lstStyle/>
          <a:p>
            <a:pPr algn="l"/>
            <a:r>
              <a:rPr sz="1400" b="0">
                <a:solidFill>
                  <a:srgbClr val="FFFFFF"/>
                </a:solidFill>
                <a:latin typeface="Bricolage Grotesque"/>
              </a:rPr>
              <a:t>intelligence academy</a:t>
            </a:r>
          </a:p>
        </p:txBody>
      </p:sp>
    </p:spTree>
  </p:cSld>
  <p:clrMapOvr>
    <a:masterClrMapping/>
  </p:clrMapOvr>
</p:sld>
</file>

<file path=ppt/slides/slide5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2B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640080" y="1965960"/>
            <a:ext cx="2743200" cy="36576"/>
          </a:xfrm>
          <a:prstGeom prst="rect">
            <a:avLst/>
          </a:prstGeom>
          <a:solidFill>
            <a:srgbClr val="E8A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1371600"/>
            <a:ext cx="10515600" cy="731520"/>
          </a:xfrm>
          <a:prstGeom prst="rect">
            <a:avLst/>
          </a:prstGeom>
          <a:noFill/>
        </p:spPr>
        <p:txBody>
          <a:bodyPr wrap="square">
            <a:spAutoFit/>
          </a:bodyPr>
          <a:lstStyle/>
          <a:p>
            <a:pPr algn="l"/>
            <a:r>
              <a:rPr sz="2200" b="1">
                <a:solidFill>
                  <a:srgbClr val="E8A000"/>
                </a:solidFill>
                <a:latin typeface="Bricolage Grotesque"/>
              </a:rPr>
              <a:t>Séquence 7</a:t>
            </a:r>
          </a:p>
        </p:txBody>
      </p:sp>
      <p:sp>
        <p:nvSpPr>
          <p:cNvPr id="5" name="TextBox 4"/>
          <p:cNvSpPr txBox="1"/>
          <p:nvPr/>
        </p:nvSpPr>
        <p:spPr>
          <a:xfrm>
            <a:off x="640080" y="2286000"/>
            <a:ext cx="10698480" cy="1645920"/>
          </a:xfrm>
          <a:prstGeom prst="rect">
            <a:avLst/>
          </a:prstGeom>
          <a:noFill/>
        </p:spPr>
        <p:txBody>
          <a:bodyPr wrap="square">
            <a:spAutoFit/>
          </a:bodyPr>
          <a:lstStyle/>
          <a:p>
            <a:pPr algn="l"/>
            <a:r>
              <a:rPr sz="4200" b="1">
                <a:solidFill>
                  <a:srgbClr val="FFFFFF"/>
                </a:solidFill>
                <a:latin typeface="Bricolage Grotesque"/>
              </a:rPr>
              <a:t>Les devoirs</a:t>
            </a:r>
          </a:p>
        </p:txBody>
      </p:sp>
      <p:sp>
        <p:nvSpPr>
          <p:cNvPr id="6" name="TextBox 5"/>
          <p:cNvSpPr txBox="1"/>
          <p:nvPr/>
        </p:nvSpPr>
        <p:spPr>
          <a:xfrm>
            <a:off x="640080" y="4023360"/>
            <a:ext cx="10515600" cy="731520"/>
          </a:xfrm>
          <a:prstGeom prst="rect">
            <a:avLst/>
          </a:prstGeom>
          <a:noFill/>
        </p:spPr>
        <p:txBody>
          <a:bodyPr wrap="square">
            <a:spAutoFit/>
          </a:bodyPr>
          <a:lstStyle/>
          <a:p>
            <a:pPr algn="l"/>
            <a:r>
              <a:rPr sz="2000" b="0">
                <a:solidFill>
                  <a:srgbClr val="5A8A8F"/>
                </a:solidFill>
                <a:latin typeface="Bricolage Grotesque"/>
              </a:rPr>
              <a:t>Pour la séance 4, jeudi 29 octobre</a:t>
            </a:r>
          </a:p>
        </p:txBody>
      </p:sp>
      <p:pic>
        <p:nvPicPr>
          <p:cNvPr id="7" name="Picture 6" descr="ia-round.png"/>
          <p:cNvPicPr>
            <a:picLocks noChangeAspect="1"/>
          </p:cNvPicPr>
          <p:nvPr/>
        </p:nvPicPr>
        <p:blipFill>
          <a:blip r:embed="rId2"/>
          <a:stretch>
            <a:fillRect/>
          </a:stretch>
        </p:blipFill>
        <p:spPr>
          <a:xfrm>
            <a:off x="457200" y="6217920"/>
            <a:ext cx="320040" cy="320040"/>
          </a:xfrm>
          <a:prstGeom prst="rect">
            <a:avLst/>
          </a:prstGeom>
        </p:spPr>
      </p:pic>
      <p:sp>
        <p:nvSpPr>
          <p:cNvPr id="8" name="TextBox 7"/>
          <p:cNvSpPr txBox="1"/>
          <p:nvPr/>
        </p:nvSpPr>
        <p:spPr>
          <a:xfrm>
            <a:off x="868680" y="6199632"/>
            <a:ext cx="3657600" cy="365760"/>
          </a:xfrm>
          <a:prstGeom prst="rect">
            <a:avLst/>
          </a:prstGeom>
          <a:noFill/>
        </p:spPr>
        <p:txBody>
          <a:bodyPr wrap="square">
            <a:spAutoFit/>
          </a:bodyPr>
          <a:lstStyle/>
          <a:p>
            <a:pPr algn="l"/>
            <a:r>
              <a:rPr sz="1400" b="0">
                <a:solidFill>
                  <a:srgbClr val="FFFFFF"/>
                </a:solidFill>
                <a:latin typeface="Bricolage Grotesque"/>
              </a:rPr>
              <a:t>intelligence academy</a:t>
            </a:r>
          </a:p>
        </p:txBody>
      </p:sp>
    </p:spTree>
  </p:cSld>
  <p:clrMapOvr>
    <a:masterClrMapping/>
  </p:clrMapOvr>
</p:sld>
</file>

<file path=ppt/slides/slide5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143000"/>
          </a:xfrm>
          <a:prstGeom prst="rect">
            <a:avLst/>
          </a:prstGeom>
          <a:ln>
            <a:noFill/>
          </a:ln>
          <a:gradFill>
            <a:gsLst>
              <a:gs pos="0">
                <a:srgbClr val="0A2530"/>
              </a:gs>
              <a:gs pos="100000">
                <a:srgbClr val="1E5565"/>
              </a:gs>
            </a:gsLst>
            <a:lin ang="0" scaled="1"/>
          </a:gra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143000"/>
            <a:ext cx="12191695" cy="18288"/>
          </a:xfrm>
          <a:prstGeom prst="rect">
            <a:avLst/>
          </a:prstGeom>
          <a:solidFill>
            <a:srgbClr val="E8A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182880"/>
            <a:ext cx="10515600" cy="822960"/>
          </a:xfrm>
          <a:prstGeom prst="rect">
            <a:avLst/>
          </a:prstGeom>
          <a:noFill/>
        </p:spPr>
        <p:txBody>
          <a:bodyPr wrap="square">
            <a:spAutoFit/>
          </a:bodyPr>
          <a:lstStyle/>
          <a:p>
            <a:pPr algn="l"/>
            <a:r>
              <a:rPr sz="3400" b="1">
                <a:solidFill>
                  <a:srgbClr val="FFFFFF"/>
                </a:solidFill>
                <a:latin typeface="Bricolage Grotesque"/>
              </a:rPr>
              <a:t>Devoirs · à produire</a:t>
            </a:r>
          </a:p>
        </p:txBody>
      </p:sp>
      <p:sp>
        <p:nvSpPr>
          <p:cNvPr id="5" name="TextBox 4"/>
          <p:cNvSpPr txBox="1"/>
          <p:nvPr/>
        </p:nvSpPr>
        <p:spPr>
          <a:xfrm>
            <a:off x="640080" y="1554480"/>
            <a:ext cx="10881360" cy="411480"/>
          </a:xfrm>
          <a:prstGeom prst="rect">
            <a:avLst/>
          </a:prstGeom>
          <a:noFill/>
        </p:spPr>
        <p:txBody>
          <a:bodyPr wrap="square">
            <a:spAutoFit/>
          </a:bodyPr>
          <a:lstStyle/>
          <a:p>
            <a:r>
              <a:rPr sz="2000" b="1">
                <a:solidFill>
                  <a:srgbClr val="1B5E6B"/>
                </a:solidFill>
                <a:latin typeface="Bricolage Grotesque"/>
              </a:rPr>
              <a:t>1.  Votre tableau de suivi à jour : envois et relances notés</a:t>
            </a:r>
          </a:p>
        </p:txBody>
      </p:sp>
      <p:sp>
        <p:nvSpPr>
          <p:cNvPr id="6" name="TextBox 5"/>
          <p:cNvSpPr txBox="1"/>
          <p:nvPr/>
        </p:nvSpPr>
        <p:spPr>
          <a:xfrm>
            <a:off x="640080" y="2075688"/>
            <a:ext cx="10881360" cy="411480"/>
          </a:xfrm>
          <a:prstGeom prst="rect">
            <a:avLst/>
          </a:prstGeom>
          <a:noFill/>
        </p:spPr>
        <p:txBody>
          <a:bodyPr wrap="square">
            <a:spAutoFit/>
          </a:bodyPr>
          <a:lstStyle/>
          <a:p>
            <a:r>
              <a:rPr sz="2000" b="1">
                <a:solidFill>
                  <a:srgbClr val="1B5E6B"/>
                </a:solidFill>
                <a:latin typeface="Bricolage Grotesque"/>
              </a:rPr>
              <a:t>2.  Une vraie candidature, avec le projet « Recherche d'emploi »</a:t>
            </a:r>
          </a:p>
        </p:txBody>
      </p:sp>
      <p:sp>
        <p:nvSpPr>
          <p:cNvPr id="7" name="TextBox 6"/>
          <p:cNvSpPr txBox="1"/>
          <p:nvPr/>
        </p:nvSpPr>
        <p:spPr>
          <a:xfrm>
            <a:off x="640080" y="2596896"/>
            <a:ext cx="10881360" cy="411480"/>
          </a:xfrm>
          <a:prstGeom prst="rect">
            <a:avLst/>
          </a:prstGeom>
          <a:noFill/>
        </p:spPr>
        <p:txBody>
          <a:bodyPr wrap="square">
            <a:spAutoFit/>
          </a:bodyPr>
          <a:lstStyle/>
          <a:p>
            <a:r>
              <a:rPr sz="2000" b="1">
                <a:solidFill>
                  <a:srgbClr val="1B5E6B"/>
                </a:solidFill>
                <a:latin typeface="Bricolage Grotesque"/>
              </a:rPr>
              <a:t>3.  Le compte-rendu, s'il n'a pas été fait en séance</a:t>
            </a:r>
          </a:p>
        </p:txBody>
      </p:sp>
    </p:spTree>
  </p:cSld>
  <p:clrMapOvr>
    <a:masterClrMapping/>
  </p:clrMapOvr>
</p:sld>
</file>

<file path=ppt/slides/slide5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143000"/>
          </a:xfrm>
          <a:prstGeom prst="rect">
            <a:avLst/>
          </a:prstGeom>
          <a:ln>
            <a:noFill/>
          </a:ln>
          <a:gradFill>
            <a:gsLst>
              <a:gs pos="0">
                <a:srgbClr val="0A2530"/>
              </a:gs>
              <a:gs pos="100000">
                <a:srgbClr val="1E5565"/>
              </a:gs>
            </a:gsLst>
            <a:lin ang="0" scaled="1"/>
          </a:gra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143000"/>
            <a:ext cx="12191695" cy="18288"/>
          </a:xfrm>
          <a:prstGeom prst="rect">
            <a:avLst/>
          </a:prstGeom>
          <a:solidFill>
            <a:srgbClr val="E8A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182880"/>
            <a:ext cx="10515600" cy="822960"/>
          </a:xfrm>
          <a:prstGeom prst="rect">
            <a:avLst/>
          </a:prstGeom>
          <a:noFill/>
        </p:spPr>
        <p:txBody>
          <a:bodyPr wrap="square">
            <a:spAutoFit/>
          </a:bodyPr>
          <a:lstStyle/>
          <a:p>
            <a:pPr algn="l"/>
            <a:r>
              <a:rPr sz="3400" b="1">
                <a:solidFill>
                  <a:srgbClr val="FFFFFF"/>
                </a:solidFill>
                <a:latin typeface="Bricolage Grotesque"/>
              </a:rPr>
              <a:t>Devoirs · à produire</a:t>
            </a:r>
          </a:p>
        </p:txBody>
      </p:sp>
      <p:sp>
        <p:nvSpPr>
          <p:cNvPr id="5" name="TextBox 4"/>
          <p:cNvSpPr txBox="1"/>
          <p:nvPr/>
        </p:nvSpPr>
        <p:spPr>
          <a:xfrm>
            <a:off x="640080" y="1554480"/>
            <a:ext cx="10881360" cy="411480"/>
          </a:xfrm>
          <a:prstGeom prst="rect">
            <a:avLst/>
          </a:prstGeom>
          <a:noFill/>
        </p:spPr>
        <p:txBody>
          <a:bodyPr wrap="square">
            <a:spAutoFit/>
          </a:bodyPr>
          <a:lstStyle/>
          <a:p>
            <a:r>
              <a:rPr sz="2000" b="1">
                <a:solidFill>
                  <a:srgbClr val="1B5E6B"/>
                </a:solidFill>
                <a:latin typeface="Bricolage Grotesque"/>
              </a:rPr>
              <a:t>1.  Votre tableau de suivi à jour : envois et relances notés</a:t>
            </a:r>
          </a:p>
        </p:txBody>
      </p:sp>
      <p:sp>
        <p:nvSpPr>
          <p:cNvPr id="6" name="TextBox 5"/>
          <p:cNvSpPr txBox="1"/>
          <p:nvPr/>
        </p:nvSpPr>
        <p:spPr>
          <a:xfrm>
            <a:off x="640080" y="2075688"/>
            <a:ext cx="10881360" cy="411480"/>
          </a:xfrm>
          <a:prstGeom prst="rect">
            <a:avLst/>
          </a:prstGeom>
          <a:noFill/>
        </p:spPr>
        <p:txBody>
          <a:bodyPr wrap="square">
            <a:spAutoFit/>
          </a:bodyPr>
          <a:lstStyle/>
          <a:p>
            <a:r>
              <a:rPr sz="2000" b="1">
                <a:solidFill>
                  <a:srgbClr val="1B5E6B"/>
                </a:solidFill>
                <a:latin typeface="Bricolage Grotesque"/>
              </a:rPr>
              <a:t>2.  Une vraie candidature, avec le projet « Recherche d'emploi »</a:t>
            </a:r>
          </a:p>
        </p:txBody>
      </p:sp>
      <p:sp>
        <p:nvSpPr>
          <p:cNvPr id="7" name="TextBox 6"/>
          <p:cNvSpPr txBox="1"/>
          <p:nvPr/>
        </p:nvSpPr>
        <p:spPr>
          <a:xfrm>
            <a:off x="640080" y="2596896"/>
            <a:ext cx="10881360" cy="411480"/>
          </a:xfrm>
          <a:prstGeom prst="rect">
            <a:avLst/>
          </a:prstGeom>
          <a:noFill/>
        </p:spPr>
        <p:txBody>
          <a:bodyPr wrap="square">
            <a:spAutoFit/>
          </a:bodyPr>
          <a:lstStyle/>
          <a:p>
            <a:r>
              <a:rPr sz="2000" b="1">
                <a:solidFill>
                  <a:srgbClr val="1B5E6B"/>
                </a:solidFill>
                <a:latin typeface="Bricolage Grotesque"/>
              </a:rPr>
              <a:t>3.  Le compte-rendu, s'il n'a pas été fait en séance</a:t>
            </a:r>
          </a:p>
        </p:txBody>
      </p:sp>
      <p:sp>
        <p:nvSpPr>
          <p:cNvPr id="8" name="TextBox 7"/>
          <p:cNvSpPr txBox="1"/>
          <p:nvPr/>
        </p:nvSpPr>
        <p:spPr>
          <a:xfrm>
            <a:off x="640080" y="3355848"/>
            <a:ext cx="10881360" cy="411480"/>
          </a:xfrm>
          <a:prstGeom prst="rect">
            <a:avLst/>
          </a:prstGeom>
          <a:noFill/>
        </p:spPr>
        <p:txBody>
          <a:bodyPr wrap="square">
            <a:spAutoFit/>
          </a:bodyPr>
          <a:lstStyle/>
          <a:p>
            <a:r>
              <a:rPr sz="2000" b="1">
                <a:solidFill>
                  <a:srgbClr val="1B5E6B"/>
                </a:solidFill>
                <a:latin typeface="Bricolage Grotesque"/>
              </a:rPr>
              <a:t>À m'envoyer d'ici le mardi 27 octobre, dans un seul fichier.</a:t>
            </a:r>
          </a:p>
        </p:txBody>
      </p:sp>
    </p:spTree>
  </p:cSld>
  <p:clrMapOvr>
    <a:masterClrMapping/>
  </p:clrMapOvr>
</p:sld>
</file>

<file path=ppt/slides/slide5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143000"/>
          </a:xfrm>
          <a:prstGeom prst="rect">
            <a:avLst/>
          </a:prstGeom>
          <a:ln>
            <a:noFill/>
          </a:ln>
          <a:gradFill>
            <a:gsLst>
              <a:gs pos="0">
                <a:srgbClr val="0A2530"/>
              </a:gs>
              <a:gs pos="100000">
                <a:srgbClr val="1E5565"/>
              </a:gs>
            </a:gsLst>
            <a:lin ang="0" scaled="1"/>
          </a:gra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143000"/>
            <a:ext cx="12191695" cy="18288"/>
          </a:xfrm>
          <a:prstGeom prst="rect">
            <a:avLst/>
          </a:prstGeom>
          <a:solidFill>
            <a:srgbClr val="E8A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182880"/>
            <a:ext cx="10515600" cy="822960"/>
          </a:xfrm>
          <a:prstGeom prst="rect">
            <a:avLst/>
          </a:prstGeom>
          <a:noFill/>
        </p:spPr>
        <p:txBody>
          <a:bodyPr wrap="square">
            <a:spAutoFit/>
          </a:bodyPr>
          <a:lstStyle/>
          <a:p>
            <a:pPr algn="l"/>
            <a:r>
              <a:rPr sz="3400" b="1">
                <a:solidFill>
                  <a:srgbClr val="FFFFFF"/>
                </a:solidFill>
                <a:latin typeface="Bricolage Grotesque"/>
              </a:rPr>
              <a:t>Devoirs · e-learning et séance 4</a:t>
            </a:r>
          </a:p>
        </p:txBody>
      </p:sp>
      <p:sp>
        <p:nvSpPr>
          <p:cNvPr id="5" name="TextBox 4"/>
          <p:cNvSpPr txBox="1"/>
          <p:nvPr/>
        </p:nvSpPr>
        <p:spPr>
          <a:xfrm>
            <a:off x="640080" y="1554480"/>
            <a:ext cx="10881360" cy="411480"/>
          </a:xfrm>
          <a:prstGeom prst="rect">
            <a:avLst/>
          </a:prstGeom>
          <a:noFill/>
        </p:spPr>
        <p:txBody>
          <a:bodyPr wrap="square">
            <a:spAutoFit/>
          </a:bodyPr>
          <a:lstStyle/>
          <a:p>
            <a:r>
              <a:rPr sz="2000" b="1">
                <a:solidFill>
                  <a:srgbClr val="1B5E6B"/>
                </a:solidFill>
                <a:latin typeface="Bricolage Grotesque"/>
              </a:rPr>
              <a:t>1.  « Claude : les fondamentaux » : les vidéos restantes</a:t>
            </a:r>
          </a:p>
        </p:txBody>
      </p:sp>
      <p:sp>
        <p:nvSpPr>
          <p:cNvPr id="6" name="TextBox 5"/>
          <p:cNvSpPr txBox="1"/>
          <p:nvPr/>
        </p:nvSpPr>
        <p:spPr>
          <a:xfrm>
            <a:off x="640080" y="2075688"/>
            <a:ext cx="10881360" cy="411480"/>
          </a:xfrm>
          <a:prstGeom prst="rect">
            <a:avLst/>
          </a:prstGeom>
          <a:noFill/>
        </p:spPr>
        <p:txBody>
          <a:bodyPr wrap="square">
            <a:spAutoFit/>
          </a:bodyPr>
          <a:lstStyle/>
          <a:p>
            <a:r>
              <a:rPr sz="2000" b="1">
                <a:solidFill>
                  <a:srgbClr val="1B5E6B"/>
                </a:solidFill>
                <a:latin typeface="Bricolage Grotesque"/>
              </a:rPr>
              <a:t>2.  « Claude pour Excel », puis « Claude Cowork »</a:t>
            </a:r>
          </a:p>
        </p:txBody>
      </p:sp>
    </p:spTree>
  </p:cSld>
  <p:clrMapOvr>
    <a:masterClrMapping/>
  </p:clrMapOvr>
</p:sld>
</file>

<file path=ppt/slides/slide5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143000"/>
          </a:xfrm>
          <a:prstGeom prst="rect">
            <a:avLst/>
          </a:prstGeom>
          <a:ln>
            <a:noFill/>
          </a:ln>
          <a:gradFill>
            <a:gsLst>
              <a:gs pos="0">
                <a:srgbClr val="0A2530"/>
              </a:gs>
              <a:gs pos="100000">
                <a:srgbClr val="1E5565"/>
              </a:gs>
            </a:gsLst>
            <a:lin ang="0" scaled="1"/>
          </a:gra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143000"/>
            <a:ext cx="12191695" cy="18288"/>
          </a:xfrm>
          <a:prstGeom prst="rect">
            <a:avLst/>
          </a:prstGeom>
          <a:solidFill>
            <a:srgbClr val="E8A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182880"/>
            <a:ext cx="10515600" cy="822960"/>
          </a:xfrm>
          <a:prstGeom prst="rect">
            <a:avLst/>
          </a:prstGeom>
          <a:noFill/>
        </p:spPr>
        <p:txBody>
          <a:bodyPr wrap="square">
            <a:spAutoFit/>
          </a:bodyPr>
          <a:lstStyle/>
          <a:p>
            <a:pPr algn="l"/>
            <a:r>
              <a:rPr sz="3400" b="1">
                <a:solidFill>
                  <a:srgbClr val="FFFFFF"/>
                </a:solidFill>
                <a:latin typeface="Bricolage Grotesque"/>
              </a:rPr>
              <a:t>Devoirs · e-learning et séance 4</a:t>
            </a:r>
          </a:p>
        </p:txBody>
      </p:sp>
      <p:sp>
        <p:nvSpPr>
          <p:cNvPr id="5" name="TextBox 4"/>
          <p:cNvSpPr txBox="1"/>
          <p:nvPr/>
        </p:nvSpPr>
        <p:spPr>
          <a:xfrm>
            <a:off x="640080" y="1554480"/>
            <a:ext cx="10881360" cy="411480"/>
          </a:xfrm>
          <a:prstGeom prst="rect">
            <a:avLst/>
          </a:prstGeom>
          <a:noFill/>
        </p:spPr>
        <p:txBody>
          <a:bodyPr wrap="square">
            <a:spAutoFit/>
          </a:bodyPr>
          <a:lstStyle/>
          <a:p>
            <a:r>
              <a:rPr sz="2000" b="1">
                <a:solidFill>
                  <a:srgbClr val="1B5E6B"/>
                </a:solidFill>
                <a:latin typeface="Bricolage Grotesque"/>
              </a:rPr>
              <a:t>1.  « Claude : les fondamentaux » : les vidéos restantes</a:t>
            </a:r>
          </a:p>
        </p:txBody>
      </p:sp>
      <p:sp>
        <p:nvSpPr>
          <p:cNvPr id="6" name="TextBox 5"/>
          <p:cNvSpPr txBox="1"/>
          <p:nvPr/>
        </p:nvSpPr>
        <p:spPr>
          <a:xfrm>
            <a:off x="640080" y="2075688"/>
            <a:ext cx="10881360" cy="411480"/>
          </a:xfrm>
          <a:prstGeom prst="rect">
            <a:avLst/>
          </a:prstGeom>
          <a:noFill/>
        </p:spPr>
        <p:txBody>
          <a:bodyPr wrap="square">
            <a:spAutoFit/>
          </a:bodyPr>
          <a:lstStyle/>
          <a:p>
            <a:r>
              <a:rPr sz="2000" b="1">
                <a:solidFill>
                  <a:srgbClr val="1B5E6B"/>
                </a:solidFill>
                <a:latin typeface="Bricolage Grotesque"/>
              </a:rPr>
              <a:t>2.  « Claude pour Excel », puis « Claude Cowork »</a:t>
            </a:r>
          </a:p>
        </p:txBody>
      </p:sp>
      <p:sp>
        <p:nvSpPr>
          <p:cNvPr id="7" name="TextBox 6"/>
          <p:cNvSpPr txBox="1"/>
          <p:nvPr/>
        </p:nvSpPr>
        <p:spPr>
          <a:xfrm>
            <a:off x="640080" y="2834640"/>
            <a:ext cx="10881360" cy="411480"/>
          </a:xfrm>
          <a:prstGeom prst="rect">
            <a:avLst/>
          </a:prstGeom>
          <a:noFill/>
        </p:spPr>
        <p:txBody>
          <a:bodyPr wrap="square">
            <a:spAutoFit/>
          </a:bodyPr>
          <a:lstStyle/>
          <a:p>
            <a:r>
              <a:rPr sz="2000" b="1">
                <a:solidFill>
                  <a:srgbClr val="1B5E6B"/>
                </a:solidFill>
                <a:latin typeface="Bricolage Grotesque"/>
              </a:rPr>
              <a:t>Pour la S4 : choisissez un NOUVEAU projet et écrivez son brief.</a:t>
            </a:r>
          </a:p>
        </p:txBody>
      </p:sp>
      <p:sp>
        <p:nvSpPr>
          <p:cNvPr id="8" name="TextBox 7"/>
          <p:cNvSpPr txBox="1"/>
          <p:nvPr/>
        </p:nvSpPr>
        <p:spPr>
          <a:xfrm>
            <a:off x="640080" y="3355848"/>
            <a:ext cx="10881360" cy="411480"/>
          </a:xfrm>
          <a:prstGeom prst="rect">
            <a:avLst/>
          </a:prstGeom>
          <a:noFill/>
        </p:spPr>
        <p:txBody>
          <a:bodyPr wrap="square">
            <a:spAutoFit/>
          </a:bodyPr>
          <a:lstStyle/>
          <a:p>
            <a:r>
              <a:rPr sz="2000" b="0">
                <a:solidFill>
                  <a:srgbClr val="333333"/>
                </a:solidFill>
                <a:latin typeface="Bricolage Grotesque"/>
              </a:rPr>
              <a:t>Piste 1 : votre offre musicale du printemps 2027.</a:t>
            </a:r>
          </a:p>
        </p:txBody>
      </p:sp>
      <p:sp>
        <p:nvSpPr>
          <p:cNvPr id="9" name="TextBox 8"/>
          <p:cNvSpPr txBox="1"/>
          <p:nvPr/>
        </p:nvSpPr>
        <p:spPr>
          <a:xfrm>
            <a:off x="640080" y="3877056"/>
            <a:ext cx="10881360" cy="411480"/>
          </a:xfrm>
          <a:prstGeom prst="rect">
            <a:avLst/>
          </a:prstGeom>
          <a:noFill/>
        </p:spPr>
        <p:txBody>
          <a:bodyPr wrap="square">
            <a:spAutoFit/>
          </a:bodyPr>
          <a:lstStyle/>
          <a:p>
            <a:r>
              <a:rPr sz="2000" b="0">
                <a:solidFill>
                  <a:srgbClr val="333333"/>
                </a:solidFill>
                <a:latin typeface="Bricolage Grotesque"/>
              </a:rPr>
              <a:t>Piste 2 : une animation, dans votre futur poste médico-social.</a:t>
            </a:r>
          </a:p>
        </p:txBody>
      </p:sp>
      <p:sp>
        <p:nvSpPr>
          <p:cNvPr id="10" name="TextBox 9"/>
          <p:cNvSpPr txBox="1"/>
          <p:nvPr/>
        </p:nvSpPr>
        <p:spPr>
          <a:xfrm>
            <a:off x="640080" y="4398264"/>
            <a:ext cx="10881360" cy="411480"/>
          </a:xfrm>
          <a:prstGeom prst="rect">
            <a:avLst/>
          </a:prstGeom>
          <a:noFill/>
        </p:spPr>
        <p:txBody>
          <a:bodyPr wrap="square">
            <a:spAutoFit/>
          </a:bodyPr>
          <a:lstStyle/>
          <a:p>
            <a:r>
              <a:rPr sz="2000" b="0">
                <a:solidFill>
                  <a:srgbClr val="333333"/>
                </a:solidFill>
                <a:latin typeface="Bricolage Grotesque"/>
              </a:rPr>
              <a:t>Votre kit de Noël sert de modèle : on verra ce qui se réutilise.</a:t>
            </a:r>
          </a:p>
        </p:txBody>
      </p:sp>
    </p:spTree>
  </p:cSld>
  <p:clrMapOvr>
    <a:masterClrMapping/>
  </p:clrMapOvr>
</p:sld>
</file>

<file path=ppt/slides/slide5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0" y="2560320"/>
            <a:ext cx="12191695" cy="1828800"/>
          </a:xfrm>
          <a:prstGeom prst="rect">
            <a:avLst/>
          </a:prstGeom>
          <a:noFill/>
        </p:spPr>
        <p:txBody>
          <a:bodyPr wrap="square">
            <a:spAutoFit/>
          </a:bodyPr>
          <a:lstStyle/>
          <a:p>
            <a:pPr algn="ctr"/>
            <a:r>
              <a:rPr sz="6400" b="1">
                <a:solidFill>
                  <a:srgbClr val="FFFFFF"/>
                </a:solidFill>
                <a:latin typeface="Bricolage Grotesque"/>
              </a:rPr>
              <a:t>Des questions ?</a:t>
            </a:r>
          </a:p>
        </p:txBody>
      </p:sp>
      <p:pic>
        <p:nvPicPr>
          <p:cNvPr id="4" name="Picture 3" descr="ia-round.png"/>
          <p:cNvPicPr>
            <a:picLocks noChangeAspect="1"/>
          </p:cNvPicPr>
          <p:nvPr/>
        </p:nvPicPr>
        <p:blipFill>
          <a:blip r:embed="rId2"/>
          <a:stretch>
            <a:fillRect/>
          </a:stretch>
        </p:blipFill>
        <p:spPr>
          <a:xfrm>
            <a:off x="4846320" y="4754880"/>
            <a:ext cx="320040" cy="320040"/>
          </a:xfrm>
          <a:prstGeom prst="rect">
            <a:avLst/>
          </a:prstGeom>
        </p:spPr>
      </p:pic>
      <p:sp>
        <p:nvSpPr>
          <p:cNvPr id="5" name="TextBox 4"/>
          <p:cNvSpPr txBox="1"/>
          <p:nvPr/>
        </p:nvSpPr>
        <p:spPr>
          <a:xfrm>
            <a:off x="5257800" y="4736592"/>
            <a:ext cx="3657600" cy="365760"/>
          </a:xfrm>
          <a:prstGeom prst="rect">
            <a:avLst/>
          </a:prstGeom>
          <a:noFill/>
        </p:spPr>
        <p:txBody>
          <a:bodyPr wrap="square">
            <a:spAutoFit/>
          </a:bodyPr>
          <a:lstStyle/>
          <a:p>
            <a:pPr algn="l"/>
            <a:r>
              <a:rPr sz="1400" b="0">
                <a:solidFill>
                  <a:srgbClr val="FFFFFF"/>
                </a:solidFill>
                <a:latin typeface="Bricolage Grotesque"/>
              </a:rPr>
              <a:t>intelligence academy</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