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SÉANCE 1 / 4 · XAVIER FERRY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Bricolage Grotesque"/>
              </a:rPr>
              <a:t>Fiabiliser, puis automatiser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A000"/>
                </a:solidFill>
                <a:latin typeface="Bricolage Grotesque"/>
              </a:rPr>
              <a:t>Votre outil d'analyse testé, n8n prêt, votre rapport cartographié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Lundi 19 octobre 2026 · 16h30-18h30 · Idris Salvi</a:t>
            </a:r>
          </a:p>
        </p:txBody>
      </p:sp>
      <p:pic>
        <p:nvPicPr>
          <p:cNvPr id="9" name="Picture 8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Votre 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4 séances, un fil rouge : la pré-analyse d'un IBR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S1 · 19 oct.
Fiabiliser, outiller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S2 · 28 oct.
Pré-analyse IBR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S3 · 6 nov.
BODACC ou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S4 · à caler
Mise en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Le programme est une trame : on l'ajuste à vos priorités à chaque séance.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vous m'avez écrit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Votre mail du 16 octobre, et où vous en êtes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2286000"/>
            <a:ext cx="27432" cy="24505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Vos trois sujets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n8n sur votre propre serveur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Votre fichier d'analyse : erreurs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Actualiser un rapport d'activité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Où vous en êtes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4 modules e-learning terminés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n8n : vidéos vues, exercices en attente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Un outil d'analyse FEC déjà construit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Objectif : accélérer la pré-analyse IBR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Aujourd'hui, on traite vos trois sujets, dans cet ordre.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la séance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d'ouverture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n8n : débloquer vos exercices (20 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la séance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d'ouverture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n8n : débloquer vos exercices (20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Fiabiliser votre outil d'analyse FEC (45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Votre rapport : ce qui s'automatise (25 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la séance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d'ouverture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n8n : débloquer vos exercices (20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Fiabiliser votre outil d'analyse FEC (45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Votre rapport : ce qui s'automatise (25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Les devoirs pour le 28 octobre (10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Quiz d'ouverture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Cinq questions sur vos quatre modules terminés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Commenter le BFR d'un dossier : où Claude risque-t-il le moins d'inventer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Lui demander les ratios moyens du secteur, de mémoire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Lui donner vos chiffres calculés et lui demander de les commenter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Lui demander les textes de loi applicables, avec leurs références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Commenter le BFR d'un dossier : où Claude risque-t-il le moins d'inventer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Lui demander les ratios moyens du secteur, de mémoire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Lui donner vos chiffres calculés et lui demander de les commenter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Lui demander les textes de loi applicables, avec leurs références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Commenter des données fournies : risque très faible.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Chiffres de mémoire, références citées : risque élevé, à vérifier une à une.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Après 40 échanges, Claude oublie vos consignes du début. Pourquoi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Vous avez atteint votre limite d'utilisation de la semaine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Toute la conversation est relue à chaque message : le contexte sature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Claude efface les consignes au bout d'une heure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Après 40 échanges, Claude oublie vos consignes du début. Pourquoi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Vous avez atteint votre limite d'utilisation de la semaine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Toute la conversation est relue à chaque message : le contexte sature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Claude efface les consignes au bout d'une heure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La fenêtre de contexte a une taille finie, pièces jointes comprises.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Une conversation = un sujet. Faites résumer, puis repartez à neuf.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Votre trame de rapport évolue chaque semaine. Comment la donner à un projet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La téléverser à nouveau à chaque nouvelle 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L'ajouter depuis Google Drive : Claude relit toujours la dernière 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La recopier dans les instructions du projet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Votre trame de rapport évolue chaque semaine. Comment la donner à un projet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La téléverser à nouveau à chaque nouvelle 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L'ajouter depuis Google Drive : Claude relit toujours la dernière 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La recopier dans les instructions du projet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Un fichier téléversé est une copie figée ; un document relié reste à jour.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Pour ce qui vit dans un outil (mails, agenda), c'est un connecteur.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Pour que Claude lise les FEC d'un dossier sur votre ordinateur, il vous faut…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Les téléverser un par un dans Claude sur le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L'application Claude ouverte, avec accès au dossier concerné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Obligatoirement Claude Code et le terminal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Pour que Claude lise les FEC d'un dossier sur votre ordinateur, il vous faut…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Les téléverser un par un dans Claude sur le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L'application Claude ouverte, avec accès au dossier concerné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Obligatoirement Claude Code et le 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Claude ne voit que les dossiers que vous lui ouvrez.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Depuis le 16/09, Chat et Cowork ne font qu'un : demandez-le dans le chat.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Une formule de votre classeur renvoie une erreur. Le bon réflexe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Abandonner et écrire la formule à la 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Sélectionner la cellule et demander la cause à Claude pour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Recopier tout le classeur dans une conversation Claude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Une formule de votre classeur renvoie une erreur. Le bon réflexe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Abandonner et écrire la formule à la 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Sélectionner la cellule et demander la cause à Claude pour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Recopier tout le classeur dans une conversation Claude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Il remonte à la cause de l'erreur, en citant les cellules concernées.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Attention : il modifie le classeur ouvert. Travaillez sur une copie.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n8n : débloquer vos exercices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Le Cloud ce soir, votre serveur ensuite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Cloud maintenant, serveur ensuite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Vous ne perdez rien en commençant sur le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2286000"/>
            <a:ext cx="27432" cy="24505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n8n Cloud : essai gratuit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Prêt en 2 minutes, sans carte bancaire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14 jours, 1 000 exécutions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Hébergé par n8n, en Europe (Francfort)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Workspace supprimé si pas d'abonnement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Votre serveur Hostinger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n8n préinstallé, en un clic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Workflows et exécutions illimités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KVM 2 conseillé : 7,79 €/mois (promo)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Payé d'avance, renouvelé plus 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Vos workflows passent de l'un à l'autre en fichier JSON.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Passer du Cloud à votre serveur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Quatre gestes, le jour où vous migrez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1. Télécharger
chaque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2. L'importer
dans votre n8n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3. Recréer
les identifiants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4. Tester
puis activer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Les identifiants (comptes, clés) ne voyagent pas dans le JSON : à reconnecter.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1 · Votre n8n en 15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0233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Un n8n qui marche ce soir, pour faire les exercices du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LIVRABLE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051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Un compte n8n Cloud et un premier workflow exécuté puis exporté.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15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1.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Créer votre compte d'essai sur n8n.io (Get started, sans carte).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2.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Nouveau workflow : déclencheur manuel, puis un nœud Edit Fields.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3.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Edit Fields : société = « Ateliers Lumen », exercice = 2025. Exécuter.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4.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Le télécharger : menu « … » en haut à droite › Download.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5.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Je l'importe en direct sur mon n8n Hostinger : il marche à l'identique.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Plus tard : votre serveur Hostinger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fois l'offre VPS achetée, dans hPanel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Dans hPanel : VPS › votre serveur › Gérer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Système d'exploitation : choisir le modèle « n8n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Valider : Hostinger réinstalle le serveur avec n8n (10 à 15 min)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Plus tard : votre serveur Hostinger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fois l'offre VPS achetée, dans hPanel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Dans hPanel : VPS › votre serveur › Gérer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Système d'exploitation : choisir le modèle « n8n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Valider : Hostinger réinstalle le serveur avec n8n (10 à 15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Ouvrir n8n (Gérer l'application) et créer votre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Importer vos workflows, recréer vos identifiants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Fiabiliser votre outil d'analyse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Le tester sur un dossier dont on connaît les réponses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Un outil se teste sur un dossier connu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Sur un vrai dossier, une erreur ne se voit pas : vous ignorez la réponse.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Sur un dossier fictif, chaque écart à la réponse attendue est une erreur.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Un outil se teste sur un dossier connu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Sur un vrai dossier, une erreur ne se voit pas : vous ignorez la réponse.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Sur un dossier fictif, chaque écart à la réponse attendue est une erreur.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Aujourd'hui : une PME fictive, deux FEC, cinq anomalies glissées.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Je connais les réponses. Vous découvrez ce que votre outil en voit.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Un outil se teste sur un dossier connu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Sur un vrai dossier, une erreur ne se voit pas : vous ignorez la réponse.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Sur un dossier fictif, chaque écart à la réponse attendue est une erreur.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Aujourd'hui : une PME fictive, deux FEC, cinq anomalies glissées.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Je connais les réponses. Vous découvrez ce que votre outil en voit.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Mieux vaut trouver l'erreur ici que devant un administrateur judiciaire 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Comment votre outil fabrique l'Excel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Votre fichier HTML est un programme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1. Vous déposez
FEC et liasses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2. Le programme
lit et contrôle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3. Il écrit l'Excel
et ses formules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4. Vous ouvrez
le classeur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Une formule fausse vient du programme : c'est lui qu'on corrige.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La boucle de fiabilisation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À refaire après chaque modification de l'outil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1. Dossier test
aux réponses connues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2. Lancer
votre outil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3. Comparer
au corrigé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4. Corriger
l'outil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2511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5. Relancer
le même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On corrige l'outil qui fabrique l'Excel, jamais le classeur produit.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Cinq sources d'erreur d'un Excel généré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Type d'erreur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463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Exemple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Où corriger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20"/>
            <a:ext cx="1088136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208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Calcul faux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208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Mauvaise plage ou critère dans SOMME.SI.ENS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020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L'outil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780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Fonction absente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4780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MIN.SI.ENS avant Excel 2019 : #NOM?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478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L'outil, ou Excel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352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Format régional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9352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TEXTE(date;"yyyy") dans un Excel en français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9352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L'outil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924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Donnée mal 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3924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Séparateur, décimale, sens débit/crédit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392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Le lecteur de FEC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496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Hypothèse de calcul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8496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Ancienneté des créances par FIFO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8496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Votre choix métier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Les deux dernières lignes ne sont pas des bugs Excel : ce sont des choix à documenter.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Claude pour Excel, votre auditeur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Il modifie le classeur ouvert : faites une copie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Sélectionnez la cellule en erreur, puis demandez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Trouve pourquoi F12 renvoie #NOM? et explique la formule pas à pas.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Claude pour Excel, votre auditeur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Il modifie le classeur ouvert : faites une copie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Sélectionnez la cellule en erreur, puis demandez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Trouve pourquoi F12 renvoie #NOM? et explique la formule pas à pas.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remonte jusqu'à la cause, en citant les cellules : un clic, vous y êtes.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corrige en gardant les liens entre formules, et prévient avant d'écraser.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Claude pour Excel, votre auditeur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Il modifie le classeur ouvert : faites une copie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Sélectionnez la cellule en erreur, puis demandez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Trouve pourquoi F12 renvoie #NOM? et explique la formule pas à pas.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remonte jusqu'à la cause, en citant les cellules : un clic, vous y êtes.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corrige en gardant les liens entre formules, et prévient avant d'écraser.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Sa correction vaut pour ce seul fichier ; reportez-la dans l'outil.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2 · Tester votre 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0233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Mesurer la fiabilité de votre outil sur un dossier au corrigé connu.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LIVRABLE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051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Votre grille d'écarts : ce qui manque, ce qui est faux, où corriger.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30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1.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Déposer les 2 FEC fictifs reçus dans le chat : 2024 en N-1, 2025 en 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2.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Analyser, puis noter chaque « À voir » et ce qu'il dit du dossier.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3.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Ouvrir l'Excel d'analyse : relever les cellules en erreur (#NOM?…).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4.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Sur deux erreurs : faire expliquer la formule par Claude pour Excel.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5.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Remplir la grille : type d'erreur, onglet, correction dans l'outil.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2 · Votre grille d'écarts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Écart constaté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46304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6304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Onglet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4630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Correction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1088136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20824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Ex. : #NOM? en col.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2082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Fonction absente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208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Tresorerie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0208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Remplacer MINIFS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78024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7802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780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4780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35224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93522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352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9352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392424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39242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924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33924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Une ligne par écart. Cette grille devient votre liste de corrections.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3 bis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 corrigé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Les cinq anomalies glissées dans le FEC 2025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corrigé : cinq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Anomalie glissée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Votre outil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20"/>
            <a:ext cx="1088136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208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Écriture déséquilibrée de 150 €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020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Détectée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0208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Débit ≠ crédit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780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Facture de 48 000 € jamais réglée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4780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En partie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780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Voir slide suivante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352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3 mois d'URSSAF impayés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9352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Détectée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352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4 mois de retard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924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Facture de 96 000 € le 30/12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3924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Détectée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924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Coupure : 5,3×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49624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Facture fournisseur saisie 2 fois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8496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Détectée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849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Doublon : 12 000 €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Et le signal d'ensemble : capitaux propres sous la moitié du capital.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La facture bloquée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Quand l'hypothèse de calcul cache le problème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2286000"/>
            <a:ext cx="27432" cy="24505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Ce que dit votre outil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48 000 € échus depuis plus de 90 jours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25 113 € depuis plus de 180 jours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Méthode FIFO : solde imputé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sur les factures les plus récentes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Ce que dit le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Une facture du 14/02/2025 : 48 000 €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Jamais réglée, jamais lettrée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320 jours au 31 décembre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Le client paie ses factures récentes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Question : croiser la FIFO avec le lettrage quand il est fiable 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Corriger l'outil avec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prompt, avec le fichier HTML de l'outil joint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Voici mon outil d'analyse FEC (fichier joint) et un écart constaté.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Dossier test : [fichier]. Attendu : [valeur]. Obtenu : [valeur].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Trouve la cause, propose le correctif minimal, sans rien réécrire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9534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d'autre, et un contrôle qui aurait détecté cet écart.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Corriger l'outil avec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prompt, avec le fichier HTML de l'outil joint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Voici mon outil d'analyse FEC (fichier joint) et un écart constaté.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Dossier test : [fichier]. Attendu : [valeur]. Obtenu : [valeur].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Trouve la cause, propose le correctif minimal, sans rien réécrire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9534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d'autre, et un contrôle qui aurait détecté cet écart.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Puis : relancer le même dossier test. Rien d'autre n'a bougé 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Fiabiliser votre outil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Un dossier test aux réponses connues : sans lui, une erreur ne se voit pas.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On corrige l'outil qui fabrique l'Excel, jamais le classeur produit.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Claude pour Excel explique une formule ; le correctif va dans l'outil.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Une hypothèse de calcul est un choix métier : on l'écrit noir sur blanc.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5.  Après chaque correction, on relance le même test.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Votre rapport : ce qui s'automatise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Section par section, avant de construire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Trois niveaux d'automatisation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Pour chaque section de votre rapport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29000" cy="233172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54864" cy="20574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6B"/>
                </a:solidFill>
                <a:latin typeface="Bricolage Grotesque"/>
              </a:rPr>
              <a:t>Automatique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Bricolage Grotesque"/>
              </a:rPr>
              <a:t>La machine calcule et met en forme, sans vous.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P&amp;L, BFR, trésorerie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Source : FEC, relevés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6260" y="2286000"/>
            <a:ext cx="3429000" cy="233172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6260" y="2423160"/>
            <a:ext cx="54864" cy="20574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486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6B"/>
                </a:solidFill>
                <a:latin typeface="Bricolage Grotesque"/>
              </a:rPr>
              <a:t>Préparé par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860" y="28346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Bricolage Grotesque"/>
              </a:rPr>
              <a:t>Claude rédige un premier jet, vous corrigez.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860" y="37033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commentaire du 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860" y="40690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Source : vos chiffres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286000"/>
            <a:ext cx="3429000" cy="233172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423160"/>
            <a:ext cx="54864" cy="20574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6B"/>
                </a:solidFill>
                <a:latin typeface="Bricolage Grotesque"/>
              </a:rPr>
              <a:t>Humain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346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Bricolage Grotesque"/>
              </a:rPr>
              <a:t>Ce que vous seul pouvez écrire, et qui fait la valeur.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033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diagnostic,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690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Source : vos entretiens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Objectif : le junior ne recopie plus de chiffres ; vous relisez et vous concluez.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3 · Cartographier votre rapport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0233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Savoir ce qui s'automatise dans votre rapport, section par section.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LIVRABLE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051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La grille de votre rapport : le cahier des charges de la séance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25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1.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Lister les sections de votre rapport type, dans l'ordre.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2.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Pour chacune : d'où viennent les données (FEC, liasse, entretien…)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3.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La classer : automatique, préparée par Claude, ou humaine.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4.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Estimer le temps qu'elle prend aujourd'hui, en heures.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5.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Choisir les deux sections à automatiser en séance 2.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3 · Un point de départ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Section du rapport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4630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Niveau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20"/>
            <a:ext cx="1088136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208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Présentation de la société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0208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Kbis, entretiens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0208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Préparé par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780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Évolution du CA et des marges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4780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FEC, liasses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4780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Auto + commentaire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352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BFR et trésorerie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9352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FEC, relevés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9352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Automatique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924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Dettes sociales et fiscales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3924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FEC, URSSAF, impôts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3924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Automatique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496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Causes des difficultés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8496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Entretiens, 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8496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Humain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068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Plan de retournement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3068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Votre expertise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3068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Humain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À corriger avec vous : c'est votre rapport, pas le mien.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qu'on construira en séance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Vos deux sections, de l'analyse au premier 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1. Votre outil
produit l'Excel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2. n8n reçoit
les chiffres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3. Claude rédige
le premier 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4. Vous relisez
et concluez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Les chiffres viennent de votre outil ; Claude ne fait que rédiger.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Les devoirs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Pour la séance 2, mercredi 28 octobre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le 28 octobre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n8n : l'exercice « notification email »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n8n : interroger l'API du BODACC (consigne dans la fiche)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Votre outil : finir la grille d'écarts, corriger les 2 plus graves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le 28 octobre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n8n : l'exercice « notification email »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n8n : interroger l'API du BODACC (consigne dans la fiche)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Votre outil : finir la grille d'écarts, corriger les 2 plus graves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Votre rapport : finir la grille, choisir les 2 sections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M'envoyer avant le 26/10 : grille et rapport type anonymisé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Ce que vous avez fait aujourd'hui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Votre n8n tourne, et vos workflows suivront sur votre serveur.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Votre outil est testé sur un dossier aux réponses connues.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Vous savez d'où viennent ses erreurs, et où les corriger.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Votre rapport est cartographié : la séance 2 a son cahier des charges.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Bricolage Grotesque"/>
              </a:rPr>
              <a:t>Des questions ?</a:t>
            </a:r>
          </a:p>
        </p:txBody>
      </p:sp>
      <p:pic>
        <p:nvPicPr>
          <p:cNvPr id="4" name="Picture 3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754880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