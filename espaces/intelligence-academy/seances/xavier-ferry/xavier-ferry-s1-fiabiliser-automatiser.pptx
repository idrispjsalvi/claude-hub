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 rouge recalé sur le RDV d'intro du 30/09 : la prospection de masse est abandonnée (son modèle passe par les apporteurs d'affaires et l'appel direct). Priorité : la pré-analyse financière des IBR (30 à 45 jours aujourd'hui, beaucoup de travail junior répétitif). S3 : signaux BODACC pour une liste d'appels, ou reporting, à trancher avec lui. S4 : après mon retour le 23/11, ou avant le 11/11. Point admin : la date de fin du dossier TIA est le 31/10 alors que S3 est le 6/11 ; le dossier est affiché « terminé » dans l'API. À vérifier côté TIA.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Reprise fidèle de son mail du 16/10 et de l'API TIA : modules terminés (IA sans jargon, Claude fondamentaux, Cowork, Claude pour Excel), n8n en cours (6 vidéos sur 6, exercices non faits faute d'instance). Son outil : application HTML locale v3.0-dev qui lit FEC, liasses et relevés et produit trois classeurs Excel à formules vivantes. Commencer par le féliciter : c'est un travail sérieux.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Comprendre l'IA sans jargon », guide sur les hallucinations : tableau des risques (citation de sources : très élevé ; chiffres précis : élevé ; reformulation d'un texte fourni : très faible). C'est le principe de la séquence 4 : Claude rédige à partir des chiffres de son outil, il ne les produit jamais lui-même.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Comprendre l'IA sans jargon », guide sur les hallucinations : tableau des risques (citation de sources : très élevé ; chiffres précis : élevé ; reformulation d'un texte fourni : très faible). C'est le principe de la séquence 4 : Claude rédige à partir des chiffres de son outil, il ne les produit jamais lui-même.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Comprendre l'IA sans jargon », guide sur la fenêtre de contexte : symptômes de saturation (oubli des consignes, contradictions) et 5 règles (une conversation par sujet, résumer après 10-15 échanges, consignes critiques en début de conversation). Utile pour la séquence 3 : un écart par conversation quand il fait corriger son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Comprendre l'IA sans jargon », guide sur la fenêtre de contexte : symptômes de saturation (oubli des consignes, contradictions) et 5 règles (une conversation par sujet, résumer après 10-15 échanges, consignes critiques en début de conversation). Utile pour la séquence 3 : un écart par conversation quand il fait corriger son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Claude (« Use Google Workspace connectors », vérifié le 19/10) : un Google Doc ajouté aux fichiers d'un projet depuis Drive (+ › Drive) reste synchronisé avec sa dernière version ; option réservée aux projets privés. Le connecteur Microsoft 365 (OneDrive, SharePoint) exige un compte Microsoft pro ou école. L'e-learning (synthèse Projects) classe « les données qui changent chaque semaine » parmi les mauvais candidats : c'est vrai d'un fichier téléversé, pas d'un document relié. Si la question des PDF vient : un PDF de 100 pages ou moins est lu en entier, texte et visuels ; de 101 à 1 000 pages, le texte seul (centre d'aide « Upload files to Claude », 23/07/2026). Un long PDF texte se lit donc ; un long PDF scanné (image, sans texte) n'a rien à lire au-delà de 100 pages.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Claude (« Use Google Workspace connectors », vérifié le 19/10) : un Google Doc ajouté aux fichiers d'un projet depuis Drive (+ › Drive) reste synchronisé avec sa dernière version ; option réservée aux projets privés. Le connecteur Microsoft 365 (OneDrive, SharePoint) exige un compte Microsoft pro ou école. L'e-learning (synthèse Projects) classe « les données qui changent chaque semaine » parmi les mauvais candidats : c'est vrai d'un fichier téléversé, pas d'un document relié. Si la question des PDF vient : un PDF de 100 pages ou moins est lu en entier, texte et visuels ; de 101 à 1 000 pages, le texte seul (centre d'aide « Upload files to Claude », 23/07/2026). Un long PDF texte se lit donc ; un long PDF scanné (image, sans texte) n'a rien à lire au-delà de 100 pages.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Claude Cowork » : accès aux fichiers locaux via Claude Desktop, seulement aux dossiers autorisés. Centre d'aide (« Claude Cowork and chat are one Claude », 16/09/2026) : fusion en déploiement progressif sur Pro et Max ; s'il voit encore « Chat » et « Cowork » séparés, il a l'ancienne version, qui marche comme dans la vidéo. Données clients : Paramètres › Confidentialité, option d'amélioration des modèles ; sur les forfaits Free, Pro et Max, les conversations servent à l'entraînement si elle est acceptée (centre de confidentialité Anthropic, 16/03/2026). Avec des FEC clients : la vérifier avec lui, ou anonymiser. Son outil d'analyse est 100 % local par conception : il a déjà ce réflexe.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Claude Cowork » : accès aux fichiers locaux via Claude Desktop, seulement aux dossiers autorisés. Centre d'aide (« Claude Cowork and chat are one Claude », 16/09/2026) : fusion en déploiement progressif sur Pro et Max ; s'il voit encore « Chat » et « Cowork » séparés, il a l'ancienne version, qui marche comme dans la vidéo. Données clients : Paramètres › Confidentialité, option d'amélioration des modèles ; sur les forfaits Free, Pro et Max, les conversations servent à l'entraînement si elle est acceptée (centre de confidentialité Anthropic, 16/03/2026). Avec des FEC clients : la vérifier avec lui, ou anonymiser. Son outil d'analyse est 100 % local par conception : il a déjà ce réflexe.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Vidéo « Claude pour Excel » : « sélectionnez la cellule et dites-lui : qu'est-ce qui s'est passé ici ». Le formateur y conseille aussi de dupliquer l'Excel avant d'autoriser Claude à tout faire. Doc Claude (claude.com/docs/office-agents/excel, lue le 19/10) : « Identify and resolve errors and their root causes », citations cliquables au niveau de la cellule. Transition directe vers la séquence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Vidéo « Claude pour Excel » : « sélectionnez la cellule et dites-lui : qu'est-ce qui s'est passé ici ». Le formateur y conseille aussi de dupliquer l'Excel avant d'autoriser Claude à tout faire. Doc Claude (claude.com/docs/office-agents/excel, lue le 19/10) : « Identify and resolve errors and their root causes », citations cliquables au niveau de la cellule. Transition directe vers la séquence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n8n.io/pricing (lu le 19/10/2026) : essai Cloud sans carte bancaire, 1 000 exécutions, 5 exécutions simultanées, 180 s maximum par exécution ; données hébergées dans l'UE (Francfort). docs.n8n.io (Cloud free trial) : 14 jours ; à la fin, le workspace expire et est supprimé, 90 jours pour récupérer ses workflows ; l'essai inclut les fonctions Pro, dont l'assistant IA de n8n (800 crédits). Version du moment : n8n 2.44 (13/10/2026). Hostinger (hostinger.com/fr/hebergement-n8n, lu le 19/10) : KVM 1 à 5,49 €/mois (renouvellement 11,99 €), KVM 2 à 7,79 €/mois (renouvellement 14,99 €, badge « le plus populaire »), packs payés d'avance, la durée exacte du prix promo est à vérifier dans le tunnel de commande. Mon n8n tourne sur Hostinger : je peux montrer. Ne pas dire « illimité » sans nuance : limité par la taille du serveur. Hostinger propose aussi un « Managed n8n » (sans administration de serveur, en déploiement selon les régions, prix non affiché) : à regarder s'il ne veut rien gérer.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docs.n8n.io « Export and import » : menu « … » du workflow › Download (JSON), puis Import from File (ou copier-coller des nœuds). Le JSON contient le nom et l'ID des identifiants, pas les secrets : il faut les recréer sur la nouvelle instance. Conseil : migrer AVANT la fin des 14 jours.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fait, je guide. Étape 5 : démonstration de la portabilité, en partage d'écran sur mon instance Hostinger (Import from File). Si la création de compte bloque (mail de confirmation), passer à la séquence 3 et y revenir à la fin. Il pourra ensuite faire les exercices du module dès ce soir.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Tutoriel Hostinger « How to self-host n8n on Ubuntu » (mis à jour le 29/09/2026) : VPS › Manage › OS &amp; Panel › Operating System ; chercher n8n (il existe aussi un template « n8n (100+ workflows) ») ; Change OS ; Hostinger demande de cocher « all my files will be deleted » (le serveur est réinstallé : sans conséquence sur un VPS neuf) et de choisir le mot de passe administrateur du serveur (root) ; Confirm. Puis VPS Overview › Manage App, et création du compte propriétaire. Sauvegarde hebdomadaire automatique par défaut. Libellés traduits par moi : l'interface française peut différer, à suivre avec lui en partage d'écran le jour venu.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Tutoriel Hostinger « How to self-host n8n on Ubuntu » (mis à jour le 29/09/2026) : VPS › Manage › OS &amp; Panel › Operating System ; chercher n8n (il existe aussi un template « n8n (100+ workflows) ») ; Change OS ; Hostinger demande de cocher « all my files will be deleted » (le serveur est réinstallé : sans conséquence sur un VPS neuf) et de choisir le mot de passe administrateur du serveur (root) ; Confirm. Puis VPS Overview › Manage App, et création du compte propriétaire. Sauvegarde hebdomadaire automatique par défaut. Libellés traduits par moi : l'interface française peut différer, à suivre avec lui en partage d'écran le jour venu.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principe du « jeu de test » : c'est ce qui manque à un outil construit avec l'IA, qui produit des formules plausibles. Les FEC fictifs sont dans fec-fictif/ (corrigé dans corrige-anomalies.md, à NE PAS montrer avant l'exercice). Société fictive : Ateliers Lumen, menuiserie, SIREN 999000111.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principe du « jeu de test » : c'est ce qui manque à un outil construit avec l'IA, qui produit des formules plausibles. Les FEC fictifs sont dans fec-fictif/ (corrigé dans corrige-anomalies.md, à NE PAS montrer avant l'exercice). Société fictive : Ateliers Lumen, menuiserie, SIREN 999000111.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principe du « jeu de test » : c'est ce qui manque à un outil construit avec l'IA, qui produit des formules plausibles. Les FEC fictifs sont dans fec-fictif/ (corrigé dans corrige-anomalies.md, à NE PAS montrer avant l'exercice). Société fictive : Ateliers Lumen, menuiserie, SIREN 999000111.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fichier Vestis_Analyse_FEC.html contient environ 300 Ko de code JavaScript écrit pour lui : un lecteur de FEC et de liasses, des contrôles, et un générateur de classeurs .xlsx qui écrit chaque formule (environ 11 000 sur le dossier test). Corriger une formule dans le classeur produit ne sert qu'une fois : la prochaine analyse régénère la même erreur. À lui demander en ouverture : comment il a construit l'outil (avec Claude ?) et s'il sait le faire modifier. Je le suppose, rien ne le confirme. S'il ne sait pas, la correction passera par Claude avec le prompt de la fiche.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 4 : corriger dans l'Excel produit, c'est refaire la correction à chaque nouveau dossier. Étape 5 : on relance le MÊME dossier test pour vérifier que la correction n'a rien cassé ailleurs (non-régression). À terme, plusieurs dossiers tests : régime simplifié, exercice décalé, affacturage.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Pistes repérées en lisant son code (non vérifiées dans Excel, je n'en ai pas ici) : 48 formules MINIFS dans le classeur Trésorerie (fonction apparue avec Excel 2019 / 365 ; #NOM? sur une version antérieure) ; TEXT(...,"yyyy-mm") dans le classeur Relevés (en Excel français, l'année s'écrit « aaaa » dans un format : risque de texte faux). Contrôle statique fait sur les classeurs produits avec les FEC fictifs : 21 + 9 onglets, environ 11 000 formules, aucune référence vers un onglet inexistant. Lui demander sa version d'Excel et la langue de son Excel.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 Claude (claude.com/docs/office-agents/excel, lue le 19/10/2026) : disponible en Pro, Max, Team, Enterprise ; « Identify and resolve errors and their root causes » (ex. « Trace why cell H15 is returning #DIV/0 ») ; citations cliquables ; modifications qui gardent les relations entre formules ; « Overwrite protection ». Ne gère pas les macros/VBA ni les tables de données. Versions : Excel web, Windows Microsoft 365, Mac 16.46+ ; PAS Excel 2016/2019 en licence perpétuelle : lui demander sa version. Données : entrées et sorties supprimées côté Anthropic sous 30 jours, historique stocké dans le navigateur. Anthropic déconseille les calculs critiques d'audit sans vérification humaine : c'est exactement notre sujet. Installation : AppSource, « Claude for Microsoft 365 », Get it now.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 Claude (claude.com/docs/office-agents/excel, lue le 19/10/2026) : disponible en Pro, Max, Team, Enterprise ; « Identify and resolve errors and their root causes » (ex. « Trace why cell H15 is returning #DIV/0 ») ; citations cliquables ; modifications qui gardent les relations entre formules ; « Overwrite protection ». Ne gère pas les macros/VBA ni les tables de données. Versions : Excel web, Windows Microsoft 365, Mac 16.46+ ; PAS Excel 2016/2019 en licence perpétuelle : lui demander sa version. Données : entrées et sorties supprimées côté Anthropic sous 30 jours, historique stocké dans le navigateur. Anthropic déconseille les calculs critiques d'audit sans vérification humaine : c'est exactement notre sujet. Installation : AppSource, « Claude for Microsoft 365 », Get it now.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 Claude (claude.com/docs/office-agents/excel, lue le 19/10/2026) : disponible en Pro, Max, Team, Enterprise ; « Identify and resolve errors and their root causes » (ex. « Trace why cell H15 is returning #DIV/0 ») ; citations cliquables ; modifications qui gardent les relations entre formules ; « Overwrite protection ». Ne gère pas les macros/VBA ni les tables de données. Versions : Excel web, Windows Microsoft 365, Mac 16.46+ ; PAS Excel 2016/2019 en licence perpétuelle : lui demander sa version. Données : entrées et sorties supprimées côté Anthropic sous 30 jours, historique stocké dans le navigateur. Anthropic déconseille les calculs critiques d'audit sans vérification humaine : c'est exactement notre sujet. Installation : AppSource, « Claude for Microsoft 365 », Get it now.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Fichiers à lui envoyer dans le chat de la visio : fec-fictif/999000111FEC20241231.txt et 999000111FEC20251231.txt. Il lit le dossier comme un vrai : lui demander son diagnostic en 2 minutes (il est l'expert). Si son Excel n'affiche aucune erreur sur ce dossier : tant mieux, on passe sur un de ses vrais classeurs (anonymisé) pour l'étape 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première ligne est un exemple (hypothétique tant qu'on n'a pas ouvert son Excel). Remplir en direct dans un tableur partagé ou dans le classeur lui-même (nouvel onglet).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Résultats constatés le 19/10 en lançant son application sur les deux FEC fictifs. Le dossier raconte une PME en difficulté : CA -23 % (1 983 k€ → 1 520 k€), achats 42 % → 47 % du CA, résultat +51 k€ → -218 k€, banque +111 k€ → -153 k€ malgré un apport de 80 k€ en compte courant, capitaux propres 11 k€ pour un capital de 100 k€. Détail : fec-fictif/corrige-anomalies.md.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Clinique du Parc (fictive) continue à payer ses factures récentes : l'imputation FIFO répartit les 48 000 € sur des factures plus jeunes. Le lettrage du FEC (72 % du facturé lettré en 2025) montre pourtant la facture exacte. Ce n'est pas un bug : c'est une hypothèse, que son outil documente (« indépendant du lettrage »). C'est à lui de trancher : il connaît la pratique des IBR.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s1-a-coller.md. « Correctif minimal » : un outil de 300 Ko de code ne se fait pas réécrire en entier à chaque bug, sinon on perd ce qui marchait. Le « contrôle qui aurait détecté » enrichit l'onglet Controles de son outil au fil des corrections.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s1-a-coller.md. « Correctif minimal » : un outil de 300 Ko de code ne se fait pas réécrire en entier à chaque bug, sinon on perd ce qui marchait. Le « contrôle qui aurait détecté » enrichit l'onglet Controles de son outil au fil des corrections.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 RDV d'intro : un IBR prend 30 à 45 jours, rapport de 30 à 40 pages ; le gain visé est le travail junior répétitif, la pré-rédaction. Claude rédige À PARTIR des chiffres calculés par l'outil, jamais en recalculant lui-même : c'est la condition de fiabilité.</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est l'expert du rapport : c'est lui qui liste, je pose les questions. Critère pour les deux sections de la S2 : beaucoup de temps aujourd'hui ET données déjà produites par son outil.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générique d'un IBR, construite par moi : à faire corriger par Xavier, qui en a rédigé. Les quatre premières lignes s'appuient sur ce que son outil calcule déjà (onglets PnL, Bilan_synth, Tresorerie, Social_fiscal, Pieces_a_demander).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à confirmer en S2 selon ses deux sections. Point technique à trancher : son outil tourne dans le navigateur (100 % local, aucune connexion réseau par conception) ; le passage vers n8n se fera par le fichier Excel produit (dépôt dans un dossier ou formulaire), pas par l'outil lui-même. Confidentialité : données clients vers Claude via n8n = API, à poser avec lui.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2 : HTTP Request en GET sur l'API publique du BODACC (opendatasoft, sans clé, testée le 19/10), filtrée sur les procédures collectives d'un département, puis Edit Fields (nom, ville, date, jugement). URL complète dans s1-a-coller.md. Il pratique le HTTP Request ET prépare la S3. L'exercice 2 du module (scoring de leads via Hunter.io) n'est plus dans son cas d'usage : pas exigé. Rappel : l'essai n8n Cloud dure 14 jours ; s'il veut garder ses workflows, export JSON avant la fin ou passage sur Hostinger.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2 : HTTP Request en GET sur l'API publique du BODACC (opendatasoft, sans clé, testée le 19/10), filtrée sur les procédures collectives d'un département, puis Edit Fields (nom, ville, date, jugement). URL complète dans s1-a-coller.md. Il pratique le HTTP Request ET prépare la S3. L'exercice 2 du module (scoring de leads via Hunter.io) n'est plus dans son cas d'usage : pas exigé. Rappel : l'essai n8n Cloud dure 14 jours ; s'il veut garder ses workflows, export JSON avant la fin ou passage sur Hostinger.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960120"/>
            <a:ext cx="219456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515600" cy="731520"/>
          </a:xfrm>
          <a:prstGeom prst="rect">
            <a:avLst/>
          </a:prstGeom>
          <a:noFill/>
        </p:spPr>
        <p:txBody>
          <a:bodyPr wrap="square">
            <a:spAutoFit/>
          </a:bodyPr>
          <a:lstStyle/>
          <a:p>
            <a:pPr algn="l"/>
            <a:r>
              <a:rPr sz="1800" b="1">
                <a:solidFill>
                  <a:srgbClr val="E8A000"/>
                </a:solidFill>
                <a:latin typeface="Bricolage Grotesque"/>
              </a:rPr>
              <a:t>SÉANCE 1 / 4 · XAVIER FERRY</a:t>
            </a:r>
          </a:p>
        </p:txBody>
      </p:sp>
      <p:sp>
        <p:nvSpPr>
          <p:cNvPr id="6" name="TextBox 5"/>
          <p:cNvSpPr txBox="1"/>
          <p:nvPr/>
        </p:nvSpPr>
        <p:spPr>
          <a:xfrm>
            <a:off x="640080" y="1920240"/>
            <a:ext cx="10881360" cy="1371600"/>
          </a:xfrm>
          <a:prstGeom prst="rect">
            <a:avLst/>
          </a:prstGeom>
          <a:noFill/>
        </p:spPr>
        <p:txBody>
          <a:bodyPr wrap="square">
            <a:spAutoFit/>
          </a:bodyPr>
          <a:lstStyle/>
          <a:p>
            <a:pPr algn="l"/>
            <a:r>
              <a:rPr sz="5000" b="1">
                <a:solidFill>
                  <a:srgbClr val="FFFFFF"/>
                </a:solidFill>
                <a:latin typeface="Bricolage Grotesque"/>
              </a:rPr>
              <a:t>Fiabiliser, puis automatiser</a:t>
            </a:r>
          </a:p>
        </p:txBody>
      </p:sp>
      <p:sp>
        <p:nvSpPr>
          <p:cNvPr id="7" name="TextBox 6"/>
          <p:cNvSpPr txBox="1"/>
          <p:nvPr/>
        </p:nvSpPr>
        <p:spPr>
          <a:xfrm>
            <a:off x="640080" y="3383280"/>
            <a:ext cx="10515600" cy="731520"/>
          </a:xfrm>
          <a:prstGeom prst="rect">
            <a:avLst/>
          </a:prstGeom>
          <a:noFill/>
        </p:spPr>
        <p:txBody>
          <a:bodyPr wrap="square">
            <a:spAutoFit/>
          </a:bodyPr>
          <a:lstStyle/>
          <a:p>
            <a:pPr algn="l"/>
            <a:r>
              <a:rPr sz="2600" b="0">
                <a:solidFill>
                  <a:srgbClr val="E8A000"/>
                </a:solidFill>
                <a:latin typeface="Bricolage Grotesque"/>
              </a:rPr>
              <a:t>Votre outil d'analyse testé, n8n prêt, votre rapport cartographié</a:t>
            </a:r>
          </a:p>
        </p:txBody>
      </p:sp>
      <p:sp>
        <p:nvSpPr>
          <p:cNvPr id="8" name="TextBox 7"/>
          <p:cNvSpPr txBox="1"/>
          <p:nvPr/>
        </p:nvSpPr>
        <p:spPr>
          <a:xfrm>
            <a:off x="640080" y="4480560"/>
            <a:ext cx="10515600" cy="731520"/>
          </a:xfrm>
          <a:prstGeom prst="rect">
            <a:avLst/>
          </a:prstGeom>
          <a:noFill/>
        </p:spPr>
        <p:txBody>
          <a:bodyPr wrap="square">
            <a:spAutoFit/>
          </a:bodyPr>
          <a:lstStyle/>
          <a:p>
            <a:pPr algn="l"/>
            <a:r>
              <a:rPr sz="2000" b="0">
                <a:solidFill>
                  <a:srgbClr val="5A8A8F"/>
                </a:solidFill>
                <a:latin typeface="Bricolage Grotesque"/>
              </a:rPr>
              <a:t>Lundi 19 octobre 2026 · 16h30-18h30 · Idris Salvi</a:t>
            </a:r>
          </a:p>
        </p:txBody>
      </p:sp>
      <p:pic>
        <p:nvPicPr>
          <p:cNvPr id="9" name="Picture 8" descr="ia-round.png"/>
          <p:cNvPicPr>
            <a:picLocks noChangeAspect="1"/>
          </p:cNvPicPr>
          <p:nvPr/>
        </p:nvPicPr>
        <p:blipFill>
          <a:blip r:embed="rId2"/>
          <a:stretch>
            <a:fillRect/>
          </a:stretch>
        </p:blipFill>
        <p:spPr>
          <a:xfrm>
            <a:off x="457200" y="6217920"/>
            <a:ext cx="320040" cy="320040"/>
          </a:xfrm>
          <a:prstGeom prst="rect">
            <a:avLst/>
          </a:prstGeom>
        </p:spPr>
      </p:pic>
      <p:sp>
        <p:nvSpPr>
          <p:cNvPr id="10" name="TextBox 9"/>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Votre parcours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4 séances, un fil rouge : la pré-analyse d'un IBR</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S1 · 19 oct.
Fiabiliser, outiller</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S2 · 28 oct.
Pré-analyse IBR</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S3 · 6 nov.
BODACC ou reporting</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S4 · à caler
Mise en production</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Le programme est une trame : on l'ajuste à vos priorités à chaque séance.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vous m'avez écrit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Votre mail du 16 octobre, et où vous en êtes</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Vos trois sujets</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n8n sur votre propre serveur</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Votre fichier d'analyse : erreurs Excel</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Actualiser un rapport d'activité</a:t>
            </a:r>
          </a:p>
        </p:txBody>
      </p:sp>
      <p:sp>
        <p:nvSpPr>
          <p:cNvPr id="11" name="TextBox 10"/>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Où vous en êtes</a:t>
            </a:r>
          </a:p>
        </p:txBody>
      </p:sp>
      <p:sp>
        <p:nvSpPr>
          <p:cNvPr id="12" name="TextBox 11"/>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4 modules e-learning terminés</a:t>
            </a:r>
          </a:p>
        </p:txBody>
      </p:sp>
      <p:sp>
        <p:nvSpPr>
          <p:cNvPr id="13" name="TextBox 12"/>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n8n : vidéos vues, exercices en attente</a:t>
            </a:r>
          </a:p>
        </p:txBody>
      </p:sp>
      <p:sp>
        <p:nvSpPr>
          <p:cNvPr id="14" name="TextBox 13"/>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Un outil d'analyse FEC déjà construit</a:t>
            </a:r>
          </a:p>
        </p:txBody>
      </p:sp>
      <p:sp>
        <p:nvSpPr>
          <p:cNvPr id="15" name="TextBox 14"/>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Objectif : accélérer la pré-analyse IBR</a:t>
            </a:r>
          </a:p>
        </p:txBody>
      </p:sp>
      <p:sp>
        <p:nvSpPr>
          <p:cNvPr id="16" name="TextBox 15"/>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Aujourd'hui, on traite vos trois sujets, dans cet ordre.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la séance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d'ouverture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n8n : débloquer vos exercices (20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la séance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d'ouverture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n8n : débloquer vos exercices (20 min)</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3.  Fiabiliser votre outil d'analyse FEC (45 min)</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Votre rapport : ce qui s'automatise (25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la séance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d'ouverture (10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n8n : débloquer vos exercices (20 min)</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3.  Fiabiliser votre outil d'analyse FEC (45 min)</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Votre rapport : ce qui s'automatise (25 min)</a:t>
            </a:r>
          </a:p>
        </p:txBody>
      </p:sp>
      <p:sp>
        <p:nvSpPr>
          <p:cNvPr id="9" name="TextBox 8"/>
          <p:cNvSpPr txBox="1"/>
          <p:nvPr/>
        </p:nvSpPr>
        <p:spPr>
          <a:xfrm>
            <a:off x="640080" y="4114800"/>
            <a:ext cx="10881360" cy="411480"/>
          </a:xfrm>
          <a:prstGeom prst="rect">
            <a:avLst/>
          </a:prstGeom>
          <a:noFill/>
        </p:spPr>
        <p:txBody>
          <a:bodyPr wrap="square">
            <a:spAutoFit/>
          </a:bodyPr>
          <a:lstStyle/>
          <a:p>
            <a:r>
              <a:rPr sz="2000" b="1">
                <a:solidFill>
                  <a:srgbClr val="1B5E6B"/>
                </a:solidFill>
                <a:latin typeface="Bricolage Grotesque"/>
              </a:rPr>
              <a:t>5.  Les devoirs pour le 28 octobre (10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1</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Quiz d'ouverture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Cinq questions sur vos quatre modules terminés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Commenter le BFR d'un dossier : où Claude risque-t-il le moins d'inventer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Lui demander les ratios moyens du secteur, de mémoire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Lui donner vos chiffres calculés et lui demander de les commenter</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Lui demander les textes de loi applicables, avec leurs références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Commenter le BFR d'un dossier : où Claude risque-t-il le moins d'inventer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Lui demander les ratios moyens du secteur, de mémoire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Lui donner vos chiffres calculés et lui demander de les commenter</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Lui demander les textes de loi applicables, avec leurs références</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Commenter des données fournies : risque très faible.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Chiffres de mémoire, références citées : risque élevé, à vérifier une à une.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Après 40 échanges, Claude oublie vos consignes du début. Pourquoi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Vous avez atteint votre limite d'utilisation de la semaine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Toute la conversation est relue à chaque message : le contexte sature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Claude efface les consignes au bout d'une heure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Après 40 échanges, Claude oublie vos consignes du début. Pourquoi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Vous avez atteint votre limite d'utilisation de la semaine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Toute la conversation est relue à chaque message : le contexte sature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Claude efface les consignes au bout d'une heure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La fenêtre de contexte a une taille finie, pièces jointes comprises.</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Une conversation = un sujet. Faites résumer, puis repartez à neuf.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Votre trame de rapport évolue chaque semaine. Comment la donner à un projet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La téléverser à nouveau à chaque nouvelle version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L'ajouter depuis Google Drive : Claude relit toujours la dernière version</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La recopier dans les instructions du projet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Votre trame de rapport évolue chaque semaine. Comment la donner à un projet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La téléverser à nouveau à chaque nouvelle version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L'ajouter depuis Google Drive : Claude relit toujours la dernière version</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La recopier dans les instructions du projet</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Un fichier téléversé est une copie figée ; un document relié reste à jour.</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Pour ce qui vit dans un outil (mails, agenda), c'est un connecteur.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Pour que Claude lise les FEC d'un dossier sur votre ordinateur, il vous faut…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Les téléverser un par un dans Claude sur le web</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L'application Claude ouverte, avec accès au dossier concerné</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Obligatoirement Claude Code et le terminal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Pour que Claude lise les FEC d'un dossier sur votre ordinateur, il vous faut…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Les téléverser un par un dans Claude sur le web</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L'application Claude ouverte, avec accès au dossier concerné</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Obligatoirement Claude Code et le terminal</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Claude ne voit que les dossiers que vous lui ouvrez.</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Depuis le 16/09, Chat et Cowork ne font qu'un : demandez-le dans le chat.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5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Une formule de votre classeur renvoie une erreur. Le bon réflexe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Abandonner et écrire la formule à la main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Sélectionner la cellule et demander la cause à Claude pour Excel</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Recopier tout le classeur dans une conversation Claude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5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Une formule de votre classeur renvoie une erreur. Le bon réflexe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Abandonner et écrire la formule à la main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Sélectionner la cellule et demander la cause à Claude pour Excel</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Recopier tout le classeur dans une conversation Claude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Il remonte à la cause de l'erreur, en citant les cellules concernées.</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Attention : il modifie le classeur ouvert. Travaillez sur une copie.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2</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n8n : débloquer vos exercices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Le Cloud ce soir, votre serveur ensuite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Cloud maintenant, serveur ensuite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Vous ne perdez rien en commençant sur le Cloud</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n8n Cloud : essai gratuit</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Prêt en 2 minutes, sans carte bancaire</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14 jours, 1 000 exécutions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Hébergé par n8n, en Europe (Francfort)</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Workspace supprimé si pas d'abonnement</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Votre serveur Hostinger</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n8n préinstallé, en un clic</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Workflows et exécutions illimités</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KVM 2 conseillé : 7,79 €/mois (promo)</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Payé d'avance, renouvelé plus cher</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Vos workflows passent de l'un à l'autre en fichier JSON.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Passer du Cloud à votre serveur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Quatre gestes, le jour où vous migrez</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Télécharger
chaque workflow</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L'importer
dans votre n8n</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Recréer
les identifiants</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Tester
puis activer</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Les identifiants (comptes, clés) ne voyagent pas dans le JSON : à reconnecter.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Votre n8n en 15 minutes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n8n qui marche ce soir, pour faire les exercices du module.</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 compte n8n Cloud et un premier workflow exécuté puis exporté.</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15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Créer votre compte d'essai sur n8n.io (Get started, sans carte).</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Nouveau workflow : déclencheur manuel, puis un nœud Edit Fields.</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Edit Fields : société = « Ateliers Lumen », exercice = 2025. Exécuter.</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Le télécharger : menu « … » en haut à droite › Download.</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Je l'importe en direct sur mon n8n Hostinger : il marche à l'identique.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Plus tard : votre serveur Hostinger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Une fois l'offre VPS achetée, dans hPanel</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Dans hPanel : VPS › votre serveur › Gérer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Système d'exploitation : choisir le modèle « n8n »</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Valider : Hostinger réinstalle le serveur avec n8n (10 à 15 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Plus tard : votre serveur Hostinger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Une fois l'offre VPS achetée, dans hPanel</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Dans hPanel : VPS › votre serveur › Gérer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Système d'exploitation : choisir le modèle « n8n »</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Valider : Hostinger réinstalle le serveur avec n8n (10 à 15 min)</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4.  Ouvrir n8n (Gérer l'application) et créer votre compte</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1B5E6B"/>
                </a:solidFill>
                <a:latin typeface="Bricolage Grotesque"/>
              </a:rPr>
              <a:t>5.  Importer vos workflows, recréer vos identifiants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Fiabiliser votre outil d'analyse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Le tester sur un dossier dont on connaît les réponses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outil se teste sur un dossier connu</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Sur un vrai dossier, une erreur ne se voit pas : vous ignorez la réponse.</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Sur un dossier fictif, chaque écart à la réponse attendue est une erreur.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outil se teste sur un dossier connu</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Sur un vrai dossier, une erreur ne se voit pas : vous ignorez la réponse.</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Sur un dossier fictif, chaque écart à la réponse attendue est une erreur.</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Aujourd'hui : une PME fictive, deux FEC, cinq anomalies glissées.</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Je connais les réponses. Vous découvrez ce que votre outil en voit.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outil se teste sur un dossier connu</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Sur un vrai dossier, une erreur ne se voit pas : vous ignorez la réponse.</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333333"/>
                </a:solidFill>
                <a:latin typeface="Bricolage Grotesque"/>
              </a:rPr>
              <a:t>Sur un dossier fictif, chaque écart à la réponse attendue est une erreur.</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Aujourd'hui : une PME fictive, deux FEC, cinq anomalies glissées.</a:t>
            </a:r>
          </a:p>
        </p:txBody>
      </p:sp>
      <p:sp>
        <p:nvSpPr>
          <p:cNvPr id="8" name="TextBox 7"/>
          <p:cNvSpPr txBox="1"/>
          <p:nvPr/>
        </p:nvSpPr>
        <p:spPr>
          <a:xfrm>
            <a:off x="640080" y="3355848"/>
            <a:ext cx="10881360" cy="411480"/>
          </a:xfrm>
          <a:prstGeom prst="rect">
            <a:avLst/>
          </a:prstGeom>
          <a:noFill/>
        </p:spPr>
        <p:txBody>
          <a:bodyPr wrap="square">
            <a:spAutoFit/>
          </a:bodyPr>
          <a:lstStyle/>
          <a:p>
            <a:r>
              <a:rPr sz="2000" b="0">
                <a:solidFill>
                  <a:srgbClr val="333333"/>
                </a:solidFill>
                <a:latin typeface="Bricolage Grotesque"/>
              </a:rPr>
              <a:t>Je connais les réponses. Vous découvrez ce que votre outil en voit.</a:t>
            </a:r>
          </a:p>
        </p:txBody>
      </p:sp>
      <p:sp>
        <p:nvSpPr>
          <p:cNvPr id="9" name="TextBox 8"/>
          <p:cNvSpPr txBox="1"/>
          <p:nvPr/>
        </p:nvSpPr>
        <p:spPr>
          <a:xfrm>
            <a:off x="640080" y="4114800"/>
            <a:ext cx="10881360" cy="411480"/>
          </a:xfrm>
          <a:prstGeom prst="rect">
            <a:avLst/>
          </a:prstGeom>
          <a:noFill/>
        </p:spPr>
        <p:txBody>
          <a:bodyPr wrap="square">
            <a:spAutoFit/>
          </a:bodyPr>
          <a:lstStyle/>
          <a:p>
            <a:r>
              <a:rPr sz="2000" b="1">
                <a:solidFill>
                  <a:srgbClr val="E8A000"/>
                </a:solidFill>
                <a:latin typeface="Bricolage Grotesque"/>
              </a:rPr>
              <a:t>« Mieux vaut trouver l'erreur ici que devant un administrateur judiciaire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Comment votre outil fabrique l'Excel</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Votre fichier HTML est un programme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Vous déposez
FEC et liasses</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Le programme
lit et contrôle</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Il écrit l'Excel
et ses formules</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Vous ouvrez
le classeur</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Une formule fausse vient du programme : c'est lui qu'on corrige.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boucle de fiabilisation</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À refaire après chaque modification de l'outil</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Dossier test
aux réponses connues</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Lancer
votre outil</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Comparer
au corrigé</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Corriger
l'outil</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5. Relancer
le même test</a:t>
            </a:r>
          </a:p>
        </p:txBody>
      </p:sp>
      <p:sp>
        <p:nvSpPr>
          <p:cNvPr id="19" name="TextBox 18"/>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On corrige l'outil qui fabrique l'Excel, jamais le classeur produit.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Cinq sources d'erreur d'un Excel généré</a:t>
            </a:r>
          </a:p>
        </p:txBody>
      </p:sp>
      <p:sp>
        <p:nvSpPr>
          <p:cNvPr id="5" name="TextBox 4"/>
          <p:cNvSpPr txBox="1"/>
          <p:nvPr/>
        </p:nvSpPr>
        <p:spPr>
          <a:xfrm>
            <a:off x="777240" y="1463040"/>
            <a:ext cx="2834639" cy="365760"/>
          </a:xfrm>
          <a:prstGeom prst="rect">
            <a:avLst/>
          </a:prstGeom>
          <a:noFill/>
        </p:spPr>
        <p:txBody>
          <a:bodyPr wrap="square">
            <a:spAutoFit/>
          </a:bodyPr>
          <a:lstStyle/>
          <a:p>
            <a:pPr algn="l"/>
            <a:r>
              <a:rPr sz="1800" b="1">
                <a:solidFill>
                  <a:srgbClr val="1B5E6B"/>
                </a:solidFill>
                <a:latin typeface="Bricolage Grotesque"/>
              </a:rPr>
              <a:t>Type d'erreur</a:t>
            </a:r>
          </a:p>
        </p:txBody>
      </p:sp>
      <p:sp>
        <p:nvSpPr>
          <p:cNvPr id="6" name="TextBox 5"/>
          <p:cNvSpPr txBox="1"/>
          <p:nvPr/>
        </p:nvSpPr>
        <p:spPr>
          <a:xfrm>
            <a:off x="3794760" y="1463040"/>
            <a:ext cx="4937759" cy="365760"/>
          </a:xfrm>
          <a:prstGeom prst="rect">
            <a:avLst/>
          </a:prstGeom>
          <a:noFill/>
        </p:spPr>
        <p:txBody>
          <a:bodyPr wrap="square">
            <a:spAutoFit/>
          </a:bodyPr>
          <a:lstStyle/>
          <a:p>
            <a:pPr algn="l"/>
            <a:r>
              <a:rPr sz="1800" b="1">
                <a:solidFill>
                  <a:srgbClr val="1B5E6B"/>
                </a:solidFill>
                <a:latin typeface="Bricolage Grotesque"/>
              </a:rPr>
              <a:t>Exemple</a:t>
            </a:r>
          </a:p>
        </p:txBody>
      </p:sp>
      <p:sp>
        <p:nvSpPr>
          <p:cNvPr id="7" name="TextBox 6"/>
          <p:cNvSpPr txBox="1"/>
          <p:nvPr/>
        </p:nvSpPr>
        <p:spPr>
          <a:xfrm>
            <a:off x="8915400" y="1463040"/>
            <a:ext cx="2560320" cy="365760"/>
          </a:xfrm>
          <a:prstGeom prst="rect">
            <a:avLst/>
          </a:prstGeom>
          <a:noFill/>
        </p:spPr>
        <p:txBody>
          <a:bodyPr wrap="square">
            <a:spAutoFit/>
          </a:bodyPr>
          <a:lstStyle/>
          <a:p>
            <a:pPr algn="l"/>
            <a:r>
              <a:rPr sz="1800" b="1">
                <a:solidFill>
                  <a:srgbClr val="1B5E6B"/>
                </a:solidFill>
                <a:latin typeface="Bricolage Grotesque"/>
              </a:rPr>
              <a:t>Où corriger</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2834639" cy="347472"/>
          </a:xfrm>
          <a:prstGeom prst="rect">
            <a:avLst/>
          </a:prstGeom>
          <a:noFill/>
        </p:spPr>
        <p:txBody>
          <a:bodyPr wrap="square">
            <a:spAutoFit/>
          </a:bodyPr>
          <a:lstStyle/>
          <a:p>
            <a:pPr algn="l"/>
            <a:r>
              <a:rPr sz="1600" b="1">
                <a:solidFill>
                  <a:srgbClr val="1A1A1A"/>
                </a:solidFill>
                <a:latin typeface="Bricolage Grotesque"/>
              </a:rPr>
              <a:t>Calcul faux</a:t>
            </a:r>
          </a:p>
        </p:txBody>
      </p:sp>
      <p:sp>
        <p:nvSpPr>
          <p:cNvPr id="11" name="TextBox 10"/>
          <p:cNvSpPr txBox="1"/>
          <p:nvPr/>
        </p:nvSpPr>
        <p:spPr>
          <a:xfrm>
            <a:off x="3794760" y="2020824"/>
            <a:ext cx="4937759" cy="347472"/>
          </a:xfrm>
          <a:prstGeom prst="rect">
            <a:avLst/>
          </a:prstGeom>
          <a:noFill/>
        </p:spPr>
        <p:txBody>
          <a:bodyPr wrap="square">
            <a:spAutoFit/>
          </a:bodyPr>
          <a:lstStyle/>
          <a:p>
            <a:pPr algn="l"/>
            <a:r>
              <a:rPr sz="1600" b="0">
                <a:solidFill>
                  <a:srgbClr val="333333"/>
                </a:solidFill>
                <a:latin typeface="Bricolage Grotesque"/>
              </a:rPr>
              <a:t>Mauvaise plage ou critère dans SOMME.SI.ENS</a:t>
            </a:r>
          </a:p>
        </p:txBody>
      </p:sp>
      <p:sp>
        <p:nvSpPr>
          <p:cNvPr id="12" name="TextBox 11"/>
          <p:cNvSpPr txBox="1"/>
          <p:nvPr/>
        </p:nvSpPr>
        <p:spPr>
          <a:xfrm>
            <a:off x="8915400" y="2020824"/>
            <a:ext cx="2560320" cy="347472"/>
          </a:xfrm>
          <a:prstGeom prst="rect">
            <a:avLst/>
          </a:prstGeom>
          <a:noFill/>
        </p:spPr>
        <p:txBody>
          <a:bodyPr wrap="square">
            <a:spAutoFit/>
          </a:bodyPr>
          <a:lstStyle/>
          <a:p>
            <a:pPr algn="l"/>
            <a:r>
              <a:rPr sz="1600" b="0">
                <a:solidFill>
                  <a:srgbClr val="333333"/>
                </a:solidFill>
                <a:latin typeface="Bricolage Grotesque"/>
              </a:rPr>
              <a:t>L'outil</a:t>
            </a:r>
          </a:p>
        </p:txBody>
      </p:sp>
      <p:sp>
        <p:nvSpPr>
          <p:cNvPr id="13" name="TextBox 12"/>
          <p:cNvSpPr txBox="1"/>
          <p:nvPr/>
        </p:nvSpPr>
        <p:spPr>
          <a:xfrm>
            <a:off x="777240" y="2478024"/>
            <a:ext cx="2834639" cy="347472"/>
          </a:xfrm>
          <a:prstGeom prst="rect">
            <a:avLst/>
          </a:prstGeom>
          <a:noFill/>
        </p:spPr>
        <p:txBody>
          <a:bodyPr wrap="square">
            <a:spAutoFit/>
          </a:bodyPr>
          <a:lstStyle/>
          <a:p>
            <a:pPr algn="l"/>
            <a:r>
              <a:rPr sz="1600" b="1">
                <a:solidFill>
                  <a:srgbClr val="1A1A1A"/>
                </a:solidFill>
                <a:latin typeface="Bricolage Grotesque"/>
              </a:rPr>
              <a:t>Fonction absente</a:t>
            </a:r>
          </a:p>
        </p:txBody>
      </p:sp>
      <p:sp>
        <p:nvSpPr>
          <p:cNvPr id="14" name="TextBox 13"/>
          <p:cNvSpPr txBox="1"/>
          <p:nvPr/>
        </p:nvSpPr>
        <p:spPr>
          <a:xfrm>
            <a:off x="3794760" y="2478024"/>
            <a:ext cx="4937759" cy="347472"/>
          </a:xfrm>
          <a:prstGeom prst="rect">
            <a:avLst/>
          </a:prstGeom>
          <a:noFill/>
        </p:spPr>
        <p:txBody>
          <a:bodyPr wrap="square">
            <a:spAutoFit/>
          </a:bodyPr>
          <a:lstStyle/>
          <a:p>
            <a:pPr algn="l"/>
            <a:r>
              <a:rPr sz="1600" b="0">
                <a:solidFill>
                  <a:srgbClr val="333333"/>
                </a:solidFill>
                <a:latin typeface="Bricolage Grotesque"/>
              </a:rPr>
              <a:t>MIN.SI.ENS avant Excel 2019 : #NOM?</a:t>
            </a:r>
          </a:p>
        </p:txBody>
      </p:sp>
      <p:sp>
        <p:nvSpPr>
          <p:cNvPr id="15" name="TextBox 14"/>
          <p:cNvSpPr txBox="1"/>
          <p:nvPr/>
        </p:nvSpPr>
        <p:spPr>
          <a:xfrm>
            <a:off x="8915400" y="2478024"/>
            <a:ext cx="2560320" cy="347472"/>
          </a:xfrm>
          <a:prstGeom prst="rect">
            <a:avLst/>
          </a:prstGeom>
          <a:noFill/>
        </p:spPr>
        <p:txBody>
          <a:bodyPr wrap="square">
            <a:spAutoFit/>
          </a:bodyPr>
          <a:lstStyle/>
          <a:p>
            <a:pPr algn="l"/>
            <a:r>
              <a:rPr sz="1600" b="0">
                <a:solidFill>
                  <a:srgbClr val="333333"/>
                </a:solidFill>
                <a:latin typeface="Bricolage Grotesque"/>
              </a:rPr>
              <a:t>L'outil, ou Excel</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2834639" cy="347472"/>
          </a:xfrm>
          <a:prstGeom prst="rect">
            <a:avLst/>
          </a:prstGeom>
          <a:noFill/>
        </p:spPr>
        <p:txBody>
          <a:bodyPr wrap="square">
            <a:spAutoFit/>
          </a:bodyPr>
          <a:lstStyle/>
          <a:p>
            <a:pPr algn="l"/>
            <a:r>
              <a:rPr sz="1600" b="1">
                <a:solidFill>
                  <a:srgbClr val="1A1A1A"/>
                </a:solidFill>
                <a:latin typeface="Bricolage Grotesque"/>
              </a:rPr>
              <a:t>Format régional</a:t>
            </a:r>
          </a:p>
        </p:txBody>
      </p:sp>
      <p:sp>
        <p:nvSpPr>
          <p:cNvPr id="18" name="TextBox 17"/>
          <p:cNvSpPr txBox="1"/>
          <p:nvPr/>
        </p:nvSpPr>
        <p:spPr>
          <a:xfrm>
            <a:off x="3794760" y="2935224"/>
            <a:ext cx="4937759" cy="347472"/>
          </a:xfrm>
          <a:prstGeom prst="rect">
            <a:avLst/>
          </a:prstGeom>
          <a:noFill/>
        </p:spPr>
        <p:txBody>
          <a:bodyPr wrap="square">
            <a:spAutoFit/>
          </a:bodyPr>
          <a:lstStyle/>
          <a:p>
            <a:pPr algn="l"/>
            <a:r>
              <a:rPr sz="1600" b="0">
                <a:solidFill>
                  <a:srgbClr val="333333"/>
                </a:solidFill>
                <a:latin typeface="Bricolage Grotesque"/>
              </a:rPr>
              <a:t>TEXTE(date;"yyyy") dans un Excel en français</a:t>
            </a:r>
          </a:p>
        </p:txBody>
      </p:sp>
      <p:sp>
        <p:nvSpPr>
          <p:cNvPr id="19" name="TextBox 18"/>
          <p:cNvSpPr txBox="1"/>
          <p:nvPr/>
        </p:nvSpPr>
        <p:spPr>
          <a:xfrm>
            <a:off x="8915400" y="2935224"/>
            <a:ext cx="2560320" cy="347472"/>
          </a:xfrm>
          <a:prstGeom prst="rect">
            <a:avLst/>
          </a:prstGeom>
          <a:noFill/>
        </p:spPr>
        <p:txBody>
          <a:bodyPr wrap="square">
            <a:spAutoFit/>
          </a:bodyPr>
          <a:lstStyle/>
          <a:p>
            <a:pPr algn="l"/>
            <a:r>
              <a:rPr sz="1600" b="0">
                <a:solidFill>
                  <a:srgbClr val="333333"/>
                </a:solidFill>
                <a:latin typeface="Bricolage Grotesque"/>
              </a:rPr>
              <a:t>L'outil</a:t>
            </a:r>
          </a:p>
        </p:txBody>
      </p:sp>
      <p:sp>
        <p:nvSpPr>
          <p:cNvPr id="20" name="TextBox 19"/>
          <p:cNvSpPr txBox="1"/>
          <p:nvPr/>
        </p:nvSpPr>
        <p:spPr>
          <a:xfrm>
            <a:off x="777240" y="3392424"/>
            <a:ext cx="2834639" cy="347472"/>
          </a:xfrm>
          <a:prstGeom prst="rect">
            <a:avLst/>
          </a:prstGeom>
          <a:noFill/>
        </p:spPr>
        <p:txBody>
          <a:bodyPr wrap="square">
            <a:spAutoFit/>
          </a:bodyPr>
          <a:lstStyle/>
          <a:p>
            <a:pPr algn="l"/>
            <a:r>
              <a:rPr sz="1600" b="1">
                <a:solidFill>
                  <a:srgbClr val="1A1A1A"/>
                </a:solidFill>
                <a:latin typeface="Bricolage Grotesque"/>
              </a:rPr>
              <a:t>Donnée mal lue</a:t>
            </a:r>
          </a:p>
        </p:txBody>
      </p:sp>
      <p:sp>
        <p:nvSpPr>
          <p:cNvPr id="21" name="TextBox 20"/>
          <p:cNvSpPr txBox="1"/>
          <p:nvPr/>
        </p:nvSpPr>
        <p:spPr>
          <a:xfrm>
            <a:off x="3794760" y="3392424"/>
            <a:ext cx="4937759" cy="347472"/>
          </a:xfrm>
          <a:prstGeom prst="rect">
            <a:avLst/>
          </a:prstGeom>
          <a:noFill/>
        </p:spPr>
        <p:txBody>
          <a:bodyPr wrap="square">
            <a:spAutoFit/>
          </a:bodyPr>
          <a:lstStyle/>
          <a:p>
            <a:pPr algn="l"/>
            <a:r>
              <a:rPr sz="1600" b="0">
                <a:solidFill>
                  <a:srgbClr val="333333"/>
                </a:solidFill>
                <a:latin typeface="Bricolage Grotesque"/>
              </a:rPr>
              <a:t>Séparateur, décimale, sens débit/crédit</a:t>
            </a:r>
          </a:p>
        </p:txBody>
      </p:sp>
      <p:sp>
        <p:nvSpPr>
          <p:cNvPr id="22" name="TextBox 21"/>
          <p:cNvSpPr txBox="1"/>
          <p:nvPr/>
        </p:nvSpPr>
        <p:spPr>
          <a:xfrm>
            <a:off x="8915400" y="3392424"/>
            <a:ext cx="2560320" cy="347472"/>
          </a:xfrm>
          <a:prstGeom prst="rect">
            <a:avLst/>
          </a:prstGeom>
          <a:noFill/>
        </p:spPr>
        <p:txBody>
          <a:bodyPr wrap="square">
            <a:spAutoFit/>
          </a:bodyPr>
          <a:lstStyle/>
          <a:p>
            <a:pPr algn="l"/>
            <a:r>
              <a:rPr sz="1600" b="0">
                <a:solidFill>
                  <a:srgbClr val="333333"/>
                </a:solidFill>
                <a:latin typeface="Bricolage Grotesque"/>
              </a:rPr>
              <a:t>Le lecteur de FEC</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2834639" cy="347472"/>
          </a:xfrm>
          <a:prstGeom prst="rect">
            <a:avLst/>
          </a:prstGeom>
          <a:noFill/>
        </p:spPr>
        <p:txBody>
          <a:bodyPr wrap="square">
            <a:spAutoFit/>
          </a:bodyPr>
          <a:lstStyle/>
          <a:p>
            <a:pPr algn="l"/>
            <a:r>
              <a:rPr sz="1600" b="1">
                <a:solidFill>
                  <a:srgbClr val="1A1A1A"/>
                </a:solidFill>
                <a:latin typeface="Bricolage Grotesque"/>
              </a:rPr>
              <a:t>Hypothèse de calcul</a:t>
            </a:r>
          </a:p>
        </p:txBody>
      </p:sp>
      <p:sp>
        <p:nvSpPr>
          <p:cNvPr id="25" name="TextBox 24"/>
          <p:cNvSpPr txBox="1"/>
          <p:nvPr/>
        </p:nvSpPr>
        <p:spPr>
          <a:xfrm>
            <a:off x="3794760" y="3849624"/>
            <a:ext cx="4937759" cy="347472"/>
          </a:xfrm>
          <a:prstGeom prst="rect">
            <a:avLst/>
          </a:prstGeom>
          <a:noFill/>
        </p:spPr>
        <p:txBody>
          <a:bodyPr wrap="square">
            <a:spAutoFit/>
          </a:bodyPr>
          <a:lstStyle/>
          <a:p>
            <a:pPr algn="l"/>
            <a:r>
              <a:rPr sz="1600" b="0">
                <a:solidFill>
                  <a:srgbClr val="333333"/>
                </a:solidFill>
                <a:latin typeface="Bricolage Grotesque"/>
              </a:rPr>
              <a:t>Ancienneté des créances par FIFO</a:t>
            </a:r>
          </a:p>
        </p:txBody>
      </p:sp>
      <p:sp>
        <p:nvSpPr>
          <p:cNvPr id="26" name="TextBox 25"/>
          <p:cNvSpPr txBox="1"/>
          <p:nvPr/>
        </p:nvSpPr>
        <p:spPr>
          <a:xfrm>
            <a:off x="8915400" y="3849624"/>
            <a:ext cx="2560320" cy="347472"/>
          </a:xfrm>
          <a:prstGeom prst="rect">
            <a:avLst/>
          </a:prstGeom>
          <a:noFill/>
        </p:spPr>
        <p:txBody>
          <a:bodyPr wrap="square">
            <a:spAutoFit/>
          </a:bodyPr>
          <a:lstStyle/>
          <a:p>
            <a:pPr algn="l"/>
            <a:r>
              <a:rPr sz="1600" b="0">
                <a:solidFill>
                  <a:srgbClr val="333333"/>
                </a:solidFill>
                <a:latin typeface="Bricolage Grotesque"/>
              </a:rPr>
              <a:t>Votre choix métier</a:t>
            </a:r>
          </a:p>
        </p:txBody>
      </p:sp>
      <p:sp>
        <p:nvSpPr>
          <p:cNvPr id="27" name="TextBox 26"/>
          <p:cNvSpPr txBox="1"/>
          <p:nvPr/>
        </p:nvSpPr>
        <p:spPr>
          <a:xfrm>
            <a:off x="640080" y="4480560"/>
            <a:ext cx="10881360" cy="457200"/>
          </a:xfrm>
          <a:prstGeom prst="rect">
            <a:avLst/>
          </a:prstGeom>
          <a:noFill/>
        </p:spPr>
        <p:txBody>
          <a:bodyPr wrap="square">
            <a:spAutoFit/>
          </a:bodyPr>
          <a:lstStyle/>
          <a:p>
            <a:pPr algn="l"/>
            <a:r>
              <a:rPr sz="1700" b="1">
                <a:solidFill>
                  <a:srgbClr val="1B5E6B"/>
                </a:solidFill>
                <a:latin typeface="Bricolage Grotesque"/>
              </a:rPr>
              <a:t>Les deux dernières lignes ne sont pas des bugs Excel : ce sont des choix à documenter.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Claude pour Excel, votre auditeur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Il modifie le classeur ouvert : faites une copie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Sélectionnez la cellule en erreur, puis demandez :</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0F2B3A"/>
                </a:solidFill>
                <a:latin typeface="Consolas"/>
              </a:rPr>
              <a:t>Trouve pourquoi F12 renvoie #NOM? et explique la formule pas à pas.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Claude pour Excel, votre auditeur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Il modifie le classeur ouvert : faites une copie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Sélectionnez la cellule en erreur, puis demandez :</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0F2B3A"/>
                </a:solidFill>
                <a:latin typeface="Consolas"/>
              </a:rPr>
              <a:t>Trouve pourquoi F12 renvoie #NOM? et explique la formule pas à pas.</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Il remonte jusqu'à la cause, en citant les cellules : un clic, vous y êtes.</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Il corrige en gardant les liens entre formules, et prévient avant d'écraser.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Claude pour Excel, votre auditeur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Il modifie le classeur ouvert : faites une copie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Sélectionnez la cellule en erreur, puis demandez :</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0F2B3A"/>
                </a:solidFill>
                <a:latin typeface="Consolas"/>
              </a:rPr>
              <a:t>Trouve pourquoi F12 renvoie #NOM? et explique la formule pas à pas.</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Il remonte jusqu'à la cause, en citant les cellules : un clic, vous y êtes.</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Il corrige en gardant les liens entre formules, et prévient avant d'écraser.</a:t>
            </a:r>
          </a:p>
        </p:txBody>
      </p:sp>
      <p:sp>
        <p:nvSpPr>
          <p:cNvPr id="10" name="TextBox 9"/>
          <p:cNvSpPr txBox="1"/>
          <p:nvPr/>
        </p:nvSpPr>
        <p:spPr>
          <a:xfrm>
            <a:off x="640080" y="4892040"/>
            <a:ext cx="10881360" cy="411480"/>
          </a:xfrm>
          <a:prstGeom prst="rect">
            <a:avLst/>
          </a:prstGeom>
          <a:noFill/>
        </p:spPr>
        <p:txBody>
          <a:bodyPr wrap="square">
            <a:spAutoFit/>
          </a:bodyPr>
          <a:lstStyle/>
          <a:p>
            <a:r>
              <a:rPr sz="2000" b="1">
                <a:solidFill>
                  <a:srgbClr val="1B5E6B"/>
                </a:solidFill>
                <a:latin typeface="Bricolage Grotesque"/>
              </a:rPr>
              <a:t>Sa correction vaut pour ce seul fichier ; reportez-la dans l'outil.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Tester votre outil</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Mesurer la fiabilité de votre outil sur un dossier au corrigé connu.</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Votre grille d'écarts : ce qui manque, ce qui est faux, où corriger.</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30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Déposer les 2 FEC fictifs reçus dans le chat : 2024 en N-1, 2025 en N.</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Analyser, puis noter chaque « À voir » et ce qu'il dit du dossier.</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Ouvrir l'Excel d'analyse : relever les cellules en erreur (#NOM?…).</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Sur deux erreurs : faire expliquer la formule par Claude pour Excel.</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Remplir la grille : type d'erreur, onglet, correction dans l'outil.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Votre grille d'écarts</a:t>
            </a:r>
          </a:p>
        </p:txBody>
      </p:sp>
      <p:sp>
        <p:nvSpPr>
          <p:cNvPr id="5" name="TextBox 4"/>
          <p:cNvSpPr txBox="1"/>
          <p:nvPr/>
        </p:nvSpPr>
        <p:spPr>
          <a:xfrm>
            <a:off x="777240" y="1463040"/>
            <a:ext cx="3383279" cy="365760"/>
          </a:xfrm>
          <a:prstGeom prst="rect">
            <a:avLst/>
          </a:prstGeom>
          <a:noFill/>
        </p:spPr>
        <p:txBody>
          <a:bodyPr wrap="square">
            <a:spAutoFit/>
          </a:bodyPr>
          <a:lstStyle/>
          <a:p>
            <a:pPr algn="l"/>
            <a:r>
              <a:rPr sz="1800" b="1">
                <a:solidFill>
                  <a:srgbClr val="1B5E6B"/>
                </a:solidFill>
                <a:latin typeface="Bricolage Grotesque"/>
              </a:rPr>
              <a:t>Écart constaté</a:t>
            </a:r>
          </a:p>
        </p:txBody>
      </p:sp>
      <p:sp>
        <p:nvSpPr>
          <p:cNvPr id="6" name="TextBox 5"/>
          <p:cNvSpPr txBox="1"/>
          <p:nvPr/>
        </p:nvSpPr>
        <p:spPr>
          <a:xfrm>
            <a:off x="4343400" y="1463040"/>
            <a:ext cx="2011679" cy="365760"/>
          </a:xfrm>
          <a:prstGeom prst="rect">
            <a:avLst/>
          </a:prstGeom>
          <a:noFill/>
        </p:spPr>
        <p:txBody>
          <a:bodyPr wrap="square">
            <a:spAutoFit/>
          </a:bodyPr>
          <a:lstStyle/>
          <a:p>
            <a:pPr algn="l"/>
            <a:r>
              <a:rPr sz="1800" b="1">
                <a:solidFill>
                  <a:srgbClr val="1B5E6B"/>
                </a:solidFill>
                <a:latin typeface="Bricolage Grotesque"/>
              </a:rPr>
              <a:t>Type</a:t>
            </a:r>
          </a:p>
        </p:txBody>
      </p:sp>
      <p:sp>
        <p:nvSpPr>
          <p:cNvPr id="7" name="TextBox 6"/>
          <p:cNvSpPr txBox="1"/>
          <p:nvPr/>
        </p:nvSpPr>
        <p:spPr>
          <a:xfrm>
            <a:off x="6537960" y="1463040"/>
            <a:ext cx="1920239" cy="365760"/>
          </a:xfrm>
          <a:prstGeom prst="rect">
            <a:avLst/>
          </a:prstGeom>
          <a:noFill/>
        </p:spPr>
        <p:txBody>
          <a:bodyPr wrap="square">
            <a:spAutoFit/>
          </a:bodyPr>
          <a:lstStyle/>
          <a:p>
            <a:pPr algn="l"/>
            <a:r>
              <a:rPr sz="1800" b="1">
                <a:solidFill>
                  <a:srgbClr val="1B5E6B"/>
                </a:solidFill>
                <a:latin typeface="Bricolage Grotesque"/>
              </a:rPr>
              <a:t>Onglet</a:t>
            </a:r>
          </a:p>
        </p:txBody>
      </p:sp>
      <p:sp>
        <p:nvSpPr>
          <p:cNvPr id="8" name="TextBox 7"/>
          <p:cNvSpPr txBox="1"/>
          <p:nvPr/>
        </p:nvSpPr>
        <p:spPr>
          <a:xfrm>
            <a:off x="8641080" y="1463040"/>
            <a:ext cx="2834639" cy="365760"/>
          </a:xfrm>
          <a:prstGeom prst="rect">
            <a:avLst/>
          </a:prstGeom>
          <a:noFill/>
        </p:spPr>
        <p:txBody>
          <a:bodyPr wrap="square">
            <a:spAutoFit/>
          </a:bodyPr>
          <a:lstStyle/>
          <a:p>
            <a:pPr algn="l"/>
            <a:r>
              <a:rPr sz="1800" b="1">
                <a:solidFill>
                  <a:srgbClr val="1B5E6B"/>
                </a:solidFill>
                <a:latin typeface="Bricolage Grotesque"/>
              </a:rPr>
              <a:t>Correction</a:t>
            </a:r>
          </a:p>
        </p:txBody>
      </p:sp>
      <p:sp>
        <p:nvSpPr>
          <p:cNvPr id="9" name="Rectangle 8"/>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20824"/>
            <a:ext cx="3383279" cy="347472"/>
          </a:xfrm>
          <a:prstGeom prst="rect">
            <a:avLst/>
          </a:prstGeom>
          <a:noFill/>
        </p:spPr>
        <p:txBody>
          <a:bodyPr wrap="square">
            <a:spAutoFit/>
          </a:bodyPr>
          <a:lstStyle/>
          <a:p>
            <a:pPr algn="l"/>
            <a:r>
              <a:rPr sz="1600" b="1">
                <a:solidFill>
                  <a:srgbClr val="1A1A1A"/>
                </a:solidFill>
                <a:latin typeface="Bricolage Grotesque"/>
              </a:rPr>
              <a:t>Ex. : #NOM? en col. F</a:t>
            </a:r>
          </a:p>
        </p:txBody>
      </p:sp>
      <p:sp>
        <p:nvSpPr>
          <p:cNvPr id="12" name="TextBox 11"/>
          <p:cNvSpPr txBox="1"/>
          <p:nvPr/>
        </p:nvSpPr>
        <p:spPr>
          <a:xfrm>
            <a:off x="4343400" y="2020824"/>
            <a:ext cx="2011679" cy="347472"/>
          </a:xfrm>
          <a:prstGeom prst="rect">
            <a:avLst/>
          </a:prstGeom>
          <a:noFill/>
        </p:spPr>
        <p:txBody>
          <a:bodyPr wrap="square">
            <a:spAutoFit/>
          </a:bodyPr>
          <a:lstStyle/>
          <a:p>
            <a:pPr algn="l"/>
            <a:r>
              <a:rPr sz="1600" b="0">
                <a:solidFill>
                  <a:srgbClr val="333333"/>
                </a:solidFill>
                <a:latin typeface="Bricolage Grotesque"/>
              </a:rPr>
              <a:t>Fonction absente</a:t>
            </a:r>
          </a:p>
        </p:txBody>
      </p:sp>
      <p:sp>
        <p:nvSpPr>
          <p:cNvPr id="13" name="TextBox 12"/>
          <p:cNvSpPr txBox="1"/>
          <p:nvPr/>
        </p:nvSpPr>
        <p:spPr>
          <a:xfrm>
            <a:off x="6537960" y="2020824"/>
            <a:ext cx="1920239" cy="347472"/>
          </a:xfrm>
          <a:prstGeom prst="rect">
            <a:avLst/>
          </a:prstGeom>
          <a:noFill/>
        </p:spPr>
        <p:txBody>
          <a:bodyPr wrap="square">
            <a:spAutoFit/>
          </a:bodyPr>
          <a:lstStyle/>
          <a:p>
            <a:pPr algn="l"/>
            <a:r>
              <a:rPr sz="1600" b="0">
                <a:solidFill>
                  <a:srgbClr val="333333"/>
                </a:solidFill>
                <a:latin typeface="Bricolage Grotesque"/>
              </a:rPr>
              <a:t>Tresorerie</a:t>
            </a:r>
          </a:p>
        </p:txBody>
      </p:sp>
      <p:sp>
        <p:nvSpPr>
          <p:cNvPr id="14" name="TextBox 13"/>
          <p:cNvSpPr txBox="1"/>
          <p:nvPr/>
        </p:nvSpPr>
        <p:spPr>
          <a:xfrm>
            <a:off x="8641080" y="2020824"/>
            <a:ext cx="2834639" cy="347472"/>
          </a:xfrm>
          <a:prstGeom prst="rect">
            <a:avLst/>
          </a:prstGeom>
          <a:noFill/>
        </p:spPr>
        <p:txBody>
          <a:bodyPr wrap="square">
            <a:spAutoFit/>
          </a:bodyPr>
          <a:lstStyle/>
          <a:p>
            <a:pPr algn="l"/>
            <a:r>
              <a:rPr sz="1600" b="0">
                <a:solidFill>
                  <a:srgbClr val="333333"/>
                </a:solidFill>
                <a:latin typeface="Bricolage Grotesque"/>
              </a:rPr>
              <a:t>Remplacer MINIFS</a:t>
            </a:r>
          </a:p>
        </p:txBody>
      </p:sp>
      <p:sp>
        <p:nvSpPr>
          <p:cNvPr id="15" name="TextBox 14"/>
          <p:cNvSpPr txBox="1"/>
          <p:nvPr/>
        </p:nvSpPr>
        <p:spPr>
          <a:xfrm>
            <a:off x="777240" y="2478024"/>
            <a:ext cx="3383279" cy="347472"/>
          </a:xfrm>
          <a:prstGeom prst="rect">
            <a:avLst/>
          </a:prstGeom>
          <a:noFill/>
        </p:spPr>
        <p:txBody>
          <a:bodyPr wrap="square">
            <a:spAutoFit/>
          </a:bodyPr>
          <a:lstStyle/>
          <a:p>
            <a:pPr algn="l"/>
            <a:r>
              <a:rPr sz="1600" b="1">
                <a:solidFill>
                  <a:srgbClr val="1A1A1A"/>
                </a:solidFill>
                <a:latin typeface="Bricolage Grotesque"/>
              </a:rPr>
              <a:t>…</a:t>
            </a:r>
          </a:p>
        </p:txBody>
      </p:sp>
      <p:sp>
        <p:nvSpPr>
          <p:cNvPr id="16" name="TextBox 15"/>
          <p:cNvSpPr txBox="1"/>
          <p:nvPr/>
        </p:nvSpPr>
        <p:spPr>
          <a:xfrm>
            <a:off x="4343400" y="2478024"/>
            <a:ext cx="201167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17" name="TextBox 16"/>
          <p:cNvSpPr txBox="1"/>
          <p:nvPr/>
        </p:nvSpPr>
        <p:spPr>
          <a:xfrm>
            <a:off x="6537960" y="2478024"/>
            <a:ext cx="192023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18" name="TextBox 17"/>
          <p:cNvSpPr txBox="1"/>
          <p:nvPr/>
        </p:nvSpPr>
        <p:spPr>
          <a:xfrm>
            <a:off x="8641080" y="2478024"/>
            <a:ext cx="283463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19" name="Rectangle 18"/>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35224"/>
            <a:ext cx="3383279" cy="347472"/>
          </a:xfrm>
          <a:prstGeom prst="rect">
            <a:avLst/>
          </a:prstGeom>
          <a:noFill/>
        </p:spPr>
        <p:txBody>
          <a:bodyPr wrap="square">
            <a:spAutoFit/>
          </a:bodyPr>
          <a:lstStyle/>
          <a:p>
            <a:pPr algn="l"/>
            <a:r>
              <a:rPr sz="1600" b="1">
                <a:solidFill>
                  <a:srgbClr val="1A1A1A"/>
                </a:solidFill>
                <a:latin typeface="Bricolage Grotesque"/>
              </a:rPr>
              <a:t>…</a:t>
            </a:r>
          </a:p>
        </p:txBody>
      </p:sp>
      <p:sp>
        <p:nvSpPr>
          <p:cNvPr id="21" name="TextBox 20"/>
          <p:cNvSpPr txBox="1"/>
          <p:nvPr/>
        </p:nvSpPr>
        <p:spPr>
          <a:xfrm>
            <a:off x="4343400" y="2935224"/>
            <a:ext cx="201167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22" name="TextBox 21"/>
          <p:cNvSpPr txBox="1"/>
          <p:nvPr/>
        </p:nvSpPr>
        <p:spPr>
          <a:xfrm>
            <a:off x="6537960" y="2935224"/>
            <a:ext cx="192023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23" name="TextBox 22"/>
          <p:cNvSpPr txBox="1"/>
          <p:nvPr/>
        </p:nvSpPr>
        <p:spPr>
          <a:xfrm>
            <a:off x="8641080" y="2935224"/>
            <a:ext cx="283463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24" name="TextBox 23"/>
          <p:cNvSpPr txBox="1"/>
          <p:nvPr/>
        </p:nvSpPr>
        <p:spPr>
          <a:xfrm>
            <a:off x="777240" y="3392424"/>
            <a:ext cx="3383279" cy="347472"/>
          </a:xfrm>
          <a:prstGeom prst="rect">
            <a:avLst/>
          </a:prstGeom>
          <a:noFill/>
        </p:spPr>
        <p:txBody>
          <a:bodyPr wrap="square">
            <a:spAutoFit/>
          </a:bodyPr>
          <a:lstStyle/>
          <a:p>
            <a:pPr algn="l"/>
            <a:r>
              <a:rPr sz="1600" b="1">
                <a:solidFill>
                  <a:srgbClr val="1A1A1A"/>
                </a:solidFill>
                <a:latin typeface="Bricolage Grotesque"/>
              </a:rPr>
              <a:t>…</a:t>
            </a:r>
          </a:p>
        </p:txBody>
      </p:sp>
      <p:sp>
        <p:nvSpPr>
          <p:cNvPr id="25" name="TextBox 24"/>
          <p:cNvSpPr txBox="1"/>
          <p:nvPr/>
        </p:nvSpPr>
        <p:spPr>
          <a:xfrm>
            <a:off x="4343400" y="3392424"/>
            <a:ext cx="201167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26" name="TextBox 25"/>
          <p:cNvSpPr txBox="1"/>
          <p:nvPr/>
        </p:nvSpPr>
        <p:spPr>
          <a:xfrm>
            <a:off x="6537960" y="3392424"/>
            <a:ext cx="192023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27" name="TextBox 26"/>
          <p:cNvSpPr txBox="1"/>
          <p:nvPr/>
        </p:nvSpPr>
        <p:spPr>
          <a:xfrm>
            <a:off x="8641080" y="3392424"/>
            <a:ext cx="2834639" cy="347472"/>
          </a:xfrm>
          <a:prstGeom prst="rect">
            <a:avLst/>
          </a:prstGeom>
          <a:noFill/>
        </p:spPr>
        <p:txBody>
          <a:bodyPr wrap="square">
            <a:spAutoFit/>
          </a:bodyPr>
          <a:lstStyle/>
          <a:p>
            <a:pPr algn="l"/>
            <a:r>
              <a:rPr sz="1600" b="0">
                <a:solidFill>
                  <a:srgbClr val="333333"/>
                </a:solidFill>
                <a:latin typeface="Bricolage Grotesque"/>
              </a:rPr>
              <a:t>…</a:t>
            </a:r>
          </a:p>
        </p:txBody>
      </p:sp>
      <p:sp>
        <p:nvSpPr>
          <p:cNvPr id="28" name="TextBox 27"/>
          <p:cNvSpPr txBox="1"/>
          <p:nvPr/>
        </p:nvSpPr>
        <p:spPr>
          <a:xfrm>
            <a:off x="640080" y="4023360"/>
            <a:ext cx="10881360" cy="457200"/>
          </a:xfrm>
          <a:prstGeom prst="rect">
            <a:avLst/>
          </a:prstGeom>
          <a:noFill/>
        </p:spPr>
        <p:txBody>
          <a:bodyPr wrap="square">
            <a:spAutoFit/>
          </a:bodyPr>
          <a:lstStyle/>
          <a:p>
            <a:pPr algn="l"/>
            <a:r>
              <a:rPr sz="1700" b="1">
                <a:solidFill>
                  <a:srgbClr val="1B5E6B"/>
                </a:solidFill>
                <a:latin typeface="Bricolage Grotesque"/>
              </a:rPr>
              <a:t>Une ligne par écart. Cette grille devient votre liste de corrections.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 bis</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 corrigé</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Les cinq anomalies glissées dans le FEC 2025</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corrigé : cinq anomalies</a:t>
            </a:r>
          </a:p>
        </p:txBody>
      </p:sp>
      <p:sp>
        <p:nvSpPr>
          <p:cNvPr id="5" name="TextBox 4"/>
          <p:cNvSpPr txBox="1"/>
          <p:nvPr/>
        </p:nvSpPr>
        <p:spPr>
          <a:xfrm>
            <a:off x="777240" y="1463040"/>
            <a:ext cx="4937759" cy="365760"/>
          </a:xfrm>
          <a:prstGeom prst="rect">
            <a:avLst/>
          </a:prstGeom>
          <a:noFill/>
        </p:spPr>
        <p:txBody>
          <a:bodyPr wrap="square">
            <a:spAutoFit/>
          </a:bodyPr>
          <a:lstStyle/>
          <a:p>
            <a:pPr algn="l"/>
            <a:r>
              <a:rPr sz="1800" b="1">
                <a:solidFill>
                  <a:srgbClr val="1B5E6B"/>
                </a:solidFill>
                <a:latin typeface="Bricolage Grotesque"/>
              </a:rPr>
              <a:t>Anomalie glissée</a:t>
            </a:r>
          </a:p>
        </p:txBody>
      </p:sp>
      <p:sp>
        <p:nvSpPr>
          <p:cNvPr id="6" name="TextBox 5"/>
          <p:cNvSpPr txBox="1"/>
          <p:nvPr/>
        </p:nvSpPr>
        <p:spPr>
          <a:xfrm>
            <a:off x="5897880" y="1463040"/>
            <a:ext cx="2194560" cy="365760"/>
          </a:xfrm>
          <a:prstGeom prst="rect">
            <a:avLst/>
          </a:prstGeom>
          <a:noFill/>
        </p:spPr>
        <p:txBody>
          <a:bodyPr wrap="square">
            <a:spAutoFit/>
          </a:bodyPr>
          <a:lstStyle/>
          <a:p>
            <a:pPr algn="l"/>
            <a:r>
              <a:rPr sz="1800" b="1">
                <a:solidFill>
                  <a:srgbClr val="1B5E6B"/>
                </a:solidFill>
                <a:latin typeface="Bricolage Grotesque"/>
              </a:rPr>
              <a:t>Votre outil</a:t>
            </a:r>
          </a:p>
        </p:txBody>
      </p:sp>
      <p:sp>
        <p:nvSpPr>
          <p:cNvPr id="7" name="TextBox 6"/>
          <p:cNvSpPr txBox="1"/>
          <p:nvPr/>
        </p:nvSpPr>
        <p:spPr>
          <a:xfrm>
            <a:off x="8275320" y="1463040"/>
            <a:ext cx="3200400" cy="365760"/>
          </a:xfrm>
          <a:prstGeom prst="rect">
            <a:avLst/>
          </a:prstGeom>
          <a:noFill/>
        </p:spPr>
        <p:txBody>
          <a:bodyPr wrap="square">
            <a:spAutoFit/>
          </a:bodyPr>
          <a:lstStyle/>
          <a:p>
            <a:pPr algn="l"/>
            <a:r>
              <a:rPr sz="1800" b="1">
                <a:solidFill>
                  <a:srgbClr val="1B5E6B"/>
                </a:solidFill>
                <a:latin typeface="Bricolage Grotesque"/>
              </a:rPr>
              <a:t>Signal</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4937759" cy="347472"/>
          </a:xfrm>
          <a:prstGeom prst="rect">
            <a:avLst/>
          </a:prstGeom>
          <a:noFill/>
        </p:spPr>
        <p:txBody>
          <a:bodyPr wrap="square">
            <a:spAutoFit/>
          </a:bodyPr>
          <a:lstStyle/>
          <a:p>
            <a:pPr algn="l"/>
            <a:r>
              <a:rPr sz="1600" b="1">
                <a:solidFill>
                  <a:srgbClr val="1A1A1A"/>
                </a:solidFill>
                <a:latin typeface="Bricolage Grotesque"/>
              </a:rPr>
              <a:t>Écriture déséquilibrée de 150 €</a:t>
            </a:r>
          </a:p>
        </p:txBody>
      </p:sp>
      <p:sp>
        <p:nvSpPr>
          <p:cNvPr id="11" name="TextBox 10"/>
          <p:cNvSpPr txBox="1"/>
          <p:nvPr/>
        </p:nvSpPr>
        <p:spPr>
          <a:xfrm>
            <a:off x="5897880" y="2020824"/>
            <a:ext cx="2194560" cy="347472"/>
          </a:xfrm>
          <a:prstGeom prst="rect">
            <a:avLst/>
          </a:prstGeom>
          <a:noFill/>
        </p:spPr>
        <p:txBody>
          <a:bodyPr wrap="square">
            <a:spAutoFit/>
          </a:bodyPr>
          <a:lstStyle/>
          <a:p>
            <a:pPr algn="l"/>
            <a:r>
              <a:rPr sz="1600" b="0">
                <a:solidFill>
                  <a:srgbClr val="333333"/>
                </a:solidFill>
                <a:latin typeface="Bricolage Grotesque"/>
              </a:rPr>
              <a:t>Détectée</a:t>
            </a:r>
          </a:p>
        </p:txBody>
      </p:sp>
      <p:sp>
        <p:nvSpPr>
          <p:cNvPr id="12" name="TextBox 11"/>
          <p:cNvSpPr txBox="1"/>
          <p:nvPr/>
        </p:nvSpPr>
        <p:spPr>
          <a:xfrm>
            <a:off x="8275320" y="2020824"/>
            <a:ext cx="3200400" cy="347472"/>
          </a:xfrm>
          <a:prstGeom prst="rect">
            <a:avLst/>
          </a:prstGeom>
          <a:noFill/>
        </p:spPr>
        <p:txBody>
          <a:bodyPr wrap="square">
            <a:spAutoFit/>
          </a:bodyPr>
          <a:lstStyle/>
          <a:p>
            <a:pPr algn="l"/>
            <a:r>
              <a:rPr sz="1600" b="0">
                <a:solidFill>
                  <a:srgbClr val="333333"/>
                </a:solidFill>
                <a:latin typeface="Bricolage Grotesque"/>
              </a:rPr>
              <a:t>Débit ≠ crédit</a:t>
            </a:r>
          </a:p>
        </p:txBody>
      </p:sp>
      <p:sp>
        <p:nvSpPr>
          <p:cNvPr id="13" name="TextBox 12"/>
          <p:cNvSpPr txBox="1"/>
          <p:nvPr/>
        </p:nvSpPr>
        <p:spPr>
          <a:xfrm>
            <a:off x="777240" y="2478024"/>
            <a:ext cx="4937759" cy="347472"/>
          </a:xfrm>
          <a:prstGeom prst="rect">
            <a:avLst/>
          </a:prstGeom>
          <a:noFill/>
        </p:spPr>
        <p:txBody>
          <a:bodyPr wrap="square">
            <a:spAutoFit/>
          </a:bodyPr>
          <a:lstStyle/>
          <a:p>
            <a:pPr algn="l"/>
            <a:r>
              <a:rPr sz="1600" b="1">
                <a:solidFill>
                  <a:srgbClr val="1A1A1A"/>
                </a:solidFill>
                <a:latin typeface="Bricolage Grotesque"/>
              </a:rPr>
              <a:t>Facture de 48 000 € jamais réglée</a:t>
            </a:r>
          </a:p>
        </p:txBody>
      </p:sp>
      <p:sp>
        <p:nvSpPr>
          <p:cNvPr id="14" name="TextBox 13"/>
          <p:cNvSpPr txBox="1"/>
          <p:nvPr/>
        </p:nvSpPr>
        <p:spPr>
          <a:xfrm>
            <a:off x="5897880" y="2478024"/>
            <a:ext cx="2194560" cy="347472"/>
          </a:xfrm>
          <a:prstGeom prst="rect">
            <a:avLst/>
          </a:prstGeom>
          <a:noFill/>
        </p:spPr>
        <p:txBody>
          <a:bodyPr wrap="square">
            <a:spAutoFit/>
          </a:bodyPr>
          <a:lstStyle/>
          <a:p>
            <a:pPr algn="l"/>
            <a:r>
              <a:rPr sz="1600" b="0">
                <a:solidFill>
                  <a:srgbClr val="333333"/>
                </a:solidFill>
                <a:latin typeface="Bricolage Grotesque"/>
              </a:rPr>
              <a:t>En partie</a:t>
            </a:r>
          </a:p>
        </p:txBody>
      </p:sp>
      <p:sp>
        <p:nvSpPr>
          <p:cNvPr id="15" name="TextBox 14"/>
          <p:cNvSpPr txBox="1"/>
          <p:nvPr/>
        </p:nvSpPr>
        <p:spPr>
          <a:xfrm>
            <a:off x="8275320" y="2478024"/>
            <a:ext cx="3200400" cy="347472"/>
          </a:xfrm>
          <a:prstGeom prst="rect">
            <a:avLst/>
          </a:prstGeom>
          <a:noFill/>
        </p:spPr>
        <p:txBody>
          <a:bodyPr wrap="square">
            <a:spAutoFit/>
          </a:bodyPr>
          <a:lstStyle/>
          <a:p>
            <a:pPr algn="l"/>
            <a:r>
              <a:rPr sz="1600" b="0">
                <a:solidFill>
                  <a:srgbClr val="333333"/>
                </a:solidFill>
                <a:latin typeface="Bricolage Grotesque"/>
              </a:rPr>
              <a:t>Voir slide suivante</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4937759" cy="347472"/>
          </a:xfrm>
          <a:prstGeom prst="rect">
            <a:avLst/>
          </a:prstGeom>
          <a:noFill/>
        </p:spPr>
        <p:txBody>
          <a:bodyPr wrap="square">
            <a:spAutoFit/>
          </a:bodyPr>
          <a:lstStyle/>
          <a:p>
            <a:pPr algn="l"/>
            <a:r>
              <a:rPr sz="1600" b="1">
                <a:solidFill>
                  <a:srgbClr val="1A1A1A"/>
                </a:solidFill>
                <a:latin typeface="Bricolage Grotesque"/>
              </a:rPr>
              <a:t>3 mois d'URSSAF impayés</a:t>
            </a:r>
          </a:p>
        </p:txBody>
      </p:sp>
      <p:sp>
        <p:nvSpPr>
          <p:cNvPr id="18" name="TextBox 17"/>
          <p:cNvSpPr txBox="1"/>
          <p:nvPr/>
        </p:nvSpPr>
        <p:spPr>
          <a:xfrm>
            <a:off x="5897880" y="2935224"/>
            <a:ext cx="2194560" cy="347472"/>
          </a:xfrm>
          <a:prstGeom prst="rect">
            <a:avLst/>
          </a:prstGeom>
          <a:noFill/>
        </p:spPr>
        <p:txBody>
          <a:bodyPr wrap="square">
            <a:spAutoFit/>
          </a:bodyPr>
          <a:lstStyle/>
          <a:p>
            <a:pPr algn="l"/>
            <a:r>
              <a:rPr sz="1600" b="0">
                <a:solidFill>
                  <a:srgbClr val="333333"/>
                </a:solidFill>
                <a:latin typeface="Bricolage Grotesque"/>
              </a:rPr>
              <a:t>Détectée</a:t>
            </a:r>
          </a:p>
        </p:txBody>
      </p:sp>
      <p:sp>
        <p:nvSpPr>
          <p:cNvPr id="19" name="TextBox 18"/>
          <p:cNvSpPr txBox="1"/>
          <p:nvPr/>
        </p:nvSpPr>
        <p:spPr>
          <a:xfrm>
            <a:off x="8275320" y="2935224"/>
            <a:ext cx="3200400" cy="347472"/>
          </a:xfrm>
          <a:prstGeom prst="rect">
            <a:avLst/>
          </a:prstGeom>
          <a:noFill/>
        </p:spPr>
        <p:txBody>
          <a:bodyPr wrap="square">
            <a:spAutoFit/>
          </a:bodyPr>
          <a:lstStyle/>
          <a:p>
            <a:pPr algn="l"/>
            <a:r>
              <a:rPr sz="1600" b="0">
                <a:solidFill>
                  <a:srgbClr val="333333"/>
                </a:solidFill>
                <a:latin typeface="Bricolage Grotesque"/>
              </a:rPr>
              <a:t>4 mois de retard</a:t>
            </a:r>
          </a:p>
        </p:txBody>
      </p:sp>
      <p:sp>
        <p:nvSpPr>
          <p:cNvPr id="20" name="TextBox 19"/>
          <p:cNvSpPr txBox="1"/>
          <p:nvPr/>
        </p:nvSpPr>
        <p:spPr>
          <a:xfrm>
            <a:off x="777240" y="3392424"/>
            <a:ext cx="4937759" cy="347472"/>
          </a:xfrm>
          <a:prstGeom prst="rect">
            <a:avLst/>
          </a:prstGeom>
          <a:noFill/>
        </p:spPr>
        <p:txBody>
          <a:bodyPr wrap="square">
            <a:spAutoFit/>
          </a:bodyPr>
          <a:lstStyle/>
          <a:p>
            <a:pPr algn="l"/>
            <a:r>
              <a:rPr sz="1600" b="1">
                <a:solidFill>
                  <a:srgbClr val="1A1A1A"/>
                </a:solidFill>
                <a:latin typeface="Bricolage Grotesque"/>
              </a:rPr>
              <a:t>Facture de 96 000 € le 30/12</a:t>
            </a:r>
          </a:p>
        </p:txBody>
      </p:sp>
      <p:sp>
        <p:nvSpPr>
          <p:cNvPr id="21" name="TextBox 20"/>
          <p:cNvSpPr txBox="1"/>
          <p:nvPr/>
        </p:nvSpPr>
        <p:spPr>
          <a:xfrm>
            <a:off x="5897880" y="3392424"/>
            <a:ext cx="2194560" cy="347472"/>
          </a:xfrm>
          <a:prstGeom prst="rect">
            <a:avLst/>
          </a:prstGeom>
          <a:noFill/>
        </p:spPr>
        <p:txBody>
          <a:bodyPr wrap="square">
            <a:spAutoFit/>
          </a:bodyPr>
          <a:lstStyle/>
          <a:p>
            <a:pPr algn="l"/>
            <a:r>
              <a:rPr sz="1600" b="0">
                <a:solidFill>
                  <a:srgbClr val="333333"/>
                </a:solidFill>
                <a:latin typeface="Bricolage Grotesque"/>
              </a:rPr>
              <a:t>Détectée</a:t>
            </a:r>
          </a:p>
        </p:txBody>
      </p:sp>
      <p:sp>
        <p:nvSpPr>
          <p:cNvPr id="22" name="TextBox 21"/>
          <p:cNvSpPr txBox="1"/>
          <p:nvPr/>
        </p:nvSpPr>
        <p:spPr>
          <a:xfrm>
            <a:off x="8275320" y="3392424"/>
            <a:ext cx="3200400" cy="347472"/>
          </a:xfrm>
          <a:prstGeom prst="rect">
            <a:avLst/>
          </a:prstGeom>
          <a:noFill/>
        </p:spPr>
        <p:txBody>
          <a:bodyPr wrap="square">
            <a:spAutoFit/>
          </a:bodyPr>
          <a:lstStyle/>
          <a:p>
            <a:pPr algn="l"/>
            <a:r>
              <a:rPr sz="1600" b="0">
                <a:solidFill>
                  <a:srgbClr val="333333"/>
                </a:solidFill>
                <a:latin typeface="Bricolage Grotesque"/>
              </a:rPr>
              <a:t>Coupure : 5,3×</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4937759" cy="347472"/>
          </a:xfrm>
          <a:prstGeom prst="rect">
            <a:avLst/>
          </a:prstGeom>
          <a:noFill/>
        </p:spPr>
        <p:txBody>
          <a:bodyPr wrap="square">
            <a:spAutoFit/>
          </a:bodyPr>
          <a:lstStyle/>
          <a:p>
            <a:pPr algn="l"/>
            <a:r>
              <a:rPr sz="1600" b="1">
                <a:solidFill>
                  <a:srgbClr val="1A1A1A"/>
                </a:solidFill>
                <a:latin typeface="Bricolage Grotesque"/>
              </a:rPr>
              <a:t>Facture fournisseur saisie 2 fois</a:t>
            </a:r>
          </a:p>
        </p:txBody>
      </p:sp>
      <p:sp>
        <p:nvSpPr>
          <p:cNvPr id="25" name="TextBox 24"/>
          <p:cNvSpPr txBox="1"/>
          <p:nvPr/>
        </p:nvSpPr>
        <p:spPr>
          <a:xfrm>
            <a:off x="5897880" y="3849624"/>
            <a:ext cx="2194560" cy="347472"/>
          </a:xfrm>
          <a:prstGeom prst="rect">
            <a:avLst/>
          </a:prstGeom>
          <a:noFill/>
        </p:spPr>
        <p:txBody>
          <a:bodyPr wrap="square">
            <a:spAutoFit/>
          </a:bodyPr>
          <a:lstStyle/>
          <a:p>
            <a:pPr algn="l"/>
            <a:r>
              <a:rPr sz="1600" b="0">
                <a:solidFill>
                  <a:srgbClr val="333333"/>
                </a:solidFill>
                <a:latin typeface="Bricolage Grotesque"/>
              </a:rPr>
              <a:t>Détectée</a:t>
            </a:r>
          </a:p>
        </p:txBody>
      </p:sp>
      <p:sp>
        <p:nvSpPr>
          <p:cNvPr id="26" name="TextBox 25"/>
          <p:cNvSpPr txBox="1"/>
          <p:nvPr/>
        </p:nvSpPr>
        <p:spPr>
          <a:xfrm>
            <a:off x="8275320" y="3849624"/>
            <a:ext cx="3200400" cy="347472"/>
          </a:xfrm>
          <a:prstGeom prst="rect">
            <a:avLst/>
          </a:prstGeom>
          <a:noFill/>
        </p:spPr>
        <p:txBody>
          <a:bodyPr wrap="square">
            <a:spAutoFit/>
          </a:bodyPr>
          <a:lstStyle/>
          <a:p>
            <a:pPr algn="l"/>
            <a:r>
              <a:rPr sz="1600" b="0">
                <a:solidFill>
                  <a:srgbClr val="333333"/>
                </a:solidFill>
                <a:latin typeface="Bricolage Grotesque"/>
              </a:rPr>
              <a:t>Doublon : 12 000 €</a:t>
            </a:r>
          </a:p>
        </p:txBody>
      </p:sp>
      <p:sp>
        <p:nvSpPr>
          <p:cNvPr id="27" name="TextBox 26"/>
          <p:cNvSpPr txBox="1"/>
          <p:nvPr/>
        </p:nvSpPr>
        <p:spPr>
          <a:xfrm>
            <a:off x="640080" y="4480560"/>
            <a:ext cx="10881360" cy="457200"/>
          </a:xfrm>
          <a:prstGeom prst="rect">
            <a:avLst/>
          </a:prstGeom>
          <a:noFill/>
        </p:spPr>
        <p:txBody>
          <a:bodyPr wrap="square">
            <a:spAutoFit/>
          </a:bodyPr>
          <a:lstStyle/>
          <a:p>
            <a:pPr algn="l"/>
            <a:r>
              <a:rPr sz="1700" b="1">
                <a:solidFill>
                  <a:srgbClr val="1B5E6B"/>
                </a:solidFill>
                <a:latin typeface="Bricolage Grotesque"/>
              </a:rPr>
              <a:t>Et le signal d'ensemble : capitaux propres sous la moitié du capital.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facture bloquée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Quand l'hypothèse de calcul cache le problème</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Ce que dit votre outil</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48 000 € échus depuis plus de 90 jours</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25 113 € depuis plus de 180 jours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Méthode FIFO : solde imputé</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sur les factures les plus récentes</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Ce que dit le dossier</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Une facture du 14/02/2025 : 48 000 €</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Jamais réglée, jamais lettrée</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320 jours au 31 décembre</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Le client paie ses factures récentes</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Question : croiser la FIFO avec le lettrage quand il est fiable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Corriger l'outil avec Claude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Le prompt, avec le fichier HTML de l'outil joint</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0F2B3A"/>
                </a:solidFill>
                <a:latin typeface="Consolas"/>
              </a:rPr>
              <a:t>Voici mon outil d'analyse FEC (fichier joint) et un écart constaté.</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0F2B3A"/>
                </a:solidFill>
                <a:latin typeface="Consolas"/>
              </a:rPr>
              <a:t>Dossier test : [fichier]. Attendu : [valeur]. Obtenu : [valeur].</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0F2B3A"/>
                </a:solidFill>
                <a:latin typeface="Consolas"/>
              </a:rPr>
              <a:t>Trouve la cause, propose le correctif minimal, sans rien réécrire</a:t>
            </a:r>
          </a:p>
        </p:txBody>
      </p:sp>
      <p:sp>
        <p:nvSpPr>
          <p:cNvPr id="9" name="TextBox 8"/>
          <p:cNvSpPr txBox="1"/>
          <p:nvPr/>
        </p:nvSpPr>
        <p:spPr>
          <a:xfrm>
            <a:off x="640080" y="3895344"/>
            <a:ext cx="10881360" cy="411480"/>
          </a:xfrm>
          <a:prstGeom prst="rect">
            <a:avLst/>
          </a:prstGeom>
          <a:noFill/>
        </p:spPr>
        <p:txBody>
          <a:bodyPr wrap="square">
            <a:spAutoFit/>
          </a:bodyPr>
          <a:lstStyle/>
          <a:p>
            <a:r>
              <a:rPr sz="2000" b="0">
                <a:solidFill>
                  <a:srgbClr val="0F2B3A"/>
                </a:solidFill>
                <a:latin typeface="Consolas"/>
              </a:rPr>
              <a:t>d'autre, et un contrôle qui aurait détecté cet écart.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Corriger l'outil avec Claude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Le prompt, avec le fichier HTML de l'outil joint</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0F2B3A"/>
                </a:solidFill>
                <a:latin typeface="Consolas"/>
              </a:rPr>
              <a:t>Voici mon outil d'analyse FEC (fichier joint) et un écart constaté.</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0F2B3A"/>
                </a:solidFill>
                <a:latin typeface="Consolas"/>
              </a:rPr>
              <a:t>Dossier test : [fichier]. Attendu : [valeur]. Obtenu : [valeur].</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0F2B3A"/>
                </a:solidFill>
                <a:latin typeface="Consolas"/>
              </a:rPr>
              <a:t>Trouve la cause, propose le correctif minimal, sans rien réécrire</a:t>
            </a:r>
          </a:p>
        </p:txBody>
      </p:sp>
      <p:sp>
        <p:nvSpPr>
          <p:cNvPr id="9" name="TextBox 8"/>
          <p:cNvSpPr txBox="1"/>
          <p:nvPr/>
        </p:nvSpPr>
        <p:spPr>
          <a:xfrm>
            <a:off x="640080" y="3895344"/>
            <a:ext cx="10881360" cy="411480"/>
          </a:xfrm>
          <a:prstGeom prst="rect">
            <a:avLst/>
          </a:prstGeom>
          <a:noFill/>
        </p:spPr>
        <p:txBody>
          <a:bodyPr wrap="square">
            <a:spAutoFit/>
          </a:bodyPr>
          <a:lstStyle/>
          <a:p>
            <a:r>
              <a:rPr sz="2000" b="0">
                <a:solidFill>
                  <a:srgbClr val="0F2B3A"/>
                </a:solidFill>
                <a:latin typeface="Consolas"/>
              </a:rPr>
              <a:t>d'autre, et un contrôle qui aurait détecté cet écart.</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1B5E6B"/>
                </a:solidFill>
                <a:latin typeface="Bricolage Grotesque"/>
              </a:rPr>
              <a:t>Puis : relancer le même dossier test. Rien d'autre n'a bougé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Fiabiliser votre outil</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Un dossier test aux réponses connues : sans lui, une erreur ne se voit pas.</a:t>
            </a:r>
          </a:p>
          <a:p>
            <a:pPr>
              <a:spcBef>
                <a:spcPts val="1200"/>
              </a:spcBef>
            </a:pPr>
            <a:r>
              <a:rPr sz="2000">
                <a:solidFill>
                  <a:srgbClr val="FFFFFF"/>
                </a:solidFill>
                <a:latin typeface="Bricolage Grotesque"/>
              </a:rPr>
              <a:t>2.  On corrige l'outil qui fabrique l'Excel, jamais le classeur produit.</a:t>
            </a:r>
          </a:p>
          <a:p>
            <a:pPr>
              <a:spcBef>
                <a:spcPts val="1200"/>
              </a:spcBef>
            </a:pPr>
            <a:r>
              <a:rPr sz="2000">
                <a:solidFill>
                  <a:srgbClr val="FFFFFF"/>
                </a:solidFill>
                <a:latin typeface="Bricolage Grotesque"/>
              </a:rPr>
              <a:t>3.  Claude pour Excel explique une formule ; le correctif va dans l'outil.</a:t>
            </a:r>
          </a:p>
          <a:p>
            <a:pPr>
              <a:spcBef>
                <a:spcPts val="1200"/>
              </a:spcBef>
            </a:pPr>
            <a:r>
              <a:rPr sz="2000">
                <a:solidFill>
                  <a:srgbClr val="FFFFFF"/>
                </a:solidFill>
                <a:latin typeface="Bricolage Grotesque"/>
              </a:rPr>
              <a:t>4.  Une hypothèse de calcul est un choix métier : on l'écrit noir sur blanc.</a:t>
            </a:r>
          </a:p>
          <a:p>
            <a:pPr>
              <a:spcBef>
                <a:spcPts val="1200"/>
              </a:spcBef>
            </a:pPr>
            <a:r>
              <a:rPr sz="2000">
                <a:solidFill>
                  <a:srgbClr val="FFFFFF"/>
                </a:solidFill>
                <a:latin typeface="Bricolage Grotesque"/>
              </a:rPr>
              <a:t>5.  Après chaque correction, on relance le même test.</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4</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Votre rapport : ce qui s'automatise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Section par section, avant de construire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Trois niveaux d'automatisation</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Pour chaque section de votre rapport</a:t>
            </a:r>
          </a:p>
        </p:txBody>
      </p:sp>
      <p:sp>
        <p:nvSpPr>
          <p:cNvPr id="6" name="Rounded Rectangle 5"/>
          <p:cNvSpPr/>
          <p:nvPr/>
        </p:nvSpPr>
        <p:spPr>
          <a:xfrm>
            <a:off x="640080" y="2286000"/>
            <a:ext cx="3429000" cy="233172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423160"/>
            <a:ext cx="54864" cy="205740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77440"/>
            <a:ext cx="3063240" cy="411480"/>
          </a:xfrm>
          <a:prstGeom prst="rect">
            <a:avLst/>
          </a:prstGeom>
          <a:noFill/>
        </p:spPr>
        <p:txBody>
          <a:bodyPr wrap="square">
            <a:spAutoFit/>
          </a:bodyPr>
          <a:lstStyle/>
          <a:p>
            <a:pPr algn="l"/>
            <a:r>
              <a:rPr sz="2000" b="1">
                <a:solidFill>
                  <a:srgbClr val="1B5E6B"/>
                </a:solidFill>
                <a:latin typeface="Bricolage Grotesque"/>
              </a:rPr>
              <a:t>Automatique</a:t>
            </a:r>
          </a:p>
        </p:txBody>
      </p:sp>
      <p:sp>
        <p:nvSpPr>
          <p:cNvPr id="9" name="TextBox 8"/>
          <p:cNvSpPr txBox="1"/>
          <p:nvPr/>
        </p:nvSpPr>
        <p:spPr>
          <a:xfrm>
            <a:off x="868680" y="2834640"/>
            <a:ext cx="3063240" cy="731520"/>
          </a:xfrm>
          <a:prstGeom prst="rect">
            <a:avLst/>
          </a:prstGeom>
          <a:noFill/>
        </p:spPr>
        <p:txBody>
          <a:bodyPr wrap="square">
            <a:spAutoFit/>
          </a:bodyPr>
          <a:lstStyle/>
          <a:p>
            <a:pPr algn="l"/>
            <a:r>
              <a:rPr sz="1700" b="0">
                <a:solidFill>
                  <a:srgbClr val="1A1A1A"/>
                </a:solidFill>
                <a:latin typeface="Bricolage Grotesque"/>
              </a:rPr>
              <a:t>La machine calcule et met en forme, sans vous.</a:t>
            </a:r>
          </a:p>
        </p:txBody>
      </p:sp>
      <p:sp>
        <p:nvSpPr>
          <p:cNvPr id="10" name="TextBox 9"/>
          <p:cNvSpPr txBox="1"/>
          <p:nvPr/>
        </p:nvSpPr>
        <p:spPr>
          <a:xfrm>
            <a:off x="868680" y="3703320"/>
            <a:ext cx="3063240" cy="365760"/>
          </a:xfrm>
          <a:prstGeom prst="rect">
            <a:avLst/>
          </a:prstGeom>
          <a:noFill/>
        </p:spPr>
        <p:txBody>
          <a:bodyPr wrap="square">
            <a:spAutoFit/>
          </a:bodyPr>
          <a:lstStyle/>
          <a:p>
            <a:pPr algn="l"/>
            <a:r>
              <a:rPr sz="1600" b="0">
                <a:solidFill>
                  <a:srgbClr val="5A8A8F"/>
                </a:solidFill>
                <a:latin typeface="Bricolage Grotesque"/>
              </a:rPr>
              <a:t>Ex. : P&amp;L, BFR, trésorerie</a:t>
            </a:r>
          </a:p>
        </p:txBody>
      </p:sp>
      <p:sp>
        <p:nvSpPr>
          <p:cNvPr id="11" name="TextBox 10"/>
          <p:cNvSpPr txBox="1"/>
          <p:nvPr/>
        </p:nvSpPr>
        <p:spPr>
          <a:xfrm>
            <a:off x="868680" y="4069080"/>
            <a:ext cx="3063240" cy="365760"/>
          </a:xfrm>
          <a:prstGeom prst="rect">
            <a:avLst/>
          </a:prstGeom>
          <a:noFill/>
        </p:spPr>
        <p:txBody>
          <a:bodyPr wrap="square">
            <a:spAutoFit/>
          </a:bodyPr>
          <a:lstStyle/>
          <a:p>
            <a:pPr algn="l"/>
            <a:r>
              <a:rPr sz="1600" b="0">
                <a:solidFill>
                  <a:srgbClr val="5A8A8F"/>
                </a:solidFill>
                <a:latin typeface="Bricolage Grotesque"/>
              </a:rPr>
              <a:t>Source : FEC, relevés</a:t>
            </a:r>
          </a:p>
        </p:txBody>
      </p:sp>
      <p:sp>
        <p:nvSpPr>
          <p:cNvPr id="12" name="Rounded Rectangle 11"/>
          <p:cNvSpPr/>
          <p:nvPr/>
        </p:nvSpPr>
        <p:spPr>
          <a:xfrm>
            <a:off x="4366260" y="2286000"/>
            <a:ext cx="3429000" cy="233172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6260" y="2423160"/>
            <a:ext cx="54864" cy="205740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4860" y="2377440"/>
            <a:ext cx="3063240" cy="411480"/>
          </a:xfrm>
          <a:prstGeom prst="rect">
            <a:avLst/>
          </a:prstGeom>
          <a:noFill/>
        </p:spPr>
        <p:txBody>
          <a:bodyPr wrap="square">
            <a:spAutoFit/>
          </a:bodyPr>
          <a:lstStyle/>
          <a:p>
            <a:pPr algn="l"/>
            <a:r>
              <a:rPr sz="2000" b="1">
                <a:solidFill>
                  <a:srgbClr val="1B5E6B"/>
                </a:solidFill>
                <a:latin typeface="Bricolage Grotesque"/>
              </a:rPr>
              <a:t>Préparé par Claude</a:t>
            </a:r>
          </a:p>
        </p:txBody>
      </p:sp>
      <p:sp>
        <p:nvSpPr>
          <p:cNvPr id="15" name="TextBox 14"/>
          <p:cNvSpPr txBox="1"/>
          <p:nvPr/>
        </p:nvSpPr>
        <p:spPr>
          <a:xfrm>
            <a:off x="4594860" y="2834640"/>
            <a:ext cx="3063240" cy="731520"/>
          </a:xfrm>
          <a:prstGeom prst="rect">
            <a:avLst/>
          </a:prstGeom>
          <a:noFill/>
        </p:spPr>
        <p:txBody>
          <a:bodyPr wrap="square">
            <a:spAutoFit/>
          </a:bodyPr>
          <a:lstStyle/>
          <a:p>
            <a:pPr algn="l"/>
            <a:r>
              <a:rPr sz="1700" b="0">
                <a:solidFill>
                  <a:srgbClr val="1A1A1A"/>
                </a:solidFill>
                <a:latin typeface="Bricolage Grotesque"/>
              </a:rPr>
              <a:t>Claude rédige un premier jet, vous corrigez.</a:t>
            </a:r>
          </a:p>
        </p:txBody>
      </p:sp>
      <p:sp>
        <p:nvSpPr>
          <p:cNvPr id="16" name="TextBox 15"/>
          <p:cNvSpPr txBox="1"/>
          <p:nvPr/>
        </p:nvSpPr>
        <p:spPr>
          <a:xfrm>
            <a:off x="4594860" y="3703320"/>
            <a:ext cx="3063240" cy="365760"/>
          </a:xfrm>
          <a:prstGeom prst="rect">
            <a:avLst/>
          </a:prstGeom>
          <a:noFill/>
        </p:spPr>
        <p:txBody>
          <a:bodyPr wrap="square">
            <a:spAutoFit/>
          </a:bodyPr>
          <a:lstStyle/>
          <a:p>
            <a:pPr algn="l"/>
            <a:r>
              <a:rPr sz="1600" b="0">
                <a:solidFill>
                  <a:srgbClr val="5A8A8F"/>
                </a:solidFill>
                <a:latin typeface="Bricolage Grotesque"/>
              </a:rPr>
              <a:t>Ex. : commentaire du CA</a:t>
            </a:r>
          </a:p>
        </p:txBody>
      </p:sp>
      <p:sp>
        <p:nvSpPr>
          <p:cNvPr id="17" name="TextBox 16"/>
          <p:cNvSpPr txBox="1"/>
          <p:nvPr/>
        </p:nvSpPr>
        <p:spPr>
          <a:xfrm>
            <a:off x="4594860" y="4069080"/>
            <a:ext cx="3063240" cy="365760"/>
          </a:xfrm>
          <a:prstGeom prst="rect">
            <a:avLst/>
          </a:prstGeom>
          <a:noFill/>
        </p:spPr>
        <p:txBody>
          <a:bodyPr wrap="square">
            <a:spAutoFit/>
          </a:bodyPr>
          <a:lstStyle/>
          <a:p>
            <a:pPr algn="l"/>
            <a:r>
              <a:rPr sz="1600" b="0">
                <a:solidFill>
                  <a:srgbClr val="5A8A8F"/>
                </a:solidFill>
                <a:latin typeface="Bricolage Grotesque"/>
              </a:rPr>
              <a:t>Source : vos chiffres</a:t>
            </a:r>
          </a:p>
        </p:txBody>
      </p:sp>
      <p:sp>
        <p:nvSpPr>
          <p:cNvPr id="18" name="Rounded Rectangle 17"/>
          <p:cNvSpPr/>
          <p:nvPr/>
        </p:nvSpPr>
        <p:spPr>
          <a:xfrm>
            <a:off x="8092440" y="2286000"/>
            <a:ext cx="3429000" cy="233172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2423160"/>
            <a:ext cx="54864" cy="2057400"/>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377440"/>
            <a:ext cx="3063240" cy="411480"/>
          </a:xfrm>
          <a:prstGeom prst="rect">
            <a:avLst/>
          </a:prstGeom>
          <a:noFill/>
        </p:spPr>
        <p:txBody>
          <a:bodyPr wrap="square">
            <a:spAutoFit/>
          </a:bodyPr>
          <a:lstStyle/>
          <a:p>
            <a:pPr algn="l"/>
            <a:r>
              <a:rPr sz="2000" b="1">
                <a:solidFill>
                  <a:srgbClr val="1B5E6B"/>
                </a:solidFill>
                <a:latin typeface="Bricolage Grotesque"/>
              </a:rPr>
              <a:t>Humain</a:t>
            </a:r>
          </a:p>
        </p:txBody>
      </p:sp>
      <p:sp>
        <p:nvSpPr>
          <p:cNvPr id="21" name="TextBox 20"/>
          <p:cNvSpPr txBox="1"/>
          <p:nvPr/>
        </p:nvSpPr>
        <p:spPr>
          <a:xfrm>
            <a:off x="8321040" y="2834640"/>
            <a:ext cx="3063240" cy="731520"/>
          </a:xfrm>
          <a:prstGeom prst="rect">
            <a:avLst/>
          </a:prstGeom>
          <a:noFill/>
        </p:spPr>
        <p:txBody>
          <a:bodyPr wrap="square">
            <a:spAutoFit/>
          </a:bodyPr>
          <a:lstStyle/>
          <a:p>
            <a:pPr algn="l"/>
            <a:r>
              <a:rPr sz="1700" b="0">
                <a:solidFill>
                  <a:srgbClr val="1A1A1A"/>
                </a:solidFill>
                <a:latin typeface="Bricolage Grotesque"/>
              </a:rPr>
              <a:t>Ce que vous seul pouvez écrire, et qui fait la valeur.</a:t>
            </a:r>
          </a:p>
        </p:txBody>
      </p:sp>
      <p:sp>
        <p:nvSpPr>
          <p:cNvPr id="22" name="TextBox 21"/>
          <p:cNvSpPr txBox="1"/>
          <p:nvPr/>
        </p:nvSpPr>
        <p:spPr>
          <a:xfrm>
            <a:off x="8321040" y="3703320"/>
            <a:ext cx="3063240" cy="365760"/>
          </a:xfrm>
          <a:prstGeom prst="rect">
            <a:avLst/>
          </a:prstGeom>
          <a:noFill/>
        </p:spPr>
        <p:txBody>
          <a:bodyPr wrap="square">
            <a:spAutoFit/>
          </a:bodyPr>
          <a:lstStyle/>
          <a:p>
            <a:pPr algn="l"/>
            <a:r>
              <a:rPr sz="1600" b="0">
                <a:solidFill>
                  <a:srgbClr val="5A8A8F"/>
                </a:solidFill>
                <a:latin typeface="Bricolage Grotesque"/>
              </a:rPr>
              <a:t>Ex. : diagnostic, plan</a:t>
            </a:r>
          </a:p>
        </p:txBody>
      </p:sp>
      <p:sp>
        <p:nvSpPr>
          <p:cNvPr id="23" name="TextBox 22"/>
          <p:cNvSpPr txBox="1"/>
          <p:nvPr/>
        </p:nvSpPr>
        <p:spPr>
          <a:xfrm>
            <a:off x="8321040" y="4069080"/>
            <a:ext cx="3063240" cy="365760"/>
          </a:xfrm>
          <a:prstGeom prst="rect">
            <a:avLst/>
          </a:prstGeom>
          <a:noFill/>
        </p:spPr>
        <p:txBody>
          <a:bodyPr wrap="square">
            <a:spAutoFit/>
          </a:bodyPr>
          <a:lstStyle/>
          <a:p>
            <a:pPr algn="l"/>
            <a:r>
              <a:rPr sz="1600" b="0">
                <a:solidFill>
                  <a:srgbClr val="5A8A8F"/>
                </a:solidFill>
                <a:latin typeface="Bricolage Grotesque"/>
              </a:rPr>
              <a:t>Source : vos entretiens</a:t>
            </a:r>
          </a:p>
        </p:txBody>
      </p:sp>
      <p:sp>
        <p:nvSpPr>
          <p:cNvPr id="24" name="TextBox 23"/>
          <p:cNvSpPr txBox="1"/>
          <p:nvPr/>
        </p:nvSpPr>
        <p:spPr>
          <a:xfrm>
            <a:off x="640080" y="4892040"/>
            <a:ext cx="10881360" cy="411480"/>
          </a:xfrm>
          <a:prstGeom prst="rect">
            <a:avLst/>
          </a:prstGeom>
          <a:noFill/>
        </p:spPr>
        <p:txBody>
          <a:bodyPr wrap="square">
            <a:spAutoFit/>
          </a:bodyPr>
          <a:lstStyle/>
          <a:p>
            <a:pPr algn="l"/>
            <a:r>
              <a:rPr sz="1800" b="1">
                <a:solidFill>
                  <a:srgbClr val="1B5E6B"/>
                </a:solidFill>
                <a:latin typeface="Bricolage Grotesque"/>
              </a:rPr>
              <a:t>Objectif : le junior ne recopie plus de chiffres ; vous relisez et vous concluez.</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3 · Cartographier votre rapport</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Savoir ce qui s'automatise dans votre rapport, section par section.</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La grille de votre rapport : le cahier des charges de la séance 2.</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25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Lister les sections de votre rapport type, dans l'ordre.</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Pour chacune : d'où viennent les données (FEC, liasse, entretien…) ?</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La classer : automatique, préparée par Claude, ou humaine.</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Estimer le temps qu'elle prend aujourd'hui, en heures.</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Choisir les deux sections à automatiser en séance 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3 · Un point de départ</a:t>
            </a:r>
          </a:p>
        </p:txBody>
      </p:sp>
      <p:sp>
        <p:nvSpPr>
          <p:cNvPr id="5" name="TextBox 4"/>
          <p:cNvSpPr txBox="1"/>
          <p:nvPr/>
        </p:nvSpPr>
        <p:spPr>
          <a:xfrm>
            <a:off x="777240" y="1463040"/>
            <a:ext cx="4389120" cy="365760"/>
          </a:xfrm>
          <a:prstGeom prst="rect">
            <a:avLst/>
          </a:prstGeom>
          <a:noFill/>
        </p:spPr>
        <p:txBody>
          <a:bodyPr wrap="square">
            <a:spAutoFit/>
          </a:bodyPr>
          <a:lstStyle/>
          <a:p>
            <a:pPr algn="l"/>
            <a:r>
              <a:rPr sz="1800" b="1">
                <a:solidFill>
                  <a:srgbClr val="1B5E6B"/>
                </a:solidFill>
                <a:latin typeface="Bricolage Grotesque"/>
              </a:rPr>
              <a:t>Section du rapport</a:t>
            </a:r>
          </a:p>
        </p:txBody>
      </p:sp>
      <p:sp>
        <p:nvSpPr>
          <p:cNvPr id="6" name="TextBox 5"/>
          <p:cNvSpPr txBox="1"/>
          <p:nvPr/>
        </p:nvSpPr>
        <p:spPr>
          <a:xfrm>
            <a:off x="5349240" y="1463040"/>
            <a:ext cx="3108960" cy="365760"/>
          </a:xfrm>
          <a:prstGeom prst="rect">
            <a:avLst/>
          </a:prstGeom>
          <a:noFill/>
        </p:spPr>
        <p:txBody>
          <a:bodyPr wrap="square">
            <a:spAutoFit/>
          </a:bodyPr>
          <a:lstStyle/>
          <a:p>
            <a:pPr algn="l"/>
            <a:r>
              <a:rPr sz="1800" b="1">
                <a:solidFill>
                  <a:srgbClr val="1B5E6B"/>
                </a:solidFill>
                <a:latin typeface="Bricolage Grotesque"/>
              </a:rPr>
              <a:t>Données</a:t>
            </a:r>
          </a:p>
        </p:txBody>
      </p:sp>
      <p:sp>
        <p:nvSpPr>
          <p:cNvPr id="7" name="TextBox 6"/>
          <p:cNvSpPr txBox="1"/>
          <p:nvPr/>
        </p:nvSpPr>
        <p:spPr>
          <a:xfrm>
            <a:off x="8641080" y="1463040"/>
            <a:ext cx="2834639" cy="365760"/>
          </a:xfrm>
          <a:prstGeom prst="rect">
            <a:avLst/>
          </a:prstGeom>
          <a:noFill/>
        </p:spPr>
        <p:txBody>
          <a:bodyPr wrap="square">
            <a:spAutoFit/>
          </a:bodyPr>
          <a:lstStyle/>
          <a:p>
            <a:pPr algn="l"/>
            <a:r>
              <a:rPr sz="1800" b="1">
                <a:solidFill>
                  <a:srgbClr val="1B5E6B"/>
                </a:solidFill>
                <a:latin typeface="Bricolage Grotesque"/>
              </a:rPr>
              <a:t>Niveau</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4389120" cy="347472"/>
          </a:xfrm>
          <a:prstGeom prst="rect">
            <a:avLst/>
          </a:prstGeom>
          <a:noFill/>
        </p:spPr>
        <p:txBody>
          <a:bodyPr wrap="square">
            <a:spAutoFit/>
          </a:bodyPr>
          <a:lstStyle/>
          <a:p>
            <a:pPr algn="l"/>
            <a:r>
              <a:rPr sz="1600" b="1">
                <a:solidFill>
                  <a:srgbClr val="1A1A1A"/>
                </a:solidFill>
                <a:latin typeface="Bricolage Grotesque"/>
              </a:rPr>
              <a:t>Présentation de la société</a:t>
            </a:r>
          </a:p>
        </p:txBody>
      </p:sp>
      <p:sp>
        <p:nvSpPr>
          <p:cNvPr id="11" name="TextBox 10"/>
          <p:cNvSpPr txBox="1"/>
          <p:nvPr/>
        </p:nvSpPr>
        <p:spPr>
          <a:xfrm>
            <a:off x="5349240" y="2020824"/>
            <a:ext cx="3108960" cy="347472"/>
          </a:xfrm>
          <a:prstGeom prst="rect">
            <a:avLst/>
          </a:prstGeom>
          <a:noFill/>
        </p:spPr>
        <p:txBody>
          <a:bodyPr wrap="square">
            <a:spAutoFit/>
          </a:bodyPr>
          <a:lstStyle/>
          <a:p>
            <a:pPr algn="l"/>
            <a:r>
              <a:rPr sz="1600" b="0">
                <a:solidFill>
                  <a:srgbClr val="333333"/>
                </a:solidFill>
                <a:latin typeface="Bricolage Grotesque"/>
              </a:rPr>
              <a:t>Kbis, entretiens</a:t>
            </a:r>
          </a:p>
        </p:txBody>
      </p:sp>
      <p:sp>
        <p:nvSpPr>
          <p:cNvPr id="12" name="TextBox 11"/>
          <p:cNvSpPr txBox="1"/>
          <p:nvPr/>
        </p:nvSpPr>
        <p:spPr>
          <a:xfrm>
            <a:off x="8641080" y="2020824"/>
            <a:ext cx="2834639" cy="347472"/>
          </a:xfrm>
          <a:prstGeom prst="rect">
            <a:avLst/>
          </a:prstGeom>
          <a:noFill/>
        </p:spPr>
        <p:txBody>
          <a:bodyPr wrap="square">
            <a:spAutoFit/>
          </a:bodyPr>
          <a:lstStyle/>
          <a:p>
            <a:pPr algn="l"/>
            <a:r>
              <a:rPr sz="1600" b="0">
                <a:solidFill>
                  <a:srgbClr val="333333"/>
                </a:solidFill>
                <a:latin typeface="Bricolage Grotesque"/>
              </a:rPr>
              <a:t>Préparé par Claude</a:t>
            </a:r>
          </a:p>
        </p:txBody>
      </p:sp>
      <p:sp>
        <p:nvSpPr>
          <p:cNvPr id="13" name="TextBox 12"/>
          <p:cNvSpPr txBox="1"/>
          <p:nvPr/>
        </p:nvSpPr>
        <p:spPr>
          <a:xfrm>
            <a:off x="777240" y="2478024"/>
            <a:ext cx="4389120" cy="347472"/>
          </a:xfrm>
          <a:prstGeom prst="rect">
            <a:avLst/>
          </a:prstGeom>
          <a:noFill/>
        </p:spPr>
        <p:txBody>
          <a:bodyPr wrap="square">
            <a:spAutoFit/>
          </a:bodyPr>
          <a:lstStyle/>
          <a:p>
            <a:pPr algn="l"/>
            <a:r>
              <a:rPr sz="1600" b="1">
                <a:solidFill>
                  <a:srgbClr val="1A1A1A"/>
                </a:solidFill>
                <a:latin typeface="Bricolage Grotesque"/>
              </a:rPr>
              <a:t>Évolution du CA et des marges</a:t>
            </a:r>
          </a:p>
        </p:txBody>
      </p:sp>
      <p:sp>
        <p:nvSpPr>
          <p:cNvPr id="14" name="TextBox 13"/>
          <p:cNvSpPr txBox="1"/>
          <p:nvPr/>
        </p:nvSpPr>
        <p:spPr>
          <a:xfrm>
            <a:off x="5349240" y="2478024"/>
            <a:ext cx="3108960" cy="347472"/>
          </a:xfrm>
          <a:prstGeom prst="rect">
            <a:avLst/>
          </a:prstGeom>
          <a:noFill/>
        </p:spPr>
        <p:txBody>
          <a:bodyPr wrap="square">
            <a:spAutoFit/>
          </a:bodyPr>
          <a:lstStyle/>
          <a:p>
            <a:pPr algn="l"/>
            <a:r>
              <a:rPr sz="1600" b="0">
                <a:solidFill>
                  <a:srgbClr val="333333"/>
                </a:solidFill>
                <a:latin typeface="Bricolage Grotesque"/>
              </a:rPr>
              <a:t>FEC, liasses</a:t>
            </a:r>
          </a:p>
        </p:txBody>
      </p:sp>
      <p:sp>
        <p:nvSpPr>
          <p:cNvPr id="15" name="TextBox 14"/>
          <p:cNvSpPr txBox="1"/>
          <p:nvPr/>
        </p:nvSpPr>
        <p:spPr>
          <a:xfrm>
            <a:off x="8641080" y="2478024"/>
            <a:ext cx="2834639" cy="347472"/>
          </a:xfrm>
          <a:prstGeom prst="rect">
            <a:avLst/>
          </a:prstGeom>
          <a:noFill/>
        </p:spPr>
        <p:txBody>
          <a:bodyPr wrap="square">
            <a:spAutoFit/>
          </a:bodyPr>
          <a:lstStyle/>
          <a:p>
            <a:pPr algn="l"/>
            <a:r>
              <a:rPr sz="1600" b="0">
                <a:solidFill>
                  <a:srgbClr val="333333"/>
                </a:solidFill>
                <a:latin typeface="Bricolage Grotesque"/>
              </a:rPr>
              <a:t>Auto + commentaire</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4389120" cy="347472"/>
          </a:xfrm>
          <a:prstGeom prst="rect">
            <a:avLst/>
          </a:prstGeom>
          <a:noFill/>
        </p:spPr>
        <p:txBody>
          <a:bodyPr wrap="square">
            <a:spAutoFit/>
          </a:bodyPr>
          <a:lstStyle/>
          <a:p>
            <a:pPr algn="l"/>
            <a:r>
              <a:rPr sz="1600" b="1">
                <a:solidFill>
                  <a:srgbClr val="1A1A1A"/>
                </a:solidFill>
                <a:latin typeface="Bricolage Grotesque"/>
              </a:rPr>
              <a:t>BFR et trésorerie</a:t>
            </a:r>
          </a:p>
        </p:txBody>
      </p:sp>
      <p:sp>
        <p:nvSpPr>
          <p:cNvPr id="18" name="TextBox 17"/>
          <p:cNvSpPr txBox="1"/>
          <p:nvPr/>
        </p:nvSpPr>
        <p:spPr>
          <a:xfrm>
            <a:off x="5349240" y="2935224"/>
            <a:ext cx="3108960" cy="347472"/>
          </a:xfrm>
          <a:prstGeom prst="rect">
            <a:avLst/>
          </a:prstGeom>
          <a:noFill/>
        </p:spPr>
        <p:txBody>
          <a:bodyPr wrap="square">
            <a:spAutoFit/>
          </a:bodyPr>
          <a:lstStyle/>
          <a:p>
            <a:pPr algn="l"/>
            <a:r>
              <a:rPr sz="1600" b="0">
                <a:solidFill>
                  <a:srgbClr val="333333"/>
                </a:solidFill>
                <a:latin typeface="Bricolage Grotesque"/>
              </a:rPr>
              <a:t>FEC, relevés</a:t>
            </a:r>
          </a:p>
        </p:txBody>
      </p:sp>
      <p:sp>
        <p:nvSpPr>
          <p:cNvPr id="19" name="TextBox 18"/>
          <p:cNvSpPr txBox="1"/>
          <p:nvPr/>
        </p:nvSpPr>
        <p:spPr>
          <a:xfrm>
            <a:off x="8641080" y="2935224"/>
            <a:ext cx="2834639" cy="347472"/>
          </a:xfrm>
          <a:prstGeom prst="rect">
            <a:avLst/>
          </a:prstGeom>
          <a:noFill/>
        </p:spPr>
        <p:txBody>
          <a:bodyPr wrap="square">
            <a:spAutoFit/>
          </a:bodyPr>
          <a:lstStyle/>
          <a:p>
            <a:pPr algn="l"/>
            <a:r>
              <a:rPr sz="1600" b="0">
                <a:solidFill>
                  <a:srgbClr val="333333"/>
                </a:solidFill>
                <a:latin typeface="Bricolage Grotesque"/>
              </a:rPr>
              <a:t>Automatique</a:t>
            </a:r>
          </a:p>
        </p:txBody>
      </p:sp>
      <p:sp>
        <p:nvSpPr>
          <p:cNvPr id="20" name="TextBox 19"/>
          <p:cNvSpPr txBox="1"/>
          <p:nvPr/>
        </p:nvSpPr>
        <p:spPr>
          <a:xfrm>
            <a:off x="777240" y="3392424"/>
            <a:ext cx="4389120" cy="347472"/>
          </a:xfrm>
          <a:prstGeom prst="rect">
            <a:avLst/>
          </a:prstGeom>
          <a:noFill/>
        </p:spPr>
        <p:txBody>
          <a:bodyPr wrap="square">
            <a:spAutoFit/>
          </a:bodyPr>
          <a:lstStyle/>
          <a:p>
            <a:pPr algn="l"/>
            <a:r>
              <a:rPr sz="1600" b="1">
                <a:solidFill>
                  <a:srgbClr val="1A1A1A"/>
                </a:solidFill>
                <a:latin typeface="Bricolage Grotesque"/>
              </a:rPr>
              <a:t>Dettes sociales et fiscales</a:t>
            </a:r>
          </a:p>
        </p:txBody>
      </p:sp>
      <p:sp>
        <p:nvSpPr>
          <p:cNvPr id="21" name="TextBox 20"/>
          <p:cNvSpPr txBox="1"/>
          <p:nvPr/>
        </p:nvSpPr>
        <p:spPr>
          <a:xfrm>
            <a:off x="5349240" y="3392424"/>
            <a:ext cx="3108960" cy="347472"/>
          </a:xfrm>
          <a:prstGeom prst="rect">
            <a:avLst/>
          </a:prstGeom>
          <a:noFill/>
        </p:spPr>
        <p:txBody>
          <a:bodyPr wrap="square">
            <a:spAutoFit/>
          </a:bodyPr>
          <a:lstStyle/>
          <a:p>
            <a:pPr algn="l"/>
            <a:r>
              <a:rPr sz="1600" b="0">
                <a:solidFill>
                  <a:srgbClr val="333333"/>
                </a:solidFill>
                <a:latin typeface="Bricolage Grotesque"/>
              </a:rPr>
              <a:t>FEC, URSSAF, impôts</a:t>
            </a:r>
          </a:p>
        </p:txBody>
      </p:sp>
      <p:sp>
        <p:nvSpPr>
          <p:cNvPr id="22" name="TextBox 21"/>
          <p:cNvSpPr txBox="1"/>
          <p:nvPr/>
        </p:nvSpPr>
        <p:spPr>
          <a:xfrm>
            <a:off x="8641080" y="3392424"/>
            <a:ext cx="2834639" cy="347472"/>
          </a:xfrm>
          <a:prstGeom prst="rect">
            <a:avLst/>
          </a:prstGeom>
          <a:noFill/>
        </p:spPr>
        <p:txBody>
          <a:bodyPr wrap="square">
            <a:spAutoFit/>
          </a:bodyPr>
          <a:lstStyle/>
          <a:p>
            <a:pPr algn="l"/>
            <a:r>
              <a:rPr sz="1600" b="0">
                <a:solidFill>
                  <a:srgbClr val="333333"/>
                </a:solidFill>
                <a:latin typeface="Bricolage Grotesque"/>
              </a:rPr>
              <a:t>Automatique</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4389120" cy="347472"/>
          </a:xfrm>
          <a:prstGeom prst="rect">
            <a:avLst/>
          </a:prstGeom>
          <a:noFill/>
        </p:spPr>
        <p:txBody>
          <a:bodyPr wrap="square">
            <a:spAutoFit/>
          </a:bodyPr>
          <a:lstStyle/>
          <a:p>
            <a:pPr algn="l"/>
            <a:r>
              <a:rPr sz="1600" b="1">
                <a:solidFill>
                  <a:srgbClr val="1A1A1A"/>
                </a:solidFill>
                <a:latin typeface="Bricolage Grotesque"/>
              </a:rPr>
              <a:t>Causes des difficultés</a:t>
            </a:r>
          </a:p>
        </p:txBody>
      </p:sp>
      <p:sp>
        <p:nvSpPr>
          <p:cNvPr id="25" name="TextBox 24"/>
          <p:cNvSpPr txBox="1"/>
          <p:nvPr/>
        </p:nvSpPr>
        <p:spPr>
          <a:xfrm>
            <a:off x="5349240" y="3849624"/>
            <a:ext cx="3108960" cy="347472"/>
          </a:xfrm>
          <a:prstGeom prst="rect">
            <a:avLst/>
          </a:prstGeom>
          <a:noFill/>
        </p:spPr>
        <p:txBody>
          <a:bodyPr wrap="square">
            <a:spAutoFit/>
          </a:bodyPr>
          <a:lstStyle/>
          <a:p>
            <a:pPr algn="l"/>
            <a:r>
              <a:rPr sz="1600" b="0">
                <a:solidFill>
                  <a:srgbClr val="333333"/>
                </a:solidFill>
                <a:latin typeface="Bricolage Grotesque"/>
              </a:rPr>
              <a:t>Entretiens, analyse</a:t>
            </a:r>
          </a:p>
        </p:txBody>
      </p:sp>
      <p:sp>
        <p:nvSpPr>
          <p:cNvPr id="26" name="TextBox 25"/>
          <p:cNvSpPr txBox="1"/>
          <p:nvPr/>
        </p:nvSpPr>
        <p:spPr>
          <a:xfrm>
            <a:off x="8641080" y="3849624"/>
            <a:ext cx="2834639" cy="347472"/>
          </a:xfrm>
          <a:prstGeom prst="rect">
            <a:avLst/>
          </a:prstGeom>
          <a:noFill/>
        </p:spPr>
        <p:txBody>
          <a:bodyPr wrap="square">
            <a:spAutoFit/>
          </a:bodyPr>
          <a:lstStyle/>
          <a:p>
            <a:pPr algn="l"/>
            <a:r>
              <a:rPr sz="1600" b="0">
                <a:solidFill>
                  <a:srgbClr val="333333"/>
                </a:solidFill>
                <a:latin typeface="Bricolage Grotesque"/>
              </a:rPr>
              <a:t>Humain</a:t>
            </a:r>
          </a:p>
        </p:txBody>
      </p:sp>
      <p:sp>
        <p:nvSpPr>
          <p:cNvPr id="27" name="TextBox 26"/>
          <p:cNvSpPr txBox="1"/>
          <p:nvPr/>
        </p:nvSpPr>
        <p:spPr>
          <a:xfrm>
            <a:off x="777240" y="4306824"/>
            <a:ext cx="4389120" cy="347472"/>
          </a:xfrm>
          <a:prstGeom prst="rect">
            <a:avLst/>
          </a:prstGeom>
          <a:noFill/>
        </p:spPr>
        <p:txBody>
          <a:bodyPr wrap="square">
            <a:spAutoFit/>
          </a:bodyPr>
          <a:lstStyle/>
          <a:p>
            <a:pPr algn="l"/>
            <a:r>
              <a:rPr sz="1600" b="1">
                <a:solidFill>
                  <a:srgbClr val="1A1A1A"/>
                </a:solidFill>
                <a:latin typeface="Bricolage Grotesque"/>
              </a:rPr>
              <a:t>Plan de retournement</a:t>
            </a:r>
          </a:p>
        </p:txBody>
      </p:sp>
      <p:sp>
        <p:nvSpPr>
          <p:cNvPr id="28" name="TextBox 27"/>
          <p:cNvSpPr txBox="1"/>
          <p:nvPr/>
        </p:nvSpPr>
        <p:spPr>
          <a:xfrm>
            <a:off x="5349240" y="4306824"/>
            <a:ext cx="3108960" cy="347472"/>
          </a:xfrm>
          <a:prstGeom prst="rect">
            <a:avLst/>
          </a:prstGeom>
          <a:noFill/>
        </p:spPr>
        <p:txBody>
          <a:bodyPr wrap="square">
            <a:spAutoFit/>
          </a:bodyPr>
          <a:lstStyle/>
          <a:p>
            <a:pPr algn="l"/>
            <a:r>
              <a:rPr sz="1600" b="0">
                <a:solidFill>
                  <a:srgbClr val="333333"/>
                </a:solidFill>
                <a:latin typeface="Bricolage Grotesque"/>
              </a:rPr>
              <a:t>Votre expertise</a:t>
            </a:r>
          </a:p>
        </p:txBody>
      </p:sp>
      <p:sp>
        <p:nvSpPr>
          <p:cNvPr id="29" name="TextBox 28"/>
          <p:cNvSpPr txBox="1"/>
          <p:nvPr/>
        </p:nvSpPr>
        <p:spPr>
          <a:xfrm>
            <a:off x="8641080" y="4306824"/>
            <a:ext cx="2834639" cy="347472"/>
          </a:xfrm>
          <a:prstGeom prst="rect">
            <a:avLst/>
          </a:prstGeom>
          <a:noFill/>
        </p:spPr>
        <p:txBody>
          <a:bodyPr wrap="square">
            <a:spAutoFit/>
          </a:bodyPr>
          <a:lstStyle/>
          <a:p>
            <a:pPr algn="l"/>
            <a:r>
              <a:rPr sz="1600" b="0">
                <a:solidFill>
                  <a:srgbClr val="333333"/>
                </a:solidFill>
                <a:latin typeface="Bricolage Grotesque"/>
              </a:rPr>
              <a:t>Humain</a:t>
            </a:r>
          </a:p>
        </p:txBody>
      </p:sp>
      <p:sp>
        <p:nvSpPr>
          <p:cNvPr id="30" name="TextBox 29"/>
          <p:cNvSpPr txBox="1"/>
          <p:nvPr/>
        </p:nvSpPr>
        <p:spPr>
          <a:xfrm>
            <a:off x="640080" y="4937760"/>
            <a:ext cx="10881360" cy="457200"/>
          </a:xfrm>
          <a:prstGeom prst="rect">
            <a:avLst/>
          </a:prstGeom>
          <a:noFill/>
        </p:spPr>
        <p:txBody>
          <a:bodyPr wrap="square">
            <a:spAutoFit/>
          </a:bodyPr>
          <a:lstStyle/>
          <a:p>
            <a:pPr algn="l"/>
            <a:r>
              <a:rPr sz="1700" b="1">
                <a:solidFill>
                  <a:srgbClr val="1B5E6B"/>
                </a:solidFill>
                <a:latin typeface="Bricolage Grotesque"/>
              </a:rPr>
              <a:t>À corriger avec vous : c'est votre rapport, pas le mien.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qu'on construira en séance 2</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Vos deux sections, de l'analyse au premier jet</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Votre outil
produit l'Excel</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n8n reçoit
les chiffres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Claude rédige
le premier jet</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Vous relisez
et concluez</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Les chiffres viennent de votre outil ; Claude ne fait que rédiger.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5</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Les devoirs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Pour la séance 2, mercredi 28 octobre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avant le 28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n8n : l'exercice « notification email » du module</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n8n : interroger l'API du BODACC (consigne dans la fiche)</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Votre outil : finir la grille d'écarts, corriger les 2 plus graves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avant le 28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n8n : l'exercice « notification email » du module</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n8n : interroger l'API du BODACC (consigne dans la fiche)</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Votre outil : finir la grille d'écarts, corriger les 2 plus graves</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Votre rapport : finir la grille, choisir les 2 sections</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5.  M'envoyer avant le 26/10 : grille et rapport type anonymisé</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Ce que vous avez fait aujourd'hui</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Votre n8n tourne, et vos workflows suivront sur votre serveur.</a:t>
            </a:r>
          </a:p>
          <a:p>
            <a:pPr>
              <a:spcBef>
                <a:spcPts val="1200"/>
              </a:spcBef>
            </a:pPr>
            <a:r>
              <a:rPr sz="2000">
                <a:solidFill>
                  <a:srgbClr val="FFFFFF"/>
                </a:solidFill>
                <a:latin typeface="Bricolage Grotesque"/>
              </a:rPr>
              <a:t>2.  Votre outil est testé sur un dossier aux réponses connues.</a:t>
            </a:r>
          </a:p>
          <a:p>
            <a:pPr>
              <a:spcBef>
                <a:spcPts val="1200"/>
              </a:spcBef>
            </a:pPr>
            <a:r>
              <a:rPr sz="2000">
                <a:solidFill>
                  <a:srgbClr val="FFFFFF"/>
                </a:solidFill>
                <a:latin typeface="Bricolage Grotesque"/>
              </a:rPr>
              <a:t>3.  Vous savez d'où viennent ses erreurs, et où les corriger.</a:t>
            </a:r>
          </a:p>
          <a:p>
            <a:pPr>
              <a:spcBef>
                <a:spcPts val="1200"/>
              </a:spcBef>
            </a:pPr>
            <a:r>
              <a:rPr sz="2000">
                <a:solidFill>
                  <a:srgbClr val="FFFFFF"/>
                </a:solidFill>
                <a:latin typeface="Bricolage Grotesque"/>
              </a:rPr>
              <a:t>4.  Votre rapport est cartographié : la séance 2 a son cahier des charges.</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828800"/>
          </a:xfrm>
          <a:prstGeom prst="rect">
            <a:avLst/>
          </a:prstGeom>
          <a:noFill/>
        </p:spPr>
        <p:txBody>
          <a:bodyPr wrap="square">
            <a:spAutoFit/>
          </a:bodyPr>
          <a:lstStyle/>
          <a:p>
            <a:pPr algn="ctr"/>
            <a:r>
              <a:rPr sz="6400" b="1">
                <a:solidFill>
                  <a:srgbClr val="FFFFFF"/>
                </a:solidFill>
                <a:latin typeface="Bricolage Grotesque"/>
              </a:rPr>
              <a:t>Des questions ?</a:t>
            </a:r>
          </a:p>
        </p:txBody>
      </p:sp>
      <p:pic>
        <p:nvPicPr>
          <p:cNvPr id="4" name="Picture 3" descr="ia-round.png"/>
          <p:cNvPicPr>
            <a:picLocks noChangeAspect="1"/>
          </p:cNvPicPr>
          <p:nvPr/>
        </p:nvPicPr>
        <p:blipFill>
          <a:blip r:embed="rId2"/>
          <a:stretch>
            <a:fillRect/>
          </a:stretch>
        </p:blipFill>
        <p:spPr>
          <a:xfrm>
            <a:off x="4846320" y="4754880"/>
            <a:ext cx="320040" cy="320040"/>
          </a:xfrm>
          <a:prstGeom prst="rect">
            <a:avLst/>
          </a:prstGeom>
        </p:spPr>
      </p:pic>
      <p:sp>
        <p:nvSpPr>
          <p:cNvPr id="5" name="TextBox 4"/>
          <p:cNvSpPr txBox="1"/>
          <p:nvPr/>
        </p:nvSpPr>
        <p:spPr>
          <a:xfrm>
            <a:off x="5257800" y="47365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